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Roboto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.fntdata"/><Relationship Id="rId25" Type="http://schemas.openxmlformats.org/officeDocument/2006/relationships/font" Target="fonts/RobotoMono-regular.fntdata"/><Relationship Id="rId28" Type="http://schemas.openxmlformats.org/officeDocument/2006/relationships/font" Target="fonts/RobotoMono-boldItalic.fntdata"/><Relationship Id="rId27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e06f93d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6e06f93d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6e06f93da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6e06f93da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e06f93da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6e06f93da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e06f93da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e06f93da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e06f93da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e06f93da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6e06f93da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6e06f93da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6e06f93dab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6e06f93dab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e06f93dab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6e06f93dab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0eb5ec13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70eb5ec13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73a0133c2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73a0133c2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7181bc32ba_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7181bc32ba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7181bc32ba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7181bc32ba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7181bc32ba_7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7181bc32ba_7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7181bc32ba_7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7181bc32ba_7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7181bc32ba_7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7181bc32ba_7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7181bc32ba_3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7181bc32ba_3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7181bc32ba_3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7181bc32ba_3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7181bc32ba_1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7181bc32ba_1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universe.roboflow.com/material-identification/garbage-classification-3" TargetMode="External"/><Relationship Id="rId4" Type="http://schemas.openxmlformats.org/officeDocument/2006/relationships/hyperlink" Target="https://universe.roboflow.com/material-identification/garbage-classification-3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google.com/url?q=https%3A%2F%2Farxiv.org%2Fabs%2F2010.11929" TargetMode="External"/><Relationship Id="rId4" Type="http://schemas.openxmlformats.org/officeDocument/2006/relationships/image" Target="../media/image5.png"/><Relationship Id="rId5" Type="http://schemas.openxmlformats.org/officeDocument/2006/relationships/hyperlink" Target="https://colab.research.google.com/drive/15IdmRi8WSDBEDaLwvo5JCeH2XD62IKPY#scrollTo=IpOZBcxlri7z" TargetMode="External"/><Relationship Id="rId6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0"/>
            <a:ext cx="8520600" cy="247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Applied A.I. Solutions Development Program</a:t>
            </a:r>
            <a:endParaRPr sz="2200"/>
          </a:p>
          <a:p>
            <a:pPr indent="0" lvl="0" marL="0" rtl="0" algn="ctr">
              <a:lnSpc>
                <a:spcPct val="2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500">
                <a:solidFill>
                  <a:srgbClr val="666666"/>
                </a:solidFill>
              </a:rPr>
              <a:t>Deep Learning II</a:t>
            </a:r>
            <a:endParaRPr sz="1500">
              <a:solidFill>
                <a:srgbClr val="666666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1600"/>
              </a:spcBef>
              <a:spcAft>
                <a:spcPts val="1200"/>
              </a:spcAft>
              <a:buNone/>
            </a:pPr>
            <a:r>
              <a:rPr b="1" lang="ja" sz="2300">
                <a:latin typeface="Times New Roman"/>
                <a:ea typeface="Times New Roman"/>
                <a:cs typeface="Times New Roman"/>
                <a:sym typeface="Times New Roman"/>
              </a:rPr>
              <a:t>Waste Classification Service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91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Group 8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Bikash Giri (101575097)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Chia-Wei Chang (101570243)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Diparshan Bhattarai (1014947379)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Hsi-Teng Liu (101576074)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Gavriel Kirichenko (101119609)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Abdul-Rasaq Omisesan (101571156)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Callum Arul (101585383)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Friba Hussainyar (101591222)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Times New Roman"/>
                <a:ea typeface="Times New Roman"/>
                <a:cs typeface="Times New Roman"/>
                <a:sym typeface="Times New Roman"/>
              </a:rPr>
              <a:t>Agenda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8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ja">
                <a:latin typeface="Times New Roman"/>
                <a:ea typeface="Times New Roman"/>
                <a:cs typeface="Times New Roman"/>
                <a:sym typeface="Times New Roman"/>
              </a:rPr>
              <a:t>1. Introduction with Background and Problem Statement: (Bikash Giri)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>
                <a:latin typeface="Times New Roman"/>
                <a:ea typeface="Times New Roman"/>
                <a:cs typeface="Times New Roman"/>
                <a:sym typeface="Times New Roman"/>
              </a:rPr>
              <a:t>2. The Dataset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0357" lvl="0" marL="457200" rtl="0" algn="l">
              <a:spcBef>
                <a:spcPts val="1200"/>
              </a:spcBef>
              <a:spcAft>
                <a:spcPts val="0"/>
              </a:spcAft>
              <a:buSzPct val="94444"/>
              <a:buFont typeface="Times New Roman"/>
              <a:buChar char="●"/>
            </a:pPr>
            <a:r>
              <a:rPr lang="ja">
                <a:latin typeface="Times New Roman"/>
                <a:ea typeface="Times New Roman"/>
                <a:cs typeface="Times New Roman"/>
                <a:sym typeface="Times New Roman"/>
              </a:rPr>
              <a:t>Dataset introduction (Friba)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0357" lvl="0" marL="457200" rtl="0" algn="l">
              <a:spcBef>
                <a:spcPts val="0"/>
              </a:spcBef>
              <a:spcAft>
                <a:spcPts val="0"/>
              </a:spcAft>
              <a:buSzPct val="94444"/>
              <a:buFont typeface="Times New Roman"/>
              <a:buChar char="●"/>
            </a:pPr>
            <a:r>
              <a:rPr lang="ja">
                <a:latin typeface="Times New Roman"/>
                <a:ea typeface="Times New Roman"/>
                <a:cs typeface="Times New Roman"/>
                <a:sym typeface="Times New Roman"/>
              </a:rPr>
              <a:t>The Dataset Resplit Process:</a:t>
            </a:r>
            <a:r>
              <a:rPr lang="ja">
                <a:latin typeface="Times New Roman"/>
                <a:ea typeface="Times New Roman"/>
                <a:cs typeface="Times New Roman"/>
                <a:sym typeface="Times New Roman"/>
              </a:rPr>
              <a:t> (Chia-wei Chang)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>
                <a:latin typeface="Times New Roman"/>
                <a:ea typeface="Times New Roman"/>
                <a:cs typeface="Times New Roman"/>
                <a:sym typeface="Times New Roman"/>
              </a:rPr>
              <a:t>3. Model Description and Training &amp; Evaluation &amp; Hyperparameter Tuning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0357" lvl="0" marL="457200" rtl="0" algn="l">
              <a:spcBef>
                <a:spcPts val="1200"/>
              </a:spcBef>
              <a:spcAft>
                <a:spcPts val="0"/>
              </a:spcAft>
              <a:buSzPct val="94444"/>
              <a:buFont typeface="Times New Roman"/>
              <a:buChar char="●"/>
            </a:pPr>
            <a:r>
              <a:rPr lang="ja">
                <a:latin typeface="Times New Roman"/>
                <a:ea typeface="Times New Roman"/>
                <a:cs typeface="Times New Roman"/>
                <a:sym typeface="Times New Roman"/>
              </a:rPr>
              <a:t>Vision Transformer Model with Transfer Learning: (Chia-wei Chang)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0357" lvl="0" marL="457200" rtl="0" algn="l">
              <a:spcBef>
                <a:spcPts val="0"/>
              </a:spcBef>
              <a:spcAft>
                <a:spcPts val="0"/>
              </a:spcAft>
              <a:buSzPct val="94444"/>
              <a:buFont typeface="Times New Roman"/>
              <a:buChar char="●"/>
            </a:pPr>
            <a:r>
              <a:rPr lang="ja">
                <a:latin typeface="Times New Roman"/>
                <a:ea typeface="Times New Roman"/>
                <a:cs typeface="Times New Roman"/>
                <a:sym typeface="Times New Roman"/>
              </a:rPr>
              <a:t>Origin model: (</a:t>
            </a:r>
            <a:r>
              <a:rPr lang="ja">
                <a:latin typeface="Times New Roman"/>
                <a:ea typeface="Times New Roman"/>
                <a:cs typeface="Times New Roman"/>
                <a:sym typeface="Times New Roman"/>
              </a:rPr>
              <a:t>Hsi-Teng Liu)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0357" lvl="0" marL="457200" rtl="0" algn="l">
              <a:spcBef>
                <a:spcPts val="0"/>
              </a:spcBef>
              <a:spcAft>
                <a:spcPts val="0"/>
              </a:spcAft>
              <a:buSzPct val="94444"/>
              <a:buFont typeface="Times New Roman"/>
              <a:buChar char="●"/>
            </a:pPr>
            <a:r>
              <a:rPr lang="ja">
                <a:latin typeface="Times New Roman"/>
                <a:ea typeface="Times New Roman"/>
                <a:cs typeface="Times New Roman"/>
                <a:sym typeface="Times New Roman"/>
              </a:rPr>
              <a:t>Yolo with Transfer Learning: (Gabriel Kirichenko)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ja">
                <a:latin typeface="Times New Roman"/>
                <a:ea typeface="Times New Roman"/>
                <a:cs typeface="Times New Roman"/>
                <a:sym typeface="Times New Roman"/>
              </a:rPr>
              <a:t>4. Benchmark datasets or methods, and compare the test results against those benchmarks: (</a:t>
            </a:r>
            <a:r>
              <a:rPr lang="ja">
                <a:latin typeface="Times New Roman"/>
                <a:ea typeface="Times New Roman"/>
                <a:cs typeface="Times New Roman"/>
                <a:sym typeface="Times New Roman"/>
              </a:rPr>
              <a:t>Callum)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ja">
                <a:latin typeface="Times New Roman"/>
                <a:ea typeface="Times New Roman"/>
                <a:cs typeface="Times New Roman"/>
                <a:sym typeface="Times New Roman"/>
              </a:rPr>
              <a:t>5. Discussion &amp; Reflection </a:t>
            </a:r>
            <a:r>
              <a:rPr lang="ja">
                <a:latin typeface="Times New Roman"/>
                <a:ea typeface="Times New Roman"/>
                <a:cs typeface="Times New Roman"/>
                <a:sym typeface="Times New Roman"/>
              </a:rPr>
              <a:t>(Abdul-rasaq)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ja">
                <a:latin typeface="Times New Roman"/>
                <a:ea typeface="Times New Roman"/>
                <a:cs typeface="Times New Roman"/>
                <a:sym typeface="Times New Roman"/>
              </a:rPr>
              <a:t>6. Conclusion with Team Contributions Table (Diparshan)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Times New Roman"/>
                <a:ea typeface="Times New Roman"/>
                <a:cs typeface="Times New Roman"/>
                <a:sym typeface="Times New Roman"/>
              </a:rPr>
              <a:t>Introduction with Background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4359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 Waste Challenges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j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Increasing waste generation and poor sorting efficiency.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j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sorting is time-consuming, labor-intensive, and error-prone.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j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Improper sorting leads to contamination of recyclables and increased landfill use.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Project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j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an AI-powered model to classify waste types.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j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Categories include: Cardboard, Glass, Metal, Paper, Plastic, Trash.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j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Designed for integration into a Smart BIN system for automatic sorting.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9300" y="866988"/>
            <a:ext cx="3475651" cy="398737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89950"/>
            <a:ext cx="4359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Problem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j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Improper waste disposal is a major global issue.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j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Disposal is: Time-consuming, Prone to human error, Ineffective at scale.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j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Recyclables often end up as contaminated waste, leading to: Increased landfill overflow, Missed opportunities for recycling and Higher environmental impact.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We Aim to Solve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j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a deep learning-based image classification model to: </a:t>
            </a:r>
            <a:r>
              <a:rPr b="1" lang="j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Automatically detect and sort waste types</a:t>
            </a:r>
            <a:r>
              <a:rPr lang="j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ja" sz="11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Minimize human involvement in waste handling</a:t>
            </a:r>
            <a:r>
              <a:rPr lang="j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j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 integration with Smart Bin systems</a:t>
            </a:r>
            <a:r>
              <a:rPr lang="j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ja" sz="11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scalable, automated smart waste management.</a:t>
            </a:r>
            <a:endParaRPr b="1" sz="11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6225" y="760625"/>
            <a:ext cx="4167899" cy="3793257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167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Times New Roman"/>
                <a:ea typeface="Times New Roman"/>
                <a:cs typeface="Times New Roman"/>
                <a:sym typeface="Times New Roman"/>
              </a:rPr>
              <a:t>Plan of Attack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89950"/>
            <a:ext cx="4359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10000"/>
          </a:bodyPr>
          <a:lstStyle/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b="1" lang="ja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</a:t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Garbage 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Classification with 10K+ images and 6 waste classes.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b="1" lang="ja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Preprocessing</a:t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Fixed class imbalance and Split into train/val/test (70/15/15).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b="1" lang="ja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Modeling</a:t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Trained YOLO and ViT with transfer learning and Applied strong augmentation.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b="1" lang="ja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</a:t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Measured accuracy, misclassifications, and real-world readiness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b="1" lang="ja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Integration</a:t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will power an AI-driven Smart BIN for automated sorting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7"/>
          <p:cNvSpPr txBox="1"/>
          <p:nvPr>
            <p:ph type="title"/>
          </p:nvPr>
        </p:nvSpPr>
        <p:spPr>
          <a:xfrm>
            <a:off x="351625" y="740325"/>
            <a:ext cx="18903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latin typeface="Times New Roman"/>
                <a:ea typeface="Times New Roman"/>
                <a:cs typeface="Times New Roman"/>
                <a:sym typeface="Times New Roman"/>
              </a:rPr>
              <a:t>Strategy Overview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3775" y="762700"/>
            <a:ext cx="3756025" cy="36180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24325"/>
            <a:ext cx="8520600" cy="6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Times New Roman"/>
                <a:ea typeface="Times New Roman"/>
                <a:cs typeface="Times New Roman"/>
                <a:sym typeface="Times New Roman"/>
              </a:rPr>
              <a:t>The Dataset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705025"/>
            <a:ext cx="8832300" cy="43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Name</a:t>
            </a:r>
            <a:r>
              <a:rPr lang="ja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Garbage Classification 3</a:t>
            </a:r>
            <a:br>
              <a:rPr lang="ja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ja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</a:t>
            </a:r>
            <a:r>
              <a:rPr lang="ja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Roboflow Universe</a:t>
            </a:r>
            <a:br>
              <a:rPr lang="ja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ja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</a:t>
            </a:r>
            <a:r>
              <a:rPr lang="ja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ja" sz="12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ja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https://universe.roboflow.com/material-identification/garbage-classification-3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dataset is specifically designed for </a:t>
            </a:r>
            <a:r>
              <a:rPr b="1" lang="j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detection in waste classification</a:t>
            </a:r>
            <a:r>
              <a:rPr lang="j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making it a perfect match for our project's goals.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Images</a:t>
            </a:r>
            <a:r>
              <a:rPr lang="ja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10,464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Classes (Object Types)</a:t>
            </a:r>
            <a:r>
              <a:rPr lang="ja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ja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Cardboard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ja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Glass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ja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Metal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ja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Paper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ja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Plastic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ja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Trash (general waste)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dataset reflects real-world environments, helping to build models that can support </a:t>
            </a:r>
            <a:r>
              <a:rPr b="1" lang="j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AI-powered recycling and waste sorting systems</a:t>
            </a:r>
            <a:r>
              <a:rPr lang="j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which are increasingly important in </a:t>
            </a:r>
            <a:r>
              <a:rPr b="1" lang="j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cities</a:t>
            </a:r>
            <a:r>
              <a:rPr lang="j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j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environmental sustainability</a:t>
            </a:r>
            <a:r>
              <a:rPr lang="j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Annotations</a:t>
            </a:r>
            <a:r>
              <a:rPr lang="ja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Bounding boxes with labels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ja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Case</a:t>
            </a:r>
            <a:r>
              <a:rPr lang="ja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Ideal for training object detection models like YOLO, VIT, and Faster R-CNN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136750" y="693850"/>
            <a:ext cx="407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 sz="1820"/>
              <a:t>Original Dataset Imbalance</a:t>
            </a:r>
            <a:endParaRPr sz="1820"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0850" y="1100200"/>
            <a:ext cx="2683750" cy="3935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2" name="Google Shape;102;p19"/>
          <p:cNvSpPr txBox="1"/>
          <p:nvPr>
            <p:ph type="title"/>
          </p:nvPr>
        </p:nvSpPr>
        <p:spPr>
          <a:xfrm>
            <a:off x="5704650" y="693850"/>
            <a:ext cx="3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 sz="1820"/>
              <a:t>Resplit into 70/15/15</a:t>
            </a:r>
            <a:endParaRPr sz="1820"/>
          </a:p>
        </p:txBody>
      </p:sp>
      <p:pic>
        <p:nvPicPr>
          <p:cNvPr id="103" name="Google Shape;10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925" y="1100200"/>
            <a:ext cx="3072875" cy="3935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4" name="Google Shape;104;p19"/>
          <p:cNvSpPr/>
          <p:nvPr/>
        </p:nvSpPr>
        <p:spPr>
          <a:xfrm>
            <a:off x="268000" y="3513450"/>
            <a:ext cx="2731500" cy="176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9"/>
          <p:cNvSpPr/>
          <p:nvPr/>
        </p:nvSpPr>
        <p:spPr>
          <a:xfrm>
            <a:off x="268000" y="4062350"/>
            <a:ext cx="2731500" cy="176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9"/>
          <p:cNvSpPr/>
          <p:nvPr/>
        </p:nvSpPr>
        <p:spPr>
          <a:xfrm>
            <a:off x="268000" y="4238450"/>
            <a:ext cx="2731500" cy="176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268000" y="3612000"/>
            <a:ext cx="771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 strike="sngStrike">
                <a:solidFill>
                  <a:srgbClr val="FF0000"/>
                </a:solidFill>
              </a:rPr>
              <a:t>class 5</a:t>
            </a:r>
            <a:endParaRPr sz="1100" strike="sngStrike">
              <a:solidFill>
                <a:srgbClr val="FF0000"/>
              </a:solidFill>
            </a:endParaRPr>
          </a:p>
        </p:txBody>
      </p:sp>
      <p:sp>
        <p:nvSpPr>
          <p:cNvPr id="108" name="Google Shape;108;p19"/>
          <p:cNvSpPr txBox="1"/>
          <p:nvPr/>
        </p:nvSpPr>
        <p:spPr>
          <a:xfrm>
            <a:off x="3274800" y="1542063"/>
            <a:ext cx="24642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/>
              <a:t>The original dataset had an uneven class distribution in the validation and test sets (e.g., only 2 PAPER images in valid, and only 3 BIODEGRADABLE images in test).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/>
              <a:t>This could negatively affect model performance and evaluation accuracy.</a:t>
            </a:r>
            <a:endParaRPr sz="1100"/>
          </a:p>
        </p:txBody>
      </p:sp>
      <p:sp>
        <p:nvSpPr>
          <p:cNvPr id="109" name="Google Shape;109;p19"/>
          <p:cNvSpPr txBox="1"/>
          <p:nvPr/>
        </p:nvSpPr>
        <p:spPr>
          <a:xfrm>
            <a:off x="3274800" y="3731738"/>
            <a:ext cx="2441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1"/>
                </a:solidFill>
              </a:rPr>
              <a:t>To ensure balanced class distribution across all splits, we split the dataset using a 70% train, 15% validation, and 15% test ratio.</a:t>
            </a:r>
            <a:endParaRPr/>
          </a:p>
        </p:txBody>
      </p:sp>
      <p:sp>
        <p:nvSpPr>
          <p:cNvPr id="110" name="Google Shape;110;p19"/>
          <p:cNvSpPr txBox="1"/>
          <p:nvPr/>
        </p:nvSpPr>
        <p:spPr>
          <a:xfrm>
            <a:off x="136750" y="0"/>
            <a:ext cx="6773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Dataset Resplit Process</a:t>
            </a:r>
            <a:r>
              <a:rPr lang="ja" sz="2800">
                <a:solidFill>
                  <a:schemeClr val="dk1"/>
                </a:solidFill>
              </a:rPr>
              <a:t> 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11" name="Google Shape;11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311700" y="445025"/>
            <a:ext cx="8520600" cy="6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 sz="1620"/>
              <a:t>Training with ViT Tiny (</a:t>
            </a:r>
            <a:r>
              <a:rPr lang="ja" sz="1620" u="sng">
                <a:solidFill>
                  <a:schemeClr val="hlink"/>
                </a:solidFill>
                <a:hlinkClick r:id="rId3"/>
              </a:rPr>
              <a:t>vit_tiny_patch16_224</a:t>
            </a:r>
            <a:r>
              <a:rPr lang="ja" sz="1620"/>
              <a:t>) </a:t>
            </a:r>
            <a:endParaRPr sz="16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 sz="1620"/>
              <a:t>Model: Vision Transformer (Full Fine-Tuning Model)</a:t>
            </a:r>
            <a:endParaRPr sz="1620"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664125" y="1370375"/>
            <a:ext cx="3294600" cy="155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1100">
                <a:solidFill>
                  <a:schemeClr val="dk1"/>
                </a:solidFill>
              </a:rPr>
              <a:t>1. Original Dataset (Unbalanced)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ja" sz="1100">
                <a:solidFill>
                  <a:schemeClr val="dk1"/>
                </a:solidFill>
              </a:rPr>
              <a:t>Train Epochs:</a:t>
            </a:r>
            <a:r>
              <a:rPr lang="ja" sz="1100">
                <a:solidFill>
                  <a:schemeClr val="dk1"/>
                </a:solidFill>
              </a:rPr>
              <a:t> 10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ja" sz="1100">
                <a:solidFill>
                  <a:schemeClr val="dk1"/>
                </a:solidFill>
              </a:rPr>
              <a:t>Val Loss:</a:t>
            </a:r>
            <a:r>
              <a:rPr lang="ja" sz="1100">
                <a:solidFill>
                  <a:schemeClr val="dk1"/>
                </a:solidFill>
              </a:rPr>
              <a:t> 0.1214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ja" sz="1100">
                <a:solidFill>
                  <a:schemeClr val="dk1"/>
                </a:solidFill>
              </a:rPr>
              <a:t>Val Accuracy:</a:t>
            </a:r>
            <a:r>
              <a:rPr lang="ja" sz="1100">
                <a:solidFill>
                  <a:schemeClr val="dk1"/>
                </a:solidFill>
              </a:rPr>
              <a:t> 96.38%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ja" sz="1100">
                <a:solidFill>
                  <a:schemeClr val="dk1"/>
                </a:solidFill>
              </a:rPr>
              <a:t>BUT... Poor classification report: </a:t>
            </a:r>
            <a:br>
              <a:rPr b="1" lang="ja" sz="1100">
                <a:solidFill>
                  <a:schemeClr val="dk1"/>
                </a:solidFill>
              </a:rPr>
            </a:br>
            <a:r>
              <a:rPr b="1" lang="ja" sz="1100">
                <a:solidFill>
                  <a:schemeClr val="dk1"/>
                </a:solidFill>
              </a:rPr>
              <a:t>Accuracy Rate: 3%</a:t>
            </a:r>
            <a:endParaRPr/>
          </a:p>
        </p:txBody>
      </p:sp>
      <p:sp>
        <p:nvSpPr>
          <p:cNvPr id="118" name="Google Shape;118;p20"/>
          <p:cNvSpPr txBox="1"/>
          <p:nvPr/>
        </p:nvSpPr>
        <p:spPr>
          <a:xfrm>
            <a:off x="4967775" y="1370375"/>
            <a:ext cx="32715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ja" sz="1100">
                <a:solidFill>
                  <a:schemeClr val="dk1"/>
                </a:solidFill>
              </a:rPr>
              <a:t>2. Resplit Dataset (Balanced 70/15/15)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ja" sz="1100">
                <a:solidFill>
                  <a:schemeClr val="dk1"/>
                </a:solidFill>
              </a:rPr>
              <a:t>Train Epochs:</a:t>
            </a:r>
            <a:r>
              <a:rPr lang="ja" sz="1100">
                <a:solidFill>
                  <a:schemeClr val="dk1"/>
                </a:solidFill>
              </a:rPr>
              <a:t> 10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ja" sz="1100">
                <a:solidFill>
                  <a:schemeClr val="dk1"/>
                </a:solidFill>
              </a:rPr>
              <a:t>Val Loss:</a:t>
            </a:r>
            <a:r>
              <a:rPr lang="ja" sz="1100">
                <a:solidFill>
                  <a:schemeClr val="dk1"/>
                </a:solidFill>
              </a:rPr>
              <a:t> </a:t>
            </a:r>
            <a:r>
              <a:rPr lang="ja" sz="1100">
                <a:solidFill>
                  <a:schemeClr val="dk1"/>
                </a:solidFill>
              </a:rPr>
              <a:t>0.3644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ja" sz="1100">
                <a:solidFill>
                  <a:schemeClr val="dk1"/>
                </a:solidFill>
              </a:rPr>
              <a:t>Val Accuracy:</a:t>
            </a:r>
            <a:r>
              <a:rPr lang="ja" sz="1100">
                <a:solidFill>
                  <a:schemeClr val="dk1"/>
                </a:solidFill>
              </a:rPr>
              <a:t> </a:t>
            </a:r>
            <a:r>
              <a:rPr lang="ja" sz="1100">
                <a:solidFill>
                  <a:schemeClr val="dk1"/>
                </a:solidFill>
              </a:rPr>
              <a:t>91.9</a:t>
            </a:r>
            <a:r>
              <a:rPr lang="ja" sz="1100">
                <a:solidFill>
                  <a:schemeClr val="dk1"/>
                </a:solidFill>
              </a:rPr>
              <a:t>%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ja" sz="1100">
                <a:solidFill>
                  <a:schemeClr val="dk1"/>
                </a:solidFill>
              </a:rPr>
              <a:t>Classification improved significantly:</a:t>
            </a:r>
            <a:br>
              <a:rPr b="1" lang="ja" sz="1100">
                <a:solidFill>
                  <a:schemeClr val="dk1"/>
                </a:solidFill>
              </a:rPr>
            </a:br>
            <a:r>
              <a:rPr b="1" lang="ja" sz="1100">
                <a:solidFill>
                  <a:schemeClr val="dk1"/>
                </a:solidFill>
              </a:rPr>
              <a:t>Accuracy Rate: 93%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19" name="Google Shape;11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4125" y="3047475"/>
            <a:ext cx="3271500" cy="185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0"/>
          <p:cNvSpPr txBox="1"/>
          <p:nvPr/>
        </p:nvSpPr>
        <p:spPr>
          <a:xfrm>
            <a:off x="6854325" y="985475"/>
            <a:ext cx="2037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 u="sng">
                <a:solidFill>
                  <a:schemeClr val="hlink"/>
                </a:solidFill>
                <a:hlinkClick r:id="rId5"/>
              </a:rPr>
              <a:t>Google Colab Code Link </a:t>
            </a:r>
            <a:endParaRPr sz="1300" u="sng">
              <a:solidFill>
                <a:schemeClr val="dk2"/>
              </a:solidFill>
            </a:endParaRPr>
          </a:p>
        </p:txBody>
      </p:sp>
      <p:pic>
        <p:nvPicPr>
          <p:cNvPr id="121" name="Google Shape;121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67775" y="3059775"/>
            <a:ext cx="3102582" cy="1834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type="title"/>
          </p:nvPr>
        </p:nvSpPr>
        <p:spPr>
          <a:xfrm>
            <a:off x="234775" y="445025"/>
            <a:ext cx="4440900" cy="9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Prediction results of ViT-tiny Full Fine-Tuning Model</a:t>
            </a:r>
            <a:endParaRPr/>
          </a:p>
        </p:txBody>
      </p:sp>
      <p:pic>
        <p:nvPicPr>
          <p:cNvPr id="128" name="Google Shape;12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2601" y="38475"/>
            <a:ext cx="383969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1"/>
          <p:cNvSpPr/>
          <p:nvPr/>
        </p:nvSpPr>
        <p:spPr>
          <a:xfrm>
            <a:off x="8127050" y="4323125"/>
            <a:ext cx="772500" cy="8205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1"/>
          <p:cNvSpPr/>
          <p:nvPr/>
        </p:nvSpPr>
        <p:spPr>
          <a:xfrm>
            <a:off x="7348325" y="879850"/>
            <a:ext cx="730500" cy="857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1"/>
          <p:cNvSpPr txBox="1"/>
          <p:nvPr/>
        </p:nvSpPr>
        <p:spPr>
          <a:xfrm>
            <a:off x="169225" y="1592750"/>
            <a:ext cx="4572000" cy="3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1"/>
                </a:solidFill>
              </a:rPr>
              <a:t>Each image shows the </a:t>
            </a:r>
            <a:r>
              <a:rPr b="1" lang="ja" sz="1100">
                <a:solidFill>
                  <a:schemeClr val="dk1"/>
                </a:solidFill>
              </a:rPr>
              <a:t>ground truth label (GT)</a:t>
            </a:r>
            <a:r>
              <a:rPr lang="ja" sz="1100">
                <a:solidFill>
                  <a:schemeClr val="dk1"/>
                </a:solidFill>
              </a:rPr>
              <a:t> and the </a:t>
            </a:r>
            <a:r>
              <a:rPr b="1" lang="ja" sz="1100">
                <a:solidFill>
                  <a:schemeClr val="dk1"/>
                </a:solidFill>
              </a:rPr>
              <a:t>model's prediction (Pred)</a:t>
            </a:r>
            <a:r>
              <a:rPr lang="ja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ja" sz="1100">
                <a:solidFill>
                  <a:schemeClr val="dk1"/>
                </a:solidFill>
              </a:rPr>
              <a:t>If the prediction is correct, GT and Pred are the same.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ja" sz="1100">
                <a:solidFill>
                  <a:schemeClr val="dk1"/>
                </a:solidFill>
              </a:rPr>
              <a:t>If it's wrong, GT and Pred are different.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1"/>
                </a:solidFill>
              </a:rPr>
              <a:t>We can observe: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ja" sz="1100">
                <a:solidFill>
                  <a:schemeClr val="dk1"/>
                </a:solidFill>
              </a:rPr>
              <a:t>Most predictions are </a:t>
            </a:r>
            <a:r>
              <a:rPr b="1" lang="ja" sz="1100">
                <a:solidFill>
                  <a:schemeClr val="dk1"/>
                </a:solidFill>
              </a:rPr>
              <a:t>correct</a:t>
            </a:r>
            <a:r>
              <a:rPr lang="ja" sz="1100">
                <a:solidFill>
                  <a:schemeClr val="dk1"/>
                </a:solidFill>
              </a:rPr>
              <a:t>, especially for </a:t>
            </a:r>
            <a:r>
              <a:rPr b="1" lang="ja" sz="1100">
                <a:solidFill>
                  <a:schemeClr val="dk1"/>
                </a:solidFill>
              </a:rPr>
              <a:t>BIODEGRADABLE, METAL, and PLASTIC</a:t>
            </a:r>
            <a:r>
              <a:rPr lang="ja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ja" sz="1100">
                <a:solidFill>
                  <a:schemeClr val="dk1"/>
                </a:solidFill>
              </a:rPr>
              <a:t>There are still a few </a:t>
            </a:r>
            <a:r>
              <a:rPr b="1" lang="ja" sz="1100">
                <a:solidFill>
                  <a:schemeClr val="dk1"/>
                </a:solidFill>
              </a:rPr>
              <a:t>mistakes</a:t>
            </a:r>
            <a:r>
              <a:rPr lang="ja" sz="1100">
                <a:solidFill>
                  <a:schemeClr val="dk1"/>
                </a:solidFill>
              </a:rPr>
              <a:t>, like predicting </a:t>
            </a:r>
            <a:r>
              <a:rPr b="1" lang="ja" sz="1100">
                <a:solidFill>
                  <a:schemeClr val="dk1"/>
                </a:solidFill>
              </a:rPr>
              <a:t>GLASS</a:t>
            </a:r>
            <a:r>
              <a:rPr b="1" lang="ja" sz="1100">
                <a:solidFill>
                  <a:schemeClr val="dk1"/>
                </a:solidFill>
              </a:rPr>
              <a:t> as </a:t>
            </a:r>
            <a:r>
              <a:rPr b="1" lang="ja" sz="1100">
                <a:solidFill>
                  <a:schemeClr val="dk1"/>
                </a:solidFill>
              </a:rPr>
              <a:t>METAL</a:t>
            </a:r>
            <a:r>
              <a:rPr lang="ja" sz="1100">
                <a:solidFill>
                  <a:schemeClr val="dk1"/>
                </a:solidFill>
              </a:rPr>
              <a:t>, or </a:t>
            </a:r>
            <a:r>
              <a:rPr b="1" lang="ja" sz="1100">
                <a:solidFill>
                  <a:schemeClr val="dk1"/>
                </a:solidFill>
              </a:rPr>
              <a:t>PLASTIC as CARDBOARD</a:t>
            </a:r>
            <a:r>
              <a:rPr lang="ja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ja" sz="1100">
                <a:solidFill>
                  <a:schemeClr val="dk1"/>
                </a:solidFill>
              </a:rPr>
              <a:t>These errors usually happen when the objects </a:t>
            </a:r>
            <a:r>
              <a:rPr b="1" lang="ja" sz="1100">
                <a:solidFill>
                  <a:schemeClr val="dk1"/>
                </a:solidFill>
              </a:rPr>
              <a:t>look similar</a:t>
            </a:r>
            <a:r>
              <a:rPr lang="ja" sz="1100">
                <a:solidFill>
                  <a:schemeClr val="dk1"/>
                </a:solidFill>
              </a:rPr>
              <a:t>, or the image is unclear.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32" name="Google Shape;132;p21"/>
          <p:cNvSpPr/>
          <p:nvPr/>
        </p:nvSpPr>
        <p:spPr>
          <a:xfrm>
            <a:off x="7348325" y="1766550"/>
            <a:ext cx="730500" cy="857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1"/>
          <p:cNvSpPr/>
          <p:nvPr/>
        </p:nvSpPr>
        <p:spPr>
          <a:xfrm>
            <a:off x="7348325" y="3466025"/>
            <a:ext cx="730500" cy="857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Faster RCNN Resnet50 FPN</a:t>
            </a:r>
            <a:endParaRPr/>
          </a:p>
        </p:txBody>
      </p:sp>
      <p:sp>
        <p:nvSpPr>
          <p:cNvPr id="140" name="Google Shape;140;p22"/>
          <p:cNvSpPr txBox="1"/>
          <p:nvPr>
            <p:ph idx="1" type="body"/>
          </p:nvPr>
        </p:nvSpPr>
        <p:spPr>
          <a:xfrm>
            <a:off x="311700" y="2348275"/>
            <a:ext cx="8520600" cy="26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ja" sz="2100"/>
              <a:t>Backbone with FPN</a:t>
            </a:r>
            <a:endParaRPr sz="2100"/>
          </a:p>
          <a:p>
            <a:pPr indent="-3619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ja" sz="2100"/>
              <a:t>Regional Proposal Network</a:t>
            </a:r>
            <a:endParaRPr sz="2100"/>
          </a:p>
          <a:p>
            <a:pPr indent="-3619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ja" sz="2100"/>
              <a:t>ROI Heads</a:t>
            </a:r>
            <a:endParaRPr sz="2100"/>
          </a:p>
        </p:txBody>
      </p:sp>
      <p:sp>
        <p:nvSpPr>
          <p:cNvPr id="141" name="Google Shape;14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42" name="Google Shape;142;p22"/>
          <p:cNvSpPr txBox="1"/>
          <p:nvPr>
            <p:ph idx="1" type="body"/>
          </p:nvPr>
        </p:nvSpPr>
        <p:spPr>
          <a:xfrm>
            <a:off x="311700" y="1152475"/>
            <a:ext cx="8520600" cy="112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2400"/>
              <a:t>fasterrcnn_resnet50_fpn_v2</a:t>
            </a:r>
            <a:r>
              <a:rPr lang="ja" sz="2400"/>
              <a:t> from pytorch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ja" sz="2400"/>
              <a:t>3 parts with </a:t>
            </a:r>
            <a:r>
              <a:rPr lang="ja" sz="2400">
                <a:solidFill>
                  <a:srgbClr val="3C78D8"/>
                </a:solidFill>
              </a:rPr>
              <a:t>66 </a:t>
            </a:r>
            <a:r>
              <a:rPr lang="ja" sz="2400"/>
              <a:t>convolution layers</a:t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Faster RCNN Resnet50 FPN</a:t>
            </a:r>
            <a:endParaRPr/>
          </a:p>
        </p:txBody>
      </p:sp>
      <p:sp>
        <p:nvSpPr>
          <p:cNvPr id="148" name="Google Shape;148;p23"/>
          <p:cNvSpPr txBox="1"/>
          <p:nvPr>
            <p:ph idx="1" type="body"/>
          </p:nvPr>
        </p:nvSpPr>
        <p:spPr>
          <a:xfrm>
            <a:off x="311700" y="2644175"/>
            <a:ext cx="4260300" cy="20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51948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ja" sz="2100"/>
              <a:t>Total params: 43,281,778</a:t>
            </a:r>
            <a:endParaRPr sz="2100"/>
          </a:p>
          <a:p>
            <a:pPr indent="-351948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ja" sz="2100">
                <a:solidFill>
                  <a:srgbClr val="0000FF"/>
                </a:solidFill>
              </a:rPr>
              <a:t>Trainable params:</a:t>
            </a:r>
            <a:r>
              <a:rPr lang="ja" sz="2100"/>
              <a:t> 43,056,434</a:t>
            </a:r>
            <a:endParaRPr sz="2100"/>
          </a:p>
          <a:p>
            <a:pPr indent="-351948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ja" sz="2100"/>
              <a:t>Non-trainable params: 225,344</a:t>
            </a:r>
            <a:endParaRPr sz="2100"/>
          </a:p>
        </p:txBody>
      </p:sp>
      <p:sp>
        <p:nvSpPr>
          <p:cNvPr id="149" name="Google Shape;14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50" name="Google Shape;150;p23"/>
          <p:cNvSpPr txBox="1"/>
          <p:nvPr>
            <p:ph idx="1" type="body"/>
          </p:nvPr>
        </p:nvSpPr>
        <p:spPr>
          <a:xfrm>
            <a:off x="311700" y="1152475"/>
            <a:ext cx="8520600" cy="6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ja" sz="2400"/>
              <a:t>Could not finish 1 Epoch in 24 hours</a:t>
            </a:r>
            <a:endParaRPr sz="2400"/>
          </a:p>
        </p:txBody>
      </p:sp>
      <p:sp>
        <p:nvSpPr>
          <p:cNvPr id="151" name="Google Shape;151;p23"/>
          <p:cNvSpPr txBox="1"/>
          <p:nvPr>
            <p:ph idx="1" type="body"/>
          </p:nvPr>
        </p:nvSpPr>
        <p:spPr>
          <a:xfrm>
            <a:off x="311700" y="2071475"/>
            <a:ext cx="426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ja" sz="2100" u="sng">
                <a:solidFill>
                  <a:srgbClr val="0000FF"/>
                </a:solidFill>
              </a:rPr>
              <a:t>3 </a:t>
            </a:r>
            <a:r>
              <a:rPr lang="ja" sz="2100" u="sng"/>
              <a:t>Trainable backbone layers</a:t>
            </a:r>
            <a:endParaRPr sz="2100" u="sng"/>
          </a:p>
        </p:txBody>
      </p:sp>
      <p:sp>
        <p:nvSpPr>
          <p:cNvPr id="152" name="Google Shape;152;p23"/>
          <p:cNvSpPr txBox="1"/>
          <p:nvPr>
            <p:ph idx="1" type="body"/>
          </p:nvPr>
        </p:nvSpPr>
        <p:spPr>
          <a:xfrm>
            <a:off x="4741150" y="2644175"/>
            <a:ext cx="4362300" cy="20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ja" sz="1900"/>
              <a:t>Total params: 43,281,778</a:t>
            </a:r>
            <a:endParaRPr sz="1900"/>
          </a:p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ja" sz="1900">
                <a:solidFill>
                  <a:srgbClr val="0000FF"/>
                </a:solidFill>
              </a:rPr>
              <a:t>Trainable params:</a:t>
            </a:r>
            <a:r>
              <a:rPr lang="ja" sz="1900"/>
              <a:t> 19,773,746</a:t>
            </a:r>
            <a:endParaRPr sz="1900"/>
          </a:p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ja" sz="1900"/>
              <a:t>Non-trainable params: 23,508,032</a:t>
            </a:r>
            <a:endParaRPr sz="1900"/>
          </a:p>
        </p:txBody>
      </p:sp>
      <p:sp>
        <p:nvSpPr>
          <p:cNvPr id="153" name="Google Shape;153;p23"/>
          <p:cNvSpPr txBox="1"/>
          <p:nvPr>
            <p:ph idx="1" type="body"/>
          </p:nvPr>
        </p:nvSpPr>
        <p:spPr>
          <a:xfrm>
            <a:off x="4741150" y="2071475"/>
            <a:ext cx="426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ja" sz="2100" u="sng">
                <a:solidFill>
                  <a:srgbClr val="0000FF"/>
                </a:solidFill>
              </a:rPr>
              <a:t>0</a:t>
            </a:r>
            <a:r>
              <a:rPr lang="ja" sz="2100" u="sng">
                <a:solidFill>
                  <a:srgbClr val="0000FF"/>
                </a:solidFill>
              </a:rPr>
              <a:t> </a:t>
            </a:r>
            <a:r>
              <a:rPr lang="ja" sz="2100" u="sng"/>
              <a:t>Trainable backbone layer</a:t>
            </a:r>
            <a:endParaRPr sz="2100" u="sng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Yolo with Transfer Learning</a:t>
            </a:r>
            <a:endParaRPr/>
          </a:p>
        </p:txBody>
      </p:sp>
      <p:sp>
        <p:nvSpPr>
          <p:cNvPr id="159" name="Google Shape;159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ja" sz="4873">
                <a:solidFill>
                  <a:schemeClr val="dk1"/>
                </a:solidFill>
              </a:rPr>
              <a:t>Purpose:</a:t>
            </a:r>
            <a:br>
              <a:rPr b="1" lang="ja" sz="4873">
                <a:solidFill>
                  <a:schemeClr val="dk1"/>
                </a:solidFill>
              </a:rPr>
            </a:br>
            <a:r>
              <a:rPr lang="ja" sz="4873">
                <a:solidFill>
                  <a:schemeClr val="dk1"/>
                </a:solidFill>
              </a:rPr>
              <a:t>Automatically tune key hyperparameters of a YOLOv8 model for garbage classification using the Optuna optimization framework.</a:t>
            </a:r>
            <a:endParaRPr sz="4873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ja" sz="4873">
                <a:solidFill>
                  <a:schemeClr val="dk1"/>
                </a:solidFill>
              </a:rPr>
              <a:t>Key Components:</a:t>
            </a:r>
            <a:endParaRPr b="1" sz="4873">
              <a:solidFill>
                <a:schemeClr val="dk1"/>
              </a:solidFill>
            </a:endParaRPr>
          </a:p>
          <a:p>
            <a:pPr indent="-30596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ja" sz="4873">
                <a:solidFill>
                  <a:schemeClr val="dk1"/>
                </a:solidFill>
              </a:rPr>
              <a:t>Objective Function:</a:t>
            </a:r>
            <a:endParaRPr b="1" sz="4873">
              <a:solidFill>
                <a:schemeClr val="dk1"/>
              </a:solidFill>
            </a:endParaRPr>
          </a:p>
          <a:p>
            <a:pPr indent="-30596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ja" sz="4873">
                <a:solidFill>
                  <a:schemeClr val="dk1"/>
                </a:solidFill>
              </a:rPr>
              <a:t>Uses validation </a:t>
            </a:r>
            <a:r>
              <a:rPr lang="ja" sz="4873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mAP@0.5</a:t>
            </a:r>
            <a:r>
              <a:rPr lang="ja" sz="4873">
                <a:solidFill>
                  <a:schemeClr val="dk1"/>
                </a:solidFill>
              </a:rPr>
              <a:t> (mean Average Precision) as the optimization target.</a:t>
            </a:r>
            <a:endParaRPr sz="4873">
              <a:solidFill>
                <a:schemeClr val="dk1"/>
              </a:solidFill>
            </a:endParaRPr>
          </a:p>
          <a:p>
            <a:pPr indent="-30596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ja" sz="4873">
                <a:solidFill>
                  <a:schemeClr val="dk1"/>
                </a:solidFill>
              </a:rPr>
              <a:t>Tuned Hyperparameters:</a:t>
            </a:r>
            <a:endParaRPr b="1" sz="4873">
              <a:solidFill>
                <a:schemeClr val="dk1"/>
              </a:solidFill>
            </a:endParaRPr>
          </a:p>
          <a:p>
            <a:pPr indent="-30596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ja" sz="4873">
                <a:solidFill>
                  <a:schemeClr val="dk1"/>
                </a:solidFill>
              </a:rPr>
              <a:t>Learning Rate (</a:t>
            </a:r>
            <a:r>
              <a:rPr lang="ja" sz="4873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lr0</a:t>
            </a:r>
            <a:r>
              <a:rPr lang="ja" sz="4873">
                <a:solidFill>
                  <a:schemeClr val="dk1"/>
                </a:solidFill>
              </a:rPr>
              <a:t>)</a:t>
            </a:r>
            <a:endParaRPr sz="4873">
              <a:solidFill>
                <a:schemeClr val="dk1"/>
              </a:solidFill>
            </a:endParaRPr>
          </a:p>
          <a:p>
            <a:pPr indent="-30596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ja" sz="4873">
                <a:solidFill>
                  <a:schemeClr val="dk1"/>
                </a:solidFill>
              </a:rPr>
              <a:t>Momentum</a:t>
            </a:r>
            <a:endParaRPr sz="4873">
              <a:solidFill>
                <a:schemeClr val="dk1"/>
              </a:solidFill>
            </a:endParaRPr>
          </a:p>
          <a:p>
            <a:pPr indent="-30596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ja" sz="4873">
                <a:solidFill>
                  <a:schemeClr val="dk1"/>
                </a:solidFill>
              </a:rPr>
              <a:t>Weight Decay</a:t>
            </a:r>
            <a:endParaRPr sz="4873">
              <a:solidFill>
                <a:schemeClr val="dk1"/>
              </a:solidFill>
            </a:endParaRPr>
          </a:p>
          <a:p>
            <a:pPr indent="-30596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ja" sz="4873">
                <a:solidFill>
                  <a:schemeClr val="dk1"/>
                </a:solidFill>
              </a:rPr>
              <a:t>Augmentation Techniques: Mosaic, HSV (h, s, v), Flip, Erasing</a:t>
            </a:r>
            <a:endParaRPr sz="4873">
              <a:solidFill>
                <a:schemeClr val="dk1"/>
              </a:solidFill>
            </a:endParaRPr>
          </a:p>
          <a:p>
            <a:pPr indent="-30596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ja" sz="4873">
                <a:solidFill>
                  <a:schemeClr val="dk1"/>
                </a:solidFill>
              </a:rPr>
              <a:t>Output:</a:t>
            </a:r>
            <a:endParaRPr b="1" sz="4873">
              <a:solidFill>
                <a:schemeClr val="dk1"/>
              </a:solidFill>
            </a:endParaRPr>
          </a:p>
          <a:p>
            <a:pPr indent="-30596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ja" sz="4873">
                <a:solidFill>
                  <a:schemeClr val="dk1"/>
                </a:solidFill>
              </a:rPr>
              <a:t>Retrieves the best </a:t>
            </a:r>
            <a:r>
              <a:rPr lang="ja" sz="4873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mAP@0.5</a:t>
            </a:r>
            <a:r>
              <a:rPr lang="ja" sz="4873">
                <a:solidFill>
                  <a:schemeClr val="dk1"/>
                </a:solidFill>
              </a:rPr>
              <a:t> from </a:t>
            </a:r>
            <a:r>
              <a:rPr lang="ja" sz="4873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results.csv</a:t>
            </a:r>
            <a:r>
              <a:rPr lang="ja" sz="4873">
                <a:solidFill>
                  <a:schemeClr val="dk1"/>
                </a:solidFill>
              </a:rPr>
              <a:t> for each trial to guide Optuna's search.</a:t>
            </a:r>
            <a:endParaRPr b="1" sz="4873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5851"/>
              <a:buFont typeface="Arial"/>
              <a:buNone/>
            </a:pPr>
            <a:r>
              <a:t/>
            </a:r>
            <a:endParaRPr sz="306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60" name="Google Shape;16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pic>
        <p:nvPicPr>
          <p:cNvPr id="161" name="Google Shape;16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0275" y="1812475"/>
            <a:ext cx="1626349" cy="165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51650" y="3574981"/>
            <a:ext cx="1369500" cy="13642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 sz="1820"/>
              <a:t>Training &amp; Evaluation Metrics - YOLOv8 Performance Across 60 Epochs</a:t>
            </a:r>
            <a:endParaRPr sz="1820"/>
          </a:p>
        </p:txBody>
      </p:sp>
      <p:sp>
        <p:nvSpPr>
          <p:cNvPr id="168" name="Google Shape;16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pic>
        <p:nvPicPr>
          <p:cNvPr id="170" name="Google Shape;170;p25" title="Screenshot 2025-07-25 at 5.09.4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450" y="1017713"/>
            <a:ext cx="7625098" cy="3840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F1-Confidence Analysis</a:t>
            </a:r>
            <a:endParaRPr/>
          </a:p>
        </p:txBody>
      </p:sp>
      <p:sp>
        <p:nvSpPr>
          <p:cNvPr id="176" name="Google Shape;17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pic>
        <p:nvPicPr>
          <p:cNvPr id="178" name="Google Shape;178;p26" title="Screenshot 2025-07-25 at 5.11.4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1249" y="1152475"/>
            <a:ext cx="5681501" cy="3751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/>
              <a:t>Precision-Recall Tradeoff &amp; Confusion Trends</a:t>
            </a:r>
            <a:endParaRPr sz="2400"/>
          </a:p>
        </p:txBody>
      </p:sp>
      <p:sp>
        <p:nvSpPr>
          <p:cNvPr id="184" name="Google Shape;184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pic>
        <p:nvPicPr>
          <p:cNvPr id="186" name="Google Shape;186;p27" title="Screenshot 2025-07-25 at 5.13.4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675" y="1241713"/>
            <a:ext cx="4851429" cy="323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7" title="Screenshot 2025-07-25 at 5.14.13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017725"/>
            <a:ext cx="4360477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/>
              <a:t>Final Inferences &amp; Deployment Readiness</a:t>
            </a:r>
            <a:endParaRPr sz="2400"/>
          </a:p>
        </p:txBody>
      </p:sp>
      <p:sp>
        <p:nvSpPr>
          <p:cNvPr id="193" name="Google Shape;193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YOLOv8 shows strong real-world potential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ja" sz="1100">
                <a:solidFill>
                  <a:schemeClr val="dk1"/>
                </a:solidFill>
              </a:rPr>
              <a:t>Best confidence threshold: </a:t>
            </a:r>
            <a:r>
              <a:rPr b="1" lang="ja" sz="1100">
                <a:solidFill>
                  <a:schemeClr val="dk1"/>
                </a:solidFill>
              </a:rPr>
              <a:t>0.33</a:t>
            </a:r>
            <a:r>
              <a:rPr lang="ja" sz="1100">
                <a:solidFill>
                  <a:schemeClr val="dk1"/>
                </a:solidFill>
              </a:rPr>
              <a:t>, yielding peak F1 = </a:t>
            </a:r>
            <a:r>
              <a:rPr b="1" lang="ja" sz="1100">
                <a:solidFill>
                  <a:schemeClr val="dk1"/>
                </a:solidFill>
              </a:rPr>
              <a:t>0.60</a:t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ja" sz="1100">
                <a:solidFill>
                  <a:schemeClr val="dk1"/>
                </a:solidFill>
              </a:rPr>
              <a:t>Consistent convergence</a:t>
            </a:r>
            <a:r>
              <a:rPr lang="ja" sz="1100">
                <a:solidFill>
                  <a:schemeClr val="dk1"/>
                </a:solidFill>
              </a:rPr>
              <a:t> across all loss and metric curves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ja" sz="1100">
                <a:solidFill>
                  <a:schemeClr val="dk1"/>
                </a:solidFill>
              </a:rPr>
              <a:t>GLASS</a:t>
            </a:r>
            <a:r>
              <a:rPr lang="ja" sz="1100">
                <a:solidFill>
                  <a:schemeClr val="dk1"/>
                </a:solidFill>
              </a:rPr>
              <a:t> and </a:t>
            </a:r>
            <a:r>
              <a:rPr b="1" lang="ja" sz="1100">
                <a:solidFill>
                  <a:schemeClr val="dk1"/>
                </a:solidFill>
              </a:rPr>
              <a:t>METAL</a:t>
            </a:r>
            <a:r>
              <a:rPr lang="ja" sz="1100">
                <a:solidFill>
                  <a:schemeClr val="dk1"/>
                </a:solidFill>
              </a:rPr>
              <a:t> perform best; </a:t>
            </a:r>
            <a:r>
              <a:rPr b="1" lang="ja" sz="1100">
                <a:solidFill>
                  <a:schemeClr val="dk1"/>
                </a:solidFill>
              </a:rPr>
              <a:t>CARDBOARD</a:t>
            </a:r>
            <a:r>
              <a:rPr lang="ja" sz="1100">
                <a:solidFill>
                  <a:schemeClr val="dk1"/>
                </a:solidFill>
              </a:rPr>
              <a:t> needs further tuning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ja" sz="1100">
                <a:solidFill>
                  <a:schemeClr val="dk1"/>
                </a:solidFill>
              </a:rPr>
              <a:t>Misclassifications tied to </a:t>
            </a:r>
            <a:r>
              <a:rPr b="1" lang="ja" sz="1100">
                <a:solidFill>
                  <a:schemeClr val="dk1"/>
                </a:solidFill>
              </a:rPr>
              <a:t>visual similarity</a:t>
            </a:r>
            <a:r>
              <a:rPr lang="ja" sz="1100">
                <a:solidFill>
                  <a:schemeClr val="dk1"/>
                </a:solidFill>
              </a:rPr>
              <a:t>, especially </a:t>
            </a:r>
            <a:r>
              <a:rPr b="1" lang="ja" sz="1100">
                <a:solidFill>
                  <a:schemeClr val="dk1"/>
                </a:solidFill>
              </a:rPr>
              <a:t>PLASTIC and CARDBOARD</a:t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ja" sz="1100">
                <a:solidFill>
                  <a:schemeClr val="dk1"/>
                </a:solidFill>
              </a:rPr>
              <a:t>Overall </a:t>
            </a:r>
            <a:r>
              <a:rPr b="1" lang="ja" sz="1100">
                <a:solidFill>
                  <a:schemeClr val="dk1"/>
                </a:solidFill>
              </a:rPr>
              <a:t>mAP@50 = 0.598</a:t>
            </a:r>
            <a:r>
              <a:rPr lang="ja" sz="1100">
                <a:solidFill>
                  <a:schemeClr val="dk1"/>
                </a:solidFill>
              </a:rPr>
              <a:t>, </a:t>
            </a:r>
            <a:r>
              <a:rPr b="1" lang="ja" sz="1100">
                <a:solidFill>
                  <a:schemeClr val="dk1"/>
                </a:solidFill>
              </a:rPr>
              <a:t>Recall = 0.78</a:t>
            </a:r>
            <a:r>
              <a:rPr lang="ja" sz="1100">
                <a:solidFill>
                  <a:schemeClr val="dk1"/>
                </a:solidFill>
              </a:rPr>
              <a:t>, solid for production use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9"/>
          <p:cNvSpPr txBox="1"/>
          <p:nvPr>
            <p:ph type="title"/>
          </p:nvPr>
        </p:nvSpPr>
        <p:spPr>
          <a:xfrm>
            <a:off x="2995650" y="0"/>
            <a:ext cx="315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 sz="2220"/>
              <a:t>Discussion &amp; Reflection</a:t>
            </a:r>
            <a:endParaRPr sz="2220"/>
          </a:p>
        </p:txBody>
      </p:sp>
      <p:sp>
        <p:nvSpPr>
          <p:cNvPr id="200" name="Google Shape;20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01" name="Google Shape;201;p29"/>
          <p:cNvSpPr txBox="1"/>
          <p:nvPr/>
        </p:nvSpPr>
        <p:spPr>
          <a:xfrm>
            <a:off x="153800" y="572700"/>
            <a:ext cx="4213500" cy="17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/>
              <a:t>Key Learnings from Model Comparison</a:t>
            </a:r>
            <a:endParaRPr b="1"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ja" sz="1000"/>
              <a:t>Baseline ViT showed high training accuracy but poor generalization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ja" sz="1000"/>
              <a:t>Augmented ViT improved macro recall: 0.90 → 0.93</a:t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ja" sz="1000"/>
              <a:t>PLASTIC recall improved: 0.73 → 0.84</a:t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ja" sz="1000"/>
              <a:t>YOLOv8 achieved mAP@50 = 0.598, recall = 0.78</a:t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ja" sz="1000"/>
              <a:t>YOLOv8 showed better generalization for deployment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</p:txBody>
      </p:sp>
      <p:sp>
        <p:nvSpPr>
          <p:cNvPr id="202" name="Google Shape;202;p29"/>
          <p:cNvSpPr txBox="1"/>
          <p:nvPr/>
        </p:nvSpPr>
        <p:spPr>
          <a:xfrm>
            <a:off x="4470350" y="572688"/>
            <a:ext cx="4213500" cy="16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/>
              <a:t>Engineering Choices That Made a Difference</a:t>
            </a:r>
            <a:endParaRPr b="1"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ja" sz="1000"/>
              <a:t>Switched to SoftTargetCrossEntropy for better class boundary handling</a:t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ja" sz="1000"/>
              <a:t>Applied dropout: drop_rate=0.2, attn_drop_rate=0.1</a:t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ja" sz="1000"/>
              <a:t>CosineAnnealingLR used for smoother convergence</a:t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ja" sz="1000"/>
              <a:t>Early stopping (patience=5) to avoid overfitting</a:t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ja" sz="1000"/>
              <a:t>Optuna optimized YOLOv8 hyperparameters</a:t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</p:txBody>
      </p:sp>
      <p:sp>
        <p:nvSpPr>
          <p:cNvPr id="203" name="Google Shape;203;p29"/>
          <p:cNvSpPr txBox="1"/>
          <p:nvPr/>
        </p:nvSpPr>
        <p:spPr>
          <a:xfrm>
            <a:off x="153800" y="2926175"/>
            <a:ext cx="4213500" cy="19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/>
              <a:t>Dataset &amp; Process Reflection</a:t>
            </a:r>
            <a:endParaRPr b="1" sz="1000"/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ja" sz="1000"/>
              <a:t>Original dataset was imbalanced</a:t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ja" sz="1000"/>
              <a:t>Applied stratified resplit (70/15/15) for fairness</a:t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ja" sz="1000"/>
              <a:t>Tasks divided: data prep, modeling, benchmarking, documentatio</a:t>
            </a:r>
            <a:r>
              <a:rPr lang="ja" sz="1000"/>
              <a:t>n</a:t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ja" sz="1000"/>
              <a:t>Tools: Google Colab Pro, PyTorch, timm, torchvision</a:t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ja" sz="1000"/>
              <a:t>Frequent checkpointing helped with session limitations</a:t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</p:txBody>
      </p:sp>
      <p:sp>
        <p:nvSpPr>
          <p:cNvPr id="204" name="Google Shape;204;p29"/>
          <p:cNvSpPr txBox="1"/>
          <p:nvPr/>
        </p:nvSpPr>
        <p:spPr>
          <a:xfrm>
            <a:off x="4470350" y="2926163"/>
            <a:ext cx="4213500" cy="16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/>
              <a:t>Future Plans</a:t>
            </a:r>
            <a:endParaRPr b="1"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ja" sz="1000"/>
              <a:t>Smart bin </a:t>
            </a:r>
            <a:r>
              <a:rPr lang="ja" sz="1000"/>
              <a:t>integration</a:t>
            </a:r>
            <a:r>
              <a:rPr lang="ja" sz="1000"/>
              <a:t>  </a:t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ja" sz="1000"/>
              <a:t>Explainability</a:t>
            </a:r>
            <a:r>
              <a:rPr lang="ja" sz="1000"/>
              <a:t> using Grad-CAm &amp; </a:t>
            </a:r>
            <a:r>
              <a:rPr lang="ja" sz="1000"/>
              <a:t>ViT attention</a:t>
            </a:r>
            <a:r>
              <a:rPr lang="ja" sz="1000"/>
              <a:t> roolout</a:t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ja" sz="1000"/>
              <a:t>Data Expansion </a:t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ja" sz="1000"/>
              <a:t>Deployment </a:t>
            </a:r>
            <a:r>
              <a:rPr lang="ja" sz="1000"/>
              <a:t>Optimization</a:t>
            </a:r>
            <a:r>
              <a:rPr lang="ja" sz="1000"/>
              <a:t> - MobileviT, EfficientNet &amp; quantized YOLO</a:t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 </a:t>
            </a:r>
            <a:r>
              <a:rPr lang="ja"/>
              <a:t>Conclusion </a:t>
            </a:r>
            <a:endParaRPr/>
          </a:p>
        </p:txBody>
      </p:sp>
      <p:sp>
        <p:nvSpPr>
          <p:cNvPr id="210" name="Google Shape;210;p30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ja" sz="1600"/>
              <a:t>Built a waste classification system using ViT and YOLOv8 with transfer learning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ja" sz="1600"/>
              <a:t>Fixed dataset imbalance with a 70/15/15 split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ja" sz="1600"/>
              <a:t>Applied data augmentation and hyperparameter tuning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ja" sz="1600"/>
              <a:t>ViT achieved 93%+ accuracy, YOLOv8 reached mAP@50 = 0.598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ja" sz="1600"/>
              <a:t>Improved detection of challenging classes like Plastic and Glass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ja" sz="1600"/>
              <a:t>Ready for Smart BIN integration to support automated waste management</a:t>
            </a:r>
            <a:endParaRPr sz="1600"/>
          </a:p>
        </p:txBody>
      </p:sp>
      <p:sp>
        <p:nvSpPr>
          <p:cNvPr id="211" name="Google Shape;211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pic>
        <p:nvPicPr>
          <p:cNvPr id="212" name="Google Shape;212;p30" title="ChatGPT Image Jul 25, 2025, 05_43_30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7275" y="866700"/>
            <a:ext cx="4101827" cy="3450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1"/>
          <p:cNvSpPr txBox="1"/>
          <p:nvPr>
            <p:ph type="title"/>
          </p:nvPr>
        </p:nvSpPr>
        <p:spPr>
          <a:xfrm>
            <a:off x="311700" y="2088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Thank you!</a:t>
            </a:r>
            <a:endParaRPr/>
          </a:p>
        </p:txBody>
      </p:sp>
      <p:sp>
        <p:nvSpPr>
          <p:cNvPr id="218" name="Google Shape;218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