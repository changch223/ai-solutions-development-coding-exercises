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8"/>
      <p:bold r:id="rId49"/>
      <p:italic r:id="rId50"/>
      <p:boldItalic r:id="rId51"/>
    </p:embeddedFont>
    <p:embeddedFont>
      <p:font typeface="Roboto ExtraBold" panose="02000000000000000000" pitchFamily="2" charset="0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109" d="100"/>
          <a:sy n="109" d="100"/>
        </p:scale>
        <p:origin x="184" y="10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5bf95377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5bf95377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5cdba38a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5cdba38a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616d7502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616d7502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16d75029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616d75029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616d75029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616d75029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616d75029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616d75029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616d75029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616d75029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616d75029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616d75029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616d75029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616d75029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Key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616d75029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616d75029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616d75029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616d75029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e24466646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e24466646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5bf953776_8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5bf953776_8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5bf953776_8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5bf953776_8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5bf953776_8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5bf953776_8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5bf953776_8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5bf953776_8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e16f6f56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e16f6f56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e16f6f56c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3e16f6f56c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e16f6f56c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e16f6f56c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e16f6f56c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e16f6f56c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e16f6f56c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e16f6f56c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e16f6f56c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3e16f6f56c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e16f6f56c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3e16f6f56c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5bf95377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5bf95377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45bf953776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45bf953776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5fa3053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5fa3053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45fa3053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45fa3053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5fa3053e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45fa3053e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5fa3053e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45fa3053e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5fa3053e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45fa3053e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5fa3053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45fa3053e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5bf953776_5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45bf953776_5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5bf953776_5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45bf953776_5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5bf953776_5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5bf953776_5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5bf953776_5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45bf953776_5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45bf953776_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45bf953776_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3e24466646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3e24466646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3e24466646_7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3e24466646_7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3e24466646_7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3e24466646_7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3e24466646_7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3e24466646_7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e2446664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e2446664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e2446664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e2446664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3550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e2446664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e2446664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2460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e24466646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e24466646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801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jp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07875"/>
            <a:ext cx="8520600" cy="154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/>
              <a:t>MovieLens</a:t>
            </a:r>
            <a:endParaRPr sz="6000"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438663"/>
            <a:ext cx="8520600" cy="7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Gavriel Kirichenko, Callum Joseph Arul, Diparshan Bhattarai, Chia-Wei Chang, Bikash Giri, Friba Hussainyar, Hsi-Teng Liu, Sergio Alejandro Medrano Diaz, Abdul-Rasaq Omisesan,</a:t>
            </a:r>
            <a:endParaRPr sz="16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729450" y="2323175"/>
            <a:ext cx="7685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BIG DATA TOOLS &amp; TECHNIQUES</a:t>
            </a:r>
            <a:endParaRPr sz="2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Group 11 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714450" y="639075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Dataset Description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05475" y="1161213"/>
            <a:ext cx="7911300" cy="30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Size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100,000 ratings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943 users 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1682 movies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Cleaning 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Only users with 20+ ratings and complete demographic info are included 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File format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.dat file 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Data is randomly ordered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b="1"/>
              <a:t>Introduction - Business Questions</a:t>
            </a:r>
            <a:endParaRPr sz="4000" b="1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556750" y="1526750"/>
            <a:ext cx="8133900" cy="30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Which movies are the most popular among different age groups?</a:t>
            </a:r>
            <a:endParaRPr sz="18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Do male and female users have different rating preferences?</a:t>
            </a:r>
            <a:endParaRPr sz="18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Which movie genres have the highest average ratings?</a:t>
            </a:r>
            <a:endParaRPr sz="18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How are users’ ratings affected by movie release date?</a:t>
            </a:r>
            <a:endParaRPr sz="18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How does movie rating behavior vary by user occupation?</a:t>
            </a:r>
            <a:endParaRPr sz="18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Which users are most active in terms of number of ratings?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850" y="1793650"/>
            <a:ext cx="7732300" cy="23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674025" y="568325"/>
            <a:ext cx="787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0" y="639075"/>
            <a:ext cx="6679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Step 0: Transform to CSV</a:t>
            </a:r>
            <a:endParaRPr sz="4000" b="1"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0" y="570675"/>
            <a:ext cx="6679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Pre-Process and Cleaning</a:t>
            </a:r>
            <a:endParaRPr sz="4000" b="1"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100" y="2439975"/>
            <a:ext cx="41529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419100" y="1744775"/>
            <a:ext cx="13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</a:rPr>
              <a:t>Users:</a:t>
            </a:r>
            <a:endParaRPr sz="2400" b="1">
              <a:solidFill>
                <a:schemeClr val="dk1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0924" y="2439975"/>
            <a:ext cx="3549625" cy="192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049" y="250775"/>
            <a:ext cx="2286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2638" y="0"/>
            <a:ext cx="20288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400" y="3393375"/>
            <a:ext cx="3134400" cy="17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25" y="1547700"/>
            <a:ext cx="373380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521725" y="759850"/>
            <a:ext cx="193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</a:rPr>
              <a:t>Ratings:</a:t>
            </a:r>
            <a:endParaRPr sz="2400" b="1">
              <a:solidFill>
                <a:schemeClr val="dk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7925" y="1547700"/>
            <a:ext cx="4583675" cy="740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075" y="836350"/>
            <a:ext cx="343852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9700" y="2938525"/>
            <a:ext cx="481012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/>
        </p:nvSpPr>
        <p:spPr>
          <a:xfrm>
            <a:off x="494375" y="486250"/>
            <a:ext cx="193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</a:rPr>
              <a:t>Movies:</a:t>
            </a:r>
            <a:endParaRPr sz="2400" b="1">
              <a:solidFill>
                <a:schemeClr val="dk1"/>
              </a:solidFill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r="5392"/>
          <a:stretch/>
        </p:blipFill>
        <p:spPr>
          <a:xfrm>
            <a:off x="1304925" y="1110675"/>
            <a:ext cx="61815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82225"/>
            <a:ext cx="8839199" cy="2290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250" y="1451950"/>
            <a:ext cx="4116025" cy="241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025" y="357575"/>
            <a:ext cx="4584450" cy="39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7300"/>
            <a:ext cx="8839199" cy="1299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875" y="3417925"/>
            <a:ext cx="72104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5425" y="466725"/>
            <a:ext cx="2085975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6301" y="466725"/>
            <a:ext cx="192545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600" y="1902450"/>
            <a:ext cx="7450599" cy="318682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7" name="Google Shape;157;p25"/>
          <p:cNvSpPr txBox="1">
            <a:spLocks noGrp="1"/>
          </p:cNvSpPr>
          <p:nvPr>
            <p:ph type="ctrTitle"/>
          </p:nvPr>
        </p:nvSpPr>
        <p:spPr>
          <a:xfrm>
            <a:off x="311700" y="3697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b="1"/>
              <a:t>Import csv to mongodb</a:t>
            </a:r>
            <a:endParaRPr sz="4000" b="1"/>
          </a:p>
        </p:txBody>
      </p:sp>
      <p:sp>
        <p:nvSpPr>
          <p:cNvPr id="158" name="Google Shape;158;p25"/>
          <p:cNvSpPr txBox="1"/>
          <p:nvPr/>
        </p:nvSpPr>
        <p:spPr>
          <a:xfrm>
            <a:off x="589400" y="1456650"/>
            <a:ext cx="465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Create MongoDB Account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b="1"/>
              <a:t>Import csv to mongodb</a:t>
            </a:r>
            <a:endParaRPr sz="4000" b="1"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589400" y="1456650"/>
            <a:ext cx="46542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Open jupyter notebook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pymongo library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Connect MongoDB Atlas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176525"/>
            <a:ext cx="8839201" cy="205058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b="1"/>
              <a:t>Import csv to mongodb</a:t>
            </a:r>
            <a:endParaRPr sz="4000" b="1"/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589400" y="1456650"/>
            <a:ext cx="3595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Import CSV Data to Mongodb using pymongo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 index for table speed up analysis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1650" y="1495725"/>
            <a:ext cx="3595599" cy="272357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769" y="2569975"/>
            <a:ext cx="4570757" cy="16303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ctrTitle"/>
          </p:nvPr>
        </p:nvSpPr>
        <p:spPr>
          <a:xfrm>
            <a:off x="311700" y="21960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800" b="1"/>
              <a:t>Data Analysis（Use MongoDB）</a:t>
            </a:r>
            <a:endParaRPr sz="3800" b="1"/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77425" y="1694100"/>
            <a:ext cx="465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Overall average rating: 3.53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375" y="2023500"/>
            <a:ext cx="4033128" cy="264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7" name="Google Shape;187;p28"/>
          <p:cNvSpPr txBox="1">
            <a:spLocks noGrp="1"/>
          </p:cNvSpPr>
          <p:nvPr>
            <p:ph type="ctrTitle"/>
          </p:nvPr>
        </p:nvSpPr>
        <p:spPr>
          <a:xfrm>
            <a:off x="311700" y="963150"/>
            <a:ext cx="8520600" cy="63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400"/>
              <a:t>Most rated movie by each age group (with ≥50 ratings)</a:t>
            </a:r>
            <a:endParaRPr sz="2400"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9625" y="2023500"/>
            <a:ext cx="4528500" cy="25778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ctrTitle"/>
          </p:nvPr>
        </p:nvSpPr>
        <p:spPr>
          <a:xfrm>
            <a:off x="311700" y="1067475"/>
            <a:ext cx="85206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00"/>
              <a:t>Top 10 highest-rated movies (with at least 50 ratings)</a:t>
            </a:r>
            <a:endParaRPr sz="2500"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425" y="1761450"/>
            <a:ext cx="2227138" cy="30034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4575" y="1761450"/>
            <a:ext cx="3437620" cy="30035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8" name="Google Shape;198;p29"/>
          <p:cNvSpPr txBox="1">
            <a:spLocks noGrp="1"/>
          </p:cNvSpPr>
          <p:nvPr>
            <p:ph type="ctrTitle"/>
          </p:nvPr>
        </p:nvSpPr>
        <p:spPr>
          <a:xfrm>
            <a:off x="311700" y="124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800" b="1"/>
              <a:t>Data Analysis（Use MongoDB）</a:t>
            </a:r>
            <a:endParaRPr sz="38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ctrTitle"/>
          </p:nvPr>
        </p:nvSpPr>
        <p:spPr>
          <a:xfrm>
            <a:off x="311700" y="338775"/>
            <a:ext cx="8520600" cy="3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Rating Distribution Analysis</a:t>
            </a:r>
            <a:endParaRPr sz="2500"/>
          </a:p>
        </p:txBody>
      </p: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7500" y="806275"/>
            <a:ext cx="5145300" cy="3791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 title="Screenshot 2025-03-28 at 2.19.2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208488"/>
            <a:ext cx="2781925" cy="29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ctrTitle"/>
          </p:nvPr>
        </p:nvSpPr>
        <p:spPr>
          <a:xfrm>
            <a:off x="311700" y="169388"/>
            <a:ext cx="8520600" cy="3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Temporal Analysis</a:t>
            </a:r>
            <a:endParaRPr sz="1200" b="1"/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8375" y="699000"/>
            <a:ext cx="5775100" cy="393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1" title="Screenshot 2025-03-28 at 2.20.4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350" y="1159825"/>
            <a:ext cx="3050775" cy="31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ctrTitle"/>
          </p:nvPr>
        </p:nvSpPr>
        <p:spPr>
          <a:xfrm>
            <a:off x="311700" y="169388"/>
            <a:ext cx="8520600" cy="3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Gender-Based Movie Preferences Analysis</a:t>
            </a:r>
            <a:endParaRPr sz="1200" b="1"/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3725" y="682350"/>
            <a:ext cx="4621176" cy="38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 title="Screenshot 2025-03-28 at 2.22.5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025" y="622088"/>
            <a:ext cx="1775395" cy="399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>
            <a:spLocks noGrp="1"/>
          </p:cNvSpPr>
          <p:nvPr>
            <p:ph type="ctrTitle"/>
          </p:nvPr>
        </p:nvSpPr>
        <p:spPr>
          <a:xfrm>
            <a:off x="311700" y="169388"/>
            <a:ext cx="8520600" cy="3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Occupation-Based Analysis</a:t>
            </a:r>
            <a:endParaRPr sz="1200" b="1"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 title="Screenshot 2025-03-28 at 2.27.3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9200" y="665825"/>
            <a:ext cx="4678000" cy="397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>
            <a:spLocks noGrp="1"/>
          </p:cNvSpPr>
          <p:nvPr>
            <p:ph type="ctrTitle"/>
          </p:nvPr>
        </p:nvSpPr>
        <p:spPr>
          <a:xfrm>
            <a:off x="311700" y="169388"/>
            <a:ext cx="8520600" cy="3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Occupation-Based Analysis</a:t>
            </a:r>
            <a:endParaRPr sz="1200" b="1"/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2425" y="1223325"/>
            <a:ext cx="6584225" cy="29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>
            <a:spLocks noGrp="1"/>
          </p:cNvSpPr>
          <p:nvPr>
            <p:ph type="ctrTitle"/>
          </p:nvPr>
        </p:nvSpPr>
        <p:spPr>
          <a:xfrm>
            <a:off x="311700" y="169388"/>
            <a:ext cx="8520600" cy="3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Occupation-Based Analysis</a:t>
            </a:r>
            <a:endParaRPr sz="1200" b="1"/>
          </a:p>
        </p:txBody>
      </p:sp>
      <p:pic>
        <p:nvPicPr>
          <p:cNvPr id="247" name="Google Shape;2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7350" y="1402825"/>
            <a:ext cx="5874951" cy="259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200" y="642325"/>
            <a:ext cx="2783151" cy="38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>
            <a:spLocks noGrp="1"/>
          </p:cNvSpPr>
          <p:nvPr>
            <p:ph type="ctrTitle"/>
          </p:nvPr>
        </p:nvSpPr>
        <p:spPr>
          <a:xfrm>
            <a:off x="311700" y="169388"/>
            <a:ext cx="8520600" cy="3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Rating Trends Analysis</a:t>
            </a:r>
            <a:endParaRPr sz="1200" b="1"/>
          </a:p>
        </p:txBody>
      </p:sp>
      <p:pic>
        <p:nvPicPr>
          <p:cNvPr id="256" name="Google Shape;2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1225" y="639075"/>
            <a:ext cx="5651075" cy="399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6" title="Screenshot 2025-03-28 at 2.31.1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725" y="815525"/>
            <a:ext cx="2747199" cy="3512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MongoDB to MS SQL</a:t>
            </a:r>
            <a:endParaRPr sz="6000" b="1"/>
          </a:p>
        </p:txBody>
      </p:sp>
      <p:pic>
        <p:nvPicPr>
          <p:cNvPr id="265" name="Google Shape;26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7"/>
          <p:cNvSpPr txBox="1"/>
          <p:nvPr/>
        </p:nvSpPr>
        <p:spPr>
          <a:xfrm>
            <a:off x="589400" y="1456650"/>
            <a:ext cx="46542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Mongo BI Connector provider a SQL daemon pairs with an ODBC driver.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Importing was possible in SSIS, but the transform to normalized forms was too difficult.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68" name="Google Shape;268;p37" title="mongo-conne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0275" y="1458775"/>
            <a:ext cx="3631825" cy="305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MongoDB to MS SQL</a:t>
            </a:r>
            <a:endParaRPr sz="6000" b="1"/>
          </a:p>
        </p:txBody>
      </p:sp>
      <p:pic>
        <p:nvPicPr>
          <p:cNvPr id="274" name="Google Shape;27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8" title="mongo-movi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738" y="1609050"/>
            <a:ext cx="2867800" cy="30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8" title="sql-genr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0525" y="1672525"/>
            <a:ext cx="1266825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8"/>
          <p:cNvSpPr txBox="1"/>
          <p:nvPr/>
        </p:nvSpPr>
        <p:spPr>
          <a:xfrm>
            <a:off x="311700" y="1609050"/>
            <a:ext cx="32898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 Semi-Structured and Structured data mismatch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MongoDB to MS SQL</a:t>
            </a:r>
            <a:endParaRPr sz="6000" b="1"/>
          </a:p>
        </p:txBody>
      </p:sp>
      <p:pic>
        <p:nvPicPr>
          <p:cNvPr id="284" name="Google Shape;2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9"/>
          <p:cNvSpPr txBox="1"/>
          <p:nvPr/>
        </p:nvSpPr>
        <p:spPr>
          <a:xfrm>
            <a:off x="311700" y="1450800"/>
            <a:ext cx="3289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 Python Solution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87" name="Google Shape;287;p39"/>
          <p:cNvSpPr txBox="1"/>
          <p:nvPr/>
        </p:nvSpPr>
        <p:spPr>
          <a:xfrm>
            <a:off x="311700" y="3107875"/>
            <a:ext cx="4216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PyODBC with fast_executemany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88" name="Google Shape;288;p39"/>
          <p:cNvSpPr txBox="1"/>
          <p:nvPr/>
        </p:nvSpPr>
        <p:spPr>
          <a:xfrm>
            <a:off x="311700" y="2571750"/>
            <a:ext cx="4216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PyMongo 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289" name="Google Shape;28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9250" y="1456650"/>
            <a:ext cx="3689579" cy="30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SSAS</a:t>
            </a:r>
            <a:endParaRPr sz="6000" b="1"/>
          </a:p>
        </p:txBody>
      </p:sp>
      <p:pic>
        <p:nvPicPr>
          <p:cNvPr id="295" name="Google Shape;2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0" title="ssas-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650" y="1302725"/>
            <a:ext cx="5964698" cy="30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SSAS</a:t>
            </a:r>
            <a:endParaRPr sz="6000" b="1"/>
          </a:p>
        </p:txBody>
      </p:sp>
      <p:pic>
        <p:nvPicPr>
          <p:cNvPr id="303" name="Google Shape;30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1" title="ssas-movi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7600" y="1623300"/>
            <a:ext cx="5410200" cy="224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41"/>
          <p:cNvCxnSpPr/>
          <p:nvPr/>
        </p:nvCxnSpPr>
        <p:spPr>
          <a:xfrm flipH="1">
            <a:off x="6511400" y="1638500"/>
            <a:ext cx="833400" cy="285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7" name="Google Shape;307;p41"/>
          <p:cNvSpPr txBox="1"/>
          <p:nvPr/>
        </p:nvSpPr>
        <p:spPr>
          <a:xfrm>
            <a:off x="7316175" y="1392550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Added Column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08" name="Google Shape;308;p41"/>
          <p:cNvCxnSpPr/>
          <p:nvPr/>
        </p:nvCxnSpPr>
        <p:spPr>
          <a:xfrm rot="10800000">
            <a:off x="6660975" y="3740075"/>
            <a:ext cx="498600" cy="57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9" name="Google Shape;309;p41"/>
          <p:cNvSpPr txBox="1"/>
          <p:nvPr/>
        </p:nvSpPr>
        <p:spPr>
          <a:xfrm>
            <a:off x="7159575" y="3611850"/>
            <a:ext cx="190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Metrics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SSAS</a:t>
            </a:r>
            <a:endParaRPr sz="6000" b="1"/>
          </a:p>
        </p:txBody>
      </p:sp>
      <p:pic>
        <p:nvPicPr>
          <p:cNvPr id="315" name="Google Shape;3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2" title="ssas-gen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5425" y="1487975"/>
            <a:ext cx="1704975" cy="1971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42"/>
          <p:cNvCxnSpPr/>
          <p:nvPr/>
        </p:nvCxnSpPr>
        <p:spPr>
          <a:xfrm flipH="1">
            <a:off x="4979475" y="3191525"/>
            <a:ext cx="662700" cy="206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9" name="Google Shape;319;p42"/>
          <p:cNvSpPr txBox="1"/>
          <p:nvPr/>
        </p:nvSpPr>
        <p:spPr>
          <a:xfrm>
            <a:off x="5688900" y="2936525"/>
            <a:ext cx="345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Metric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SSAS</a:t>
            </a:r>
            <a:endParaRPr sz="6000" b="1"/>
          </a:p>
        </p:txBody>
      </p:sp>
      <p:pic>
        <p:nvPicPr>
          <p:cNvPr id="325" name="Google Shape;32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3"/>
          <p:cNvSpPr txBox="1"/>
          <p:nvPr/>
        </p:nvSpPr>
        <p:spPr>
          <a:xfrm>
            <a:off x="7008525" y="1356925"/>
            <a:ext cx="17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Added Column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6816325" y="3016763"/>
            <a:ext cx="190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Metrics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9" name="Google Shape;329;p43" title="ssas-us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7900" y="1416700"/>
            <a:ext cx="4525489" cy="300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43"/>
          <p:cNvCxnSpPr>
            <a:stCxn id="327" idx="1"/>
          </p:cNvCxnSpPr>
          <p:nvPr/>
        </p:nvCxnSpPr>
        <p:spPr>
          <a:xfrm flipH="1">
            <a:off x="6260625" y="1587775"/>
            <a:ext cx="747900" cy="142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43"/>
          <p:cNvCxnSpPr/>
          <p:nvPr/>
        </p:nvCxnSpPr>
        <p:spPr>
          <a:xfrm rot="10800000">
            <a:off x="6317725" y="3219113"/>
            <a:ext cx="498600" cy="57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>
            <a:spLocks noGrp="1"/>
          </p:cNvSpPr>
          <p:nvPr>
            <p:ph type="ctrTitle"/>
          </p:nvPr>
        </p:nvSpPr>
        <p:spPr>
          <a:xfrm>
            <a:off x="311700" y="505350"/>
            <a:ext cx="8520600" cy="9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000" b="1"/>
              <a:t>SSAS</a:t>
            </a:r>
            <a:endParaRPr sz="6000" b="1"/>
          </a:p>
        </p:txBody>
      </p:sp>
      <p:pic>
        <p:nvPicPr>
          <p:cNvPr id="337" name="Google Shape;33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4" title="ssas-rat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3175" y="1719263"/>
            <a:ext cx="4495800" cy="1704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44"/>
          <p:cNvCxnSpPr/>
          <p:nvPr/>
        </p:nvCxnSpPr>
        <p:spPr>
          <a:xfrm rot="10800000" flipH="1">
            <a:off x="2080200" y="3319825"/>
            <a:ext cx="598500" cy="192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1" name="Google Shape;341;p44"/>
          <p:cNvSpPr txBox="1"/>
          <p:nvPr/>
        </p:nvSpPr>
        <p:spPr>
          <a:xfrm>
            <a:off x="1253700" y="3291275"/>
            <a:ext cx="82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Metric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Roboto ExtraBold"/>
                <a:ea typeface="Roboto ExtraBold"/>
                <a:cs typeface="Roboto ExtraBold"/>
                <a:sym typeface="Roboto ExtraBold"/>
              </a:rPr>
              <a:t>PowerBI Exploration</a:t>
            </a:r>
            <a:endParaRPr sz="24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47" name="Google Shape;347;p45"/>
          <p:cNvSpPr txBox="1">
            <a:spLocks noGrp="1"/>
          </p:cNvSpPr>
          <p:nvPr>
            <p:ph type="subTitle" idx="1"/>
          </p:nvPr>
        </p:nvSpPr>
        <p:spPr>
          <a:xfrm>
            <a:off x="311700" y="1642675"/>
            <a:ext cx="8520600" cy="19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1.  User Demographics &amp; Preferences Report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2.  Movie Genre Popularity Report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3.  Top-Rated Movies Report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4.  Total Movies per Genre Report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48" name="Google Shape;34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 txBox="1">
            <a:spLocks noGrp="1"/>
          </p:cNvSpPr>
          <p:nvPr>
            <p:ph type="ctrTitle"/>
          </p:nvPr>
        </p:nvSpPr>
        <p:spPr>
          <a:xfrm>
            <a:off x="108475" y="275575"/>
            <a:ext cx="69633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/>
              <a:t>User Demographics &amp; Preferences Report</a:t>
            </a:r>
            <a:endParaRPr sz="33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55" name="Google Shape;355;p46"/>
          <p:cNvSpPr txBox="1">
            <a:spLocks noGrp="1"/>
          </p:cNvSpPr>
          <p:nvPr>
            <p:ph type="subTitle" idx="1"/>
          </p:nvPr>
        </p:nvSpPr>
        <p:spPr>
          <a:xfrm>
            <a:off x="577475" y="16141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6"/>
          <p:cNvSpPr txBox="1">
            <a:spLocks noGrp="1"/>
          </p:cNvSpPr>
          <p:nvPr>
            <p:ph type="subTitle" idx="1"/>
          </p:nvPr>
        </p:nvSpPr>
        <p:spPr>
          <a:xfrm>
            <a:off x="4923650" y="15203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59" name="Google Shape;359;p46" title="User Demographics &amp; Preferences Repor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050" y="965300"/>
            <a:ext cx="8265226" cy="3696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>
            <a:spLocks noGrp="1"/>
          </p:cNvSpPr>
          <p:nvPr>
            <p:ph type="ctrTitle"/>
          </p:nvPr>
        </p:nvSpPr>
        <p:spPr>
          <a:xfrm>
            <a:off x="108475" y="275575"/>
            <a:ext cx="69633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/>
              <a:t>Movie Genre Popularity Report</a:t>
            </a:r>
            <a:endParaRPr sz="21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65" name="Google Shape;365;p47"/>
          <p:cNvSpPr txBox="1">
            <a:spLocks noGrp="1"/>
          </p:cNvSpPr>
          <p:nvPr>
            <p:ph type="subTitle" idx="1"/>
          </p:nvPr>
        </p:nvSpPr>
        <p:spPr>
          <a:xfrm>
            <a:off x="577475" y="16141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66" name="Google Shape;3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7"/>
          <p:cNvSpPr txBox="1">
            <a:spLocks noGrp="1"/>
          </p:cNvSpPr>
          <p:nvPr>
            <p:ph type="subTitle" idx="1"/>
          </p:nvPr>
        </p:nvSpPr>
        <p:spPr>
          <a:xfrm>
            <a:off x="4923650" y="15203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69" name="Google Shape;369;p47" title="Movie Genre Popularity Report.png"/>
          <p:cNvPicPr preferRelativeResize="0"/>
          <p:nvPr/>
        </p:nvPicPr>
        <p:blipFill rotWithShape="1">
          <a:blip r:embed="rId5">
            <a:alphaModFix/>
          </a:blip>
          <a:srcRect l="2042" r="2052"/>
          <a:stretch/>
        </p:blipFill>
        <p:spPr>
          <a:xfrm>
            <a:off x="396050" y="965300"/>
            <a:ext cx="8265226" cy="3696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>
            <a:spLocks noGrp="1"/>
          </p:cNvSpPr>
          <p:nvPr>
            <p:ph type="ctrTitle"/>
          </p:nvPr>
        </p:nvSpPr>
        <p:spPr>
          <a:xfrm>
            <a:off x="108475" y="275575"/>
            <a:ext cx="69633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/>
              <a:t>Top-Rated Movies Report</a:t>
            </a:r>
            <a:endParaRPr sz="21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75" name="Google Shape;375;p48"/>
          <p:cNvSpPr txBox="1">
            <a:spLocks noGrp="1"/>
          </p:cNvSpPr>
          <p:nvPr>
            <p:ph type="subTitle" idx="1"/>
          </p:nvPr>
        </p:nvSpPr>
        <p:spPr>
          <a:xfrm>
            <a:off x="577475" y="16141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76" name="Google Shape;37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8"/>
          <p:cNvSpPr txBox="1">
            <a:spLocks noGrp="1"/>
          </p:cNvSpPr>
          <p:nvPr>
            <p:ph type="subTitle" idx="1"/>
          </p:nvPr>
        </p:nvSpPr>
        <p:spPr>
          <a:xfrm>
            <a:off x="4923650" y="15203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79" name="Google Shape;379;p48" title="Top-Rated Movies Report.png"/>
          <p:cNvPicPr preferRelativeResize="0"/>
          <p:nvPr/>
        </p:nvPicPr>
        <p:blipFill rotWithShape="1">
          <a:blip r:embed="rId5">
            <a:alphaModFix/>
          </a:blip>
          <a:srcRect l="12229" r="12236"/>
          <a:stretch/>
        </p:blipFill>
        <p:spPr>
          <a:xfrm>
            <a:off x="396050" y="965300"/>
            <a:ext cx="8265227" cy="3696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 txBox="1">
            <a:spLocks noGrp="1"/>
          </p:cNvSpPr>
          <p:nvPr>
            <p:ph type="ctrTitle"/>
          </p:nvPr>
        </p:nvSpPr>
        <p:spPr>
          <a:xfrm>
            <a:off x="108475" y="275575"/>
            <a:ext cx="69633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/>
              <a:t>Total Movies per Genre Report</a:t>
            </a:r>
            <a:endParaRPr sz="21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85" name="Google Shape;385;p49"/>
          <p:cNvSpPr txBox="1">
            <a:spLocks noGrp="1"/>
          </p:cNvSpPr>
          <p:nvPr>
            <p:ph type="subTitle" idx="1"/>
          </p:nvPr>
        </p:nvSpPr>
        <p:spPr>
          <a:xfrm>
            <a:off x="577475" y="16141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86" name="Google Shape;38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9"/>
          <p:cNvSpPr txBox="1">
            <a:spLocks noGrp="1"/>
          </p:cNvSpPr>
          <p:nvPr>
            <p:ph type="subTitle" idx="1"/>
          </p:nvPr>
        </p:nvSpPr>
        <p:spPr>
          <a:xfrm>
            <a:off x="4923650" y="1520363"/>
            <a:ext cx="3852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389" name="Google Shape;389;p49" title="Total Movies per Genre.png"/>
          <p:cNvPicPr preferRelativeResize="0"/>
          <p:nvPr/>
        </p:nvPicPr>
        <p:blipFill rotWithShape="1">
          <a:blip r:embed="rId5">
            <a:alphaModFix/>
          </a:blip>
          <a:srcRect t="11277" b="11269"/>
          <a:stretch/>
        </p:blipFill>
        <p:spPr>
          <a:xfrm>
            <a:off x="396050" y="965300"/>
            <a:ext cx="8265227" cy="3696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>
            <a:spLocks noGrp="1"/>
          </p:cNvSpPr>
          <p:nvPr>
            <p:ph type="ctrTitle"/>
          </p:nvPr>
        </p:nvSpPr>
        <p:spPr>
          <a:xfrm>
            <a:off x="353100" y="959525"/>
            <a:ext cx="46041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latin typeface="Roboto ExtraBold"/>
                <a:ea typeface="Roboto ExtraBold"/>
                <a:cs typeface="Roboto ExtraBold"/>
                <a:sym typeface="Roboto ExtraBold"/>
              </a:rPr>
              <a:t>Next Steps: Smarter Movie Picks!</a:t>
            </a:r>
            <a:endParaRPr sz="24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395" name="Google Shape;39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9400" y="959513"/>
            <a:ext cx="3028475" cy="30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0"/>
          <p:cNvSpPr txBox="1">
            <a:spLocks noGrp="1"/>
          </p:cNvSpPr>
          <p:nvPr>
            <p:ph type="ctrTitle"/>
          </p:nvPr>
        </p:nvSpPr>
        <p:spPr>
          <a:xfrm>
            <a:off x="425550" y="1976550"/>
            <a:ext cx="4045200" cy="11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i="1" dirty="0">
                <a:latin typeface="Roboto"/>
                <a:ea typeface="Roboto"/>
                <a:cs typeface="Roboto"/>
                <a:sym typeface="Roboto"/>
              </a:rPr>
              <a:t>Building upon our </a:t>
            </a:r>
            <a:r>
              <a:rPr lang="en" sz="1500" i="1" dirty="0" err="1">
                <a:latin typeface="Roboto"/>
                <a:ea typeface="Roboto"/>
                <a:cs typeface="Roboto"/>
                <a:sym typeface="Roboto"/>
              </a:rPr>
              <a:t>MovieLens</a:t>
            </a:r>
            <a:r>
              <a:rPr lang="en" sz="1500" i="1" dirty="0">
                <a:latin typeface="Roboto"/>
                <a:ea typeface="Roboto"/>
                <a:cs typeface="Roboto"/>
                <a:sym typeface="Roboto"/>
              </a:rPr>
              <a:t> data exploration, we can leverage the insights gained to develop a more sophisticated recommendation engine.</a:t>
            </a:r>
            <a:endParaRPr sz="1500" i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>
            <a:spLocks noGrp="1"/>
          </p:cNvSpPr>
          <p:nvPr>
            <p:ph type="ctrTitle"/>
          </p:nvPr>
        </p:nvSpPr>
        <p:spPr>
          <a:xfrm>
            <a:off x="258725" y="752900"/>
            <a:ext cx="87450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latin typeface="Roboto ExtraBold"/>
                <a:ea typeface="Roboto ExtraBold"/>
                <a:cs typeface="Roboto ExtraBold"/>
                <a:sym typeface="Roboto ExtraBold"/>
              </a:rPr>
              <a:t>Building a More Robust Recommendation System: Hybrid Approach</a:t>
            </a:r>
            <a:endParaRPr sz="24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04" name="Google Shape;40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1"/>
          <p:cNvSpPr txBox="1">
            <a:spLocks noGrp="1"/>
          </p:cNvSpPr>
          <p:nvPr>
            <p:ph type="ctrTitle"/>
          </p:nvPr>
        </p:nvSpPr>
        <p:spPr>
          <a:xfrm>
            <a:off x="342750" y="1335875"/>
            <a:ext cx="6798000" cy="31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i="1">
                <a:latin typeface="Roboto ExtraBold"/>
                <a:ea typeface="Roboto ExtraBold"/>
                <a:cs typeface="Roboto ExtraBold"/>
                <a:sym typeface="Roboto ExtraBold"/>
              </a:rPr>
              <a:t>1. Collaborative Filtering:</a:t>
            </a:r>
            <a:endParaRPr sz="1500" i="1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i="1">
                <a:latin typeface="Roboto"/>
                <a:ea typeface="Roboto"/>
                <a:cs typeface="Roboto"/>
                <a:sym typeface="Roboto"/>
              </a:rPr>
              <a:t>Utilizes user ratings to find similar users and recommend movies they enjoyed.</a:t>
            </a:r>
            <a:endParaRPr sz="1500" i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i="1">
                <a:latin typeface="Roboto ExtraBold"/>
                <a:ea typeface="Roboto ExtraBold"/>
                <a:cs typeface="Roboto ExtraBold"/>
                <a:sym typeface="Roboto ExtraBold"/>
              </a:rPr>
              <a:t>2. Content-Based Filtering:</a:t>
            </a:r>
            <a:endParaRPr sz="1500" i="1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i="1">
                <a:latin typeface="Roboto"/>
                <a:ea typeface="Roboto"/>
                <a:cs typeface="Roboto"/>
                <a:sym typeface="Roboto"/>
              </a:rPr>
              <a:t> Analyzes movie attributes (genres, actors, directors, plot summaries) to suggest similar movies to those a user has liked.</a:t>
            </a:r>
            <a:endParaRPr sz="1500" i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i="1">
                <a:latin typeface="Roboto ExtraBold"/>
                <a:ea typeface="Roboto ExtraBold"/>
                <a:cs typeface="Roboto ExtraBold"/>
                <a:sym typeface="Roboto ExtraBold"/>
              </a:rPr>
              <a:t>3. Knowledge Based Recommendation:</a:t>
            </a:r>
            <a:endParaRPr sz="1500" i="1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i="1">
                <a:latin typeface="Roboto"/>
                <a:ea typeface="Roboto"/>
                <a:cs typeface="Roboto"/>
                <a:sym typeface="Roboto"/>
              </a:rPr>
              <a:t> Analyzes movie attributes to provide more personalized ratings to those a user has liked.</a:t>
            </a:r>
            <a:endParaRPr sz="1500" i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ct val="73333"/>
              <a:buFont typeface="Arial"/>
              <a:buNone/>
            </a:pPr>
            <a:endParaRPr sz="1500"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>
            <a:spLocks noGrp="1"/>
          </p:cNvSpPr>
          <p:nvPr>
            <p:ph type="ctrTitle"/>
          </p:nvPr>
        </p:nvSpPr>
        <p:spPr>
          <a:xfrm>
            <a:off x="258725" y="639075"/>
            <a:ext cx="59922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latin typeface="Roboto ExtraBold"/>
                <a:ea typeface="Roboto ExtraBold"/>
                <a:cs typeface="Roboto ExtraBold"/>
                <a:sym typeface="Roboto ExtraBold"/>
              </a:rPr>
              <a:t> Adding Layers of Personalization and Context</a:t>
            </a:r>
            <a:endParaRPr sz="24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12" name="Google Shape;41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2"/>
          <p:cNvSpPr txBox="1">
            <a:spLocks noGrp="1"/>
          </p:cNvSpPr>
          <p:nvPr>
            <p:ph type="ctrTitle"/>
          </p:nvPr>
        </p:nvSpPr>
        <p:spPr>
          <a:xfrm>
            <a:off x="342750" y="1292175"/>
            <a:ext cx="6798000" cy="311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 ExtraBold"/>
                <a:ea typeface="Roboto ExtraBold"/>
                <a:cs typeface="Roboto ExtraBold"/>
                <a:sym typeface="Roboto ExtraBold"/>
              </a:rPr>
              <a:t>User Demographics:</a:t>
            </a:r>
            <a:endParaRPr sz="105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Content: Leveraging age, gender, occupation (identified in our analysis) to tailor recommendations.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Example: Suggesting family-friendly movies to users with young children.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 ExtraBold"/>
                <a:ea typeface="Roboto ExtraBold"/>
                <a:cs typeface="Roboto ExtraBold"/>
                <a:sym typeface="Roboto ExtraBold"/>
              </a:rPr>
              <a:t>Temporal Effects:</a:t>
            </a:r>
            <a:endParaRPr sz="105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Content: Taking movie release dates (as shown in our data) into account to incorporate trends.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Example: Suggesting new releases or movies popular during a specific user's preferred period.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 ExtraBold"/>
                <a:ea typeface="Roboto ExtraBold"/>
                <a:cs typeface="Roboto ExtraBold"/>
                <a:sym typeface="Roboto ExtraBold"/>
              </a:rPr>
              <a:t>Explicit Feedback:</a:t>
            </a:r>
            <a:endParaRPr sz="105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Allow users to explicitly specify movies they like or dislike.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Impact: Improves recommendation accuracy by focusing on preferences.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>
            <a:spLocks noGrp="1"/>
          </p:cNvSpPr>
          <p:nvPr>
            <p:ph type="ctrTitle"/>
          </p:nvPr>
        </p:nvSpPr>
        <p:spPr>
          <a:xfrm>
            <a:off x="258725" y="639075"/>
            <a:ext cx="59922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latin typeface="Roboto ExtraBold"/>
                <a:ea typeface="Roboto ExtraBold"/>
                <a:cs typeface="Roboto ExtraBold"/>
                <a:sym typeface="Roboto ExtraBold"/>
              </a:rPr>
              <a:t>Possible enhancements</a:t>
            </a:r>
            <a:endParaRPr sz="24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20" name="Google Shape;4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3"/>
          <p:cNvSpPr txBox="1">
            <a:spLocks noGrp="1"/>
          </p:cNvSpPr>
          <p:nvPr>
            <p:ph type="ctrTitle"/>
          </p:nvPr>
        </p:nvSpPr>
        <p:spPr>
          <a:xfrm>
            <a:off x="342750" y="1180575"/>
            <a:ext cx="4332300" cy="287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i="1" dirty="0">
                <a:latin typeface="Roboto ExtraBold"/>
                <a:ea typeface="Roboto ExtraBold"/>
                <a:cs typeface="Roboto ExtraBold"/>
                <a:sym typeface="Roboto ExtraBold"/>
              </a:rPr>
              <a:t>More data points.</a:t>
            </a:r>
            <a:endParaRPr sz="1300" i="1" dirty="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i="1" dirty="0">
                <a:latin typeface="Roboto"/>
                <a:ea typeface="Roboto"/>
                <a:cs typeface="Roboto"/>
                <a:sym typeface="Roboto"/>
              </a:rPr>
              <a:t>More data makes the model more reliable.</a:t>
            </a:r>
            <a:endParaRPr sz="1300" i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i="1" dirty="0">
                <a:latin typeface="Roboto ExtraBold"/>
                <a:ea typeface="Roboto ExtraBold"/>
                <a:cs typeface="Roboto ExtraBold"/>
                <a:sym typeface="Roboto ExtraBold"/>
              </a:rPr>
              <a:t>Implementing the model with a robust front end.</a:t>
            </a:r>
            <a:endParaRPr sz="1300" i="1" dirty="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i="1" dirty="0">
                <a:latin typeface="Roboto"/>
                <a:ea typeface="Roboto"/>
                <a:cs typeface="Roboto"/>
                <a:sym typeface="Roboto"/>
              </a:rPr>
              <a:t>Easy interface helps users navigate their </a:t>
            </a:r>
            <a:r>
              <a:rPr lang="en" sz="1300" i="1" dirty="0" err="1">
                <a:latin typeface="Roboto"/>
                <a:ea typeface="Roboto"/>
                <a:cs typeface="Roboto"/>
                <a:sym typeface="Roboto"/>
              </a:rPr>
              <a:t>favourite</a:t>
            </a:r>
            <a:r>
              <a:rPr lang="en" sz="1300" i="1" dirty="0">
                <a:latin typeface="Roboto"/>
                <a:ea typeface="Roboto"/>
                <a:cs typeface="Roboto"/>
                <a:sym typeface="Roboto"/>
              </a:rPr>
              <a:t> movies.</a:t>
            </a:r>
            <a:endParaRPr sz="1300" i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i="1" dirty="0">
                <a:latin typeface="Roboto ExtraBold"/>
                <a:ea typeface="Roboto ExtraBold"/>
                <a:cs typeface="Roboto ExtraBold"/>
                <a:sym typeface="Roboto ExtraBold"/>
              </a:rPr>
              <a:t>Making it scalable.</a:t>
            </a:r>
            <a:endParaRPr sz="1300" i="1" dirty="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i="1" dirty="0">
                <a:latin typeface="Roboto"/>
                <a:ea typeface="Roboto"/>
                <a:cs typeface="Roboto"/>
                <a:sym typeface="Roboto"/>
              </a:rPr>
              <a:t>Scalability helps with more users at the same time.</a:t>
            </a:r>
            <a:endParaRPr sz="1300" i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i="1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23" name="Google Shape;42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3700" y="820775"/>
            <a:ext cx="3254777" cy="32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"/>
          <p:cNvSpPr txBox="1">
            <a:spLocks noGrp="1"/>
          </p:cNvSpPr>
          <p:nvPr>
            <p:ph type="ctrTitle"/>
          </p:nvPr>
        </p:nvSpPr>
        <p:spPr>
          <a:xfrm>
            <a:off x="206192" y="781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latin typeface="Roboto ExtraBold"/>
                <a:ea typeface="Roboto ExtraBold"/>
                <a:cs typeface="Roboto ExtraBold"/>
                <a:sym typeface="Roboto ExtraBold"/>
              </a:rPr>
              <a:t>Conclusion: </a:t>
            </a:r>
            <a:endParaRPr sz="24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29" name="Google Shape;42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4"/>
          <p:cNvSpPr txBox="1"/>
          <p:nvPr/>
        </p:nvSpPr>
        <p:spPr>
          <a:xfrm>
            <a:off x="318870" y="576639"/>
            <a:ext cx="7554485" cy="428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Dataset &amp; Goals</a:t>
            </a:r>
          </a:p>
          <a:p>
            <a:pPr marL="285750" indent="-28575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CA" sz="1300" i="1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MovieLens</a:t>
            </a: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dataset: 100K ratings, 943 users, 1,682 movies</a:t>
            </a:r>
          </a:p>
          <a:p>
            <a:pPr marL="285750" indent="-28575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Objective: Analyze how age, gender, and occupation influence movie ratings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Business Questions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Most popular movies among different age groups?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Male vs. Female rating preferences?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op-rated genres overall?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Impact of release date on ratings?</a:t>
            </a:r>
          </a:p>
          <a:p>
            <a:pPr marL="342900" indent="-342900"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How does occupation affect rating behavior?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" sz="1300" b="1" i="1" dirty="0">
                <a:solidFill>
                  <a:schemeClr val="dk1"/>
                </a:solidFill>
                <a:latin typeface="Roboto ExtraBold"/>
                <a:ea typeface="Roboto ExtraBold"/>
              </a:rPr>
              <a:t> </a:t>
            </a:r>
            <a:endParaRPr sz="1300" b="1" i="1" dirty="0">
              <a:solidFill>
                <a:schemeClr val="dk1"/>
              </a:solidFill>
              <a:latin typeface="Roboto ExtraBold"/>
              <a:ea typeface="Roboto ExtraBold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"/>
          <p:cNvSpPr txBox="1">
            <a:spLocks noGrp="1"/>
          </p:cNvSpPr>
          <p:nvPr>
            <p:ph type="ctrTitle"/>
          </p:nvPr>
        </p:nvSpPr>
        <p:spPr>
          <a:xfrm>
            <a:off x="206192" y="781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latin typeface="Roboto ExtraBold"/>
                <a:ea typeface="Roboto ExtraBold"/>
                <a:cs typeface="Roboto ExtraBold"/>
                <a:sym typeface="Roboto ExtraBold"/>
              </a:rPr>
              <a:t>Conclusion CTND: </a:t>
            </a:r>
            <a:endParaRPr sz="24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29" name="Google Shape;42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4"/>
          <p:cNvSpPr txBox="1"/>
          <p:nvPr/>
        </p:nvSpPr>
        <p:spPr>
          <a:xfrm>
            <a:off x="318870" y="576639"/>
            <a:ext cx="7554485" cy="4690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ETL (Extract, Transform, Load)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Extract: Converted .</a:t>
            </a:r>
            <a:r>
              <a:rPr lang="en-CA" sz="1300" i="1" dirty="0" err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dat</a:t>
            </a: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 files (users, items, ratings) to local .csv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Transform: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Cleaned data (remove users &lt;20 ratings)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One-hot encoded genres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Merged datasets for consistency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Load: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Stored in MongoDB for semi-structured access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Used Python scripts to bulk-insert into MS SQL Server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Set up SSAS to define metrics (average ratings, rating counts, etc.)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" sz="1300" b="1" i="1" dirty="0">
                <a:solidFill>
                  <a:schemeClr val="dk1"/>
                </a:solidFill>
                <a:latin typeface="Roboto ExtraBold"/>
                <a:ea typeface="Roboto ExtraBold"/>
              </a:rPr>
              <a:t> </a:t>
            </a:r>
            <a:endParaRPr sz="1300" b="1" i="1" dirty="0">
              <a:solidFill>
                <a:schemeClr val="dk1"/>
              </a:solidFill>
              <a:latin typeface="Roboto ExtraBold"/>
              <a:ea typeface="Roboto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57088378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"/>
          <p:cNvSpPr txBox="1">
            <a:spLocks noGrp="1"/>
          </p:cNvSpPr>
          <p:nvPr>
            <p:ph type="ctrTitle"/>
          </p:nvPr>
        </p:nvSpPr>
        <p:spPr>
          <a:xfrm>
            <a:off x="206192" y="781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latin typeface="Roboto ExtraBold"/>
                <a:ea typeface="Roboto ExtraBold"/>
                <a:cs typeface="Roboto ExtraBold"/>
                <a:sym typeface="Roboto ExtraBold"/>
              </a:rPr>
              <a:t>Conclusion Key Insights &amp; Future Steps</a:t>
            </a:r>
            <a:endParaRPr sz="24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29" name="Google Shape;42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4"/>
          <p:cNvSpPr txBox="1"/>
          <p:nvPr/>
        </p:nvSpPr>
        <p:spPr>
          <a:xfrm>
            <a:off x="318870" y="576639"/>
            <a:ext cx="7554485" cy="346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Gender-Based Findings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Females rate Musicals, Children, and Animation higher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Males lean toward Western, Mystery, and Sci-Fi (the difference is moderate)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Occupation-Driven Trends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Students: Largest total number of ratings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Healthcare professionals: Highest ratings per user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Genre preferences vary slightly by profession (e.g., executives → comedy, administrators → drama)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endParaRPr lang="en-CA" sz="1300" i="1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8028199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4"/>
          <p:cNvSpPr txBox="1">
            <a:spLocks noGrp="1"/>
          </p:cNvSpPr>
          <p:nvPr>
            <p:ph type="ctrTitle"/>
          </p:nvPr>
        </p:nvSpPr>
        <p:spPr>
          <a:xfrm>
            <a:off x="206192" y="781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latin typeface="Roboto ExtraBold"/>
                <a:ea typeface="Roboto ExtraBold"/>
                <a:cs typeface="Roboto ExtraBold"/>
                <a:sym typeface="Roboto ExtraBold"/>
              </a:rPr>
              <a:t>Conclusion Key Insights &amp; Future Steps</a:t>
            </a:r>
            <a:endParaRPr sz="2400" dirty="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pic>
        <p:nvPicPr>
          <p:cNvPr id="429" name="Google Shape;42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64950"/>
            <a:ext cx="9144000" cy="3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7849" y="0"/>
            <a:ext cx="2166150" cy="6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4"/>
          <p:cNvSpPr txBox="1"/>
          <p:nvPr/>
        </p:nvSpPr>
        <p:spPr>
          <a:xfrm>
            <a:off x="318870" y="576639"/>
            <a:ext cx="7554485" cy="410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Temporal Patterns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Older movies (1930s–1960s) often get higher average ratings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1980s–1990s show a surge in total ratings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Popular titles (e.g., Star Wars) frequently rated above 4.0; Copycat (1995) tops some charts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CA" sz="1300" b="1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Challenges &amp; Future Directions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Difficulty normalizing semi-structured data for a relational schema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Plans for a hybrid recommendation engine integrating collaborative filtering, content-based methods, and demographic insights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CA" sz="1300" i="1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Demonstrates value of a flexible pipeline (MongoDB + MS SQL + SSAS + Power BI)</a:t>
            </a:r>
          </a:p>
          <a:p>
            <a:pPr>
              <a:lnSpc>
                <a:spcPct val="115000"/>
              </a:lnSpc>
              <a:spcBef>
                <a:spcPts val="1400"/>
              </a:spcBef>
              <a:buClr>
                <a:schemeClr val="dk1"/>
              </a:buClr>
              <a:buSzPts val="1100"/>
            </a:pPr>
            <a:endParaRPr lang="en-CA" sz="1300" i="1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6365840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3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4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924</Words>
  <Application>Microsoft Macintosh PowerPoint</Application>
  <PresentationFormat>On-screen Show (16:9)</PresentationFormat>
  <Paragraphs>143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Roboto ExtraBold</vt:lpstr>
      <vt:lpstr>Roboto</vt:lpstr>
      <vt:lpstr>Arial</vt:lpstr>
      <vt:lpstr>Simple Light</vt:lpstr>
      <vt:lpstr>MovieLens</vt:lpstr>
      <vt:lpstr>PowerPoint Presentation</vt:lpstr>
      <vt:lpstr>Introduction - Business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 csv to mongodb</vt:lpstr>
      <vt:lpstr>Import csv to mongodb</vt:lpstr>
      <vt:lpstr>Import csv to mongodb</vt:lpstr>
      <vt:lpstr>Data Analysis（Use MongoDB）</vt:lpstr>
      <vt:lpstr>Top 10 highest-rated movies (with at least 50 ratings)</vt:lpstr>
      <vt:lpstr>Rating Distribution Analysis</vt:lpstr>
      <vt:lpstr>Temporal Analysis</vt:lpstr>
      <vt:lpstr>Gender-Based Movie Preferences Analysis</vt:lpstr>
      <vt:lpstr>Occupation-Based Analysis</vt:lpstr>
      <vt:lpstr>Occupation-Based Analysis</vt:lpstr>
      <vt:lpstr>Occupation-Based Analysis</vt:lpstr>
      <vt:lpstr>Rating Trends Analysis</vt:lpstr>
      <vt:lpstr>MongoDB to MS SQL</vt:lpstr>
      <vt:lpstr>MongoDB to MS SQL</vt:lpstr>
      <vt:lpstr>MongoDB to MS SQL</vt:lpstr>
      <vt:lpstr>SSAS</vt:lpstr>
      <vt:lpstr>SSAS</vt:lpstr>
      <vt:lpstr>SSAS</vt:lpstr>
      <vt:lpstr>SSAS</vt:lpstr>
      <vt:lpstr>SSAS</vt:lpstr>
      <vt:lpstr>PowerBI Exploration</vt:lpstr>
      <vt:lpstr>User Demographics &amp; Preferences Report</vt:lpstr>
      <vt:lpstr>Movie Genre Popularity Report</vt:lpstr>
      <vt:lpstr>Top-Rated Movies Report</vt:lpstr>
      <vt:lpstr>Total Movies per Genre Report</vt:lpstr>
      <vt:lpstr>Next Steps: Smarter Movie Picks!</vt:lpstr>
      <vt:lpstr>Building a More Robust Recommendation System: Hybrid Approach</vt:lpstr>
      <vt:lpstr> Adding Layers of Personalization and Context</vt:lpstr>
      <vt:lpstr>Possible enhancements</vt:lpstr>
      <vt:lpstr>Conclusion: </vt:lpstr>
      <vt:lpstr>Conclusion CTND: </vt:lpstr>
      <vt:lpstr>Conclusion Key Insights &amp; Future Steps</vt:lpstr>
      <vt:lpstr>Conclusion Key Insights &amp; Future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</dc:title>
  <cp:lastModifiedBy>Abdul-Rasaq Omisesan</cp:lastModifiedBy>
  <cp:revision>1</cp:revision>
  <dcterms:modified xsi:type="dcterms:W3CDTF">2025-03-29T23:45:04Z</dcterms:modified>
</cp:coreProperties>
</file>