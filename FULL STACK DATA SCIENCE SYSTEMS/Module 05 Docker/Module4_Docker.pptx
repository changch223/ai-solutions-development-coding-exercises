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9"/>
  </p:notesMasterIdLst>
  <p:sldIdLst>
    <p:sldId id="272" r:id="rId2"/>
    <p:sldId id="273" r:id="rId3"/>
    <p:sldId id="258" r:id="rId4"/>
    <p:sldId id="683" r:id="rId5"/>
    <p:sldId id="694" r:id="rId6"/>
    <p:sldId id="710" r:id="rId7"/>
    <p:sldId id="281" r:id="rId8"/>
    <p:sldId id="663" r:id="rId9"/>
    <p:sldId id="702" r:id="rId10"/>
    <p:sldId id="703" r:id="rId11"/>
    <p:sldId id="704" r:id="rId12"/>
    <p:sldId id="701" r:id="rId13"/>
    <p:sldId id="671" r:id="rId14"/>
    <p:sldId id="706" r:id="rId15"/>
    <p:sldId id="708" r:id="rId16"/>
    <p:sldId id="705" r:id="rId17"/>
    <p:sldId id="709" r:id="rId18"/>
    <p:sldId id="712" r:id="rId19"/>
    <p:sldId id="711" r:id="rId20"/>
    <p:sldId id="713" r:id="rId21"/>
    <p:sldId id="714" r:id="rId22"/>
    <p:sldId id="691" r:id="rId23"/>
    <p:sldId id="695" r:id="rId24"/>
    <p:sldId id="692" r:id="rId25"/>
    <p:sldId id="697" r:id="rId26"/>
    <p:sldId id="693" r:id="rId27"/>
    <p:sldId id="47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FE31-2070-D1D8-A34E-F9DB0AA9A729}" v="390" dt="2020-12-26T15:18:39.115"/>
    <p1510:client id="{045A4965-B513-6B71-45A6-B68B6AFE84A0}" v="67" dt="2020-12-26T20:30:46.896"/>
    <p1510:client id="{2F685D47-1B98-2E9E-44E9-38F2D014CAAC}" v="22" dt="2020-12-28T15:26:16.614"/>
    <p1510:client id="{35654BA6-5BEF-6AC8-F037-00942082F9B2}" v="462" dt="2021-02-01T16:53:52.378"/>
    <p1510:client id="{4687724C-769A-535A-BE5E-08839305FA50}" v="5582" dt="2020-12-27T20:13:39.224"/>
    <p1510:client id="{51E3BD4C-B373-0951-C494-FB7E86FF0635}" v="2429" dt="2020-12-29T23:03:22.866"/>
    <p1510:client id="{5465CEFE-2D65-ED3F-442B-E74DF3DBF3B0}" v="613" dt="2020-12-23T23:53:09.940"/>
    <p1510:client id="{70223C47-8670-9B15-A461-042D2F1DE4F7}" v="7422" dt="2020-12-31T14:25:20.982"/>
    <p1510:client id="{754A752B-A398-7C33-B6DC-89A0654AD307}" v="1138" dt="2020-12-30T13:10:01.288"/>
    <p1510:client id="{82ABAE2D-A526-4624-91EE-FBA7FD5F51E0}" v="9" dt="2020-12-23T22:41:08.207"/>
    <p1510:client id="{833B2A7B-9300-4EA2-8210-2D0A9B9B25DD}" v="1593" dt="2021-07-28T22:35:54.676"/>
    <p1510:client id="{8E84836B-A664-F3EF-DC3A-3E96F1048313}" v="881" dt="2021-08-11T12:13:44.158"/>
    <p1510:client id="{8F696AE0-6236-8D1E-3618-87162776C622}" v="5712" dt="2021-01-01T00:07:13.795"/>
    <p1510:client id="{9A177FFB-FB64-37AF-17C7-CCEC2C193DFF}" v="4481" dt="2020-12-29T13:20:50.336"/>
    <p1510:client id="{A36523BF-6232-EDAB-AA7A-65E51884668E}" v="2005" dt="2021-08-09T16:44:23.968"/>
    <p1510:client id="{ABA6C69F-305D-B000-E14F-B8292AB106A7}" v="1" dt="2021-05-10T21:46:45.388"/>
    <p1510:client id="{AF17A244-26C3-938F-8A56-3031FB598BC3}" v="1658" dt="2021-07-28T13:49:19.111"/>
    <p1510:client id="{B4F8CEB5-E72C-8A8D-D25E-09B41B53A554}" v="6468" dt="2020-12-28T22:37:18.221"/>
    <p1510:client id="{B501BB9F-207A-B000-E14F-BD930A8D43C4}" v="68" dt="2021-04-04T17:30:56.897"/>
    <p1510:client id="{B537A4A3-B997-E4C8-F16C-A35024FDFCFE}" v="30" dt="2021-03-03T13:37:16.275"/>
    <p1510:client id="{C2F04716-BDFB-72E1-8E0B-591BAC2A83A6}" v="1704" dt="2020-12-25T23:07:35.464"/>
    <p1510:client id="{C413B264-8D43-A9BB-C85E-7F30A00A6453}" v="3644" dt="2020-12-26T15:02:32.673"/>
    <p1510:client id="{C552E5C9-89A9-5AE8-628E-6D0DD8066444}" v="3550" dt="2020-12-26T20:12:43.454"/>
    <p1510:client id="{E4379962-602B-8136-7CD4-993790D1ED49}" v="260" dt="2021-08-06T15:20:18.221"/>
    <p1510:client id="{E99E3E81-DD39-42E1-119C-BEBA76767C08}" v="1873" dt="2021-05-05T19:32:56.526"/>
    <p1510:client id="{EEA48660-AA1B-91BB-E26D-170DFD720CF2}" v="1126" dt="2021-08-11T13:37:29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3CC2D-0AF9-4166-9DD0-52A258A6A029}" type="datetimeFigureOut">
              <a:rPr lang="en-US"/>
              <a:t>8/11/2021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283C-2CD9-4321-9FBB-684AE41D516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3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172.17.0.3:500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" TargetMode="External"/><Relationship Id="rId2" Type="http://schemas.openxmlformats.org/officeDocument/2006/relationships/hyperlink" Target="http://localhost:5000/tra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localhost:5000/classify?sl=5.1&amp;sw=3.2&amp;p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" TargetMode="External"/><Relationship Id="rId2" Type="http://schemas.openxmlformats.org/officeDocument/2006/relationships/hyperlink" Target="https://flask.palletsprojects.com/en/2.0.x/tutorial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roboto"/>
                <a:cs typeface="Calibri Light"/>
              </a:rPr>
              <a:t>AASD 4016</a:t>
            </a:r>
          </a:p>
          <a:p>
            <a:r>
              <a:rPr lang="en-US" sz="5400">
                <a:latin typeface="roboto"/>
                <a:cs typeface="Calibri Light"/>
              </a:rPr>
              <a:t>Full Stack Data Science Systems</a:t>
            </a:r>
            <a:endParaRPr lang="en-US" sz="54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</a:rPr>
              <a:t>Applied AI Solutions Developer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roboto"/>
                <a:cs typeface="Calibri Light"/>
              </a:rPr>
              <a:t>Module 4</a:t>
            </a:r>
          </a:p>
          <a:p>
            <a:r>
              <a:rPr lang="en-US">
                <a:latin typeface="roboto"/>
                <a:cs typeface="Calibri Light"/>
              </a:rPr>
              <a:t>Docker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514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"/>
              </a:rPr>
              <a:t>Vejey</a:t>
            </a:r>
            <a:r>
              <a:rPr lang="en-US">
                <a:latin typeface="roboto"/>
              </a:rPr>
              <a:t> </a:t>
            </a:r>
            <a:r>
              <a:rPr lang="en-US" err="1">
                <a:latin typeface="roboto"/>
              </a:rPr>
              <a:t>Gandyer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18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roboto"/>
                <a:cs typeface="Calibri Light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1764255"/>
            <a:ext cx="6224335" cy="5755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000">
                <a:latin typeface="roboto"/>
                <a:ea typeface="+mj-ea"/>
                <a:cs typeface="Calibri Light"/>
              </a:rPr>
              <a:t>Docker</a:t>
            </a:r>
            <a:endParaRPr lang="en-US">
              <a:ea typeface="+mj-ea"/>
            </a:endParaRP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Why Docker</a:t>
            </a: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Virtual Environment</a:t>
            </a:r>
          </a:p>
          <a:p>
            <a:pPr marL="0" indent="0">
              <a:buNone/>
            </a:pPr>
            <a:r>
              <a:rPr lang="en-US" sz="3000" err="1">
                <a:latin typeface="roboto"/>
                <a:ea typeface="roboto"/>
                <a:cs typeface="Calibri Light"/>
              </a:rPr>
              <a:t>Dockerfile</a:t>
            </a:r>
            <a:endParaRPr lang="en-US" sz="30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.</a:t>
            </a:r>
            <a:r>
              <a:rPr lang="en-US" sz="3000" err="1">
                <a:latin typeface="roboto"/>
                <a:ea typeface="roboto"/>
                <a:cs typeface="Calibri Light"/>
              </a:rPr>
              <a:t>dockerignore</a:t>
            </a:r>
            <a:endParaRPr lang="en-US" sz="30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Build a Docker image</a:t>
            </a: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Run a Docker container</a:t>
            </a: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Examples</a:t>
            </a:r>
            <a:endParaRPr lang="en-US">
              <a:cs typeface="Calibri"/>
            </a:endParaRP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2200">
              <a:latin typeface="roboto"/>
              <a:ea typeface="roboto"/>
              <a:cs typeface="Calibri Light"/>
            </a:endParaRPr>
          </a:p>
        </p:txBody>
      </p:sp>
      <p:pic>
        <p:nvPicPr>
          <p:cNvPr id="4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E376F483-1DA3-4922-A4DE-B5C7D265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5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30EB02E-681A-46B3-B1E0-87DF361E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Iris Classifier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5060220" cy="43507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Notebook to Script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Script to Flask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Load model and keep it up for inference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Infer from the model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Test the endpoint using Curl, POSTMAN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Build a python web client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Test the client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6D42A5-B9D3-4C24-8637-2E1F4D3D3335}"/>
              </a:ext>
            </a:extLst>
          </p:cNvPr>
          <p:cNvSpPr txBox="1"/>
          <p:nvPr/>
        </p:nvSpPr>
        <p:spPr>
          <a:xfrm>
            <a:off x="6662691" y="1395274"/>
            <a:ext cx="5317724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>
                <a:latin typeface="Courier New"/>
                <a:cs typeface="Segoe UI"/>
              </a:rPr>
              <a:t>Create a Virtual Environment​</a:t>
            </a:r>
          </a:p>
          <a:p>
            <a:r>
              <a:rPr lang="en-US" sz="2500" b="1">
                <a:latin typeface="Courier New"/>
                <a:cs typeface="Segoe UI"/>
              </a:rPr>
              <a:t>Install all libraries​</a:t>
            </a:r>
          </a:p>
          <a:p>
            <a:r>
              <a:rPr lang="en-US" sz="2500" b="1">
                <a:latin typeface="Courier New"/>
                <a:cs typeface="Segoe UI"/>
              </a:rPr>
              <a:t>Create requirements.txt​</a:t>
            </a:r>
          </a:p>
          <a:p>
            <a:r>
              <a:rPr lang="en-US" sz="2500" b="1">
                <a:latin typeface="Courier New"/>
                <a:cs typeface="Segoe UI"/>
              </a:rPr>
              <a:t>Create a </a:t>
            </a:r>
            <a:r>
              <a:rPr lang="en-US" sz="2500" b="1" err="1">
                <a:latin typeface="Courier New"/>
                <a:cs typeface="Segoe UI"/>
              </a:rPr>
              <a:t>Dockerfile</a:t>
            </a:r>
            <a:r>
              <a:rPr lang="en-US" sz="2500" b="1">
                <a:latin typeface="Courier New"/>
                <a:cs typeface="Segoe UI"/>
              </a:rPr>
              <a:t>​</a:t>
            </a:r>
          </a:p>
          <a:p>
            <a:r>
              <a:rPr lang="en-US" sz="2500" b="1">
                <a:latin typeface="Courier New"/>
                <a:cs typeface="Segoe UI"/>
              </a:rPr>
              <a:t>Create a Docker image​</a:t>
            </a:r>
          </a:p>
          <a:p>
            <a:r>
              <a:rPr lang="en-US" sz="2500" b="1">
                <a:latin typeface="Courier New"/>
                <a:cs typeface="Segoe UI"/>
              </a:rPr>
              <a:t>Create a Docker container​</a:t>
            </a:r>
          </a:p>
          <a:p>
            <a:r>
              <a:rPr lang="en-US" sz="2500" b="1">
                <a:latin typeface="Courier New"/>
                <a:cs typeface="Segoe UI"/>
              </a:rPr>
              <a:t>Test the endpoints within the running Docker container​</a:t>
            </a:r>
          </a:p>
        </p:txBody>
      </p:sp>
    </p:spTree>
    <p:extLst>
      <p:ext uri="{BB962C8B-B14F-4D97-AF65-F5344CB8AC3E}">
        <p14:creationId xmlns:p14="http://schemas.microsoft.com/office/powerpoint/2010/main" val="656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Current Flask project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Project Structure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app.py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helper(s).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py</a:t>
            </a:r>
            <a:r>
              <a:rPr lang="en-US" sz="2700">
                <a:latin typeface="Courier New"/>
                <a:ea typeface="roboto"/>
                <a:cs typeface="Calibri Light"/>
              </a:rPr>
              <a:t>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templates/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index.html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result.html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static/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Style.css [Optional]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1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Expected Flask project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Project Structure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app.py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helper(s).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py</a:t>
            </a:r>
            <a:r>
              <a:rPr lang="en-US" sz="2700">
                <a:latin typeface="Courier New"/>
                <a:ea typeface="roboto"/>
                <a:cs typeface="Calibri Light"/>
              </a:rPr>
              <a:t>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templates/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index.html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result.html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static/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Style.css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</a:t>
            </a:r>
            <a:r>
              <a:rPr lang="en-US" sz="2700" b="1" err="1">
                <a:latin typeface="Courier New"/>
                <a:ea typeface="roboto"/>
                <a:cs typeface="Calibri Light"/>
              </a:rPr>
              <a:t>Dockerfile</a:t>
            </a:r>
            <a:endParaRPr lang="en-US" sz="2700" b="1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>
                <a:latin typeface="Courier New"/>
                <a:ea typeface="roboto"/>
                <a:cs typeface="Calibri Light"/>
              </a:rPr>
              <a:t>   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>
                <a:latin typeface="Courier New"/>
                <a:ea typeface="roboto"/>
                <a:cs typeface="Calibri Light"/>
              </a:rPr>
              <a:t>   iris-</a:t>
            </a:r>
            <a:r>
              <a:rPr lang="en-US" sz="2700" b="1" err="1">
                <a:latin typeface="Courier New"/>
                <a:ea typeface="roboto"/>
                <a:cs typeface="Calibri Light"/>
              </a:rPr>
              <a:t>venv</a:t>
            </a:r>
            <a:r>
              <a:rPr lang="en-US" sz="2700" b="1">
                <a:latin typeface="Courier New"/>
                <a:ea typeface="roboto"/>
                <a:cs typeface="Calibri Light"/>
              </a:rPr>
              <a:t>/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1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Docker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err="1">
                <a:latin typeface="roboto"/>
                <a:cs typeface="Calibri Light"/>
              </a:rPr>
              <a:t>Dockerizing</a:t>
            </a:r>
            <a:r>
              <a:rPr lang="en-US" sz="4800">
                <a:latin typeface="roboto"/>
                <a:cs typeface="Calibri Light"/>
              </a:rPr>
              <a:t> a web application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Installing Docker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Creating a Virtual environment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Installing necessary libraries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Creating 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Creating a </a:t>
            </a:r>
            <a:r>
              <a:rPr lang="en-US" sz="2700" err="1">
                <a:latin typeface="roboto"/>
                <a:ea typeface="roboto"/>
                <a:cs typeface="Calibri Light"/>
              </a:rPr>
              <a:t>Dockerfile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Building a Docker image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Running a Docker container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Testing the endpoints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3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Virtual Environment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Create a new virtual environment 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+mn-lt"/>
                <a:cs typeface="+mn-lt"/>
              </a:rPr>
              <a:t>virtualenv iris-venv -p python3.8</a:t>
            </a:r>
            <a:endParaRPr lang="en-US">
              <a:latin typeface="Courier New"/>
              <a:ea typeface="+mn-lt"/>
              <a:cs typeface="+mn-lt"/>
            </a:endParaRP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Activate the newly created virtual environment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+mn-lt"/>
                <a:cs typeface="+mn-lt"/>
              </a:rPr>
              <a:t>source iris-venv/bin/activate</a:t>
            </a:r>
            <a:endParaRPr lang="en-US">
              <a:latin typeface="Courier New"/>
              <a:ea typeface="+mn-lt"/>
              <a:cs typeface="+mn-lt"/>
            </a:endParaRP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sz="2700">
                <a:latin typeface="Courier New"/>
                <a:ea typeface="+mn-lt"/>
                <a:cs typeface="+mn-lt"/>
              </a:rPr>
              <a:t>deactivate</a:t>
            </a:r>
            <a:endParaRPr lang="en-US">
              <a:latin typeface="Courier New"/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Installing necessary libraries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Install all libraries 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+mn-lt"/>
                <a:cs typeface="+mn-lt"/>
              </a:rPr>
              <a:t>pip install pandas sklearn Flask</a:t>
            </a:r>
            <a:endParaRPr lang="en-US">
              <a:latin typeface="Courier New"/>
              <a:ea typeface="+mn-lt"/>
              <a:cs typeface="+mn-lt"/>
            </a:endParaRP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sz="2700">
                <a:cs typeface="Calibri"/>
              </a:rPr>
              <a:t>Creating requirements.txt</a:t>
            </a:r>
            <a:endParaRPr lang="en-US">
              <a:cs typeface="Calibri"/>
            </a:endParaRPr>
          </a:p>
          <a:p>
            <a:pPr>
              <a:buNone/>
            </a:pPr>
            <a:r>
              <a:rPr lang="en-US" sz="2700">
                <a:latin typeface="Courier New"/>
                <a:cs typeface="Calibri"/>
              </a:rPr>
              <a:t>pip freeze -l &gt; requirements.txt</a:t>
            </a:r>
            <a:endParaRPr lang="en-US"/>
          </a:p>
          <a:p>
            <a:pPr>
              <a:buNone/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3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requirements.txt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sz="2700">
                <a:cs typeface="Calibri"/>
              </a:rPr>
              <a:t>Creating requirements.txt</a:t>
            </a:r>
            <a:endParaRPr lang="en-US">
              <a:cs typeface="Calibri"/>
            </a:endParaRPr>
          </a:p>
          <a:p>
            <a:pPr>
              <a:buNone/>
            </a:pPr>
            <a:r>
              <a:rPr lang="en-US" sz="2700">
                <a:latin typeface="Courier New"/>
                <a:cs typeface="Calibri"/>
              </a:rPr>
              <a:t>pip freeze -l &gt; requirements.txt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 sz="270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click==8.0.1</a:t>
            </a:r>
            <a:endParaRPr lang="en-US">
              <a:cs typeface="Calibri"/>
            </a:endParaRPr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Flask==2.0.1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itsdangerous==2.0.1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Jinja2==3.0.1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joblib==1.0.1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MarkupSafe==2.0.1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numpy==1.21.1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pandas==1.3.1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3205D1-B0C1-47B4-AEC7-0BA6FABF12AB}"/>
              </a:ext>
            </a:extLst>
          </p:cNvPr>
          <p:cNvSpPr txBox="1"/>
          <p:nvPr/>
        </p:nvSpPr>
        <p:spPr>
          <a:xfrm>
            <a:off x="4812565" y="2898119"/>
            <a:ext cx="27432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>
                <a:cs typeface="Segoe UI"/>
              </a:rPr>
              <a:t>python-dateutil==2.8.2​</a:t>
            </a:r>
          </a:p>
          <a:p>
            <a:r>
              <a:rPr lang="en-US" sz="2100">
                <a:cs typeface="Segoe UI"/>
              </a:rPr>
              <a:t>pytz==2021.1​</a:t>
            </a:r>
          </a:p>
          <a:p>
            <a:r>
              <a:rPr lang="en-US" sz="2100">
                <a:cs typeface="Segoe UI"/>
              </a:rPr>
              <a:t>scikit-learn==0.24.2​</a:t>
            </a:r>
          </a:p>
          <a:p>
            <a:r>
              <a:rPr lang="en-US" sz="2100">
                <a:cs typeface="Segoe UI"/>
              </a:rPr>
              <a:t>scipy==1.7.1​</a:t>
            </a:r>
          </a:p>
          <a:p>
            <a:r>
              <a:rPr lang="en-US" sz="2100">
                <a:cs typeface="Segoe UI"/>
              </a:rPr>
              <a:t>six==1.16.0​</a:t>
            </a:r>
          </a:p>
          <a:p>
            <a:r>
              <a:rPr lang="en-US" sz="2100">
                <a:cs typeface="Segoe UI"/>
              </a:rPr>
              <a:t>sklearn==0.0​</a:t>
            </a:r>
          </a:p>
          <a:p>
            <a:r>
              <a:rPr lang="en-US" sz="2100">
                <a:cs typeface="Segoe UI"/>
              </a:rPr>
              <a:t>threadpoolctl==2.2.0​</a:t>
            </a:r>
          </a:p>
          <a:p>
            <a:r>
              <a:rPr lang="en-US" sz="2100">
                <a:cs typeface="Segoe UI"/>
              </a:rPr>
              <a:t>Werkzeug==2.0.1​</a:t>
            </a:r>
          </a:p>
        </p:txBody>
      </p:sp>
    </p:spTree>
    <p:extLst>
      <p:ext uri="{BB962C8B-B14F-4D97-AF65-F5344CB8AC3E}">
        <p14:creationId xmlns:p14="http://schemas.microsoft.com/office/powerpoint/2010/main" val="357623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Dockerfile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FROM python:3.8.5</a:t>
            </a:r>
            <a:endParaRPr lang="en-US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ADD . /app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WORKDIR /app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RUN pip install -r 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ENTRYPOINT ["python"]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CMD ["app.py"]</a:t>
            </a: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8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Build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Building a Docker image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docker build –t iris:1.0 .</a:t>
            </a:r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Sending build context to Docker daemon  </a:t>
            </a:r>
            <a:r>
              <a:rPr lang="en-US" sz="1200" b="1">
                <a:ea typeface="+mn-lt"/>
                <a:cs typeface="+mn-lt"/>
              </a:rPr>
              <a:t>345.6MB</a:t>
            </a:r>
            <a:endParaRPr lang="en-US" sz="1200" b="1">
              <a:cs typeface="Calibri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Step 1/6 : From python:3.8</a:t>
            </a:r>
            <a:endParaRPr lang="en-US" sz="120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>
                <a:ea typeface="+mn-lt"/>
                <a:cs typeface="+mn-lt"/>
              </a:rPr>
              <a:t>---&gt; 42d342fa9773</a:t>
            </a:r>
            <a:endParaRPr lang="en-US" sz="1200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1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Build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buNone/>
            </a:pPr>
            <a:r>
              <a:rPr lang="en-US" sz="2700">
                <a:ea typeface="+mn-lt"/>
                <a:cs typeface="+mn-lt"/>
              </a:rPr>
              <a:t>Sending build context to Docker daemon  345.6MB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Step 1/6 : From python:3.8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---&gt; 42d342fa9773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Step 2/6 : ADD . /app 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---&gt; 71124d1c0444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Step 3/6 : WORKDIR /app 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---&gt; Running in cbb0584cb001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Removing intermediate container cbb0584cb001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---&gt; 7612619ec6ab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Step 4/6 : RUN pip install -r requirements.txt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---&gt; Running in 1f8d962449d7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Collecting click==8.0.1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  Downloading click-8.0.1-py3-none-any.whl (97 kB)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Collecting Flask==2.0.1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  Downloading Flask-2.0.1-py3-none-any.whl (94 kB)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Collecting itsdangerous==2.0.1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  Downloading itsdangerous-2.0.1-py3-none-any.whl (18 kB)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Collecting Jinja2==3.0.1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  Downloading Jinja2-3.0.1-py3-none-any.whl (133 kB)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Collecting joblib==1.0.1</a:t>
            </a:r>
            <a:endParaRPr lang="en-US"/>
          </a:p>
          <a:p>
            <a:pPr>
              <a:buNone/>
            </a:pPr>
            <a:r>
              <a:rPr lang="en-US" sz="2700">
                <a:ea typeface="+mn-lt"/>
                <a:cs typeface="+mn-lt"/>
              </a:rPr>
              <a:t>  Downloading joblib-1.0.1-py3-none-any.whl (303 kB)</a:t>
            </a:r>
            <a:endParaRPr lang="en-US"/>
          </a:p>
          <a:p>
            <a:pPr>
              <a:buNone/>
            </a:pPr>
            <a:endParaRPr lang="en-US" sz="270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40F938-CB26-4D56-8E69-6C90F0E4FBF5}"/>
              </a:ext>
            </a:extLst>
          </p:cNvPr>
          <p:cNvSpPr txBox="1"/>
          <p:nvPr/>
        </p:nvSpPr>
        <p:spPr>
          <a:xfrm>
            <a:off x="4145029" y="1500069"/>
            <a:ext cx="7415960" cy="47243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/>
              <a:t>Collecting </a:t>
            </a:r>
            <a:r>
              <a:rPr lang="en-US" sz="700" err="1"/>
              <a:t>MarkupSafe</a:t>
            </a:r>
            <a:r>
              <a:rPr lang="en-US" sz="700"/>
              <a:t>==2.0.1</a:t>
            </a:r>
            <a:endParaRPr lang="en-US" sz="700">
              <a:cs typeface="Calibri"/>
            </a:endParaRPr>
          </a:p>
          <a:p>
            <a:r>
              <a:rPr lang="en-US" sz="700"/>
              <a:t>  Downloading MarkupSafe-2.0.1-cp38-cp38-manylinux2010_x86_64.whl (30 kB)</a:t>
            </a:r>
            <a:endParaRPr lang="en-US" sz="700">
              <a:cs typeface="Calibri"/>
            </a:endParaRPr>
          </a:p>
          <a:p>
            <a:r>
              <a:rPr lang="en-US" sz="700"/>
              <a:t>Collecting </a:t>
            </a:r>
            <a:r>
              <a:rPr lang="en-US" sz="700" err="1"/>
              <a:t>numpy</a:t>
            </a:r>
            <a:r>
              <a:rPr lang="en-US" sz="700"/>
              <a:t>==1.21.1</a:t>
            </a:r>
            <a:endParaRPr lang="en-US" sz="700">
              <a:cs typeface="Calibri"/>
            </a:endParaRPr>
          </a:p>
          <a:p>
            <a:r>
              <a:rPr lang="en-US" sz="700"/>
              <a:t>  Downloading numpy-1.21.1-cp38-cp38-manylinux_2_12_x86_64.manylinux2010_x86_64.whl (15.8 MB)</a:t>
            </a:r>
            <a:endParaRPr lang="en-US" sz="700">
              <a:cs typeface="Calibri"/>
            </a:endParaRPr>
          </a:p>
          <a:p>
            <a:r>
              <a:rPr lang="en-US" sz="700"/>
              <a:t>Collecting pandas==1.3.1</a:t>
            </a:r>
            <a:endParaRPr lang="en-US" sz="700">
              <a:cs typeface="Calibri"/>
            </a:endParaRPr>
          </a:p>
          <a:p>
            <a:r>
              <a:rPr lang="en-US" sz="700"/>
              <a:t>  Downloading pandas-1.3.1-cp38-cp38-manylinux_2_17_x86_64.manylinux2014_x86_64.whl (11.7 MB)</a:t>
            </a:r>
            <a:endParaRPr lang="en-US" sz="700">
              <a:cs typeface="Calibri"/>
            </a:endParaRPr>
          </a:p>
          <a:p>
            <a:r>
              <a:rPr lang="en-US" sz="700"/>
              <a:t>Collecting python-</a:t>
            </a:r>
            <a:r>
              <a:rPr lang="en-US" sz="700" err="1"/>
              <a:t>dateutil</a:t>
            </a:r>
            <a:r>
              <a:rPr lang="en-US" sz="700"/>
              <a:t>==2.8.2</a:t>
            </a:r>
            <a:endParaRPr lang="en-US" sz="700">
              <a:cs typeface="Calibri"/>
            </a:endParaRPr>
          </a:p>
          <a:p>
            <a:r>
              <a:rPr lang="en-US" sz="700"/>
              <a:t>  Downloading python_dateutil-2.8.2-py2.py3-none-any.whl (247 kB)</a:t>
            </a:r>
            <a:endParaRPr lang="en-US" sz="700">
              <a:cs typeface="Calibri"/>
            </a:endParaRPr>
          </a:p>
          <a:p>
            <a:r>
              <a:rPr lang="en-US" sz="700"/>
              <a:t>Collecting </a:t>
            </a:r>
            <a:r>
              <a:rPr lang="en-US" sz="700" err="1"/>
              <a:t>pytz</a:t>
            </a:r>
            <a:r>
              <a:rPr lang="en-US" sz="700"/>
              <a:t>==2021.1</a:t>
            </a:r>
            <a:endParaRPr lang="en-US" sz="700">
              <a:cs typeface="Calibri"/>
            </a:endParaRPr>
          </a:p>
          <a:p>
            <a:r>
              <a:rPr lang="en-US" sz="700"/>
              <a:t>  Downloading pytz-2021.1-py2.py3-none-any.whl (510 kB)</a:t>
            </a:r>
            <a:endParaRPr lang="en-US" sz="700">
              <a:cs typeface="Calibri"/>
            </a:endParaRPr>
          </a:p>
          <a:p>
            <a:r>
              <a:rPr lang="en-US" sz="700"/>
              <a:t>Collecting scikit-learn==0.24.2</a:t>
            </a:r>
            <a:endParaRPr lang="en-US" sz="700">
              <a:cs typeface="Calibri"/>
            </a:endParaRPr>
          </a:p>
          <a:p>
            <a:r>
              <a:rPr lang="en-US" sz="700"/>
              <a:t>  Downloading scikit_learn-0.24.2-cp38-cp38-manylinux2010_x86_64.whl (24.9 MB)</a:t>
            </a:r>
            <a:endParaRPr lang="en-US" sz="700">
              <a:cs typeface="Calibri"/>
            </a:endParaRPr>
          </a:p>
          <a:p>
            <a:r>
              <a:rPr lang="en-US" sz="700"/>
              <a:t>Collecting </a:t>
            </a:r>
            <a:r>
              <a:rPr lang="en-US" sz="700" err="1"/>
              <a:t>scipy</a:t>
            </a:r>
            <a:r>
              <a:rPr lang="en-US" sz="700"/>
              <a:t>==1.7.1</a:t>
            </a:r>
            <a:endParaRPr lang="en-US" sz="700">
              <a:cs typeface="Calibri"/>
            </a:endParaRPr>
          </a:p>
          <a:p>
            <a:r>
              <a:rPr lang="en-US" sz="700"/>
              <a:t>  Downloading scipy-1.7.1-cp38-cp38-manylinux_2_5_x86_64.manylinux1_x86_64.whl (28.4 MB)</a:t>
            </a:r>
            <a:endParaRPr lang="en-US" sz="700">
              <a:cs typeface="Calibri"/>
            </a:endParaRPr>
          </a:p>
          <a:p>
            <a:r>
              <a:rPr lang="en-US" sz="700"/>
              <a:t>Collecting six==1.16.0</a:t>
            </a:r>
            <a:endParaRPr lang="en-US" sz="700">
              <a:cs typeface="Calibri"/>
            </a:endParaRPr>
          </a:p>
          <a:p>
            <a:r>
              <a:rPr lang="en-US" sz="700"/>
              <a:t>  Downloading six-1.16.0-py2.py3-none-any.whl (11 kB)</a:t>
            </a:r>
            <a:endParaRPr lang="en-US" sz="700">
              <a:cs typeface="Calibri"/>
            </a:endParaRPr>
          </a:p>
          <a:p>
            <a:r>
              <a:rPr lang="en-US" sz="700"/>
              <a:t>Collecting </a:t>
            </a:r>
            <a:r>
              <a:rPr lang="en-US" sz="700" err="1"/>
              <a:t>sklearn</a:t>
            </a:r>
            <a:r>
              <a:rPr lang="en-US" sz="700"/>
              <a:t>==0.0</a:t>
            </a:r>
            <a:endParaRPr lang="en-US" sz="700">
              <a:cs typeface="Calibri"/>
            </a:endParaRPr>
          </a:p>
          <a:p>
            <a:r>
              <a:rPr lang="en-US" sz="700"/>
              <a:t>  Downloading sklearn-0.0.tar.gz (1.1 kB)</a:t>
            </a:r>
            <a:endParaRPr lang="en-US" sz="700">
              <a:cs typeface="Calibri"/>
            </a:endParaRPr>
          </a:p>
          <a:p>
            <a:r>
              <a:rPr lang="en-US" sz="700"/>
              <a:t>Collecting </a:t>
            </a:r>
            <a:r>
              <a:rPr lang="en-US" sz="700" err="1"/>
              <a:t>threadpoolctl</a:t>
            </a:r>
            <a:r>
              <a:rPr lang="en-US" sz="700"/>
              <a:t>==2.2.0</a:t>
            </a:r>
            <a:endParaRPr lang="en-US" sz="700">
              <a:cs typeface="Calibri"/>
            </a:endParaRPr>
          </a:p>
          <a:p>
            <a:r>
              <a:rPr lang="en-US" sz="700"/>
              <a:t>  Downloading threadpoolctl-2.2.0-py3-none-any.whl (12 kB)</a:t>
            </a:r>
            <a:endParaRPr lang="en-US" sz="700">
              <a:cs typeface="Calibri"/>
            </a:endParaRPr>
          </a:p>
          <a:p>
            <a:r>
              <a:rPr lang="en-US" sz="700"/>
              <a:t>Collecting </a:t>
            </a:r>
            <a:r>
              <a:rPr lang="en-US" sz="700" err="1"/>
              <a:t>Werkzeug</a:t>
            </a:r>
            <a:r>
              <a:rPr lang="en-US" sz="700"/>
              <a:t>==2.0.1</a:t>
            </a:r>
            <a:endParaRPr lang="en-US" sz="700">
              <a:cs typeface="Calibri"/>
            </a:endParaRPr>
          </a:p>
          <a:p>
            <a:r>
              <a:rPr lang="en-US" sz="700"/>
              <a:t>  Downloading Werkzeug-2.0.1-py3-none-any.whl (288 kB)</a:t>
            </a:r>
            <a:endParaRPr lang="en-US" sz="700">
              <a:cs typeface="Calibri"/>
            </a:endParaRPr>
          </a:p>
          <a:p>
            <a:r>
              <a:rPr lang="en-US" sz="700"/>
              <a:t>Building wheels for collected packages: </a:t>
            </a:r>
            <a:r>
              <a:rPr lang="en-US" sz="700" err="1"/>
              <a:t>sklearn</a:t>
            </a:r>
            <a:endParaRPr lang="en-US" sz="700">
              <a:cs typeface="Calibri"/>
            </a:endParaRPr>
          </a:p>
          <a:p>
            <a:r>
              <a:rPr lang="en-US" sz="700"/>
              <a:t>  Building wheel for </a:t>
            </a:r>
            <a:r>
              <a:rPr lang="en-US" sz="700" err="1"/>
              <a:t>sklearn</a:t>
            </a:r>
            <a:r>
              <a:rPr lang="en-US" sz="700"/>
              <a:t> (setup.py): started</a:t>
            </a:r>
            <a:endParaRPr lang="en-US" sz="700">
              <a:cs typeface="Calibri"/>
            </a:endParaRPr>
          </a:p>
          <a:p>
            <a:r>
              <a:rPr lang="en-US" sz="700"/>
              <a:t>  Building wheel for </a:t>
            </a:r>
            <a:r>
              <a:rPr lang="en-US" sz="700" err="1"/>
              <a:t>sklearn</a:t>
            </a:r>
            <a:r>
              <a:rPr lang="en-US" sz="700"/>
              <a:t> (setup.py): finished with status 'done'</a:t>
            </a:r>
            <a:endParaRPr lang="en-US" sz="700">
              <a:cs typeface="Calibri"/>
            </a:endParaRPr>
          </a:p>
          <a:p>
            <a:r>
              <a:rPr lang="en-US" sz="700"/>
              <a:t>  Created wheel for </a:t>
            </a:r>
            <a:r>
              <a:rPr lang="en-US" sz="700" err="1"/>
              <a:t>sklearn</a:t>
            </a:r>
            <a:r>
              <a:rPr lang="en-US" sz="700"/>
              <a:t>: filename=sklearn-0.0-py2.py3-none-any.whl size=1316 sha256=d8493593d1247e1a8e514ef41b0a87e79cbe47477c88397406af13760e784424</a:t>
            </a:r>
            <a:endParaRPr lang="en-US" sz="700">
              <a:cs typeface="Calibri"/>
            </a:endParaRPr>
          </a:p>
          <a:p>
            <a:r>
              <a:rPr lang="en-US" sz="700"/>
              <a:t>  Stored in directory: /root/.cache/pip/wheels/22/0b/40/fd3f795caaa1fb4c6cb738bc1f56100be1e57da95849bfc897</a:t>
            </a:r>
            <a:endParaRPr lang="en-US" sz="700">
              <a:cs typeface="Calibri"/>
            </a:endParaRPr>
          </a:p>
          <a:p>
            <a:r>
              <a:rPr lang="en-US" sz="700"/>
              <a:t>Successfully built </a:t>
            </a:r>
            <a:r>
              <a:rPr lang="en-US" sz="700" err="1"/>
              <a:t>sklearn</a:t>
            </a:r>
            <a:endParaRPr lang="en-US" sz="700">
              <a:cs typeface="Calibri"/>
            </a:endParaRPr>
          </a:p>
          <a:p>
            <a:r>
              <a:rPr lang="en-US" sz="700"/>
              <a:t>Installing collected packages: </a:t>
            </a:r>
            <a:r>
              <a:rPr lang="en-US" sz="700" err="1"/>
              <a:t>numpy</a:t>
            </a:r>
            <a:r>
              <a:rPr lang="en-US" sz="700"/>
              <a:t>, </a:t>
            </a:r>
            <a:r>
              <a:rPr lang="en-US" sz="700" err="1"/>
              <a:t>threadpoolctl</a:t>
            </a:r>
            <a:r>
              <a:rPr lang="en-US" sz="700"/>
              <a:t>, six, </a:t>
            </a:r>
            <a:r>
              <a:rPr lang="en-US" sz="700" err="1"/>
              <a:t>scipy</a:t>
            </a:r>
            <a:r>
              <a:rPr lang="en-US" sz="700"/>
              <a:t>, </a:t>
            </a:r>
            <a:r>
              <a:rPr lang="en-US" sz="700" err="1"/>
              <a:t>MarkupSafe</a:t>
            </a:r>
            <a:r>
              <a:rPr lang="en-US" sz="700"/>
              <a:t>, </a:t>
            </a:r>
            <a:r>
              <a:rPr lang="en-US" sz="700" err="1"/>
              <a:t>joblib</a:t>
            </a:r>
            <a:r>
              <a:rPr lang="en-US" sz="700"/>
              <a:t>, </a:t>
            </a:r>
            <a:r>
              <a:rPr lang="en-US" sz="700" err="1"/>
              <a:t>Werkzeug</a:t>
            </a:r>
            <a:r>
              <a:rPr lang="en-US" sz="700"/>
              <a:t>, scikit-learn, </a:t>
            </a:r>
            <a:r>
              <a:rPr lang="en-US" sz="700" err="1"/>
              <a:t>pytz</a:t>
            </a:r>
            <a:r>
              <a:rPr lang="en-US" sz="700"/>
              <a:t>, python-</a:t>
            </a:r>
            <a:r>
              <a:rPr lang="en-US" sz="700" err="1"/>
              <a:t>dateutil</a:t>
            </a:r>
            <a:r>
              <a:rPr lang="en-US" sz="700"/>
              <a:t>, Jinja2, </a:t>
            </a:r>
            <a:r>
              <a:rPr lang="en-US" sz="700" err="1"/>
              <a:t>itsdangerous</a:t>
            </a:r>
            <a:r>
              <a:rPr lang="en-US" sz="700"/>
              <a:t>, click, </a:t>
            </a:r>
            <a:r>
              <a:rPr lang="en-US" sz="700" err="1"/>
              <a:t>sklearn</a:t>
            </a:r>
            <a:r>
              <a:rPr lang="en-US" sz="700"/>
              <a:t>, pandas, Flask</a:t>
            </a:r>
            <a:endParaRPr lang="en-US" sz="700">
              <a:cs typeface="Calibri"/>
            </a:endParaRPr>
          </a:p>
          <a:p>
            <a:r>
              <a:rPr lang="en-US" sz="700"/>
              <a:t>Successfully installed Flask-2.0.1 Jinja2-3.0.1 MarkupSafe-2.0.1 Werkzeug-2.0.1 click-8.0.1 itsdangerous-2.0.1 joblib-1.0.1 numpy-1.21.1 pandas-1.3.1 python-dateutil-2.8.2 pytz-2021.1 scikit-learn-0.24.2 scipy-1.7.1 six-1.16.0 sklearn-0.0 threadpoolctl-2.2.0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Removing intermediate container c05766dfee41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---&gt; d73b0c5557eb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Step 5/6 : ENTRYPOINT ["python"] </a:t>
            </a:r>
          </a:p>
          <a:p>
            <a:r>
              <a:rPr lang="en-US" sz="700">
                <a:ea typeface="+mn-lt"/>
                <a:cs typeface="+mn-lt"/>
              </a:rPr>
              <a:t>---&gt; Running in 720e69ce7d1b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Removing intermediate container 720e69ce7d1b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---&gt; 4ea3ba2257b2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Step 6/6 : CMD ["app.py"] 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---&gt; Running in 3771137b8938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Removing intermediate container 3771137b8938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---&gt; def36c7facef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Successfully built def36c7facef</a:t>
            </a:r>
            <a:endParaRPr lang="en-US" sz="700">
              <a:cs typeface="Calibri"/>
            </a:endParaRPr>
          </a:p>
          <a:p>
            <a:r>
              <a:rPr lang="en-US" sz="700">
                <a:ea typeface="+mn-lt"/>
                <a:cs typeface="+mn-lt"/>
              </a:rPr>
              <a:t>Successfully tagged iris:1.0</a:t>
            </a:r>
            <a:endParaRPr lang="en-US" sz="7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110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View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Viewing Docker images in your machine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docker images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Text&#10;&#10;Description automatically generated">
            <a:extLst>
              <a:ext uri="{FF2B5EF4-FFF2-40B4-BE49-F238E27FC236}">
                <a16:creationId xmlns:a16="http://schemas.microsoft.com/office/drawing/2014/main" id="{C44D13A5-DE75-40E3-B45A-DBA199DC1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57" y="3507853"/>
            <a:ext cx="10851471" cy="19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dockerignore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.dockerignore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iris-venv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.vscode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2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Build another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Building a Docker image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docker build –t iris:</a:t>
            </a:r>
            <a:r>
              <a:rPr lang="en-US" sz="2700" b="1">
                <a:latin typeface="Courier New"/>
                <a:ea typeface="roboto"/>
                <a:cs typeface="Calibri Light"/>
              </a:rPr>
              <a:t>2.0</a:t>
            </a:r>
            <a:r>
              <a:rPr lang="en-US" sz="2700">
                <a:latin typeface="Courier New"/>
                <a:ea typeface="roboto"/>
                <a:cs typeface="Calibri Light"/>
              </a:rPr>
              <a:t> 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Sending build context to Docker daemon </a:t>
            </a:r>
            <a:r>
              <a:rPr lang="en-US" sz="1200" b="1">
                <a:ea typeface="+mn-lt"/>
                <a:cs typeface="+mn-lt"/>
              </a:rPr>
              <a:t> 48.13kB</a:t>
            </a:r>
            <a:endParaRPr lang="en-US" sz="1200" b="1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Step 1/6 : From python:3.8</a:t>
            </a:r>
            <a:endParaRPr lang="en-US" sz="120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>
                <a:ea typeface="+mn-lt"/>
                <a:cs typeface="+mn-lt"/>
              </a:rPr>
              <a:t>---&gt; 42d342fa9773</a:t>
            </a:r>
            <a:endParaRPr lang="en-US" sz="120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Text&#10;&#10;Description automatically generated">
            <a:extLst>
              <a:ext uri="{FF2B5EF4-FFF2-40B4-BE49-F238E27FC236}">
                <a16:creationId xmlns:a16="http://schemas.microsoft.com/office/drawing/2014/main" id="{BD4DC405-D55D-49AD-BBB7-1B1B3F694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44" y="4302083"/>
            <a:ext cx="10529503" cy="204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6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Slimmer Dockerfile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FROM python:</a:t>
            </a:r>
            <a:r>
              <a:rPr lang="en-US" b="1">
                <a:latin typeface="Courier New"/>
                <a:ea typeface="roboto"/>
                <a:cs typeface="Calibri Light"/>
              </a:rPr>
              <a:t>3.8-slim</a:t>
            </a:r>
            <a:endParaRPr lang="en-US" b="1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ADD . /app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WORKDIR /app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RUN pip install -r 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ENTRYPOINT ["python"]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Courier New"/>
                <a:ea typeface="roboto"/>
                <a:cs typeface="Calibri Light"/>
              </a:rPr>
              <a:t>CMD ["app.py"]</a:t>
            </a: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9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Build slimmer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Building a Docker image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docker build –t iris:</a:t>
            </a:r>
            <a:r>
              <a:rPr lang="en-US" sz="2700" b="1">
                <a:latin typeface="Courier New"/>
                <a:ea typeface="roboto"/>
                <a:cs typeface="Calibri Light"/>
              </a:rPr>
              <a:t>3.0</a:t>
            </a:r>
            <a:r>
              <a:rPr lang="en-US" sz="2700">
                <a:latin typeface="Courier New"/>
                <a:ea typeface="roboto"/>
                <a:cs typeface="Calibri Light"/>
              </a:rPr>
              <a:t> 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Sending build context to Docker daemon </a:t>
            </a:r>
            <a:r>
              <a:rPr lang="en-US" sz="1200" b="1">
                <a:ea typeface="+mn-lt"/>
                <a:cs typeface="+mn-lt"/>
              </a:rPr>
              <a:t> 48.13kB</a:t>
            </a:r>
            <a:endParaRPr lang="en-US" sz="1200" b="1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Step 1/6 : From python:3.8-slim</a:t>
            </a:r>
            <a:endParaRPr lang="en-US" sz="120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>
                <a:ea typeface="+mn-lt"/>
                <a:cs typeface="+mn-lt"/>
              </a:rPr>
              <a:t>---&gt; 42d342fa9773</a:t>
            </a:r>
            <a:endParaRPr lang="en-US" sz="120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E3BCA930-BDC3-40A1-859B-29046A87A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0" y="4761641"/>
            <a:ext cx="11213366" cy="1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4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Run the slimmer docker image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Running a Docker image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docker run –-name iris –p 5000:5000 iris:3.0</a:t>
            </a:r>
            <a:endParaRPr lang="en-US" sz="1200" b="1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200">
              <a:latin typeface="Calibri"/>
              <a:ea typeface="roboto"/>
              <a:cs typeface="Calibri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Serving Flask app 'app' (lazy loading)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Environment: production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   WARNING: This is a development server. Do not use it in a production deployment.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   Use a production WSGI server instead.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Debug mode: on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Running on all addresses.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   WARNING: This is a development server. Do not use it in a production deployment.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Running on </a:t>
            </a:r>
            <a:r>
              <a:rPr lang="en-US" sz="1200" dirty="0">
                <a:ea typeface="+mn-lt"/>
                <a:cs typeface="+mn-lt"/>
                <a:hlinkClick r:id="rId2"/>
              </a:rPr>
              <a:t>http://172.17.0.3:5000/</a:t>
            </a:r>
            <a:r>
              <a:rPr lang="en-US" sz="1200">
                <a:ea typeface="+mn-lt"/>
                <a:cs typeface="+mn-lt"/>
              </a:rPr>
              <a:t> (Press CTRL+C to quit)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Restarting with stat</a:t>
            </a:r>
            <a:endParaRPr lang="en-US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* Debugger is active!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1200">
                <a:ea typeface="+mn-lt"/>
                <a:cs typeface="+mn-lt"/>
              </a:rPr>
              <a:t>* Debugger PIN: 251-657-431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8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View docker containers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Viewing Docker containers in your machine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docker ps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6909C19A-366E-441C-8B8A-5E8097ECB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30" y="3607613"/>
            <a:ext cx="10682905" cy="10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8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>
                <a:latin typeface="roboto"/>
                <a:cs typeface="Calibri Light"/>
              </a:rPr>
              <a:t>Testing the docker container endpoints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Curl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POSTMAN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Python Web Client in browser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1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Curl Calls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curl </a:t>
            </a:r>
            <a:r>
              <a:rPr lang="en-US" sz="2700" dirty="0">
                <a:latin typeface="Courier New"/>
                <a:ea typeface="roboto"/>
                <a:cs typeface="Courier New"/>
                <a:hlinkClick r:id="rId2"/>
              </a:rPr>
              <a:t>http://localhost:5000/train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r>
              <a:rPr lang="en-US" sz="2700">
                <a:latin typeface="Courier New"/>
                <a:cs typeface="Courier New"/>
              </a:rPr>
              <a:t>curl </a:t>
            </a:r>
            <a:r>
              <a:rPr lang="en-US" sz="2700" dirty="0">
                <a:latin typeface="Courier New"/>
                <a:cs typeface="Courier New"/>
                <a:hlinkClick r:id="rId3"/>
              </a:rPr>
              <a:t>http://localhost:5000/</a:t>
            </a:r>
            <a:endParaRPr lang="en-US" sz="27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r>
              <a:rPr lang="en-US" sz="2700">
                <a:latin typeface="Courier New"/>
                <a:cs typeface="Courier New"/>
              </a:rPr>
              <a:t>curl </a:t>
            </a:r>
            <a:r>
              <a:rPr lang="en-US" sz="2700" dirty="0">
                <a:latin typeface="Courier New"/>
                <a:cs typeface="Courier New"/>
                <a:hlinkClick r:id="rId4"/>
              </a:rPr>
              <a:t>http://localhost:5000/final_classifier?sepalLength=5.1&amp;sepalWidth=3.2&amp;petalLength=3.5&amp;petalWidth=4.2</a:t>
            </a:r>
            <a:endParaRPr lang="en-US" sz="2700" dirty="0">
              <a:ea typeface="+mn-lt"/>
              <a:cs typeface="+mn-lt"/>
            </a:endParaRPr>
          </a:p>
          <a:p>
            <a:pPr>
              <a:buNone/>
            </a:pPr>
            <a:endParaRPr lang="en-US" sz="270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endParaRPr lang="en-US" sz="2700">
              <a:latin typeface="Courier New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0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POSTMAN – train a model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41ACC47-2D62-4283-B059-5195B1C1D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07" y="1476114"/>
            <a:ext cx="9354128" cy="468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79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2" name="Picture 2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401AE5EE-3A67-4CCA-B341-100089219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57" y="1118621"/>
            <a:ext cx="9913935" cy="531825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E5C6DDD-EA6C-4B5A-A781-1DC344C5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POSTMAN – classify a sample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7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Test with Python Web Client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Naviagate to 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http://localhost:5000/train</a:t>
            </a:r>
            <a:endParaRPr lang="en-US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Then, 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  </a:t>
            </a:r>
            <a:r>
              <a:rPr lang="en-US" sz="2700">
                <a:latin typeface="Courier New"/>
                <a:ea typeface="roboto"/>
                <a:cs typeface="Courier New"/>
              </a:rPr>
              <a:t>http://localhost:5000/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Input the values within all fields 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Click Classify button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Further Reading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69" y="1612442"/>
            <a:ext cx="10484281" cy="4075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roboto"/>
                <a:ea typeface="+mj-ea"/>
                <a:cs typeface="Calibri Light"/>
              </a:rPr>
              <a:t>Flask Tutorial</a:t>
            </a:r>
            <a:endParaRPr lang="en-US" b="1">
              <a:ea typeface="+mj-ea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2"/>
              </a:rPr>
              <a:t>https://flask.palletsprojects.com/en/2.0.x/tutorial/</a:t>
            </a:r>
          </a:p>
          <a:p>
            <a:pPr marL="0" indent="0">
              <a:buNone/>
            </a:pPr>
            <a:endParaRPr lang="en-US" dirty="0">
              <a:latin typeface="Calibri"/>
              <a:ea typeface="+mj-ea"/>
              <a:cs typeface="Calibri"/>
            </a:endParaRPr>
          </a:p>
          <a:p>
            <a:pPr marL="0" indent="0">
              <a:buNone/>
            </a:pPr>
            <a:r>
              <a:rPr lang="en-US">
                <a:latin typeface="Calibri"/>
                <a:ea typeface="roboto"/>
                <a:cs typeface="Calibri"/>
              </a:rPr>
              <a:t>Docker Tutorial</a:t>
            </a: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r>
              <a:rPr lang="en-US" dirty="0">
                <a:latin typeface="Calibri"/>
                <a:ea typeface="roboto"/>
                <a:cs typeface="Calibri"/>
                <a:hlinkClick r:id="rId3"/>
              </a:rPr>
              <a:t>https://www.docker.com</a:t>
            </a: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i="1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Agenda</vt:lpstr>
      <vt:lpstr>Iris Classifier</vt:lpstr>
      <vt:lpstr>Current Flask project structure</vt:lpstr>
      <vt:lpstr>Expected Flask project structure</vt:lpstr>
      <vt:lpstr>Docker</vt:lpstr>
      <vt:lpstr>Dockerizing a web application</vt:lpstr>
      <vt:lpstr>Virtual Environment</vt:lpstr>
      <vt:lpstr>Installing necessary libraries</vt:lpstr>
      <vt:lpstr>requirements.txt</vt:lpstr>
      <vt:lpstr>Dockerfile</vt:lpstr>
      <vt:lpstr>Build docker image</vt:lpstr>
      <vt:lpstr>Build docker image</vt:lpstr>
      <vt:lpstr>View docker image</vt:lpstr>
      <vt:lpstr>dockerignore</vt:lpstr>
      <vt:lpstr>Build another docker image</vt:lpstr>
      <vt:lpstr>Slimmer Dockerfile</vt:lpstr>
      <vt:lpstr>Build slimmer docker image</vt:lpstr>
      <vt:lpstr>Run the slimmer docker image</vt:lpstr>
      <vt:lpstr>View docker containers</vt:lpstr>
      <vt:lpstr>Testing the docker container endpoints</vt:lpstr>
      <vt:lpstr>Curl Calls</vt:lpstr>
      <vt:lpstr>POSTMAN – train a model</vt:lpstr>
      <vt:lpstr>POSTMAN – classify a sample</vt:lpstr>
      <vt:lpstr>Test with Python Web Client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52</cp:revision>
  <dcterms:created xsi:type="dcterms:W3CDTF">2020-12-23T22:31:42Z</dcterms:created>
  <dcterms:modified xsi:type="dcterms:W3CDTF">2021-08-11T13:59:29Z</dcterms:modified>
</cp:coreProperties>
</file>