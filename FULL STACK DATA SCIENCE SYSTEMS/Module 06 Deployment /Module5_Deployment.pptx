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1"/>
  </p:notesMasterIdLst>
  <p:sldIdLst>
    <p:sldId id="272" r:id="rId2"/>
    <p:sldId id="273" r:id="rId3"/>
    <p:sldId id="258" r:id="rId4"/>
    <p:sldId id="683" r:id="rId5"/>
    <p:sldId id="710" r:id="rId6"/>
    <p:sldId id="663" r:id="rId7"/>
    <p:sldId id="281" r:id="rId8"/>
    <p:sldId id="702" r:id="rId9"/>
    <p:sldId id="717" r:id="rId10"/>
    <p:sldId id="718" r:id="rId11"/>
    <p:sldId id="715" r:id="rId12"/>
    <p:sldId id="721" r:id="rId13"/>
    <p:sldId id="722" r:id="rId14"/>
    <p:sldId id="723" r:id="rId15"/>
    <p:sldId id="724" r:id="rId16"/>
    <p:sldId id="726" r:id="rId17"/>
    <p:sldId id="727" r:id="rId18"/>
    <p:sldId id="728" r:id="rId19"/>
    <p:sldId id="729" r:id="rId20"/>
    <p:sldId id="730" r:id="rId21"/>
    <p:sldId id="725" r:id="rId22"/>
    <p:sldId id="731" r:id="rId23"/>
    <p:sldId id="732" r:id="rId24"/>
    <p:sldId id="733" r:id="rId25"/>
    <p:sldId id="734" r:id="rId26"/>
    <p:sldId id="735" r:id="rId27"/>
    <p:sldId id="736" r:id="rId28"/>
    <p:sldId id="703" r:id="rId29"/>
    <p:sldId id="704" r:id="rId30"/>
    <p:sldId id="671" r:id="rId31"/>
    <p:sldId id="708" r:id="rId32"/>
    <p:sldId id="716" r:id="rId33"/>
    <p:sldId id="714" r:id="rId34"/>
    <p:sldId id="691" r:id="rId35"/>
    <p:sldId id="695" r:id="rId36"/>
    <p:sldId id="692" r:id="rId37"/>
    <p:sldId id="697" r:id="rId38"/>
    <p:sldId id="693" r:id="rId39"/>
    <p:sldId id="47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FE31-2070-D1D8-A34E-F9DB0AA9A729}" v="390" dt="2020-12-26T15:18:39.115"/>
    <p1510:client id="{045A4965-B513-6B71-45A6-B68B6AFE84A0}" v="67" dt="2020-12-26T20:30:46.896"/>
    <p1510:client id="{2F685D47-1B98-2E9E-44E9-38F2D014CAAC}" v="22" dt="2020-12-28T15:26:16.614"/>
    <p1510:client id="{35654BA6-5BEF-6AC8-F037-00942082F9B2}" v="462" dt="2021-02-01T16:53:52.378"/>
    <p1510:client id="{4687724C-769A-535A-BE5E-08839305FA50}" v="5582" dt="2020-12-27T20:13:39.224"/>
    <p1510:client id="{51E3BD4C-B373-0951-C494-FB7E86FF0635}" v="2429" dt="2020-12-29T23:03:22.866"/>
    <p1510:client id="{5465CEFE-2D65-ED3F-442B-E74DF3DBF3B0}" v="613" dt="2020-12-23T23:53:09.940"/>
    <p1510:client id="{6EDD098B-35C3-5989-B456-8A16B3F62661}" v="1196" dt="2021-08-12T01:36:18.715"/>
    <p1510:client id="{70223C47-8670-9B15-A461-042D2F1DE4F7}" v="7422" dt="2020-12-31T14:25:20.982"/>
    <p1510:client id="{754A752B-A398-7C33-B6DC-89A0654AD307}" v="1138" dt="2020-12-30T13:10:01.288"/>
    <p1510:client id="{82ABAE2D-A526-4624-91EE-FBA7FD5F51E0}" v="9" dt="2020-12-23T22:41:08.207"/>
    <p1510:client id="{833B2A7B-9300-4EA2-8210-2D0A9B9B25DD}" v="1593" dt="2021-07-28T22:35:54.676"/>
    <p1510:client id="{8E84836B-A664-F3EF-DC3A-3E96F1048313}" v="881" dt="2021-08-11T12:13:44.158"/>
    <p1510:client id="{8F696AE0-6236-8D1E-3618-87162776C622}" v="5712" dt="2021-01-01T00:07:13.795"/>
    <p1510:client id="{9A177FFB-FB64-37AF-17C7-CCEC2C193DFF}" v="4481" dt="2020-12-29T13:20:50.336"/>
    <p1510:client id="{A36523BF-6232-EDAB-AA7A-65E51884668E}" v="2005" dt="2021-08-09T16:44:23.968"/>
    <p1510:client id="{ABA6C69F-305D-B000-E14F-B8292AB106A7}" v="1" dt="2021-05-10T21:46:45.388"/>
    <p1510:client id="{AF17A244-26C3-938F-8A56-3031FB598BC3}" v="1658" dt="2021-07-28T13:49:19.111"/>
    <p1510:client id="{B4F8CEB5-E72C-8A8D-D25E-09B41B53A554}" v="6468" dt="2020-12-28T22:37:18.221"/>
    <p1510:client id="{B501BB9F-207A-B000-E14F-BD930A8D43C4}" v="68" dt="2021-04-04T17:30:56.897"/>
    <p1510:client id="{B537A4A3-B997-E4C8-F16C-A35024FDFCFE}" v="30" dt="2021-03-03T13:37:16.275"/>
    <p1510:client id="{BE1DA51E-1529-2F74-3E43-FD94855CF7D5}" v="818" dt="2021-08-13T15:28:36.138"/>
    <p1510:client id="{C2F04716-BDFB-72E1-8E0B-591BAC2A83A6}" v="1704" dt="2020-12-25T23:07:35.464"/>
    <p1510:client id="{C413B264-8D43-A9BB-C85E-7F30A00A6453}" v="3644" dt="2020-12-26T15:02:32.673"/>
    <p1510:client id="{C552E5C9-89A9-5AE8-628E-6D0DD8066444}" v="3550" dt="2020-12-26T20:12:43.454"/>
    <p1510:client id="{E4379962-602B-8136-7CD4-993790D1ED49}" v="260" dt="2021-08-06T15:20:18.221"/>
    <p1510:client id="{E99E3E81-DD39-42E1-119C-BEBA76767C08}" v="1873" dt="2021-05-05T19:32:56.526"/>
    <p1510:client id="{EEA48660-AA1B-91BB-E26D-170DFD720CF2}" v="1126" dt="2021-08-11T13:37:29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3CC2D-0AF9-4166-9DD0-52A258A6A029}" type="datetimeFigureOut">
              <a:rPr lang="en-US"/>
              <a:t>8/13/2021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283C-2CD9-4321-9FBB-684AE41D516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3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8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0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0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docker.com/linux/debian" TargetMode="External"/><Relationship Id="rId2" Type="http://schemas.openxmlformats.org/officeDocument/2006/relationships/hyperlink" Target="https://download.docker.com/linux/debian/g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" TargetMode="External"/><Relationship Id="rId2" Type="http://schemas.openxmlformats.org/officeDocument/2006/relationships/hyperlink" Target="http://localhost:5000/trai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34.136.32.211:5000/final_classifier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docs" TargetMode="External"/><Relationship Id="rId2" Type="http://schemas.openxmlformats.org/officeDocument/2006/relationships/hyperlink" Target="https://www.docker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roboto"/>
                <a:cs typeface="Calibri Light"/>
              </a:rPr>
              <a:t>AASD 4016</a:t>
            </a:r>
          </a:p>
          <a:p>
            <a:r>
              <a:rPr lang="en-US" sz="5400">
                <a:latin typeface="roboto"/>
                <a:cs typeface="Calibri Light"/>
              </a:rPr>
              <a:t>Full Stack Data Science Systems</a:t>
            </a:r>
            <a:endParaRPr lang="en-US" sz="540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</a:rPr>
              <a:t>Applied AI Solutions Developer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Module 5</a:t>
            </a:r>
          </a:p>
          <a:p>
            <a:r>
              <a:rPr lang="en-US" dirty="0">
                <a:latin typeface="roboto"/>
                <a:cs typeface="Calibri Light"/>
              </a:rPr>
              <a:t>Deployment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514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roboto"/>
              </a:rPr>
              <a:t>Vejey</a:t>
            </a:r>
            <a:r>
              <a:rPr lang="en-US">
                <a:latin typeface="roboto"/>
              </a:rPr>
              <a:t> </a:t>
            </a:r>
            <a:r>
              <a:rPr lang="en-US" err="1">
                <a:latin typeface="roboto"/>
              </a:rPr>
              <a:t>Gandyer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6183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latin typeface="roboto"/>
                <a:cs typeface="Calibri Light"/>
              </a:rPr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768" y="1649955"/>
            <a:ext cx="6224335" cy="5755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roboto"/>
                <a:ea typeface="+mj-ea"/>
                <a:cs typeface="Calibri Light"/>
              </a:rPr>
              <a:t>Deployment</a:t>
            </a:r>
            <a:endParaRPr lang="en-US" dirty="0">
              <a:ea typeface="+mj-ea"/>
            </a:endParaRPr>
          </a:p>
          <a:p>
            <a:pPr marL="0" indent="0">
              <a:buNone/>
            </a:pPr>
            <a:r>
              <a:rPr lang="en-US" sz="3000" dirty="0" err="1">
                <a:latin typeface="roboto"/>
                <a:ea typeface="roboto"/>
                <a:cs typeface="Calibri Light"/>
              </a:rPr>
              <a:t>Dockerhub</a:t>
            </a:r>
            <a:endParaRPr lang="en-US" dirty="0" err="1"/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Creating GCP account</a:t>
            </a:r>
            <a:endParaRPr lang="en-US" dirty="0"/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GCP instance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SSH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Installing Docker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Running the docker container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Testing the public endpoints</a:t>
            </a:r>
            <a:endParaRPr lang="en-US" dirty="0"/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2200">
              <a:latin typeface="roboto"/>
              <a:ea typeface="roboto"/>
              <a:cs typeface="Calibri Light"/>
            </a:endParaRPr>
          </a:p>
        </p:txBody>
      </p:sp>
      <p:pic>
        <p:nvPicPr>
          <p:cNvPr id="4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E376F483-1DA3-4922-A4DE-B5C7D265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5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30EB02E-681A-46B3-B1E0-87DF361E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Iris Classifier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5060220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Courier New"/>
                <a:ea typeface="roboto"/>
                <a:cs typeface="Calibri Light"/>
              </a:rPr>
              <a:t>Notebook to Script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Courier New"/>
                <a:ea typeface="roboto"/>
                <a:cs typeface="Calibri Light"/>
              </a:rPr>
              <a:t>Script to Flask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Courier New"/>
                <a:ea typeface="roboto"/>
                <a:cs typeface="Calibri Light"/>
              </a:rPr>
              <a:t>Load model and keep it up for inference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Courier New"/>
                <a:ea typeface="roboto"/>
                <a:cs typeface="Calibri Light"/>
              </a:rPr>
              <a:t>Infer from the model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Courier New"/>
                <a:ea typeface="roboto"/>
                <a:cs typeface="Calibri Light"/>
              </a:rPr>
              <a:t>Test the endpoint using Curl, POSTMAN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Courier New"/>
                <a:ea typeface="roboto"/>
                <a:cs typeface="Calibri Light"/>
              </a:rPr>
              <a:t>Build a python web client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Courier New"/>
                <a:ea typeface="roboto"/>
                <a:cs typeface="Calibri Light"/>
              </a:rPr>
              <a:t>Test the client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/>
                <a:ea typeface="roboto"/>
                <a:cs typeface="Courier New"/>
              </a:rPr>
              <a:t>Create a Virtual Environment </a:t>
            </a:r>
            <a:endParaRPr lang="en-US" sz="1600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/>
                <a:ea typeface="roboto"/>
                <a:cs typeface="Courier New"/>
              </a:rPr>
              <a:t>Install all libraries 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/>
                <a:ea typeface="roboto"/>
                <a:cs typeface="Courier New"/>
              </a:rPr>
              <a:t>Create requirements.txt 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/>
                <a:ea typeface="roboto"/>
                <a:cs typeface="Courier New"/>
              </a:rPr>
              <a:t>Create a </a:t>
            </a:r>
            <a:r>
              <a:rPr lang="en-US" sz="1600" dirty="0" err="1">
                <a:latin typeface="Courier New"/>
                <a:ea typeface="roboto"/>
                <a:cs typeface="Courier New"/>
              </a:rPr>
              <a:t>Dockerfile</a:t>
            </a:r>
            <a:r>
              <a:rPr lang="en-US" sz="1600" dirty="0">
                <a:latin typeface="Courier New"/>
                <a:ea typeface="roboto"/>
                <a:cs typeface="Courier New"/>
              </a:rPr>
              <a:t> 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/>
                <a:ea typeface="roboto"/>
                <a:cs typeface="Courier New"/>
              </a:rPr>
              <a:t>Create a Docker image 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/>
                <a:ea typeface="roboto"/>
                <a:cs typeface="Courier New"/>
              </a:rPr>
              <a:t>Create a Docker container 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/>
                <a:ea typeface="roboto"/>
                <a:cs typeface="Courier New"/>
              </a:rPr>
              <a:t>Test the endpoints within the running Docker container</a:t>
            </a:r>
            <a:r>
              <a:rPr lang="en-US" sz="1600" b="1" dirty="0">
                <a:latin typeface="Courier New"/>
                <a:ea typeface="roboto"/>
                <a:cs typeface="Courier New"/>
              </a:rPr>
              <a:t> </a:t>
            </a:r>
            <a:endParaRPr lang="en-US" sz="16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6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6D42A5-B9D3-4C24-8637-2E1F4D3D3335}"/>
              </a:ext>
            </a:extLst>
          </p:cNvPr>
          <p:cNvSpPr txBox="1"/>
          <p:nvPr/>
        </p:nvSpPr>
        <p:spPr>
          <a:xfrm>
            <a:off x="6662691" y="1395274"/>
            <a:ext cx="5317724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latin typeface="Courier New"/>
                <a:cs typeface="Segoe UI"/>
              </a:rPr>
              <a:t>Push the docker image into </a:t>
            </a:r>
            <a:r>
              <a:rPr lang="en-US" sz="2500" b="1" dirty="0" err="1">
                <a:latin typeface="Courier New"/>
                <a:cs typeface="Segoe UI"/>
              </a:rPr>
              <a:t>Dockerhub</a:t>
            </a:r>
          </a:p>
          <a:p>
            <a:r>
              <a:rPr lang="en-US" sz="2500" b="1" dirty="0">
                <a:latin typeface="Courier New"/>
                <a:cs typeface="Segoe UI"/>
              </a:rPr>
              <a:t>Create GCP Compute Engine</a:t>
            </a:r>
          </a:p>
          <a:p>
            <a:r>
              <a:rPr lang="en-US" sz="2500" b="1" dirty="0">
                <a:latin typeface="Courier New"/>
                <a:cs typeface="Segoe UI"/>
              </a:rPr>
              <a:t>SSH into GCP instance</a:t>
            </a:r>
          </a:p>
          <a:p>
            <a:r>
              <a:rPr lang="en-US" sz="2500" b="1" dirty="0">
                <a:latin typeface="Courier New"/>
                <a:cs typeface="Segoe UI"/>
              </a:rPr>
              <a:t>Install docker</a:t>
            </a:r>
          </a:p>
          <a:p>
            <a:r>
              <a:rPr lang="en-US" sz="2500" b="1" dirty="0">
                <a:latin typeface="Courier New"/>
                <a:cs typeface="Segoe UI"/>
              </a:rPr>
              <a:t>Pull the docker image from </a:t>
            </a:r>
            <a:r>
              <a:rPr lang="en-US" sz="2500" b="1" dirty="0" err="1">
                <a:latin typeface="Courier New"/>
                <a:cs typeface="Segoe UI"/>
              </a:rPr>
              <a:t>Dockerhub</a:t>
            </a:r>
          </a:p>
          <a:p>
            <a:r>
              <a:rPr lang="en-US" sz="2500" b="1" dirty="0">
                <a:latin typeface="Courier New"/>
                <a:cs typeface="Segoe UI"/>
              </a:rPr>
              <a:t>Run the docker container</a:t>
            </a:r>
          </a:p>
          <a:p>
            <a:r>
              <a:rPr lang="en-US" sz="2500" b="1" dirty="0">
                <a:latin typeface="Courier New"/>
                <a:cs typeface="Segoe UI"/>
              </a:rPr>
              <a:t>Test the public endpoints</a:t>
            </a:r>
          </a:p>
        </p:txBody>
      </p:sp>
    </p:spTree>
    <p:extLst>
      <p:ext uri="{BB962C8B-B14F-4D97-AF65-F5344CB8AC3E}">
        <p14:creationId xmlns:p14="http://schemas.microsoft.com/office/powerpoint/2010/main" val="6561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Current Flask project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roboto"/>
                <a:ea typeface="roboto"/>
                <a:cs typeface="Calibri Light"/>
              </a:rPr>
              <a:t>Project Structure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app.py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helper(s).</a:t>
            </a:r>
            <a:r>
              <a:rPr lang="en-US" sz="2700" dirty="0" err="1">
                <a:latin typeface="Courier New"/>
                <a:ea typeface="roboto"/>
                <a:cs typeface="Calibri Light"/>
              </a:rPr>
              <a:t>py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templates/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    index.html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    result.html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static/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    Style.css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</a:t>
            </a:r>
            <a:r>
              <a:rPr lang="en-US" sz="2700" b="1" dirty="0" err="1">
                <a:latin typeface="Courier New"/>
                <a:ea typeface="roboto"/>
                <a:cs typeface="Calibri Light"/>
              </a:rPr>
              <a:t>Dockerfile</a:t>
            </a:r>
            <a:endParaRPr lang="en-US" sz="2700" b="1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latin typeface="Courier New"/>
                <a:ea typeface="roboto"/>
                <a:cs typeface="Calibri Light"/>
              </a:rPr>
              <a:t>   requirements.txt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latin typeface="Courier New"/>
                <a:ea typeface="roboto"/>
                <a:cs typeface="Calibri Light"/>
              </a:rPr>
              <a:t>   iris-</a:t>
            </a:r>
            <a:r>
              <a:rPr lang="en-US" sz="2700" b="1" dirty="0" err="1">
                <a:latin typeface="Courier New"/>
                <a:ea typeface="roboto"/>
                <a:cs typeface="Calibri Light"/>
              </a:rPr>
              <a:t>venv</a:t>
            </a:r>
            <a:r>
              <a:rPr lang="en-US" sz="2700" b="1" dirty="0">
                <a:latin typeface="Courier New"/>
                <a:ea typeface="roboto"/>
                <a:cs typeface="Calibri Light"/>
              </a:rPr>
              <a:t>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latin typeface="Courier New"/>
                <a:ea typeface="roboto"/>
                <a:cs typeface="Calibri Light"/>
              </a:rPr>
              <a:t>   .</a:t>
            </a:r>
            <a:r>
              <a:rPr lang="en-US" sz="2700" b="1" dirty="0" err="1">
                <a:latin typeface="Courier New"/>
                <a:ea typeface="roboto"/>
                <a:cs typeface="Calibri Light"/>
              </a:rPr>
              <a:t>dockerignore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1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Deploying a web application</a:t>
            </a:r>
            <a:endParaRPr lang="en-US" sz="4800" dirty="0">
              <a:latin typeface="roboto"/>
              <a:ea typeface="roboto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5105101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Installing Docker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Creating a Virtual environment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Installing necessary libraries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Creating requirements.txt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Creating a </a:t>
            </a:r>
            <a:r>
              <a:rPr lang="en-US" sz="2700" err="1">
                <a:latin typeface="roboto"/>
                <a:ea typeface="roboto"/>
                <a:cs typeface="Calibri Light"/>
              </a:rPr>
              <a:t>Dockerfile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Building a Docker image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Running a Docker container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Testing the endpoints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D8F19D-3A44-4101-8BDC-D9EBA0987FD5}"/>
              </a:ext>
            </a:extLst>
          </p:cNvPr>
          <p:cNvSpPr txBox="1"/>
          <p:nvPr/>
        </p:nvSpPr>
        <p:spPr>
          <a:xfrm>
            <a:off x="6502400" y="1511300"/>
            <a:ext cx="5575300" cy="44904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700" b="1" dirty="0">
                <a:latin typeface="roboto"/>
                <a:ea typeface="roboto"/>
                <a:cs typeface="Calibri Light"/>
              </a:rPr>
              <a:t>Push docker image into </a:t>
            </a:r>
            <a:r>
              <a:rPr lang="en-US" sz="2700" b="1" dirty="0" err="1">
                <a:latin typeface="roboto"/>
                <a:ea typeface="roboto"/>
                <a:cs typeface="Calibri Light"/>
              </a:rPr>
              <a:t>Dockerhub</a:t>
            </a:r>
            <a:endParaRPr lang="en-US" sz="2700" b="1" dirty="0">
              <a:latin typeface="roboto"/>
              <a:ea typeface="roboto"/>
              <a:cs typeface="Calibri Light"/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700" b="1" dirty="0">
                <a:latin typeface="roboto"/>
                <a:ea typeface="roboto"/>
                <a:cs typeface="Calibri Light"/>
              </a:rPr>
              <a:t>Creating GCP instance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700" b="1" dirty="0">
                <a:latin typeface="roboto"/>
                <a:ea typeface="roboto"/>
                <a:cs typeface="Calibri Light"/>
              </a:rPr>
              <a:t>SSH into instance</a:t>
            </a:r>
            <a:endParaRPr lang="en-US" b="1" dirty="0">
              <a:cs typeface="Calibri"/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700" b="1" dirty="0">
                <a:latin typeface="roboto"/>
                <a:ea typeface="roboto"/>
                <a:cs typeface="Calibri Light"/>
              </a:rPr>
              <a:t>Install docker</a:t>
            </a:r>
            <a:endParaRPr lang="en-US" b="1" dirty="0">
              <a:cs typeface="Calibri"/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700" b="1" dirty="0">
                <a:latin typeface="roboto"/>
                <a:ea typeface="roboto"/>
                <a:cs typeface="Calibri Light"/>
              </a:rPr>
              <a:t>Pulling a Docker image​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700" b="1" dirty="0">
                <a:latin typeface="roboto"/>
                <a:ea typeface="roboto"/>
                <a:cs typeface="Calibri Light"/>
              </a:rPr>
              <a:t>Running a Docker container​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700" b="1" dirty="0">
                <a:latin typeface="roboto"/>
                <a:ea typeface="roboto"/>
                <a:cs typeface="Calibri Light"/>
              </a:rPr>
              <a:t>Testing the public endpoints​</a:t>
            </a:r>
          </a:p>
        </p:txBody>
      </p:sp>
    </p:spTree>
    <p:extLst>
      <p:ext uri="{BB962C8B-B14F-4D97-AF65-F5344CB8AC3E}">
        <p14:creationId xmlns:p14="http://schemas.microsoft.com/office/powerpoint/2010/main" val="170363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Dockerhub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roboto"/>
                <a:cs typeface="Calibri Light"/>
              </a:rPr>
              <a:t>Dockerhub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 dirty="0">
                <a:ea typeface="+mn-lt"/>
                <a:cs typeface="+mn-lt"/>
              </a:rPr>
              <a:t>Create a </a:t>
            </a:r>
            <a:r>
              <a:rPr lang="en-US" sz="2700" dirty="0" err="1">
                <a:ea typeface="+mn-lt"/>
                <a:cs typeface="+mn-lt"/>
              </a:rPr>
              <a:t>Dockerhub</a:t>
            </a:r>
            <a:r>
              <a:rPr lang="en-US" sz="2700" dirty="0">
                <a:ea typeface="+mn-lt"/>
                <a:cs typeface="+mn-lt"/>
              </a:rPr>
              <a:t> account 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700" dirty="0">
                <a:latin typeface="Courier New"/>
                <a:ea typeface="+mn-lt"/>
                <a:cs typeface="+mn-lt"/>
              </a:rPr>
              <a:t>https://dockerhub.com</a:t>
            </a: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FD145F89-C75A-4C15-BF11-CE7504761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2782014"/>
            <a:ext cx="6159500" cy="33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Connect to the </a:t>
            </a:r>
            <a:r>
              <a:rPr lang="en-US" sz="4800" dirty="0" err="1">
                <a:latin typeface="roboto"/>
                <a:cs typeface="Calibri Light"/>
              </a:rPr>
              <a:t>Dockerhub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 dirty="0">
                <a:ea typeface="+mn-lt"/>
                <a:cs typeface="+mn-lt"/>
              </a:rPr>
              <a:t>Create a </a:t>
            </a:r>
            <a:r>
              <a:rPr lang="en-US" sz="2700" dirty="0" err="1">
                <a:ea typeface="+mn-lt"/>
                <a:cs typeface="+mn-lt"/>
              </a:rPr>
              <a:t>Dockerhub</a:t>
            </a:r>
            <a:r>
              <a:rPr lang="en-US" sz="2700" dirty="0">
                <a:ea typeface="+mn-lt"/>
                <a:cs typeface="+mn-lt"/>
              </a:rPr>
              <a:t> account 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700" dirty="0">
                <a:latin typeface="Courier New"/>
                <a:ea typeface="+mn-lt"/>
                <a:cs typeface="+mn-lt"/>
              </a:rPr>
              <a:t>docker login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latin typeface="Calibri"/>
                <a:ea typeface="roboto"/>
                <a:cs typeface="Calibri"/>
              </a:rPr>
              <a:t>Username: Username</a:t>
            </a:r>
          </a:p>
          <a:p>
            <a:pPr>
              <a:buNone/>
            </a:pPr>
            <a:r>
              <a:rPr lang="en-US" dirty="0">
                <a:latin typeface="Calibri"/>
                <a:ea typeface="roboto"/>
                <a:cs typeface="Calibri"/>
              </a:rPr>
              <a:t>Password: Password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1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Push to the </a:t>
            </a:r>
            <a:r>
              <a:rPr lang="en-US" sz="4800" dirty="0" err="1">
                <a:latin typeface="roboto"/>
                <a:cs typeface="Calibri Light"/>
              </a:rPr>
              <a:t>Dockerhub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 dirty="0">
                <a:ea typeface="+mn-lt"/>
                <a:cs typeface="+mn-lt"/>
              </a:rPr>
              <a:t>Tag the docker image with </a:t>
            </a:r>
            <a:r>
              <a:rPr lang="en-US" sz="2700" dirty="0" err="1">
                <a:ea typeface="+mn-lt"/>
                <a:cs typeface="+mn-lt"/>
              </a:rPr>
              <a:t>Dockerhub</a:t>
            </a:r>
            <a:r>
              <a:rPr lang="en-US" sz="2700" dirty="0">
                <a:ea typeface="+mn-lt"/>
                <a:cs typeface="+mn-lt"/>
              </a:rPr>
              <a:t> </a:t>
            </a:r>
          </a:p>
          <a:p>
            <a:pPr>
              <a:buNone/>
            </a:pPr>
            <a:r>
              <a:rPr lang="en-US" sz="2700" dirty="0">
                <a:latin typeface="Courier New"/>
                <a:ea typeface="+mn-lt"/>
                <a:cs typeface="+mn-lt"/>
              </a:rPr>
              <a:t>docker tag iris:3.0 </a:t>
            </a:r>
            <a:r>
              <a:rPr lang="en-US" sz="2700" dirty="0" err="1">
                <a:latin typeface="Courier New"/>
                <a:ea typeface="+mn-lt"/>
                <a:cs typeface="+mn-lt"/>
              </a:rPr>
              <a:t>subashgandyer</a:t>
            </a:r>
            <a:r>
              <a:rPr lang="en-US" sz="2700" dirty="0">
                <a:latin typeface="Courier New"/>
                <a:ea typeface="+mn-lt"/>
                <a:cs typeface="+mn-lt"/>
              </a:rPr>
              <a:t>/iris:3.0</a:t>
            </a:r>
          </a:p>
          <a:p>
            <a:pPr>
              <a:buNone/>
            </a:pPr>
            <a:endParaRPr lang="en-US" sz="2700" dirty="0">
              <a:latin typeface="Courier New"/>
              <a:cs typeface="Calibri"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latin typeface="Calibri"/>
                <a:ea typeface="roboto"/>
                <a:cs typeface="Calibri"/>
              </a:rPr>
              <a:t>Push the tagged docker image</a:t>
            </a:r>
            <a:endParaRPr lang="en-US" dirty="0"/>
          </a:p>
          <a:p>
            <a:pPr>
              <a:buNone/>
            </a:pPr>
            <a:r>
              <a:rPr lang="en-US" sz="2700" dirty="0">
                <a:latin typeface="Courier New"/>
                <a:ea typeface="+mn-lt"/>
                <a:cs typeface="+mn-lt"/>
              </a:rPr>
              <a:t>docker push </a:t>
            </a:r>
            <a:r>
              <a:rPr lang="en-US" sz="2700" dirty="0" err="1">
                <a:latin typeface="Courier New"/>
                <a:ea typeface="+mn-lt"/>
                <a:cs typeface="+mn-lt"/>
              </a:rPr>
              <a:t>subashgandyer</a:t>
            </a:r>
            <a:r>
              <a:rPr lang="en-US" sz="2700" dirty="0">
                <a:latin typeface="Courier New"/>
                <a:ea typeface="+mn-lt"/>
                <a:cs typeface="+mn-lt"/>
              </a:rPr>
              <a:t>/iris:3.0</a:t>
            </a:r>
          </a:p>
          <a:p>
            <a:pPr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4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Google Cloud Platform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Create a new account                 </a:t>
            </a:r>
            <a:r>
              <a:rPr lang="en-US" sz="2700" i="1">
                <a:ea typeface="+mn-lt"/>
                <a:cs typeface="+mn-lt"/>
              </a:rPr>
              <a:t>console.google.com</a:t>
            </a:r>
            <a:endParaRPr lang="en-US" i="1" dirty="0">
              <a:ea typeface="+mn-lt"/>
              <a:cs typeface="+mn-lt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4172C7F-E499-43A3-89C3-9F4F131F7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9" y="2138848"/>
            <a:ext cx="7755117" cy="392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Google Cloud Platform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Dashboard</a:t>
            </a:r>
            <a:endParaRPr lang="en-US"/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23EFF78-475D-47AB-869D-00618B595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01" y="2148535"/>
            <a:ext cx="8045776" cy="392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6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Google Cloud Platform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Create a new project</a:t>
            </a:r>
            <a:endParaRPr lang="en-US"/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1830413-1A74-4119-8397-DD088F7BD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45" y="2068103"/>
            <a:ext cx="8556395" cy="427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6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Create a new project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B6FE11C-9004-4A52-B02A-B7AA1C6A2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87" y="1433411"/>
            <a:ext cx="7920086" cy="500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New Project</a:t>
            </a:r>
            <a:endParaRPr lang="en-US" sz="4800" dirty="0">
              <a:latin typeface="roboto"/>
              <a:ea typeface="roboto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Dashboard</a:t>
            </a:r>
            <a:endParaRPr lang="en-US"/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90E59BF-BC67-4EA3-BE4F-797938FB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9" y="2054759"/>
            <a:ext cx="9263404" cy="425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6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Enable Compute Engine API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723147-B7A1-49C1-911D-AEBB5E0FA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04" y="1644595"/>
            <a:ext cx="6019014" cy="4417222"/>
          </a:xfrm>
          <a:prstGeom prst="rect">
            <a:avLst/>
          </a:prstGeom>
        </p:spPr>
      </p:pic>
      <p:pic>
        <p:nvPicPr>
          <p:cNvPr id="8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1C2E48F-D714-4DC4-98C2-C44C83AD7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473" y="1641090"/>
            <a:ext cx="5484828" cy="255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2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Billing Info for Credit Card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7D8F707-63C1-424E-A6E3-54601D1A7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33" y="1678342"/>
            <a:ext cx="8077199" cy="41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7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Billing Info for Credit Card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16170F2-D43F-4263-9A18-1F7E8A9A9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44" y="1692026"/>
            <a:ext cx="9475508" cy="354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1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Billing Info for Credit Card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AEE14F9-579B-41CE-8C7C-C3738DC7F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07" y="1576279"/>
            <a:ext cx="7048106" cy="46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3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Billing Info for Credit Card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CD03273-3CB8-4C40-A41C-756E3A79E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09" y="1689325"/>
            <a:ext cx="6183983" cy="373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0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Create VM instance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234F1B3-E695-4EDE-B064-6E9C9B158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450813"/>
            <a:ext cx="3583755" cy="4883345"/>
          </a:xfrm>
          <a:prstGeom prst="rect">
            <a:avLst/>
          </a:prstGeom>
        </p:spPr>
      </p:pic>
      <p:pic>
        <p:nvPicPr>
          <p:cNvPr id="8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F116973-5497-4A44-B2DF-298115B86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1431173"/>
            <a:ext cx="8069344" cy="48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0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Create VM instance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DC5018A-6BDC-4F15-8D65-FE3F7F985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02" y="1341955"/>
            <a:ext cx="8619240" cy="51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8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Create VM instance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4E619D5-77D1-40E3-94CA-1264F8510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56" y="1291543"/>
            <a:ext cx="4722828" cy="51311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7E4CFA-C389-4299-95F6-BDC3290B13A8}"/>
              </a:ext>
            </a:extLst>
          </p:cNvPr>
          <p:cNvSpPr txBox="1"/>
          <p:nvPr/>
        </p:nvSpPr>
        <p:spPr>
          <a:xfrm>
            <a:off x="6256256" y="1393596"/>
            <a:ext cx="487176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Allow full access to all Cloud APIs</a:t>
            </a:r>
            <a:endParaRPr lang="en-US" sz="240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r>
              <a:rPr lang="en-US" sz="2400">
                <a:cs typeface="Calibri"/>
              </a:rPr>
              <a:t>Allow HTTP traffic</a:t>
            </a:r>
            <a:endParaRPr lang="en-US" sz="2400" dirty="0">
              <a:cs typeface="Calibri"/>
            </a:endParaRPr>
          </a:p>
          <a:p>
            <a:r>
              <a:rPr lang="en-US" sz="2400">
                <a:cs typeface="Calibri"/>
              </a:rPr>
              <a:t>Allow HTTPS traffic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48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VM instance Created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7E4CFA-C389-4299-95F6-BDC3290B13A8}"/>
              </a:ext>
            </a:extLst>
          </p:cNvPr>
          <p:cNvSpPr txBox="1"/>
          <p:nvPr/>
        </p:nvSpPr>
        <p:spPr>
          <a:xfrm>
            <a:off x="6256256" y="1393596"/>
            <a:ext cx="487176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34.136.32.211 [IP address]</a:t>
            </a:r>
          </a:p>
          <a:p>
            <a:r>
              <a:rPr lang="en-US" sz="2400">
                <a:cs typeface="Calibri"/>
              </a:rPr>
              <a:t>Yours will be different</a:t>
            </a:r>
            <a:endParaRPr lang="en-US" sz="2400" dirty="0">
              <a:cs typeface="Calibri"/>
            </a:endParaRPr>
          </a:p>
        </p:txBody>
      </p:sp>
      <p:pic>
        <p:nvPicPr>
          <p:cNvPr id="6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4989816-39EA-4310-91AB-FC941F877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58" y="3298121"/>
            <a:ext cx="11414885" cy="275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5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Create a Firewall rule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8" descr="Graphical user interface, application, email&#10;&#10;Description automatically generated">
            <a:extLst>
              <a:ext uri="{FF2B5EF4-FFF2-40B4-BE49-F238E27FC236}">
                <a16:creationId xmlns:a16="http://schemas.microsoft.com/office/drawing/2014/main" id="{09D3843E-66BF-4E5A-86CB-177BE7724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40" y="1452882"/>
            <a:ext cx="3328869" cy="4733130"/>
          </a:xfrm>
          <a:prstGeom prst="rect">
            <a:avLst/>
          </a:prstGeom>
        </p:spPr>
      </p:pic>
      <p:pic>
        <p:nvPicPr>
          <p:cNvPr id="9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1830328-8DAC-4408-B419-F3224904D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309" y="1455871"/>
            <a:ext cx="6943646" cy="803796"/>
          </a:xfrm>
          <a:prstGeom prst="rect">
            <a:avLst/>
          </a:prstGeom>
        </p:spPr>
      </p:pic>
      <p:pic>
        <p:nvPicPr>
          <p:cNvPr id="10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AFD9241-6DA3-49BE-9121-913AE286A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3012" y="1928774"/>
            <a:ext cx="5425943" cy="439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0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Create a Firewall rule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7E4CFA-C389-4299-95F6-BDC3290B13A8}"/>
              </a:ext>
            </a:extLst>
          </p:cNvPr>
          <p:cNvSpPr txBox="1"/>
          <p:nvPr/>
        </p:nvSpPr>
        <p:spPr>
          <a:xfrm>
            <a:off x="6256256" y="2130406"/>
            <a:ext cx="487176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Target tags --&gt; demo-1</a:t>
            </a: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r>
              <a:rPr lang="en-US" sz="2400">
                <a:cs typeface="Calibri"/>
              </a:rPr>
              <a:t>Source IP ranges --&gt; 0.0.0.0</a:t>
            </a:r>
            <a:endParaRPr lang="en-US" sz="2400" dirty="0">
              <a:cs typeface="Calibri"/>
            </a:endParaRPr>
          </a:p>
          <a:p>
            <a:r>
              <a:rPr lang="en-US" sz="2400">
                <a:cs typeface="Calibri"/>
              </a:rPr>
              <a:t>                                     0.0.0.0/0</a:t>
            </a: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r>
              <a:rPr lang="en-US" sz="2400">
                <a:cs typeface="Calibri"/>
              </a:rPr>
              <a:t>Protocols --&gt; Allow all</a:t>
            </a:r>
            <a:endParaRPr lang="en-US" sz="2400" dirty="0">
              <a:cs typeface="Calibri"/>
            </a:endParaRPr>
          </a:p>
        </p:txBody>
      </p:sp>
      <p:pic>
        <p:nvPicPr>
          <p:cNvPr id="6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88F8FAC-AD33-484D-B3E8-C27509332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15" y="1365166"/>
            <a:ext cx="5507811" cy="4895965"/>
          </a:xfrm>
          <a:prstGeom prst="rect">
            <a:avLst/>
          </a:prstGeom>
        </p:spPr>
      </p:pic>
      <p:pic>
        <p:nvPicPr>
          <p:cNvPr id="11" name="Picture 1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28464ED-9C23-44E3-8E7B-E77460CC3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277" y="5784905"/>
            <a:ext cx="7711943" cy="39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1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ea typeface="roboto"/>
                <a:cs typeface="Calibri Light"/>
              </a:rPr>
              <a:t>Edit VM instance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>
              <a:buNone/>
            </a:pPr>
            <a:br>
              <a:rPr lang="en-US" dirty="0"/>
            </a:b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7E4CFA-C389-4299-95F6-BDC3290B13A8}"/>
              </a:ext>
            </a:extLst>
          </p:cNvPr>
          <p:cNvSpPr txBox="1"/>
          <p:nvPr/>
        </p:nvSpPr>
        <p:spPr>
          <a:xfrm>
            <a:off x="7062338" y="4850935"/>
            <a:ext cx="487176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Network tags --&gt; demo-1</a:t>
            </a:r>
          </a:p>
          <a:p>
            <a:endParaRPr lang="en-US" sz="2400" dirty="0">
              <a:cs typeface="Calibri"/>
            </a:endParaRPr>
          </a:p>
        </p:txBody>
      </p:sp>
      <p:pic>
        <p:nvPicPr>
          <p:cNvPr id="4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594A023-94C6-415C-9DA9-650035311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40" y="1447728"/>
            <a:ext cx="5337778" cy="4667867"/>
          </a:xfrm>
          <a:prstGeom prst="rect">
            <a:avLst/>
          </a:prstGeom>
        </p:spPr>
      </p:pic>
      <p:pic>
        <p:nvPicPr>
          <p:cNvPr id="9" name="Picture 9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7DBBE7C-8F10-4E88-BC6F-7C0488666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153" y="2945641"/>
            <a:ext cx="6729529" cy="113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4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81303CD-3D00-4F69-BB0B-20D93FE8D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52" y="1347880"/>
            <a:ext cx="11446373" cy="2335960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C48732B-CCC9-4F8A-9290-59EAEA3F3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433" y="3950363"/>
            <a:ext cx="10338010" cy="23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3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Installing Docker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sudo apt update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sudo apt install apt-transport-https ca-certificates curl gnupg2 software-properties-common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curl -fsSL </a:t>
            </a:r>
            <a:r>
              <a:rPr lang="en-US" sz="2700" dirty="0">
                <a:ea typeface="+mn-lt"/>
                <a:cs typeface="+mn-lt"/>
                <a:hlinkClick r:id="rId2"/>
              </a:rPr>
              <a:t>https://download.docker.com/linux/debian/gpg</a:t>
            </a:r>
            <a:r>
              <a:rPr lang="en-US" sz="2700">
                <a:ea typeface="+mn-lt"/>
                <a:cs typeface="+mn-lt"/>
              </a:rPr>
              <a:t> | sudo apt-key add -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sudo add-apt-repository "deb [arch=amd64] </a:t>
            </a:r>
            <a:r>
              <a:rPr lang="en-US" sz="2700" dirty="0">
                <a:ea typeface="+mn-lt"/>
                <a:cs typeface="+mn-lt"/>
                <a:hlinkClick r:id="rId3"/>
              </a:rPr>
              <a:t>https://download.docker.com/linux/debian</a:t>
            </a:r>
            <a:r>
              <a:rPr lang="en-US" sz="2700">
                <a:ea typeface="+mn-lt"/>
                <a:cs typeface="+mn-lt"/>
              </a:rPr>
              <a:t> $(lsb_release -cs) stable"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sudo apt update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apt-cache policy docker-ce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sudo apt install docker-ce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sudo systemctl status docker</a:t>
            </a:r>
            <a:endParaRPr lang="en-US"/>
          </a:p>
          <a:p>
            <a:pPr>
              <a:buNone/>
            </a:pPr>
            <a:endParaRPr lang="en-US" sz="2700" dirty="0">
              <a:latin typeface="Calibri"/>
              <a:cs typeface="Calibri"/>
            </a:endParaRPr>
          </a:p>
          <a:p>
            <a:pPr>
              <a:buNone/>
            </a:pPr>
            <a:endParaRPr lang="en-US" sz="2700" dirty="0">
              <a:latin typeface="Courier New"/>
              <a:ea typeface="+mn-lt"/>
              <a:cs typeface="+mn-lt"/>
            </a:endParaRPr>
          </a:p>
          <a:p>
            <a:pPr>
              <a:buNone/>
            </a:pP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endParaRPr lang="en-US" sz="2700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3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Pulling a docker image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roboto"/>
                <a:ea typeface="roboto"/>
                <a:cs typeface="Calibri Light"/>
              </a:rPr>
              <a:t>Pulling a Docker image</a:t>
            </a:r>
            <a:endParaRPr lang="en-US" dirty="0"/>
          </a:p>
          <a:p>
            <a:pPr marL="0" indent="0">
              <a:buNone/>
            </a:pPr>
            <a:r>
              <a:rPr lang="en-US" sz="2700" dirty="0">
                <a:ea typeface="+mn-lt"/>
                <a:cs typeface="+mn-lt"/>
              </a:rPr>
              <a:t>        </a:t>
            </a:r>
            <a:r>
              <a:rPr lang="en-US" sz="2700">
                <a:latin typeface="Courier New"/>
                <a:ea typeface="+mn-lt"/>
                <a:cs typeface="+mn-lt"/>
              </a:rPr>
              <a:t>sudo docker pull </a:t>
            </a:r>
            <a:r>
              <a:rPr lang="en-US" sz="2700" err="1">
                <a:latin typeface="Courier New"/>
                <a:ea typeface="+mn-lt"/>
                <a:cs typeface="+mn-lt"/>
              </a:rPr>
              <a:t>subashgandyer</a:t>
            </a:r>
            <a:r>
              <a:rPr lang="en-US" sz="2700" dirty="0">
                <a:latin typeface="Courier New"/>
                <a:ea typeface="+mn-lt"/>
                <a:cs typeface="+mn-lt"/>
              </a:rPr>
              <a:t>/iris:3.0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Text&#10;&#10;Description automatically generated">
            <a:extLst>
              <a:ext uri="{FF2B5EF4-FFF2-40B4-BE49-F238E27FC236}">
                <a16:creationId xmlns:a16="http://schemas.microsoft.com/office/drawing/2014/main" id="{2D25FCC3-2A2F-4221-915E-C77E822D3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310" y="3382889"/>
            <a:ext cx="9399678" cy="273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1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View docker image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roboto"/>
                <a:ea typeface="roboto"/>
                <a:cs typeface="Calibri Light"/>
              </a:rPr>
              <a:t>Viewing Docker images in remote GCP machine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sudo docker images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 descr="Text&#10;&#10;Description automatically generated">
            <a:extLst>
              <a:ext uri="{FF2B5EF4-FFF2-40B4-BE49-F238E27FC236}">
                <a16:creationId xmlns:a16="http://schemas.microsoft.com/office/drawing/2014/main" id="{3435F486-BBCF-418A-9789-01BBE3312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33" y="3610561"/>
            <a:ext cx="9645281" cy="85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Running a docker container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Running a Docker container inside GCP VM instance</a:t>
            </a:r>
            <a:endParaRPr lang="en-US" dirty="0"/>
          </a:p>
          <a:p>
            <a:pPr marL="0" indent="0"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  sudo docker run -d --restart on-failure -p </a:t>
            </a:r>
            <a:r>
              <a:rPr lang="en-US" sz="2700" dirty="0">
                <a:latin typeface="Courier New"/>
                <a:ea typeface="roboto"/>
                <a:cs typeface="Courier New"/>
              </a:rPr>
              <a:t>5000:5000 </a:t>
            </a:r>
            <a:r>
              <a:rPr lang="en-US" sz="2700" err="1">
                <a:latin typeface="Courier New"/>
                <a:ea typeface="roboto"/>
                <a:cs typeface="Courier New"/>
              </a:rPr>
              <a:t>subashgandyer</a:t>
            </a:r>
            <a:r>
              <a:rPr lang="en-US" sz="2700" dirty="0">
                <a:latin typeface="Courier New"/>
                <a:ea typeface="roboto"/>
                <a:cs typeface="Courier New"/>
              </a:rPr>
              <a:t>/iris:3.0</a:t>
            </a:r>
            <a:endParaRPr lang="en-US" sz="2700" dirty="0" err="1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9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View docker containers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roboto"/>
                <a:ea typeface="roboto"/>
                <a:cs typeface="Calibri Light"/>
              </a:rPr>
              <a:t>Viewing Docker containers in remote GCP machine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sudo docker </a:t>
            </a:r>
            <a:r>
              <a:rPr lang="en-US" sz="2700" dirty="0" err="1">
                <a:latin typeface="Courier New"/>
                <a:ea typeface="roboto"/>
                <a:cs typeface="Calibri Light"/>
              </a:rPr>
              <a:t>ps</a:t>
            </a: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3BD40045-E703-41D7-B3E4-67440AFB9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31" y="3599886"/>
            <a:ext cx="10640290" cy="9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8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>
                <a:latin typeface="roboto"/>
                <a:cs typeface="Calibri Light"/>
              </a:rPr>
              <a:t>Testing the docker container endpoints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Curl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POSTMAN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Python Web Client in browser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1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Curl Calls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curl </a:t>
            </a:r>
            <a:r>
              <a:rPr lang="en-US" sz="2700" dirty="0">
                <a:latin typeface="Courier New"/>
                <a:ea typeface="roboto"/>
                <a:cs typeface="Courier New"/>
                <a:hlinkClick r:id="rId2"/>
              </a:rPr>
              <a:t>http://34.136.32.211:5000/train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r>
              <a:rPr lang="en-US" sz="2700">
                <a:latin typeface="Courier New"/>
                <a:cs typeface="Courier New"/>
              </a:rPr>
              <a:t>curl </a:t>
            </a:r>
            <a:r>
              <a:rPr lang="en-US" sz="2700" dirty="0">
                <a:latin typeface="Courier New"/>
                <a:cs typeface="Courier New"/>
                <a:hlinkClick r:id="rId3"/>
              </a:rPr>
              <a:t>http://34.136.32.211:5000/</a:t>
            </a:r>
            <a:endParaRPr lang="en-US" sz="2700" dirty="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r>
              <a:rPr lang="en-US" sz="2700">
                <a:latin typeface="Courier New"/>
                <a:cs typeface="Courier New"/>
              </a:rPr>
              <a:t>curl -X POST -d 'sepalLength=1.5&amp;sepalWidth=3.5&amp;petalLength=4.5&amp;petalWidth=5.6' </a:t>
            </a:r>
            <a:r>
              <a:rPr lang="en-US" sz="2700" dirty="0">
                <a:latin typeface="Courier New"/>
                <a:cs typeface="Courier New"/>
                <a:hlinkClick r:id="rId4"/>
              </a:rPr>
              <a:t>http://34.136.32.211:5000/final_classifier</a:t>
            </a:r>
          </a:p>
          <a:p>
            <a:pPr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endParaRPr lang="en-US" sz="270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endParaRPr lang="en-US" sz="2700">
              <a:latin typeface="Courier New"/>
              <a:ea typeface="roboto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0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POSTMAN – train a model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3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5486954-70BD-49C1-BB9E-27BE15389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93" y="1481343"/>
            <a:ext cx="9097397" cy="465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79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E5C6DDD-EA6C-4B5A-A781-1DC344C5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POSTMAN – classify a sample</a:t>
            </a:r>
            <a:endParaRPr lang="en-US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D2026871-30B4-4D08-8B48-4571D6663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88" y="1233321"/>
            <a:ext cx="9431166" cy="509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97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Test with Python Web Client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Naviagate to 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http://34.136.32.211:5000/train</a:t>
            </a:r>
            <a:endParaRPr lang="en-US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Then, 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  </a:t>
            </a:r>
            <a:r>
              <a:rPr lang="en-US" sz="2700">
                <a:latin typeface="Courier New"/>
                <a:ea typeface="roboto"/>
                <a:cs typeface="Courier New"/>
              </a:rPr>
              <a:t>http://34.136.32.211:5000/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Input the values within all fields 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Click Classify button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Further Reading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69" y="1612442"/>
            <a:ext cx="10484281" cy="4075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/>
                <a:ea typeface="roboto"/>
                <a:cs typeface="Calibri"/>
              </a:rPr>
              <a:t>Docker Tutorial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roboto"/>
                <a:cs typeface="Calibri"/>
                <a:hlinkClick r:id="rId2"/>
              </a:rPr>
              <a:t>https://www.docker.com</a:t>
            </a: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r>
              <a:rPr lang="en-US" dirty="0">
                <a:latin typeface="Calibri"/>
                <a:ea typeface="roboto"/>
                <a:cs typeface="Calibri"/>
              </a:rPr>
              <a:t>Google Cloud Platform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roboto"/>
                <a:cs typeface="Calibri"/>
                <a:hlinkClick r:id="rId3"/>
              </a:rPr>
              <a:t>https://cloud.google.com/docs</a:t>
            </a: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i="1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Agenda</vt:lpstr>
      <vt:lpstr>Iris Classifier</vt:lpstr>
      <vt:lpstr>Current Flask project structure</vt:lpstr>
      <vt:lpstr>Deploying a web application</vt:lpstr>
      <vt:lpstr>Dockerhub</vt:lpstr>
      <vt:lpstr>Dockerhub</vt:lpstr>
      <vt:lpstr>Connect to the Dockerhub</vt:lpstr>
      <vt:lpstr>Push to the Dockerhub</vt:lpstr>
      <vt:lpstr>Google Cloud Platform</vt:lpstr>
      <vt:lpstr>Google Cloud Platform</vt:lpstr>
      <vt:lpstr>Google Cloud Platform</vt:lpstr>
      <vt:lpstr>Create a new project</vt:lpstr>
      <vt:lpstr>New Project</vt:lpstr>
      <vt:lpstr>Enable Compute Engine API</vt:lpstr>
      <vt:lpstr>Billing Info for Credit Card </vt:lpstr>
      <vt:lpstr>Billing Info for Credit Card </vt:lpstr>
      <vt:lpstr>Billing Info for Credit Card </vt:lpstr>
      <vt:lpstr>Billing Info for Credit Card </vt:lpstr>
      <vt:lpstr>Create VM instance</vt:lpstr>
      <vt:lpstr>Create VM instance</vt:lpstr>
      <vt:lpstr>Create VM instance</vt:lpstr>
      <vt:lpstr>VM instance Created</vt:lpstr>
      <vt:lpstr>Create a Firewall rule</vt:lpstr>
      <vt:lpstr>Create a Firewall rule</vt:lpstr>
      <vt:lpstr>Edit VM instance</vt:lpstr>
      <vt:lpstr>SSH</vt:lpstr>
      <vt:lpstr>Installing Docker</vt:lpstr>
      <vt:lpstr>Pulling a docker image</vt:lpstr>
      <vt:lpstr>View docker image</vt:lpstr>
      <vt:lpstr>Running a docker container</vt:lpstr>
      <vt:lpstr>View docker containers</vt:lpstr>
      <vt:lpstr>Testing the docker container endpoints</vt:lpstr>
      <vt:lpstr>Curl Calls</vt:lpstr>
      <vt:lpstr>POSTMAN – train a model</vt:lpstr>
      <vt:lpstr>POSTMAN – classify a sample</vt:lpstr>
      <vt:lpstr>Test with Python Web Client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393</cp:revision>
  <dcterms:created xsi:type="dcterms:W3CDTF">2020-12-23T22:31:42Z</dcterms:created>
  <dcterms:modified xsi:type="dcterms:W3CDTF">2021-08-13T15:29:06Z</dcterms:modified>
</cp:coreProperties>
</file>