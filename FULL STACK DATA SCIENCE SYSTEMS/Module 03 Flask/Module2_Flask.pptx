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3"/>
  </p:notesMasterIdLst>
  <p:sldIdLst>
    <p:sldId id="272" r:id="rId2"/>
    <p:sldId id="273" r:id="rId3"/>
    <p:sldId id="258" r:id="rId4"/>
    <p:sldId id="281" r:id="rId5"/>
    <p:sldId id="663" r:id="rId6"/>
    <p:sldId id="671" r:id="rId7"/>
    <p:sldId id="677" r:id="rId8"/>
    <p:sldId id="672" r:id="rId9"/>
    <p:sldId id="683" r:id="rId10"/>
    <p:sldId id="665" r:id="rId11"/>
    <p:sldId id="664" r:id="rId12"/>
    <p:sldId id="679" r:id="rId13"/>
    <p:sldId id="680" r:id="rId14"/>
    <p:sldId id="681" r:id="rId15"/>
    <p:sldId id="682" r:id="rId16"/>
    <p:sldId id="678" r:id="rId17"/>
    <p:sldId id="676" r:id="rId18"/>
    <p:sldId id="675" r:id="rId19"/>
    <p:sldId id="673" r:id="rId20"/>
    <p:sldId id="674" r:id="rId21"/>
    <p:sldId id="47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22FE31-2070-D1D8-A34E-F9DB0AA9A729}" v="390" dt="2020-12-26T15:18:39.115"/>
    <p1510:client id="{045A4965-B513-6B71-45A6-B68B6AFE84A0}" v="67" dt="2020-12-26T20:30:46.896"/>
    <p1510:client id="{2F685D47-1B98-2E9E-44E9-38F2D014CAAC}" v="22" dt="2020-12-28T15:26:16.614"/>
    <p1510:client id="{35654BA6-5BEF-6AC8-F037-00942082F9B2}" v="462" dt="2021-02-01T16:53:52.378"/>
    <p1510:client id="{4687724C-769A-535A-BE5E-08839305FA50}" v="5582" dt="2020-12-27T20:13:39.224"/>
    <p1510:client id="{51E3BD4C-B373-0951-C494-FB7E86FF0635}" v="2429" dt="2020-12-29T23:03:22.866"/>
    <p1510:client id="{5465CEFE-2D65-ED3F-442B-E74DF3DBF3B0}" v="613" dt="2020-12-23T23:53:09.940"/>
    <p1510:client id="{70223C47-8670-9B15-A461-042D2F1DE4F7}" v="7422" dt="2020-12-31T14:25:20.982"/>
    <p1510:client id="{754A752B-A398-7C33-B6DC-89A0654AD307}" v="1138" dt="2020-12-30T13:10:01.288"/>
    <p1510:client id="{82ABAE2D-A526-4624-91EE-FBA7FD5F51E0}" v="9" dt="2020-12-23T22:41:08.207"/>
    <p1510:client id="{833B2A7B-9300-4EA2-8210-2D0A9B9B25DD}" v="1593" dt="2021-07-28T22:35:54.676"/>
    <p1510:client id="{8F696AE0-6236-8D1E-3618-87162776C622}" v="5712" dt="2021-01-01T00:07:13.795"/>
    <p1510:client id="{9A177FFB-FB64-37AF-17C7-CCEC2C193DFF}" v="4481" dt="2020-12-29T13:20:50.336"/>
    <p1510:client id="{ABA6C69F-305D-B000-E14F-B8292AB106A7}" v="1" dt="2021-05-10T21:46:45.388"/>
    <p1510:client id="{AF17A244-26C3-938F-8A56-3031FB598BC3}" v="1658" dt="2021-07-28T13:49:19.111"/>
    <p1510:client id="{B4F8CEB5-E72C-8A8D-D25E-09B41B53A554}" v="6468" dt="2020-12-28T22:37:18.221"/>
    <p1510:client id="{B501BB9F-207A-B000-E14F-BD930A8D43C4}" v="68" dt="2021-04-04T17:30:56.897"/>
    <p1510:client id="{B537A4A3-B997-E4C8-F16C-A35024FDFCFE}" v="30" dt="2021-03-03T13:37:16.275"/>
    <p1510:client id="{C2F04716-BDFB-72E1-8E0B-591BAC2A83A6}" v="1704" dt="2020-12-25T23:07:35.464"/>
    <p1510:client id="{C413B264-8D43-A9BB-C85E-7F30A00A6453}" v="3644" dt="2020-12-26T15:02:32.673"/>
    <p1510:client id="{C552E5C9-89A9-5AE8-628E-6D0DD8066444}" v="3550" dt="2020-12-26T20:12:43.454"/>
    <p1510:client id="{E4379962-602B-8136-7CD4-993790D1ED49}" v="260" dt="2021-08-06T15:20:18.221"/>
    <p1510:client id="{E99E3E81-DD39-42E1-119C-BEBA76767C08}" v="1873" dt="2021-05-05T19:32:56.5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3CC2D-0AF9-4166-9DD0-52A258A6A029}" type="datetimeFigureOut">
              <a:rPr lang="en-US"/>
              <a:t>8/6/2021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C3283C-2CD9-4321-9FBB-684AE41D5162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434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977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070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472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544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98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369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989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896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792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719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708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8/6/2021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208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flask.palletsprojects.com/en/2.0.x/tutorial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9848D248-4F95-4AEB-A8A3-E841AC7F1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D4C369ED-1D40-41D3-AA7A-10B26DF42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3E4D70A-0194-4118-808D-3AE000E06533}"/>
              </a:ext>
            </a:extLst>
          </p:cNvPr>
          <p:cNvSpPr txBox="1">
            <a:spLocks/>
          </p:cNvSpPr>
          <p:nvPr/>
        </p:nvSpPr>
        <p:spPr>
          <a:xfrm>
            <a:off x="1676400" y="12747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roboto"/>
                <a:cs typeface="Calibri Light"/>
              </a:rPr>
              <a:t>AASD 4016</a:t>
            </a:r>
          </a:p>
          <a:p>
            <a:r>
              <a:rPr lang="en-US" sz="5400" dirty="0">
                <a:latin typeface="roboto"/>
                <a:cs typeface="Calibri Light"/>
              </a:rPr>
              <a:t>Full Stack Data Science Systems</a:t>
            </a:r>
            <a:endParaRPr lang="en-US" sz="5400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C788A730-016B-491D-8966-20FA0BD8D9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roboto"/>
              </a:rPr>
              <a:t>Applied AI Solutions Developer Program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254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9848D248-4F95-4AEB-A8A3-E841AC7F1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D4C369ED-1D40-41D3-AA7A-10B26DF42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3E4D70A-0194-4118-808D-3AE000E06533}"/>
              </a:ext>
            </a:extLst>
          </p:cNvPr>
          <p:cNvSpPr txBox="1">
            <a:spLocks/>
          </p:cNvSpPr>
          <p:nvPr/>
        </p:nvSpPr>
        <p:spPr>
          <a:xfrm>
            <a:off x="1676400" y="12747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roboto"/>
                <a:cs typeface="Calibri Light"/>
              </a:rPr>
              <a:t>Module 2</a:t>
            </a:r>
          </a:p>
          <a:p>
            <a:r>
              <a:rPr lang="en-US" dirty="0">
                <a:latin typeface="roboto"/>
                <a:cs typeface="Calibri Light"/>
              </a:rPr>
              <a:t>Flask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C788A730-016B-491D-8966-20FA0BD8D9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err="1">
                <a:latin typeface="roboto"/>
              </a:rPr>
              <a:t>Vejey</a:t>
            </a:r>
            <a:r>
              <a:rPr lang="en-US">
                <a:latin typeface="roboto"/>
              </a:rPr>
              <a:t> </a:t>
            </a:r>
            <a:r>
              <a:rPr lang="en-US" err="1">
                <a:latin typeface="roboto"/>
              </a:rPr>
              <a:t>Gandyer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1261834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>
                <a:latin typeface="roboto"/>
                <a:cs typeface="Calibri Light"/>
              </a:rPr>
              <a:t>Agenda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1764255"/>
            <a:ext cx="6224335" cy="575560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3000" dirty="0">
                <a:latin typeface="roboto"/>
                <a:ea typeface="+mj-ea"/>
                <a:cs typeface="Calibri Light"/>
              </a:rPr>
              <a:t>Flask</a:t>
            </a:r>
            <a:endParaRPr lang="en-US" dirty="0">
              <a:ea typeface="+mj-ea"/>
            </a:endParaRPr>
          </a:p>
          <a:p>
            <a:pPr marL="0" indent="0">
              <a:buNone/>
            </a:pPr>
            <a:r>
              <a:rPr lang="en-US" sz="3000" dirty="0">
                <a:latin typeface="roboto"/>
                <a:ea typeface="roboto"/>
                <a:cs typeface="Calibri Light"/>
              </a:rPr>
              <a:t>Requests</a:t>
            </a:r>
          </a:p>
          <a:p>
            <a:pPr marL="0" indent="0">
              <a:buNone/>
            </a:pPr>
            <a:r>
              <a:rPr lang="en-US" sz="3000" dirty="0">
                <a:latin typeface="roboto"/>
                <a:ea typeface="roboto"/>
                <a:cs typeface="Calibri Light"/>
              </a:rPr>
              <a:t>Response</a:t>
            </a:r>
          </a:p>
          <a:p>
            <a:pPr marL="0" indent="0">
              <a:buNone/>
            </a:pPr>
            <a:r>
              <a:rPr lang="en-US" sz="3000" dirty="0">
                <a:latin typeface="roboto"/>
                <a:ea typeface="roboto"/>
                <a:cs typeface="Calibri Light"/>
              </a:rPr>
              <a:t>Routes</a:t>
            </a:r>
          </a:p>
          <a:p>
            <a:pPr marL="0" indent="0">
              <a:buNone/>
            </a:pPr>
            <a:r>
              <a:rPr lang="en-US" sz="3000" dirty="0">
                <a:latin typeface="roboto"/>
                <a:ea typeface="roboto"/>
                <a:cs typeface="Calibri Light"/>
              </a:rPr>
              <a:t>Examples</a:t>
            </a:r>
          </a:p>
          <a:p>
            <a:pPr marL="0" indent="0">
              <a:buNone/>
            </a:pPr>
            <a:endParaRPr lang="en-US" sz="3000" dirty="0">
              <a:latin typeface="roboto"/>
              <a:ea typeface="roboto"/>
              <a:cs typeface="Calibri Light"/>
            </a:endParaRPr>
          </a:p>
          <a:p>
            <a:pPr marL="0" indent="0">
              <a:buNone/>
            </a:pPr>
            <a:endParaRPr lang="en-US" sz="3000">
              <a:latin typeface="roboto"/>
              <a:ea typeface="roboto"/>
              <a:cs typeface="Calibri Light"/>
            </a:endParaRPr>
          </a:p>
          <a:p>
            <a:pPr>
              <a:buNone/>
            </a:pPr>
            <a:endParaRPr lang="en-US" sz="3000">
              <a:latin typeface="roboto"/>
              <a:ea typeface="roboto"/>
              <a:cs typeface="Calibri Light"/>
            </a:endParaRPr>
          </a:p>
          <a:p>
            <a:pPr>
              <a:buNone/>
            </a:pPr>
            <a:endParaRPr lang="en-US">
              <a:latin typeface="roboto"/>
              <a:ea typeface="roboto"/>
              <a:cs typeface="Calibri Light"/>
            </a:endParaRPr>
          </a:p>
          <a:p>
            <a:pPr marL="0" indent="0">
              <a:buNone/>
            </a:pPr>
            <a:endParaRPr lang="en-US" sz="2200">
              <a:latin typeface="roboto"/>
              <a:ea typeface="roboto"/>
              <a:cs typeface="Calibri Light"/>
            </a:endParaRPr>
          </a:p>
        </p:txBody>
      </p:sp>
      <p:pic>
        <p:nvPicPr>
          <p:cNvPr id="4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E376F483-1DA3-4922-A4DE-B5C7D265A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5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F30EB02E-681A-46B3-B1E0-87DF361ED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270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56736-28D1-406B-8628-431090E7F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Flask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381A29-1103-49BF-97AB-9324DFB458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Python Web Framework</a:t>
            </a:r>
            <a:endParaRPr lang="en-US" dirty="0"/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B1B78571-5DE6-4E46-A58B-6883237AD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E8A8E199-8B72-4171-8B56-D4E91B7A4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642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Flask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roboto"/>
                <a:ea typeface="roboto"/>
                <a:cs typeface="Calibri Light"/>
              </a:rPr>
              <a:t>Installing Flask</a:t>
            </a:r>
            <a:endParaRPr lang="en-US" sz="2700" dirty="0">
              <a:latin typeface="roboto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   pip install Flask</a:t>
            </a:r>
          </a:p>
          <a:p>
            <a:pPr marL="0" indent="0">
              <a:lnSpc>
                <a:spcPct val="110000"/>
              </a:lnSpc>
              <a:buNone/>
            </a:pPr>
            <a:endParaRPr lang="en-US" sz="2700" dirty="0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roboto"/>
                <a:ea typeface="roboto"/>
                <a:cs typeface="Calibri Light"/>
              </a:rPr>
              <a:t>Hello Flask Application (hello.py)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from flask import Flask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app = Flask(__name__)</a:t>
            </a:r>
            <a:endParaRPr lang="en-US">
              <a:latin typeface="Calibri" panose="020F0502020204030204"/>
              <a:ea typeface="roboto"/>
              <a:cs typeface="Calibri" panose="020F0502020204030204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700" dirty="0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@app.route("/")</a:t>
            </a:r>
            <a:endParaRPr lang="en-US">
              <a:latin typeface="Calibri" panose="020F0502020204030204"/>
              <a:ea typeface="roboto"/>
              <a:cs typeface="Calibri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def hello_world():</a:t>
            </a:r>
            <a:endParaRPr lang="en-US">
              <a:latin typeface="Calibri" panose="020F0502020204030204"/>
              <a:ea typeface="roboto"/>
              <a:cs typeface="Calibri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    return "&lt;p&gt;Hello, World!&lt;/p&gt;"</a:t>
            </a:r>
            <a:endParaRPr lang="en-US">
              <a:cs typeface="Calibri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632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Flask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roboto"/>
                <a:ea typeface="roboto"/>
                <a:cs typeface="Calibri Light"/>
              </a:rPr>
              <a:t>Running a Flask Application</a:t>
            </a:r>
            <a:endParaRPr lang="en-US" sz="2700" dirty="0">
              <a:latin typeface="roboto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   export FLASK_APP=hello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   flask run</a:t>
            </a:r>
            <a:endParaRPr lang="en-US" sz="2700" dirty="0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700" dirty="0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roboto"/>
                <a:ea typeface="roboto"/>
                <a:cs typeface="Calibri Light"/>
              </a:rPr>
              <a:t>Set Flask Environment</a:t>
            </a:r>
            <a:endParaRPr lang="en-US"/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   export FLASK_ENV=development</a:t>
            </a: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218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84818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Project Structure</a:t>
            </a:r>
            <a:endParaRPr lang="en-US"/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pic>
        <p:nvPicPr>
          <p:cNvPr id="4" name="Picture 5" descr="A picture containing text, receipt&#10;&#10;Description automatically generated">
            <a:extLst>
              <a:ext uri="{FF2B5EF4-FFF2-40B4-BE49-F238E27FC236}">
                <a16:creationId xmlns:a16="http://schemas.microsoft.com/office/drawing/2014/main" id="{B5F652CD-9CAD-4CFA-B857-E129A62FDF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172" y="851829"/>
            <a:ext cx="3759201" cy="5538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484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Flask project structure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roboto"/>
                <a:ea typeface="roboto"/>
                <a:cs typeface="Calibri Light"/>
              </a:rPr>
              <a:t>Project Structure</a:t>
            </a:r>
            <a:endParaRPr lang="en-US"/>
          </a:p>
          <a:p>
            <a:pPr marL="0" indent="0">
              <a:lnSpc>
                <a:spcPct val="110000"/>
              </a:lnSpc>
              <a:buNone/>
            </a:pPr>
            <a:r>
              <a:rPr lang="en-US" sz="2700" dirty="0">
                <a:latin typeface="Courier New"/>
                <a:ea typeface="roboto"/>
                <a:cs typeface="Calibri Light"/>
              </a:rPr>
              <a:t>   app.py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 dirty="0">
                <a:latin typeface="Courier New"/>
                <a:ea typeface="roboto"/>
                <a:cs typeface="Calibri Light"/>
              </a:rPr>
              <a:t>   helper(s).</a:t>
            </a:r>
            <a:r>
              <a:rPr lang="en-US" sz="2700" dirty="0" err="1">
                <a:latin typeface="Courier New"/>
                <a:ea typeface="roboto"/>
                <a:cs typeface="Calibri Light"/>
              </a:rPr>
              <a:t>py</a:t>
            </a:r>
            <a:r>
              <a:rPr lang="en-US" sz="2700" dirty="0">
                <a:latin typeface="Courier New"/>
                <a:ea typeface="roboto"/>
                <a:cs typeface="Calibri Light"/>
              </a:rPr>
              <a:t> [Optional]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 dirty="0">
                <a:latin typeface="Courier New"/>
                <a:ea typeface="roboto"/>
                <a:cs typeface="Calibri Light"/>
              </a:rPr>
              <a:t>   </a:t>
            </a: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590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Iris Classifier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Notebook to Script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Script to Flask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Load model and keep it up for inference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Infer from the model</a:t>
            </a:r>
            <a:endParaRPr lang="en-US" sz="2700" dirty="0">
              <a:latin typeface="Courier New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17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56736-28D1-406B-8628-431090E7F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HTTP Request Methods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381A29-1103-49BF-97AB-9324DFB458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n-US">
                <a:cs typeface="Calibri"/>
              </a:rPr>
              <a:t>GET</a:t>
            </a:r>
          </a:p>
          <a:p>
            <a:r>
              <a:rPr lang="en-US">
                <a:cs typeface="Calibri"/>
              </a:rPr>
              <a:t>POST</a:t>
            </a:r>
            <a:endParaRPr lang="en-US" dirty="0">
              <a:cs typeface="Calibri"/>
            </a:endParaRPr>
          </a:p>
          <a:p>
            <a:r>
              <a:rPr lang="en-US">
                <a:cs typeface="Calibri"/>
              </a:rPr>
              <a:t>PUT</a:t>
            </a:r>
          </a:p>
          <a:p>
            <a:r>
              <a:rPr lang="en-US">
                <a:cs typeface="Calibri"/>
              </a:rPr>
              <a:t>HEAD</a:t>
            </a:r>
            <a:endParaRPr lang="en-US" dirty="0">
              <a:cs typeface="Calibri"/>
            </a:endParaRPr>
          </a:p>
          <a:p>
            <a:r>
              <a:rPr lang="en-US">
                <a:cs typeface="Calibri"/>
              </a:rPr>
              <a:t>DELETE</a:t>
            </a:r>
          </a:p>
          <a:p>
            <a:endParaRPr lang="en-US" dirty="0">
              <a:cs typeface="Calibri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B1B78571-5DE6-4E46-A58B-6883237AD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E8A8E199-8B72-4171-8B56-D4E91B7A4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814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GET</a:t>
            </a:r>
            <a:endParaRPr lang="en-US"/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86DD986-B900-4847-ABBD-B417343C5C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Calibri"/>
              </a:rPr>
              <a:t> GET is used to request data from a resource</a:t>
            </a:r>
          </a:p>
          <a:p>
            <a:r>
              <a:rPr lang="en-US">
                <a:cs typeface="Calibri"/>
              </a:rPr>
              <a:t> Query String is sent in the URL of a GET request</a:t>
            </a:r>
            <a:endParaRPr lang="en-US" dirty="0">
              <a:cs typeface="Calibri"/>
            </a:endParaRPr>
          </a:p>
          <a:p>
            <a:pPr lvl="1"/>
            <a:r>
              <a:rPr lang="en-US">
                <a:cs typeface="Calibri"/>
              </a:rPr>
              <a:t>Developer Tools</a:t>
            </a:r>
          </a:p>
          <a:p>
            <a:pPr lvl="1"/>
            <a:r>
              <a:rPr lang="en-US">
                <a:cs typeface="Calibri"/>
              </a:rPr>
              <a:t>/test_endpoint?name=subash&amp;age=41</a:t>
            </a: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495293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POST</a:t>
            </a:r>
            <a:endParaRPr lang="en-US"/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86DD986-B900-4847-ABBD-B417343C5C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Calibri"/>
              </a:rPr>
              <a:t> POST is used to send data to a server to create / update a resource</a:t>
            </a:r>
          </a:p>
          <a:p>
            <a:r>
              <a:rPr lang="en-US">
                <a:cs typeface="Calibri"/>
              </a:rPr>
              <a:t> Data sent to the server is stored in the request body of the HTTP request </a:t>
            </a:r>
          </a:p>
          <a:p>
            <a:pPr lvl="1"/>
            <a:r>
              <a:rPr lang="en-US">
                <a:cs typeface="Calibri"/>
              </a:rPr>
              <a:t>Developer Tools</a:t>
            </a:r>
          </a:p>
          <a:p>
            <a:pPr lvl="1"/>
            <a:r>
              <a:rPr lang="en-US">
                <a:ea typeface="+mn-lt"/>
                <a:cs typeface="+mn-lt"/>
              </a:rPr>
              <a:t>POST /test_endpoint HTTP/1.1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Host: iamsubash.com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name=subash&amp;age=41</a:t>
            </a:r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77035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PUT</a:t>
            </a:r>
            <a:endParaRPr lang="en-US"/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86DD986-B900-4847-ABBD-B417343C5C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Calibri"/>
              </a:rPr>
              <a:t> PUT is used to send data to a server to create / update a resource</a:t>
            </a:r>
          </a:p>
          <a:p>
            <a:r>
              <a:rPr lang="en-US">
                <a:cs typeface="Calibri"/>
              </a:rPr>
              <a:t> Calling PUT request multiple times produce the same result</a:t>
            </a:r>
          </a:p>
          <a:p>
            <a:r>
              <a:rPr lang="en-US">
                <a:cs typeface="Calibri"/>
              </a:rPr>
              <a:t>Calling POST request multiple times produce multiple resources</a:t>
            </a: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235023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HEAD</a:t>
            </a:r>
            <a:endParaRPr lang="en-US"/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86DD986-B900-4847-ABBD-B417343C5C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Calibri"/>
              </a:rPr>
              <a:t> HEAD is identical to GET, but without the response body </a:t>
            </a:r>
          </a:p>
          <a:p>
            <a:r>
              <a:rPr lang="en-US">
                <a:cs typeface="Calibri"/>
              </a:rPr>
              <a:t> HEAD requests are useful for checking what a GET request will return before actually making an actual GET request</a:t>
            </a:r>
          </a:p>
          <a:p>
            <a:pPr lvl="1"/>
            <a:r>
              <a:rPr lang="en-US">
                <a:cs typeface="Calibri"/>
              </a:rPr>
              <a:t>Before downloading a very large file</a:t>
            </a: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2280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DELETE</a:t>
            </a:r>
            <a:endParaRPr lang="en-US"/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86DD986-B900-4847-ABBD-B417343C5C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Calibri"/>
              </a:rPr>
              <a:t> DELETE deletes the specified resource</a:t>
            </a:r>
          </a:p>
          <a:p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812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GET vs POST</a:t>
            </a:r>
            <a:endParaRPr lang="en-US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60F185CF-A9DE-48E0-ABA3-4DE5E9AA00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4387" y="1425489"/>
            <a:ext cx="10169216" cy="4641046"/>
          </a:xfrm>
        </p:spPr>
      </p:pic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2570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Flask HTTP Methods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roboto"/>
                <a:ea typeface="roboto"/>
                <a:cs typeface="Calibri Light"/>
              </a:rPr>
              <a:t>HTTP Methods</a:t>
            </a:r>
            <a:endParaRPr lang="en-US"/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from flask import request</a:t>
            </a:r>
            <a:r>
              <a:rPr lang="en-US" sz="2700" dirty="0">
                <a:latin typeface="Courier New"/>
                <a:ea typeface="roboto"/>
                <a:cs typeface="Calibri Light"/>
              </a:rPr>
              <a:t>
@app.route('/login', methods=['GET', 'POST'])
def login():
    if request.method == 'POST':
        return do_the_login()
    else:
        return show_the_login_form()</a:t>
            </a:r>
          </a:p>
          <a:p>
            <a:pPr marL="0" indent="0">
              <a:lnSpc>
                <a:spcPct val="110000"/>
              </a:lnSpc>
              <a:buNone/>
            </a:pPr>
            <a:endParaRPr lang="en-US" sz="2700">
              <a:latin typeface="Courier New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687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Rendering Templates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from flask import render_template</a:t>
            </a:r>
            <a:r>
              <a:rPr lang="en-US" sz="2700" dirty="0">
                <a:latin typeface="Courier New"/>
                <a:ea typeface="roboto"/>
                <a:cs typeface="Calibri Light"/>
              </a:rPr>
              <a:t>
@app.route('/hello/')
@app.route('/hello/&lt;name&gt;')
def hello(name=None):
    return render_template('hello.html', name=name)</a:t>
            </a:r>
            <a:endParaRPr lang="en-US">
              <a:latin typeface="Calibri" panose="020F0502020204030204"/>
              <a:ea typeface="roboto"/>
              <a:cs typeface="Calibri" panose="020F0502020204030204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700">
              <a:latin typeface="Courier New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147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File uploads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from flask import request</a:t>
            </a:r>
            <a:r>
              <a:rPr lang="en-US" sz="2700" dirty="0">
                <a:ea typeface="+mn-lt"/>
                <a:cs typeface="+mn-lt"/>
              </a:rPr>
              <a:t>
</a:t>
            </a:r>
            <a:r>
              <a:rPr lang="en-US" sz="2700">
                <a:latin typeface="Courier New"/>
                <a:ea typeface="roboto"/>
                <a:cs typeface="Calibri Light"/>
              </a:rPr>
              <a:t>@app.route('/upload', methods=['GET', 'POST'])</a:t>
            </a:r>
            <a:r>
              <a:rPr lang="en-US" sz="2700" dirty="0">
                <a:latin typeface="Courier New"/>
                <a:ea typeface="roboto"/>
                <a:cs typeface="Calibri Light"/>
              </a:rPr>
              <a:t>
</a:t>
            </a:r>
            <a:r>
              <a:rPr lang="en-US" sz="2700">
                <a:latin typeface="Courier New"/>
                <a:ea typeface="roboto"/>
                <a:cs typeface="Calibri Light"/>
              </a:rPr>
              <a:t>def upload_file():</a:t>
            </a:r>
            <a:r>
              <a:rPr lang="en-US" sz="2700" dirty="0">
                <a:latin typeface="Courier New"/>
                <a:ea typeface="roboto"/>
                <a:cs typeface="Calibri Light"/>
              </a:rPr>
              <a:t>
    </a:t>
            </a:r>
            <a:r>
              <a:rPr lang="en-US" sz="2700">
                <a:latin typeface="Courier New"/>
                <a:ea typeface="roboto"/>
                <a:cs typeface="Calibri Light"/>
              </a:rPr>
              <a:t>if request.method == 'POST':</a:t>
            </a:r>
            <a:r>
              <a:rPr lang="en-US" sz="2700" dirty="0">
                <a:latin typeface="Courier New"/>
                <a:ea typeface="roboto"/>
                <a:cs typeface="Calibri Light"/>
              </a:rPr>
              <a:t>
</a:t>
            </a:r>
            <a:r>
              <a:rPr lang="en-US" sz="2700">
                <a:latin typeface="Courier New"/>
                <a:ea typeface="roboto"/>
                <a:cs typeface="Calibri Light"/>
              </a:rPr>
              <a:t>        f = request.files['the_file']</a:t>
            </a:r>
            <a:r>
              <a:rPr lang="en-US" sz="2700" dirty="0">
                <a:latin typeface="Courier New"/>
                <a:ea typeface="roboto"/>
                <a:cs typeface="Calibri Light"/>
              </a:rPr>
              <a:t>
</a:t>
            </a:r>
            <a:r>
              <a:rPr lang="en-US" sz="2700">
                <a:latin typeface="Courier New"/>
                <a:ea typeface="roboto"/>
                <a:cs typeface="Calibri Light"/>
              </a:rPr>
              <a:t>        f.save('/var/www/uploads/uploaded_file.txt')</a:t>
            </a:r>
            <a:r>
              <a:rPr lang="en-US" sz="2700" dirty="0">
                <a:latin typeface="Courier New"/>
                <a:ea typeface="roboto"/>
                <a:cs typeface="Calibri Light"/>
              </a:rPr>
              <a:t>
</a:t>
            </a:r>
            <a:r>
              <a:rPr lang="en-US" sz="2700">
                <a:latin typeface="Courier New"/>
                <a:ea typeface="roboto"/>
                <a:cs typeface="Calibri Light"/>
              </a:rPr>
              <a:t>    ...</a:t>
            </a: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475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Secure File uploads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from werkzeug.utils import secure_filename</a:t>
            </a:r>
            <a:r>
              <a:rPr lang="en-US" sz="2700" dirty="0">
                <a:ea typeface="+mn-lt"/>
                <a:cs typeface="+mn-lt"/>
              </a:rPr>
              <a:t>
</a:t>
            </a:r>
            <a:r>
              <a:rPr lang="en-US" sz="2700">
                <a:latin typeface="Courier New"/>
                <a:ea typeface="roboto"/>
                <a:cs typeface="Calibri Light"/>
              </a:rPr>
              <a:t>@app.route('/upload', methods=['GET', 'POST'])</a:t>
            </a:r>
            <a:r>
              <a:rPr lang="en-US" sz="2700" dirty="0">
                <a:latin typeface="Courier New"/>
                <a:ea typeface="roboto"/>
                <a:cs typeface="Calibri Light"/>
              </a:rPr>
              <a:t>
</a:t>
            </a:r>
            <a:r>
              <a:rPr lang="en-US" sz="2700">
                <a:latin typeface="Courier New"/>
                <a:ea typeface="roboto"/>
                <a:cs typeface="Calibri Light"/>
              </a:rPr>
              <a:t>def upload_file():</a:t>
            </a:r>
            <a:r>
              <a:rPr lang="en-US" sz="2700" dirty="0">
                <a:latin typeface="Courier New"/>
                <a:ea typeface="roboto"/>
                <a:cs typeface="Calibri Light"/>
              </a:rPr>
              <a:t>
</a:t>
            </a:r>
            <a:r>
              <a:rPr lang="en-US" sz="2700">
                <a:latin typeface="Courier New"/>
                <a:ea typeface="roboto"/>
                <a:cs typeface="Calibri Light"/>
              </a:rPr>
              <a:t>    if request.method == 'POST':</a:t>
            </a:r>
            <a:r>
              <a:rPr lang="en-US" sz="2700" dirty="0">
                <a:latin typeface="Courier New"/>
                <a:ea typeface="roboto"/>
                <a:cs typeface="Calibri Light"/>
              </a:rPr>
              <a:t>
</a:t>
            </a:r>
            <a:r>
              <a:rPr lang="en-US" sz="2700">
                <a:latin typeface="Courier New"/>
                <a:ea typeface="roboto"/>
                <a:cs typeface="Calibri Light"/>
              </a:rPr>
              <a:t>        f = request.files['the_file']</a:t>
            </a:r>
            <a:r>
              <a:rPr lang="en-US" sz="2700" dirty="0">
                <a:latin typeface="Courier New"/>
                <a:ea typeface="roboto"/>
                <a:cs typeface="Calibri Light"/>
              </a:rPr>
              <a:t>
</a:t>
            </a:r>
            <a:r>
              <a:rPr lang="en-US" sz="2700">
                <a:latin typeface="Courier New"/>
                <a:ea typeface="roboto"/>
                <a:cs typeface="Calibri Light"/>
              </a:rPr>
              <a:t>                             f.save(f'/var/www/uploads/{secure_filename(f.filename)}')</a:t>
            </a:r>
            <a:r>
              <a:rPr lang="en-US" sz="2700" dirty="0">
                <a:latin typeface="Courier New"/>
                <a:ea typeface="roboto"/>
                <a:cs typeface="Calibri Light"/>
              </a:rPr>
              <a:t>
    ...</a:t>
            </a: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32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Further Reading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69" y="1612442"/>
            <a:ext cx="10484281" cy="407556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latin typeface="roboto"/>
                <a:ea typeface="+mj-ea"/>
                <a:cs typeface="Calibri Light"/>
              </a:rPr>
              <a:t>Flask Tutorial</a:t>
            </a:r>
            <a:endParaRPr lang="en-US">
              <a:ea typeface="+mj-ea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  <a:hlinkClick r:id="rId2"/>
              </a:rPr>
              <a:t>https://flask.palletsprojects.com/en/2.0.x/tutorial/</a:t>
            </a:r>
          </a:p>
          <a:p>
            <a:pPr marL="0" indent="0">
              <a:buNone/>
            </a:pPr>
            <a:endParaRPr lang="en-US" dirty="0">
              <a:latin typeface="Calibri"/>
              <a:ea typeface="+mj-ea"/>
              <a:cs typeface="Calibri"/>
            </a:endParaRPr>
          </a:p>
          <a:p>
            <a:pPr marL="0" indent="0">
              <a:buNone/>
            </a:pPr>
            <a:endParaRPr lang="en-US" dirty="0">
              <a:latin typeface="Calibri"/>
              <a:ea typeface="roboto"/>
              <a:cs typeface="Calibri"/>
            </a:endParaRPr>
          </a:p>
          <a:p>
            <a:pPr marL="0" indent="0">
              <a:buNone/>
            </a:pPr>
            <a:endParaRPr lang="en-US" i="1" dirty="0">
              <a:latin typeface="roboto"/>
              <a:ea typeface="roboto"/>
              <a:cs typeface="Calibri Light"/>
            </a:endParaRPr>
          </a:p>
          <a:p>
            <a:pPr marL="0" indent="0">
              <a:buNone/>
            </a:pPr>
            <a:endParaRPr lang="en-US" sz="3200" dirty="0">
              <a:latin typeface="Calibri"/>
              <a:ea typeface="roboto"/>
              <a:cs typeface="Calibri"/>
            </a:endParaRPr>
          </a:p>
          <a:p>
            <a:pPr marL="0" indent="0">
              <a:buNone/>
            </a:pPr>
            <a:endParaRPr lang="en-US" sz="3200">
              <a:latin typeface="roboto"/>
              <a:ea typeface="+mj-ea"/>
              <a:cs typeface="Calibri Light"/>
            </a:endParaRPr>
          </a:p>
          <a:p>
            <a:pPr marL="0" indent="0">
              <a:buNone/>
            </a:pPr>
            <a:endParaRPr lang="en-US" sz="3200">
              <a:latin typeface="roboto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408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PowerPoint Presentation</vt:lpstr>
      <vt:lpstr>Agenda</vt:lpstr>
      <vt:lpstr>Flask</vt:lpstr>
      <vt:lpstr>Flask</vt:lpstr>
      <vt:lpstr>Flask</vt:lpstr>
      <vt:lpstr>Project Structure</vt:lpstr>
      <vt:lpstr>Flask project structure</vt:lpstr>
      <vt:lpstr>Iris Classifier</vt:lpstr>
      <vt:lpstr>HTTP Request Methods</vt:lpstr>
      <vt:lpstr>GET</vt:lpstr>
      <vt:lpstr>POST</vt:lpstr>
      <vt:lpstr>PUT</vt:lpstr>
      <vt:lpstr>HEAD</vt:lpstr>
      <vt:lpstr>DELETE</vt:lpstr>
      <vt:lpstr>GET vs POST</vt:lpstr>
      <vt:lpstr>Flask HTTP Methods</vt:lpstr>
      <vt:lpstr>Rendering Templates</vt:lpstr>
      <vt:lpstr>File uploads</vt:lpstr>
      <vt:lpstr>Secure File uploads</vt:lpstr>
      <vt:lpstr>Further 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823</cp:revision>
  <dcterms:created xsi:type="dcterms:W3CDTF">2020-12-23T22:31:42Z</dcterms:created>
  <dcterms:modified xsi:type="dcterms:W3CDTF">2021-08-06T15:58:31Z</dcterms:modified>
</cp:coreProperties>
</file>