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0"/>
  </p:notesMasterIdLst>
  <p:sldIdLst>
    <p:sldId id="272" r:id="rId2"/>
    <p:sldId id="273" r:id="rId3"/>
    <p:sldId id="258" r:id="rId4"/>
    <p:sldId id="281" r:id="rId5"/>
    <p:sldId id="663" r:id="rId6"/>
    <p:sldId id="671" r:id="rId7"/>
    <p:sldId id="677" r:id="rId8"/>
    <p:sldId id="672" r:id="rId9"/>
    <p:sldId id="683" r:id="rId10"/>
    <p:sldId id="694" r:id="rId11"/>
    <p:sldId id="691" r:id="rId12"/>
    <p:sldId id="695" r:id="rId13"/>
    <p:sldId id="692" r:id="rId14"/>
    <p:sldId id="696" r:id="rId15"/>
    <p:sldId id="697" r:id="rId16"/>
    <p:sldId id="698" r:id="rId17"/>
    <p:sldId id="693" r:id="rId18"/>
    <p:sldId id="665" r:id="rId19"/>
    <p:sldId id="664" r:id="rId20"/>
    <p:sldId id="679" r:id="rId21"/>
    <p:sldId id="680" r:id="rId22"/>
    <p:sldId id="681" r:id="rId23"/>
    <p:sldId id="682" r:id="rId24"/>
    <p:sldId id="678" r:id="rId25"/>
    <p:sldId id="676" r:id="rId26"/>
    <p:sldId id="684" r:id="rId27"/>
    <p:sldId id="699" r:id="rId28"/>
    <p:sldId id="687" r:id="rId29"/>
    <p:sldId id="688" r:id="rId30"/>
    <p:sldId id="675" r:id="rId31"/>
    <p:sldId id="685" r:id="rId32"/>
    <p:sldId id="686" r:id="rId33"/>
    <p:sldId id="673" r:id="rId34"/>
    <p:sldId id="674" r:id="rId35"/>
    <p:sldId id="689" r:id="rId36"/>
    <p:sldId id="690" r:id="rId37"/>
    <p:sldId id="700" r:id="rId38"/>
    <p:sldId id="47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2FE31-2070-D1D8-A34E-F9DB0AA9A729}" v="390" dt="2020-12-26T15:18:39.115"/>
    <p1510:client id="{045A4965-B513-6B71-45A6-B68B6AFE84A0}" v="67" dt="2020-12-26T20:30:46.896"/>
    <p1510:client id="{2F685D47-1B98-2E9E-44E9-38F2D014CAAC}" v="22" dt="2020-12-28T15:26:16.614"/>
    <p1510:client id="{35654BA6-5BEF-6AC8-F037-00942082F9B2}" v="462" dt="2021-02-01T16:53:52.378"/>
    <p1510:client id="{4687724C-769A-535A-BE5E-08839305FA50}" v="5582" dt="2020-12-27T20:13:39.224"/>
    <p1510:client id="{51E3BD4C-B373-0951-C494-FB7E86FF0635}" v="2429" dt="2020-12-29T23:03:22.866"/>
    <p1510:client id="{5465CEFE-2D65-ED3F-442B-E74DF3DBF3B0}" v="613" dt="2020-12-23T23:53:09.940"/>
    <p1510:client id="{70223C47-8670-9B15-A461-042D2F1DE4F7}" v="7422" dt="2020-12-31T14:25:20.982"/>
    <p1510:client id="{754A752B-A398-7C33-B6DC-89A0654AD307}" v="1138" dt="2020-12-30T13:10:01.288"/>
    <p1510:client id="{82ABAE2D-A526-4624-91EE-FBA7FD5F51E0}" v="9" dt="2020-12-23T22:41:08.207"/>
    <p1510:client id="{833B2A7B-9300-4EA2-8210-2D0A9B9B25DD}" v="1593" dt="2021-07-28T22:35:54.676"/>
    <p1510:client id="{8F696AE0-6236-8D1E-3618-87162776C622}" v="5712" dt="2021-01-01T00:07:13.795"/>
    <p1510:client id="{9A177FFB-FB64-37AF-17C7-CCEC2C193DFF}" v="4481" dt="2020-12-29T13:20:50.336"/>
    <p1510:client id="{A36523BF-6232-EDAB-AA7A-65E51884668E}" v="2005" dt="2021-08-09T16:44:23.968"/>
    <p1510:client id="{ABA6C69F-305D-B000-E14F-B8292AB106A7}" v="1" dt="2021-05-10T21:46:45.388"/>
    <p1510:client id="{AF17A244-26C3-938F-8A56-3031FB598BC3}" v="1658" dt="2021-07-28T13:49:19.111"/>
    <p1510:client id="{B4F8CEB5-E72C-8A8D-D25E-09B41B53A554}" v="6468" dt="2020-12-28T22:37:18.221"/>
    <p1510:client id="{B501BB9F-207A-B000-E14F-BD930A8D43C4}" v="68" dt="2021-04-04T17:30:56.897"/>
    <p1510:client id="{B537A4A3-B997-E4C8-F16C-A35024FDFCFE}" v="30" dt="2021-03-03T13:37:16.275"/>
    <p1510:client id="{C2F04716-BDFB-72E1-8E0B-591BAC2A83A6}" v="1704" dt="2020-12-25T23:07:35.464"/>
    <p1510:client id="{C413B264-8D43-A9BB-C85E-7F30A00A6453}" v="3644" dt="2020-12-26T15:02:32.673"/>
    <p1510:client id="{C552E5C9-89A9-5AE8-628E-6D0DD8066444}" v="3550" dt="2020-12-26T20:12:43.454"/>
    <p1510:client id="{E4379962-602B-8136-7CD4-993790D1ED49}" v="260" dt="2021-08-06T15:20:18.221"/>
    <p1510:client id="{E99E3E81-DD39-42E1-119C-BEBA76767C08}" v="1873" dt="2021-05-05T19:32:56.5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3CC2D-0AF9-4166-9DD0-52A258A6A029}" type="datetimeFigureOut">
              <a:rPr lang="en-US"/>
              <a:t>8/9/2021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3283C-2CD9-4321-9FBB-684AE41D5162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3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977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70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72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44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8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69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89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96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92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19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08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08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000/classify" TargetMode="External"/><Relationship Id="rId2" Type="http://schemas.openxmlformats.org/officeDocument/2006/relationships/hyperlink" Target="http://localhost:5000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000/classify?sl=5.1&amp;sw=3.2&amp;pl" TargetMode="External"/><Relationship Id="rId2" Type="http://schemas.openxmlformats.org/officeDocument/2006/relationships/hyperlink" Target="http://localhost:5000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postman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lask.palletsprojects.com/en/2.0.x/tutorial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9848D248-4F95-4AEB-A8A3-E841AC7F1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4C369ED-1D40-41D3-AA7A-10B26DF42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3E4D70A-0194-4118-808D-3AE000E06533}"/>
              </a:ext>
            </a:extLst>
          </p:cNvPr>
          <p:cNvSpPr txBox="1">
            <a:spLocks/>
          </p:cNvSpPr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roboto"/>
                <a:cs typeface="Calibri Light"/>
              </a:rPr>
              <a:t>AASD 4016</a:t>
            </a:r>
          </a:p>
          <a:p>
            <a:r>
              <a:rPr lang="en-US" sz="5400" dirty="0">
                <a:latin typeface="roboto"/>
                <a:cs typeface="Calibri Light"/>
              </a:rPr>
              <a:t>Full Stack Data Science Systems</a:t>
            </a:r>
            <a:endParaRPr lang="en-US" sz="5400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788A730-016B-491D-8966-20FA0BD8D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"/>
              </a:rPr>
              <a:t>Applied AI Solutions Developer Program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54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9848D248-4F95-4AEB-A8A3-E841AC7F1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4C369ED-1D40-41D3-AA7A-10B26DF42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3E4D70A-0194-4118-808D-3AE000E06533}"/>
              </a:ext>
            </a:extLst>
          </p:cNvPr>
          <p:cNvSpPr txBox="1">
            <a:spLocks/>
          </p:cNvSpPr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roboto"/>
                <a:cs typeface="Calibri Light"/>
              </a:rPr>
              <a:t>Module 3</a:t>
            </a:r>
          </a:p>
          <a:p>
            <a:r>
              <a:rPr lang="en-US" dirty="0">
                <a:latin typeface="roboto"/>
                <a:cs typeface="Calibri Light"/>
              </a:rPr>
              <a:t>Clients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788A730-016B-491D-8966-20FA0BD8D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latin typeface="roboto"/>
              </a:rPr>
              <a:t>Vejey</a:t>
            </a:r>
            <a:r>
              <a:rPr lang="en-US">
                <a:latin typeface="roboto"/>
              </a:rPr>
              <a:t> </a:t>
            </a:r>
            <a:r>
              <a:rPr lang="en-US" err="1">
                <a:latin typeface="roboto"/>
              </a:rPr>
              <a:t>Gandyer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261834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>
                <a:latin typeface="roboto"/>
                <a:cs typeface="Calibri Light"/>
              </a:rPr>
              <a:t>Agenda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1764255"/>
            <a:ext cx="6224335" cy="57556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latin typeface="roboto"/>
                <a:ea typeface="+mj-ea"/>
                <a:cs typeface="Calibri Light"/>
              </a:rPr>
              <a:t>Clients</a:t>
            </a:r>
            <a:endParaRPr lang="en-US" dirty="0">
              <a:ea typeface="+mj-ea"/>
            </a:endParaRPr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Curl</a:t>
            </a:r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POSTMAN</a:t>
            </a:r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Python Web Client</a:t>
            </a:r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Templates</a:t>
            </a:r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Receive Arguments</a:t>
            </a:r>
            <a:endParaRPr lang="en-US">
              <a:latin typeface="Calibri" panose="020F0502020204030204"/>
              <a:ea typeface="roboto"/>
              <a:cs typeface="Calibri" panose="020F0502020204030204"/>
            </a:endParaRPr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Examples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sz="3000" dirty="0">
              <a:latin typeface="roboto"/>
              <a:ea typeface="roboto"/>
              <a:cs typeface="Calibri Light"/>
            </a:endParaRPr>
          </a:p>
          <a:p>
            <a:pPr marL="0" indent="0">
              <a:buNone/>
            </a:pPr>
            <a:endParaRPr lang="en-US" sz="3000">
              <a:latin typeface="roboto"/>
              <a:ea typeface="roboto"/>
              <a:cs typeface="Calibri Light"/>
            </a:endParaRPr>
          </a:p>
          <a:p>
            <a:pPr>
              <a:buNone/>
            </a:pPr>
            <a:endParaRPr lang="en-US" sz="3000">
              <a:latin typeface="roboto"/>
              <a:ea typeface="roboto"/>
              <a:cs typeface="Calibri Light"/>
            </a:endParaRPr>
          </a:p>
          <a:p>
            <a:pPr>
              <a:buNone/>
            </a:pPr>
            <a:endParaRPr lang="en-US">
              <a:latin typeface="roboto"/>
              <a:ea typeface="roboto"/>
              <a:cs typeface="Calibri Light"/>
            </a:endParaRPr>
          </a:p>
          <a:p>
            <a:pPr marL="0" indent="0">
              <a:buNone/>
            </a:pPr>
            <a:endParaRPr lang="en-US" sz="2200">
              <a:latin typeface="roboto"/>
              <a:ea typeface="roboto"/>
              <a:cs typeface="Calibri Light"/>
            </a:endParaRPr>
          </a:p>
        </p:txBody>
      </p:sp>
      <p:pic>
        <p:nvPicPr>
          <p:cNvPr id="4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E376F483-1DA3-4922-A4DE-B5C7D265A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5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F30EB02E-681A-46B3-B1E0-87DF361ED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7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6736-28D1-406B-8628-431090E7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Clients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81A29-1103-49BF-97AB-9324DFB45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Curl</a:t>
            </a:r>
          </a:p>
          <a:p>
            <a:r>
              <a:rPr lang="en-US" dirty="0">
                <a:cs typeface="Calibri"/>
              </a:rPr>
              <a:t>POSTMAN</a:t>
            </a:r>
          </a:p>
          <a:p>
            <a:r>
              <a:rPr lang="en-US" dirty="0">
                <a:cs typeface="Calibri"/>
              </a:rPr>
              <a:t>Python</a:t>
            </a: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B1B78571-5DE6-4E46-A58B-6883237AD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8A8E199-8B72-4171-8B56-D4E91B7A4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42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Flask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Installing Flask</a:t>
            </a:r>
            <a:endParaRPr lang="en-US" sz="2700" dirty="0">
              <a:latin typeface="roboto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pip install Flask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Hello Flask Application (hello.py)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from flask import Flask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app = Flask(__name__)</a:t>
            </a:r>
            <a:endParaRPr lang="en-US">
              <a:latin typeface="Calibri" panose="020F0502020204030204"/>
              <a:ea typeface="roboto"/>
              <a:cs typeface="Calibri" panose="020F0502020204030204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@app.route("/")</a:t>
            </a:r>
            <a:endParaRPr lang="en-US">
              <a:latin typeface="Calibri" panose="020F0502020204030204"/>
              <a:ea typeface="roboto"/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def hello_world():</a:t>
            </a:r>
            <a:endParaRPr lang="en-US">
              <a:latin typeface="Calibri" panose="020F0502020204030204"/>
              <a:ea typeface="roboto"/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 return "&lt;p&gt;Hello, World!&lt;/p&gt;"</a:t>
            </a:r>
            <a:endParaRPr lang="en-US">
              <a:cs typeface="Calibri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63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Flask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Running a Flask Application</a:t>
            </a:r>
            <a:endParaRPr lang="en-US" sz="2700" dirty="0">
              <a:latin typeface="roboto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export FLASK_APP=hello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flask run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Set Flask Environment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export FLASK_ENV=development</a:t>
            </a: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21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4818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Project Structure</a:t>
            </a:r>
            <a:endParaRPr lang="en-US"/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4" name="Picture 5" descr="A picture containing text, receipt&#10;&#10;Description automatically generated">
            <a:extLst>
              <a:ext uri="{FF2B5EF4-FFF2-40B4-BE49-F238E27FC236}">
                <a16:creationId xmlns:a16="http://schemas.microsoft.com/office/drawing/2014/main" id="{B5F652CD-9CAD-4CFA-B857-E129A62FD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172" y="851829"/>
            <a:ext cx="3759201" cy="553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484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Current Flask project structure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roboto"/>
                <a:ea typeface="roboto"/>
                <a:cs typeface="Calibri Light"/>
              </a:rPr>
              <a:t>Project Structure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   app.py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   helper(s).</a:t>
            </a:r>
            <a:r>
              <a:rPr lang="en-US" sz="2700" dirty="0" err="1">
                <a:latin typeface="Courier New"/>
                <a:ea typeface="roboto"/>
                <a:cs typeface="Calibri Light"/>
              </a:rPr>
              <a:t>py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 [Optional]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   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   </a:t>
            </a: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59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Iris Classifier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Notebook to Script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Script to Flask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Load model and keep it up for inference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Infer from the model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b="1">
                <a:latin typeface="Courier New"/>
                <a:ea typeface="roboto"/>
                <a:cs typeface="Calibri Light"/>
              </a:rPr>
              <a:t>Test the endpoint using Curl, POSTMAN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b="1">
                <a:latin typeface="Courier New"/>
                <a:ea typeface="roboto"/>
                <a:cs typeface="Calibri Light"/>
              </a:rPr>
              <a:t>Build a python web client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b="1">
                <a:latin typeface="Courier New"/>
                <a:ea typeface="roboto"/>
                <a:cs typeface="Calibri Light"/>
              </a:rPr>
              <a:t>Test the client</a:t>
            </a: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Expected Flask project structure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roboto"/>
                <a:ea typeface="roboto"/>
                <a:cs typeface="Calibri Light"/>
              </a:rPr>
              <a:t>Project Structure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   app.py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   helper(s).</a:t>
            </a:r>
            <a:r>
              <a:rPr lang="en-US" sz="2700" err="1">
                <a:latin typeface="Courier New"/>
                <a:ea typeface="roboto"/>
                <a:cs typeface="Calibri Light"/>
              </a:rPr>
              <a:t>py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 [Optional]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templates/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    index.html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    result.html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static/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    Style.css [Optional]</a:t>
            </a:r>
            <a:endParaRPr lang="en-US" sz="2700" dirty="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11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Curl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curl </a:t>
            </a:r>
            <a:r>
              <a:rPr lang="en-US" sz="2700" dirty="0">
                <a:latin typeface="Courier New"/>
                <a:ea typeface="roboto"/>
                <a:cs typeface="Calibri Light"/>
                <a:hlinkClick r:id="rId2"/>
              </a:rPr>
              <a:t>http://localhost:5000/</a:t>
            </a:r>
            <a:endParaRPr lang="en-US">
              <a:latin typeface="Calibri" panose="020F0502020204030204"/>
              <a:ea typeface="roboto"/>
              <a:cs typeface="Calibri" panose="020F0502020204030204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>
              <a:buNone/>
            </a:pPr>
            <a:r>
              <a:rPr lang="en-US" sz="2700">
                <a:latin typeface="Courier New"/>
                <a:cs typeface="Courier New"/>
              </a:rPr>
              <a:t>curl </a:t>
            </a:r>
            <a:r>
              <a:rPr lang="en-US" sz="2700" dirty="0">
                <a:latin typeface="Courier New"/>
                <a:cs typeface="Courier New"/>
                <a:hlinkClick r:id="rId3"/>
              </a:rPr>
              <a:t>http://localhost:5000/classify</a:t>
            </a:r>
            <a:endParaRPr lang="en-US" sz="2700" dirty="0">
              <a:ea typeface="+mn-lt"/>
              <a:cs typeface="+mn-l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>
              <a:cs typeface="Calibri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81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Future Curl Calls (to be developed)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curl </a:t>
            </a:r>
            <a:r>
              <a:rPr lang="en-US" sz="2700" dirty="0">
                <a:latin typeface="Courier New"/>
                <a:ea typeface="roboto"/>
                <a:cs typeface="Calibri Light"/>
                <a:hlinkClick r:id="rId2"/>
              </a:rPr>
              <a:t>http://localhost:5000/</a:t>
            </a:r>
            <a:endParaRPr lang="en-US">
              <a:latin typeface="Calibri" panose="020F0502020204030204"/>
              <a:ea typeface="roboto"/>
              <a:cs typeface="Calibri" panose="020F0502020204030204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>
              <a:buNone/>
            </a:pPr>
            <a:r>
              <a:rPr lang="en-US" sz="2700">
                <a:latin typeface="Courier New"/>
                <a:cs typeface="Courier New"/>
              </a:rPr>
              <a:t>curl </a:t>
            </a:r>
            <a:r>
              <a:rPr lang="en-US" sz="2700" dirty="0">
                <a:latin typeface="Courier New"/>
                <a:cs typeface="Courier New"/>
                <a:hlinkClick r:id="rId3"/>
              </a:rPr>
              <a:t>http://localhost:5000/classify?sl=5.1&amp;sw=3.2&amp;pl=3.5&amp;pw=4.2</a:t>
            </a:r>
            <a:endParaRPr lang="en-US" sz="2700" dirty="0">
              <a:ea typeface="+mn-lt"/>
              <a:cs typeface="+mn-lt"/>
            </a:endParaRPr>
          </a:p>
          <a:p>
            <a:pPr>
              <a:buNone/>
            </a:pPr>
            <a:endParaRPr lang="en-US" sz="2700" dirty="0">
              <a:latin typeface="Courier New"/>
              <a:ea typeface="roboto"/>
              <a:cs typeface="Courier New"/>
            </a:endParaRPr>
          </a:p>
          <a:p>
            <a:pPr>
              <a:buNone/>
            </a:pPr>
            <a:endParaRPr lang="en-US" sz="2700" dirty="0">
              <a:latin typeface="Courier New"/>
              <a:cs typeface="Courier New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>
              <a:cs typeface="Calibri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90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POSTMAN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  <a:hlinkClick r:id="rId2"/>
              </a:rPr>
              <a:t>www.postman.com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Download and install the application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Follow along the demo</a:t>
            </a:r>
            <a:endParaRPr lang="en-US" sz="2700" dirty="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579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POSTMAN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Create a Collection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Create endpoint (either GET / POST)</a:t>
            </a:r>
            <a:endParaRPr lang="en-US">
              <a:latin typeface="Calibri" panose="020F0502020204030204"/>
              <a:ea typeface="roboto"/>
              <a:cs typeface="Calibri" panose="020F0502020204030204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Give the URL for the endpoint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Give the parameters for the endpoint (if any)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Get the response</a:t>
            </a:r>
            <a:endParaRPr lang="en-US" sz="2700" dirty="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98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4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9A57C7C3-D79C-4D0D-96BB-1F4A45D51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76" y="470339"/>
            <a:ext cx="9656846" cy="591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97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2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447B83A9-5BA7-459A-A444-3F40FAF6E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516" y="1404463"/>
            <a:ext cx="10084776" cy="463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068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Python Web Client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Create Web client with html</a:t>
            </a:r>
            <a:endParaRPr lang="en-US">
              <a:latin typeface="Calibri" panose="020F0502020204030204"/>
              <a:ea typeface="roboto"/>
              <a:cs typeface="Calibri" panose="020F0502020204030204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Include the input fields within html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Stylize the html elements with css (Optional)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Connect the button with corresponding Flask function</a:t>
            </a:r>
            <a:endParaRPr lang="en-US" sz="2700" dirty="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4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6736-28D1-406B-8628-431090E7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HTTP Request Methods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81A29-1103-49BF-97AB-9324DFB45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>
                <a:cs typeface="Calibri"/>
              </a:rPr>
              <a:t>GET</a:t>
            </a:r>
          </a:p>
          <a:p>
            <a:r>
              <a:rPr lang="en-US">
                <a:cs typeface="Calibri"/>
              </a:rPr>
              <a:t>POST</a:t>
            </a:r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PUT</a:t>
            </a:r>
          </a:p>
          <a:p>
            <a:r>
              <a:rPr lang="en-US">
                <a:cs typeface="Calibri"/>
              </a:rPr>
              <a:t>HEAD</a:t>
            </a:r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DELETE</a:t>
            </a:r>
          </a:p>
          <a:p>
            <a:endParaRPr lang="en-US" dirty="0">
              <a:cs typeface="Calibri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B1B78571-5DE6-4E46-A58B-6883237AD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8A8E199-8B72-4171-8B56-D4E91B7A4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14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GET</a:t>
            </a:r>
            <a:endParaRPr lang="en-US"/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86DD986-B900-4847-ABBD-B417343C5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 GET is used to request data from a resource</a:t>
            </a:r>
          </a:p>
          <a:p>
            <a:r>
              <a:rPr lang="en-US">
                <a:cs typeface="Calibri"/>
              </a:rPr>
              <a:t> Query String is sent in the URL of a GET request</a:t>
            </a:r>
            <a:endParaRPr lang="en-US" dirty="0">
              <a:cs typeface="Calibri"/>
            </a:endParaRPr>
          </a:p>
          <a:p>
            <a:pPr lvl="1"/>
            <a:r>
              <a:rPr lang="en-US">
                <a:cs typeface="Calibri"/>
              </a:rPr>
              <a:t>Developer Tools</a:t>
            </a:r>
          </a:p>
          <a:p>
            <a:pPr lvl="1"/>
            <a:r>
              <a:rPr lang="en-US">
                <a:cs typeface="Calibri"/>
              </a:rPr>
              <a:t>/test_endpoint?name=subash&amp;age=41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9529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POST</a:t>
            </a:r>
            <a:endParaRPr lang="en-US"/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86DD986-B900-4847-ABBD-B417343C5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 POST is used to send data to a server to create / update a resource</a:t>
            </a:r>
          </a:p>
          <a:p>
            <a:r>
              <a:rPr lang="en-US">
                <a:cs typeface="Calibri"/>
              </a:rPr>
              <a:t> Data sent to the server is stored in the request body of the HTTP request </a:t>
            </a:r>
          </a:p>
          <a:p>
            <a:pPr lvl="1"/>
            <a:r>
              <a:rPr lang="en-US">
                <a:cs typeface="Calibri"/>
              </a:rPr>
              <a:t>Developer Tools</a:t>
            </a:r>
          </a:p>
          <a:p>
            <a:pPr lvl="1"/>
            <a:r>
              <a:rPr lang="en-US">
                <a:ea typeface="+mn-lt"/>
                <a:cs typeface="+mn-lt"/>
              </a:rPr>
              <a:t>POST /test_endpoint HTTP/1.1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Host: iamsubash.com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name=subash&amp;age=41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7035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PUT</a:t>
            </a:r>
            <a:endParaRPr lang="en-US"/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86DD986-B900-4847-ABBD-B417343C5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 PUT is used to send data to a server to create / update a resource</a:t>
            </a:r>
          </a:p>
          <a:p>
            <a:r>
              <a:rPr lang="en-US">
                <a:cs typeface="Calibri"/>
              </a:rPr>
              <a:t> Calling PUT request multiple times produce the same result</a:t>
            </a:r>
          </a:p>
          <a:p>
            <a:r>
              <a:rPr lang="en-US">
                <a:cs typeface="Calibri"/>
              </a:rPr>
              <a:t>Calling POST request multiple times produce multiple resources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35023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HEAD</a:t>
            </a:r>
            <a:endParaRPr lang="en-US"/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86DD986-B900-4847-ABBD-B417343C5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 HEAD is identical to GET, but without the response body </a:t>
            </a:r>
          </a:p>
          <a:p>
            <a:r>
              <a:rPr lang="en-US">
                <a:cs typeface="Calibri"/>
              </a:rPr>
              <a:t> HEAD requests are useful for checking what a GET request will return before actually making an actual GET request</a:t>
            </a:r>
          </a:p>
          <a:p>
            <a:pPr lvl="1"/>
            <a:r>
              <a:rPr lang="en-US">
                <a:cs typeface="Calibri"/>
              </a:rPr>
              <a:t>Before downloading a very large file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22802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DELETE</a:t>
            </a:r>
            <a:endParaRPr lang="en-US"/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86DD986-B900-4847-ABBD-B417343C5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 DELETE deletes the specified resource</a:t>
            </a: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81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GET vs POST</a:t>
            </a:r>
            <a:endParaRPr lang="en-US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F185CF-A9DE-48E0-ABA3-4DE5E9AA0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4387" y="1425489"/>
            <a:ext cx="10169216" cy="4641046"/>
          </a:xfrm>
        </p:spPr>
      </p:pic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257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Flask HTTP Methods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HTTP Methods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from flask import request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@app.route('/login', methods=['GET', 'POST'])
def login():
    if request.method == 'POST':
        return do_the_login()
    else:
        return show_the_login_form()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68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Receive Arguments</a:t>
            </a:r>
            <a:endParaRPr lang="en-US" sz="4800">
              <a:latin typeface="roboto"/>
              <a:ea typeface="roboto"/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from flask import request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@app.route('/classifier', methods=['GET', 'POST'])</a:t>
            </a:r>
            <a:endParaRPr lang="en-US"/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def classifier():</a:t>
            </a: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sepalLength = float(request.args['sepalLength'])</a:t>
            </a: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sepalWidth = float(request.args['sepalWidth'])</a:t>
            </a: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petalLength = float(request.args['petalLength'])</a:t>
            </a: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petalWidth = float(request.args['petalWidth'])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032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Receive Arguments</a:t>
            </a:r>
            <a:endParaRPr lang="en-US" sz="4800">
              <a:latin typeface="roboto"/>
              <a:ea typeface="roboto"/>
              <a:cs typeface="Calibri Light" panose="020F0302020204030204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8" name="Picture 8" descr="Graphical user interface, table&#10;&#10;Description automatically generated">
            <a:extLst>
              <a:ext uri="{FF2B5EF4-FFF2-40B4-BE49-F238E27FC236}">
                <a16:creationId xmlns:a16="http://schemas.microsoft.com/office/drawing/2014/main" id="{88412B74-DD7F-42E8-9A7B-8A71A7803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208" y="1437146"/>
            <a:ext cx="10720583" cy="469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535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Index.html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&lt;html&gt;</a:t>
            </a: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&lt;body&gt;</a:t>
            </a: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 &lt;h1&gt;IRIS Classifier&lt;/h1&gt;</a:t>
            </a: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&lt;/body&gt;</a:t>
            </a: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&lt;/html&gt;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1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Result.html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700">
                <a:latin typeface="Courier New"/>
                <a:ea typeface="roboto"/>
                <a:cs typeface="Courier New"/>
              </a:rPr>
              <a:t>&lt;html&gt;</a:t>
            </a:r>
            <a:endParaRPr lang="en-US" sz="2700">
              <a:ea typeface="+mn-lt"/>
              <a:cs typeface="+mn-lt"/>
            </a:endParaRP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ourier New"/>
              </a:rPr>
              <a:t>  &lt;body&gt;</a:t>
            </a:r>
            <a:endParaRPr lang="en-US" sz="2700">
              <a:ea typeface="+mn-lt"/>
              <a:cs typeface="+mn-lt"/>
            </a:endParaRP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ourier New"/>
              </a:rPr>
              <a:t>    &lt;h1&gt;IRIS Classifier&lt;/h1&gt;</a:t>
            </a:r>
            <a:endParaRPr lang="en-US" sz="2700">
              <a:ea typeface="+mn-lt"/>
              <a:cs typeface="+mn-lt"/>
            </a:endParaRP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ourier New"/>
              </a:rPr>
              <a:t>    {{ result }}</a:t>
            </a:r>
            <a:endParaRPr lang="en-US" sz="2700" dirty="0">
              <a:latin typeface="Courier New"/>
              <a:ea typeface="roboto"/>
              <a:cs typeface="Courier New"/>
            </a:endParaRP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ourier New"/>
              </a:rPr>
              <a:t>  &lt;/body&gt;</a:t>
            </a:r>
            <a:endParaRPr lang="en-US" sz="2700">
              <a:ea typeface="+mn-lt"/>
              <a:cs typeface="+mn-lt"/>
            </a:endParaRP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ourier New"/>
              </a:rPr>
              <a:t>&lt;/html&gt;</a:t>
            </a:r>
            <a:endParaRPr lang="en-US" sz="2700">
              <a:ea typeface="+mn-lt"/>
              <a:cs typeface="+mn-l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068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Rendering Templates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from flask import </a:t>
            </a:r>
            <a:r>
              <a:rPr lang="en-US" sz="2700">
                <a:latin typeface="Courier New"/>
                <a:ea typeface="roboto"/>
                <a:cs typeface="Calibri Light"/>
              </a:rPr>
              <a:t>render_template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@app.route('/hello)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def hello(name=None):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    return render_template('index.html', name=name)</a:t>
            </a:r>
            <a:endParaRPr lang="en-US">
              <a:latin typeface="Calibri" panose="020F0502020204030204"/>
              <a:ea typeface="roboto"/>
              <a:cs typeface="Calibri" panose="020F0502020204030204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ourier New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ourier New"/>
              </a:rPr>
              <a:t>@app.route('/classifier, methods=['GET', 'POST'])</a:t>
            </a:r>
            <a:endParaRPr lang="en-US"/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ourier New"/>
              </a:rPr>
              <a:t>def classifier():</a:t>
            </a:r>
            <a:endParaRPr lang="en-US" sz="2700">
              <a:latin typeface="Calibri" panose="020F0502020204030204"/>
              <a:ea typeface="roboto"/>
              <a:cs typeface="Calibri" panose="020F0502020204030204"/>
            </a:endParaRP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ourier New"/>
              </a:rPr>
              <a:t>     …</a:t>
            </a:r>
            <a:endParaRPr lang="en-US" sz="2700">
              <a:latin typeface="Calibri" panose="020F0502020204030204"/>
              <a:ea typeface="roboto"/>
              <a:cs typeface="Calibri" panose="020F0502020204030204"/>
            </a:endParaRP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ourier New"/>
              </a:rPr>
              <a:t>     …</a:t>
            </a:r>
            <a:endParaRPr lang="en-US" sz="2700">
              <a:latin typeface="Calibri" panose="020F0502020204030204"/>
              <a:ea typeface="roboto"/>
              <a:cs typeface="Calibri" panose="020F0502020204030204"/>
            </a:endParaRPr>
          </a:p>
          <a:p>
            <a:pPr>
              <a:buNone/>
            </a:pPr>
            <a:br>
              <a:rPr lang="en-US" sz="2700" dirty="0">
                <a:latin typeface="Courier New"/>
                <a:ea typeface="roboto"/>
                <a:cs typeface="Courier New"/>
              </a:rPr>
            </a:br>
            <a:r>
              <a:rPr lang="en-US" sz="2700">
                <a:latin typeface="Courier New"/>
                <a:ea typeface="roboto"/>
                <a:cs typeface="Courier New"/>
              </a:rPr>
              <a:t>    return render_template('result.html', result=result)</a:t>
            </a:r>
            <a:endParaRPr lang="en-US" sz="2700">
              <a:ea typeface="+mn-lt"/>
              <a:cs typeface="+mn-l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147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Receive Arguments: Checkbox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1160377" cy="4350761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&lt;form action="/classifier" method="post" enctype="multipart/form-data"&gt;</a:t>
            </a: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&lt;h4&gt; Choose a choice &lt;/h4&gt;</a:t>
            </a:r>
            <a:endParaRPr lang="en-US">
              <a:latin typeface="Calibri" panose="020F0502020204030204"/>
              <a:ea typeface="roboto"/>
              <a:cs typeface="Calibri" panose="020F0502020204030204"/>
            </a:endParaRP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&lt;label&gt;Yes&lt;/label&gt;&lt;input type="checkbox" name="yes" default=False 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/&gt;</a:t>
            </a:r>
            <a:endParaRPr lang="en-US">
              <a:latin typeface="Calibri" panose="020F0502020204030204"/>
              <a:ea typeface="roboto"/>
              <a:cs typeface="Calibri" panose="020F0502020204030204"/>
            </a:endParaRP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ourier New"/>
              </a:rPr>
              <a:t>  &lt;label&gt;No&lt;/label&gt;&lt;input type="checkbox" name="no" default=False /&gt;</a:t>
            </a:r>
            <a:endParaRPr lang="en-US" sz="2700">
              <a:ea typeface="+mn-lt"/>
              <a:cs typeface="+mn-lt"/>
            </a:endParaRPr>
          </a:p>
          <a:p>
            <a:pPr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@app.route('/classifier, methods=['GET', 'POST'])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def classifier():
    if request.method == 'POST':
        yes_choice = request.form.get('yes')
</a:t>
            </a:r>
            <a:r>
              <a:rPr lang="en-US" sz="2700">
                <a:latin typeface="Courier New"/>
                <a:ea typeface="roboto"/>
                <a:cs typeface="Calibri Light"/>
              </a:rPr>
              <a:t>        ...</a:t>
            </a:r>
            <a:endParaRPr lang="en-US" sz="2700" dirty="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87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Receive Arguments: Radio Button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br>
              <a:rPr lang="en-US" sz="2700" dirty="0">
                <a:ea typeface="+mn-lt"/>
                <a:cs typeface="+mn-lt"/>
              </a:rPr>
            </a:br>
            <a:r>
              <a:rPr lang="en-US" sz="2700">
                <a:latin typeface="Courier New"/>
                <a:ea typeface="roboto"/>
                <a:cs typeface="Courier New"/>
              </a:rPr>
              <a:t>&lt;form action="/classifier" method="post" enctype="multipart/form-data"&gt;</a:t>
            </a:r>
            <a:endParaRPr lang="en-US" sz="27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ourier New"/>
              </a:rPr>
              <a:t>&lt;h4&gt; Choose a Gender &lt;/h4&gt; &lt;span style="color:red;"&gt; *&lt;/span&gt;</a:t>
            </a:r>
            <a:endParaRPr lang="en-US" sz="2700" dirty="0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latin typeface="Courier New"/>
                <a:ea typeface="roboto"/>
                <a:cs typeface="Courier New"/>
              </a:rPr>
              <a:t>&lt;label&gt;Gender&lt;/label&gt; &lt;span style="color:red;"&gt; *&lt;/span&gt;</a:t>
            </a:r>
          </a:p>
          <a:p>
            <a:pPr>
              <a:buNone/>
            </a:pPr>
            <a:r>
              <a:rPr lang="en-US">
                <a:latin typeface="Courier New"/>
                <a:ea typeface="roboto"/>
                <a:cs typeface="Courier New"/>
              </a:rPr>
              <a:t>&lt;label&gt;MALE&lt;/label&gt;&lt;input type="radio" name="gender" id="male" value="MALE"&gt;</a:t>
            </a:r>
          </a:p>
          <a:p>
            <a:pPr>
              <a:buNone/>
            </a:pPr>
            <a:r>
              <a:rPr lang="en-US">
                <a:latin typeface="Courier New"/>
                <a:ea typeface="roboto"/>
                <a:cs typeface="Courier New"/>
              </a:rPr>
              <a:t>&lt;label&gt;FEMALE&lt;/label&gt;&lt;input type="radio" name="gender" id="female" value="FEMALE"&gt;</a:t>
            </a:r>
          </a:p>
          <a:p>
            <a:pPr>
              <a:buNone/>
            </a:pPr>
            <a:endParaRPr lang="en-US" sz="2700" dirty="0">
              <a:latin typeface="Courier New"/>
              <a:ea typeface="roboto"/>
              <a:cs typeface="Courier New"/>
            </a:endParaRPr>
          </a:p>
          <a:p>
            <a:pPr>
              <a:buNone/>
            </a:pPr>
            <a:endParaRPr lang="en-US" sz="27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ourier New"/>
              </a:rPr>
              <a:t>@app.route('/classifier, methods=['GET', 'POST'])</a:t>
            </a:r>
            <a:endParaRPr lang="en-US" sz="2700">
              <a:latin typeface="Calibri" panose="020F0502020204030204"/>
              <a:ea typeface="roboto"/>
              <a:cs typeface="Calibri" panose="020F0502020204030204"/>
            </a:endParaRP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ourier New"/>
              </a:rPr>
              <a:t>def classifier():</a:t>
            </a:r>
            <a:endParaRPr lang="en-US" sz="2700" dirty="0">
              <a:latin typeface="Calibri" panose="020F0502020204030204"/>
              <a:ea typeface="roboto"/>
              <a:cs typeface="Calibri" panose="020F0502020204030204"/>
            </a:endParaRPr>
          </a:p>
          <a:p>
            <a:pPr>
              <a:buNone/>
            </a:pPr>
            <a:r>
              <a:rPr lang="en-US" sz="2700" dirty="0">
                <a:latin typeface="Courier New"/>
                <a:ea typeface="roboto"/>
                <a:cs typeface="Courier New"/>
              </a:rPr>
              <a:t>   if request.method == 'POST':</a:t>
            </a:r>
            <a:br>
              <a:rPr lang="en-US" sz="2700" dirty="0">
                <a:latin typeface="Courier New"/>
                <a:ea typeface="roboto"/>
                <a:cs typeface="Courier New"/>
              </a:rPr>
            </a:br>
            <a:r>
              <a:rPr lang="en-US" sz="2700">
                <a:latin typeface="Courier New"/>
                <a:ea typeface="roboto"/>
                <a:cs typeface="Courier New"/>
              </a:rPr>
              <a:t>      gender = request.form.get('gender')</a:t>
            </a:r>
            <a:br>
              <a:rPr lang="en-US" sz="2700" dirty="0">
                <a:latin typeface="Courier New"/>
                <a:ea typeface="roboto"/>
                <a:cs typeface="Courier New"/>
              </a:rPr>
            </a:br>
            <a:r>
              <a:rPr lang="en-US" sz="2700">
                <a:latin typeface="Courier New"/>
                <a:ea typeface="roboto"/>
                <a:cs typeface="Courier New"/>
              </a:rPr>
              <a:t>      ...</a:t>
            </a:r>
            <a:endParaRPr lang="en-US" sz="2700">
              <a:ea typeface="+mn-lt"/>
              <a:cs typeface="+mn-l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roboto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13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Receive Arguments: File uploads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&lt;form action="/classifier" method="post" enctype="multipart/form-data"&gt;</a:t>
            </a: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&lt;h4&gt; Choose a CSV file &lt;/h4&gt; &lt;span style="color:red;"&gt; *&lt;/span&gt;</a:t>
            </a:r>
          </a:p>
          <a:p>
            <a:pPr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&lt;input type="file" name="csv" /&gt;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@app.route('/classifier, methods=['GET', 'POST'])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def classifier():
    if </a:t>
            </a:r>
            <a:r>
              <a:rPr lang="en-US" sz="2700" err="1">
                <a:latin typeface="Courier New"/>
                <a:ea typeface="roboto"/>
                <a:cs typeface="Calibri Light"/>
              </a:rPr>
              <a:t>request.method == 'POST':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        f = request.files['csv']
        </a:t>
            </a:r>
            <a:r>
              <a:rPr lang="en-US" sz="2700" err="1">
                <a:latin typeface="Courier New"/>
                <a:ea typeface="roboto"/>
                <a:cs typeface="Calibri Light"/>
              </a:rPr>
              <a:t>f.save('/var/www/uploads/uploaded_file.txt')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    ...</a:t>
            </a:r>
            <a:endParaRPr lang="en-US"/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7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latin typeface="roboto"/>
                <a:cs typeface="Calibri Light"/>
              </a:rPr>
              <a:t>Receive Arguments: Secure File uploads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 dirty="0">
                <a:latin typeface="Courier New"/>
                <a:ea typeface="roboto"/>
                <a:cs typeface="Calibri Light"/>
              </a:rPr>
              <a:t>from </a:t>
            </a:r>
            <a:r>
              <a:rPr lang="en-US" sz="2700" err="1">
                <a:latin typeface="Courier New"/>
                <a:ea typeface="roboto"/>
                <a:cs typeface="Calibri Light"/>
              </a:rPr>
              <a:t>werkzeug.utils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 import </a:t>
            </a:r>
            <a:r>
              <a:rPr lang="en-US" sz="2700">
                <a:latin typeface="Courier New"/>
                <a:ea typeface="roboto"/>
                <a:cs typeface="Calibri Light"/>
              </a:rPr>
              <a:t>secure_filename</a:t>
            </a:r>
            <a:r>
              <a:rPr lang="en-US" sz="2700" dirty="0">
                <a:ea typeface="+mn-lt"/>
                <a:cs typeface="+mn-l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@app.route('/classifier, methods=['GET', 'POST'])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def classifier():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    if </a:t>
            </a:r>
            <a:r>
              <a:rPr lang="en-US" sz="2700" err="1">
                <a:latin typeface="Courier New"/>
                <a:ea typeface="roboto"/>
                <a:cs typeface="Calibri Light"/>
              </a:rPr>
              <a:t>request.method == 'POST':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</a:t>
            </a:r>
            <a:r>
              <a:rPr lang="en-US" sz="2700">
                <a:latin typeface="Courier New"/>
                <a:ea typeface="roboto"/>
                <a:cs typeface="Calibri Light"/>
              </a:rPr>
              <a:t>        f = </a:t>
            </a:r>
            <a:r>
              <a:rPr lang="en-US" sz="2700" err="1">
                <a:latin typeface="Courier New"/>
                <a:ea typeface="roboto"/>
                <a:cs typeface="Calibri Light"/>
              </a:rPr>
              <a:t>request.files</a:t>
            </a:r>
            <a:r>
              <a:rPr lang="en-US" sz="2700">
                <a:latin typeface="Courier New"/>
                <a:ea typeface="roboto"/>
                <a:cs typeface="Calibri Light"/>
              </a:rPr>
              <a:t>['</a:t>
            </a:r>
            <a:r>
              <a:rPr lang="en-US" sz="2700" err="1">
                <a:latin typeface="Courier New"/>
                <a:ea typeface="roboto"/>
                <a:cs typeface="Calibri Light"/>
              </a:rPr>
              <a:t>the_file']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                             </a:t>
            </a:r>
            <a:r>
              <a:rPr lang="en-US" sz="2700" err="1">
                <a:latin typeface="Courier New"/>
                <a:ea typeface="roboto"/>
                <a:cs typeface="Calibri Light"/>
              </a:rPr>
              <a:t>f.save</a:t>
            </a:r>
            <a:r>
              <a:rPr lang="en-US" sz="2700">
                <a:latin typeface="Courier New"/>
                <a:ea typeface="roboto"/>
                <a:cs typeface="Calibri Light"/>
              </a:rPr>
              <a:t>(f'/var/www/uploads/{</a:t>
            </a:r>
            <a:r>
              <a:rPr lang="en-US" sz="2700" err="1">
                <a:latin typeface="Courier New"/>
                <a:ea typeface="roboto"/>
                <a:cs typeface="Calibri Light"/>
              </a:rPr>
              <a:t>secure_filename</a:t>
            </a:r>
            <a:r>
              <a:rPr lang="en-US" sz="2700">
                <a:latin typeface="Courier New"/>
                <a:ea typeface="roboto"/>
                <a:cs typeface="Calibri Light"/>
              </a:rPr>
              <a:t>(</a:t>
            </a:r>
            <a:r>
              <a:rPr lang="en-US" sz="2700" err="1">
                <a:latin typeface="Courier New"/>
                <a:ea typeface="roboto"/>
                <a:cs typeface="Calibri Light"/>
              </a:rPr>
              <a:t>f.filename)}')</a:t>
            </a:r>
            <a:r>
              <a:rPr lang="en-US" sz="2700" dirty="0">
                <a:latin typeface="Courier New"/>
                <a:ea typeface="roboto"/>
                <a:cs typeface="Calibri Light"/>
              </a:rPr>
              <a:t>
    ...</a:t>
            </a: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style.css [Optional]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643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All together for a Python Web Client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index.html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app.py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style.css [ Optional ]</a:t>
            </a:r>
            <a:endParaRPr lang="en-US" sz="2700" dirty="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1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Testing Python Web Client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Test all endpoints</a:t>
            </a:r>
            <a:endParaRPr lang="en-US">
              <a:latin typeface="Calibri" panose="020F0502020204030204"/>
              <a:ea typeface="roboto"/>
              <a:cs typeface="Calibri" panose="020F0502020204030204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- Curl</a:t>
            </a:r>
            <a:endParaRPr lang="en-US" sz="2700" dirty="0">
              <a:latin typeface="Courier New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Courier New"/>
                <a:ea typeface="roboto"/>
                <a:cs typeface="Calibri Light"/>
              </a:rPr>
              <a:t>   - Postman</a:t>
            </a:r>
            <a:endParaRPr lang="en-US" sz="2700" dirty="0">
              <a:latin typeface="Courier New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496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Further Reading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69" y="1612442"/>
            <a:ext cx="10484281" cy="40755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roboto"/>
                <a:ea typeface="+mj-ea"/>
                <a:cs typeface="Calibri Light"/>
              </a:rPr>
              <a:t>Flask Tutorial</a:t>
            </a:r>
            <a:endParaRPr lang="en-US">
              <a:ea typeface="+mj-ea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hlinkClick r:id="rId2"/>
              </a:rPr>
              <a:t>https://flask.palletsprojects.com/en/2.0.x/tutorial/</a:t>
            </a:r>
          </a:p>
          <a:p>
            <a:pPr marL="0" indent="0">
              <a:buNone/>
            </a:pPr>
            <a:endParaRPr lang="en-US" dirty="0">
              <a:latin typeface="Calibri"/>
              <a:ea typeface="+mj-ea"/>
              <a:cs typeface="Calibri"/>
            </a:endParaRPr>
          </a:p>
          <a:p>
            <a:pPr marL="0" indent="0">
              <a:buNone/>
            </a:pPr>
            <a:endParaRPr lang="en-US" dirty="0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endParaRPr lang="en-US" i="1" dirty="0">
              <a:latin typeface="roboto"/>
              <a:ea typeface="roboto"/>
              <a:cs typeface="Calibri Light"/>
            </a:endParaRPr>
          </a:p>
          <a:p>
            <a:pPr marL="0" indent="0">
              <a:buNone/>
            </a:pPr>
            <a:endParaRPr lang="en-US" sz="3200" dirty="0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endParaRPr lang="en-US" sz="3200">
              <a:latin typeface="roboto"/>
              <a:ea typeface="+mj-ea"/>
              <a:cs typeface="Calibri Light"/>
            </a:endParaRPr>
          </a:p>
          <a:p>
            <a:pPr marL="0" indent="0">
              <a:buNone/>
            </a:pPr>
            <a:endParaRPr lang="en-US" sz="32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408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PowerPoint Presentation</vt:lpstr>
      <vt:lpstr>PowerPoint Presentation</vt:lpstr>
      <vt:lpstr>Agenda</vt:lpstr>
      <vt:lpstr>Clients</vt:lpstr>
      <vt:lpstr>Flask</vt:lpstr>
      <vt:lpstr>Flask</vt:lpstr>
      <vt:lpstr>Project Structure</vt:lpstr>
      <vt:lpstr>Current Flask project structure</vt:lpstr>
      <vt:lpstr>Iris Classifier</vt:lpstr>
      <vt:lpstr>Expected Flask project structure</vt:lpstr>
      <vt:lpstr>Curl</vt:lpstr>
      <vt:lpstr>Future Curl Calls (to be developed)</vt:lpstr>
      <vt:lpstr>POSTMAN</vt:lpstr>
      <vt:lpstr>POSTMAN</vt:lpstr>
      <vt:lpstr>PowerPoint Presentation</vt:lpstr>
      <vt:lpstr>PowerPoint Presentation</vt:lpstr>
      <vt:lpstr>Python Web Client</vt:lpstr>
      <vt:lpstr>HTTP Request Methods</vt:lpstr>
      <vt:lpstr>GET</vt:lpstr>
      <vt:lpstr>POST</vt:lpstr>
      <vt:lpstr>PUT</vt:lpstr>
      <vt:lpstr>HEAD</vt:lpstr>
      <vt:lpstr>DELETE</vt:lpstr>
      <vt:lpstr>GET vs POST</vt:lpstr>
      <vt:lpstr>Flask HTTP Methods</vt:lpstr>
      <vt:lpstr>Receive Arguments</vt:lpstr>
      <vt:lpstr>Receive Arguments</vt:lpstr>
      <vt:lpstr>Index.html</vt:lpstr>
      <vt:lpstr>Result.html</vt:lpstr>
      <vt:lpstr>Rendering Templates</vt:lpstr>
      <vt:lpstr>Receive Arguments: Checkbox</vt:lpstr>
      <vt:lpstr>Receive Arguments: Radio Button</vt:lpstr>
      <vt:lpstr>Receive Arguments: File uploads</vt:lpstr>
      <vt:lpstr>Receive Arguments: Secure File uploads</vt:lpstr>
      <vt:lpstr>style.css [Optional]</vt:lpstr>
      <vt:lpstr>All together for a Python Web Client</vt:lpstr>
      <vt:lpstr>Testing Python Web Client</vt:lpstr>
      <vt:lpstr>Further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1058</cp:revision>
  <dcterms:created xsi:type="dcterms:W3CDTF">2020-12-23T22:31:42Z</dcterms:created>
  <dcterms:modified xsi:type="dcterms:W3CDTF">2021-08-09T17:07:39Z</dcterms:modified>
</cp:coreProperties>
</file>