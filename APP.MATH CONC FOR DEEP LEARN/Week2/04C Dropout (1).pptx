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256" r:id="rId5"/>
    <p:sldId id="312" r:id="rId6"/>
    <p:sldId id="313" r:id="rId7"/>
    <p:sldId id="315" r:id="rId8"/>
    <p:sldId id="314" r:id="rId9"/>
    <p:sldId id="317" r:id="rId10"/>
    <p:sldId id="316" r:id="rId11"/>
  </p:sldIdLst>
  <p:sldSz cx="9144000" cy="6858000" type="screen4x3"/>
  <p:notesSz cx="6858000" cy="9144000"/>
  <p:defaultTextStyle>
    <a:defPPr>
      <a:defRPr lang="en-CA"/>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566">
          <p15:clr>
            <a:srgbClr val="A4A3A4"/>
          </p15:clr>
        </p15:guide>
        <p15:guide id="2" pos="129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F3F"/>
    <a:srgbClr val="9FCF67"/>
    <a:srgbClr val="FFD204"/>
    <a:srgbClr val="009DDC"/>
    <a:srgbClr val="70D0F6"/>
    <a:srgbClr val="C3ACD3"/>
    <a:srgbClr val="FCB033"/>
    <a:srgbClr val="F084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772" autoAdjust="0"/>
    <p:restoredTop sz="86271" autoAdjust="0"/>
  </p:normalViewPr>
  <p:slideViewPr>
    <p:cSldViewPr snapToGrid="0">
      <p:cViewPr varScale="1">
        <p:scale>
          <a:sx n="71" d="100"/>
          <a:sy n="71" d="100"/>
        </p:scale>
        <p:origin x="1411" y="53"/>
      </p:cViewPr>
      <p:guideLst>
        <p:guide orient="horz" pos="566"/>
        <p:guide pos="12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0593850-1F1E-7BF0-B0E2-7580595240CE}"/>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cs typeface="+mn-cs"/>
              </a:defRPr>
            </a:lvl1pPr>
          </a:lstStyle>
          <a:p>
            <a:pPr>
              <a:defRPr/>
            </a:pPr>
            <a:endParaRPr lang="en-CA"/>
          </a:p>
        </p:txBody>
      </p:sp>
      <p:sp>
        <p:nvSpPr>
          <p:cNvPr id="3" name="Date Placeholder 2">
            <a:extLst>
              <a:ext uri="{FF2B5EF4-FFF2-40B4-BE49-F238E27FC236}">
                <a16:creationId xmlns:a16="http://schemas.microsoft.com/office/drawing/2014/main" id="{2E244AB7-6E88-A1B7-40B9-A09EFD437CF4}"/>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cs typeface="+mn-cs"/>
              </a:defRPr>
            </a:lvl1pPr>
          </a:lstStyle>
          <a:p>
            <a:pPr>
              <a:defRPr/>
            </a:pPr>
            <a:fld id="{C99CEA0A-60C9-4B6F-B398-20AD84FA8DB7}" type="datetimeFigureOut">
              <a:rPr lang="en-CA"/>
              <a:pPr>
                <a:defRPr/>
              </a:pPr>
              <a:t>2023-05-30</a:t>
            </a:fld>
            <a:endParaRPr lang="en-CA"/>
          </a:p>
        </p:txBody>
      </p:sp>
      <p:sp>
        <p:nvSpPr>
          <p:cNvPr id="4" name="Slide Image Placeholder 3">
            <a:extLst>
              <a:ext uri="{FF2B5EF4-FFF2-40B4-BE49-F238E27FC236}">
                <a16:creationId xmlns:a16="http://schemas.microsoft.com/office/drawing/2014/main" id="{FC1D453F-18DB-612F-3D41-B32148FADDF2}"/>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CA" noProof="0"/>
          </a:p>
        </p:txBody>
      </p:sp>
      <p:sp>
        <p:nvSpPr>
          <p:cNvPr id="5" name="Notes Placeholder 4">
            <a:extLst>
              <a:ext uri="{FF2B5EF4-FFF2-40B4-BE49-F238E27FC236}">
                <a16:creationId xmlns:a16="http://schemas.microsoft.com/office/drawing/2014/main" id="{33D69105-C899-1413-3AE7-311A80968AB8}"/>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a:extLst>
              <a:ext uri="{FF2B5EF4-FFF2-40B4-BE49-F238E27FC236}">
                <a16:creationId xmlns:a16="http://schemas.microsoft.com/office/drawing/2014/main" id="{E7916D5E-A83C-D97B-ED83-41D46956D49F}"/>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cs typeface="+mn-cs"/>
              </a:defRPr>
            </a:lvl1pPr>
          </a:lstStyle>
          <a:p>
            <a:pPr>
              <a:defRPr/>
            </a:pPr>
            <a:endParaRPr lang="en-CA"/>
          </a:p>
        </p:txBody>
      </p:sp>
      <p:sp>
        <p:nvSpPr>
          <p:cNvPr id="7" name="Slide Number Placeholder 6">
            <a:extLst>
              <a:ext uri="{FF2B5EF4-FFF2-40B4-BE49-F238E27FC236}">
                <a16:creationId xmlns:a16="http://schemas.microsoft.com/office/drawing/2014/main" id="{142D18CC-E6A3-9A13-02F1-4F58057FD628}"/>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582542B5-6F87-4A7B-A32F-2AA90D792C13}" type="slidenum">
              <a:rPr lang="en-CA" altLang="en-US"/>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4D7FB5A3-82DE-05E1-BCB4-ED3C257301C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12CA74C9-CCCD-DA01-F8FF-BD09DD4D475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9220" name="Slide Number Placeholder 3">
            <a:extLst>
              <a:ext uri="{FF2B5EF4-FFF2-40B4-BE49-F238E27FC236}">
                <a16:creationId xmlns:a16="http://schemas.microsoft.com/office/drawing/2014/main" id="{CBA9EBC6-166D-DE81-D1B5-6EFD5C3D4A6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BEA2FAA4-C9B6-461D-AAF3-DF914776E970}" type="slidenum">
              <a:rPr lang="en-CA" altLang="en-US">
                <a:latin typeface="Arial" panose="020B0604020202020204" pitchFamily="34" charset="0"/>
              </a:rPr>
              <a:pPr eaLnBrk="1" hangingPunct="1">
                <a:spcBef>
                  <a:spcPct val="0"/>
                </a:spcBef>
              </a:pPr>
              <a:t>1</a:t>
            </a:fld>
            <a:endParaRPr lang="en-CA"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 name="Picture 18" descr="GBC PPT Main">
            <a:extLst>
              <a:ext uri="{FF2B5EF4-FFF2-40B4-BE49-F238E27FC236}">
                <a16:creationId xmlns:a16="http://schemas.microsoft.com/office/drawing/2014/main" id="{88835F98-847F-F040-5D70-3069A835F21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50" y="0"/>
            <a:ext cx="9156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3"/>
          <p:cNvSpPr>
            <a:spLocks noGrp="1" noChangeArrowheads="1"/>
          </p:cNvSpPr>
          <p:nvPr>
            <p:ph type="ctrTitle"/>
          </p:nvPr>
        </p:nvSpPr>
        <p:spPr>
          <a:xfrm>
            <a:off x="1955800" y="517525"/>
            <a:ext cx="7188200" cy="431800"/>
          </a:xfrm>
        </p:spPr>
        <p:txBody>
          <a:bodyPr/>
          <a:lstStyle>
            <a:lvl1pPr>
              <a:defRPr>
                <a:solidFill>
                  <a:schemeClr val="bg1"/>
                </a:solidFill>
              </a:defRPr>
            </a:lvl1pPr>
          </a:lstStyle>
          <a:p>
            <a:pPr lvl="0"/>
            <a:r>
              <a:rPr lang="en-CA" altLang="en-US" noProof="0" dirty="0"/>
              <a:t>Click to edit Master title style</a:t>
            </a:r>
          </a:p>
        </p:txBody>
      </p:sp>
      <p:sp>
        <p:nvSpPr>
          <p:cNvPr id="3076" name="Rectangle 4"/>
          <p:cNvSpPr>
            <a:spLocks noGrp="1" noChangeArrowheads="1"/>
          </p:cNvSpPr>
          <p:nvPr>
            <p:ph type="subTitle" idx="1"/>
          </p:nvPr>
        </p:nvSpPr>
        <p:spPr>
          <a:xfrm>
            <a:off x="838200" y="2408238"/>
            <a:ext cx="7467600" cy="1752600"/>
          </a:xfrm>
        </p:spPr>
        <p:txBody>
          <a:bodyPr/>
          <a:lstStyle>
            <a:lvl1pPr marL="0" indent="0" algn="ctr">
              <a:buFont typeface="Wingdings" pitchFamily="2" charset="2"/>
              <a:buNone/>
              <a:defRPr sz="4400" b="1"/>
            </a:lvl1pPr>
          </a:lstStyle>
          <a:p>
            <a:pPr lvl="0"/>
            <a:r>
              <a:rPr lang="en-CA" altLang="en-US" noProof="0"/>
              <a:t>Place Header Here</a:t>
            </a:r>
            <a:br>
              <a:rPr lang="en-CA" altLang="en-US" noProof="0"/>
            </a:br>
            <a:r>
              <a:rPr lang="en-CA" altLang="en-US" noProof="0"/>
              <a:t>Place Text Here</a:t>
            </a:r>
          </a:p>
        </p:txBody>
      </p:sp>
    </p:spTree>
    <p:extLst>
      <p:ext uri="{BB962C8B-B14F-4D97-AF65-F5344CB8AC3E}">
        <p14:creationId xmlns:p14="http://schemas.microsoft.com/office/powerpoint/2010/main" val="1476473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71114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949211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399300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5122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3364236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4597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26981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97032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158042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8788" y="381000"/>
            <a:ext cx="2116137" cy="5745163"/>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381000"/>
            <a:ext cx="6199188" cy="5745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012052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930400" y="381000"/>
            <a:ext cx="6994525" cy="633413"/>
          </a:xfrm>
        </p:spPr>
        <p:txBody>
          <a:bodyPr/>
          <a:lstStyle/>
          <a:p>
            <a:r>
              <a:rPr lang="en-US"/>
              <a:t>Click to edit Master title style</a:t>
            </a:r>
            <a:endParaRPr lang="en-CA"/>
          </a:p>
        </p:txBody>
      </p:sp>
      <p:sp>
        <p:nvSpPr>
          <p:cNvPr id="3" name="SmartArt Placeholder 2"/>
          <p:cNvSpPr>
            <a:spLocks noGrp="1"/>
          </p:cNvSpPr>
          <p:nvPr>
            <p:ph type="dgm" idx="1"/>
          </p:nvPr>
        </p:nvSpPr>
        <p:spPr>
          <a:xfrm>
            <a:off x="457200" y="1600200"/>
            <a:ext cx="8229600" cy="4525963"/>
          </a:xfrm>
        </p:spPr>
        <p:txBody>
          <a:bodyPr/>
          <a:lstStyle/>
          <a:p>
            <a:pPr lvl="0"/>
            <a:endParaRPr lang="en-CA" noProof="0" dirty="0"/>
          </a:p>
        </p:txBody>
      </p:sp>
    </p:spTree>
    <p:extLst>
      <p:ext uri="{BB962C8B-B14F-4D97-AF65-F5344CB8AC3E}">
        <p14:creationId xmlns:p14="http://schemas.microsoft.com/office/powerpoint/2010/main" val="3189041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pic>
        <p:nvPicPr>
          <p:cNvPr id="1026" name="Picture 18" descr="Template Slide with white slide Background. The template slide has a top section as a horizontal bar with blue background. The top section contains the George Brown College logo (top left). The footer is separated from the white background with a blue line.">
            <a:extLst>
              <a:ext uri="{FF2B5EF4-FFF2-40B4-BE49-F238E27FC236}">
                <a16:creationId xmlns:a16="http://schemas.microsoft.com/office/drawing/2014/main" id="{9C632BBF-303F-946D-1198-8696403B6B65}"/>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6350" y="0"/>
            <a:ext cx="9156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a:extLst>
              <a:ext uri="{FF2B5EF4-FFF2-40B4-BE49-F238E27FC236}">
                <a16:creationId xmlns:a16="http://schemas.microsoft.com/office/drawing/2014/main" id="{70810032-B722-239B-1F28-DC33F8CE3EC9}"/>
              </a:ext>
            </a:extLst>
          </p:cNvPr>
          <p:cNvSpPr>
            <a:spLocks noGrp="1" noChangeArrowheads="1"/>
          </p:cNvSpPr>
          <p:nvPr>
            <p:ph type="title"/>
          </p:nvPr>
        </p:nvSpPr>
        <p:spPr bwMode="white">
          <a:xfrm>
            <a:off x="1930400" y="381000"/>
            <a:ext cx="6994525" cy="63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CA" altLang="en-US"/>
              <a:t>Click to edit Master title style</a:t>
            </a:r>
          </a:p>
        </p:txBody>
      </p:sp>
      <p:sp>
        <p:nvSpPr>
          <p:cNvPr id="1028" name="Rectangle 3">
            <a:extLst>
              <a:ext uri="{FF2B5EF4-FFF2-40B4-BE49-F238E27FC236}">
                <a16:creationId xmlns:a16="http://schemas.microsoft.com/office/drawing/2014/main" id="{DB56757C-B8DE-D66E-07BD-27FB295018DD}"/>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CA" altLang="en-US"/>
              <a:t>Click to edit Master text styles</a:t>
            </a:r>
          </a:p>
          <a:p>
            <a:pPr lvl="1"/>
            <a:r>
              <a:rPr lang="en-CA" altLang="en-US"/>
              <a:t>Second level</a:t>
            </a:r>
          </a:p>
          <a:p>
            <a:pPr lvl="2"/>
            <a:r>
              <a:rPr lang="en-CA" altLang="en-US"/>
              <a:t>Third level</a:t>
            </a:r>
          </a:p>
          <a:p>
            <a:pPr lvl="3"/>
            <a:r>
              <a:rPr lang="en-CA" altLang="en-US"/>
              <a:t>Fourth level</a:t>
            </a:r>
          </a:p>
          <a:p>
            <a:pPr lvl="4"/>
            <a:r>
              <a:rPr lang="en-CA" altLang="en-US"/>
              <a:t>Fifth level</a:t>
            </a:r>
          </a:p>
        </p:txBody>
      </p:sp>
    </p:spTree>
  </p:cSld>
  <p:clrMap bg1="lt1" tx1="dk1" bg2="lt2" tx2="dk2" accent1="accent1" accent2="accent2" accent3="accent3" accent4="accent4" accent5="accent5" accent6="accent6" hlink="hlink" folHlink="folHlink"/>
  <p:sldLayoutIdLst>
    <p:sldLayoutId id="2147483725"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a:lvl1pPr algn="l" rtl="0" eaLnBrk="0" fontAlgn="base" hangingPunct="0">
        <a:spcBef>
          <a:spcPct val="0"/>
        </a:spcBef>
        <a:spcAft>
          <a:spcPct val="0"/>
        </a:spcAft>
        <a:defRPr sz="3600" b="1">
          <a:solidFill>
            <a:schemeClr val="bg1"/>
          </a:solidFill>
          <a:latin typeface="+mj-lt"/>
          <a:ea typeface="+mj-ea"/>
          <a:cs typeface="+mj-cs"/>
        </a:defRPr>
      </a:lvl1pPr>
      <a:lvl2pPr algn="l" rtl="0" eaLnBrk="0" fontAlgn="base" hangingPunct="0">
        <a:spcBef>
          <a:spcPct val="0"/>
        </a:spcBef>
        <a:spcAft>
          <a:spcPct val="0"/>
        </a:spcAft>
        <a:defRPr sz="3600" b="1">
          <a:solidFill>
            <a:schemeClr val="bg1"/>
          </a:solidFill>
          <a:latin typeface="Arial" charset="0"/>
        </a:defRPr>
      </a:lvl2pPr>
      <a:lvl3pPr algn="l" rtl="0" eaLnBrk="0" fontAlgn="base" hangingPunct="0">
        <a:spcBef>
          <a:spcPct val="0"/>
        </a:spcBef>
        <a:spcAft>
          <a:spcPct val="0"/>
        </a:spcAft>
        <a:defRPr sz="3600" b="1">
          <a:solidFill>
            <a:schemeClr val="bg1"/>
          </a:solidFill>
          <a:latin typeface="Arial" charset="0"/>
        </a:defRPr>
      </a:lvl3pPr>
      <a:lvl4pPr algn="l" rtl="0" eaLnBrk="0" fontAlgn="base" hangingPunct="0">
        <a:spcBef>
          <a:spcPct val="0"/>
        </a:spcBef>
        <a:spcAft>
          <a:spcPct val="0"/>
        </a:spcAft>
        <a:defRPr sz="3600" b="1">
          <a:solidFill>
            <a:schemeClr val="bg1"/>
          </a:solidFill>
          <a:latin typeface="Arial" charset="0"/>
        </a:defRPr>
      </a:lvl4pPr>
      <a:lvl5pPr algn="l" rtl="0" eaLnBrk="0" fontAlgn="base" hangingPunct="0">
        <a:spcBef>
          <a:spcPct val="0"/>
        </a:spcBef>
        <a:spcAft>
          <a:spcPct val="0"/>
        </a:spcAft>
        <a:defRPr sz="3600" b="1">
          <a:solidFill>
            <a:schemeClr val="bg1"/>
          </a:solidFill>
          <a:latin typeface="Arial" charset="0"/>
        </a:defRPr>
      </a:lvl5pPr>
      <a:lvl6pPr marL="457200" algn="l" rtl="0" fontAlgn="base">
        <a:spcBef>
          <a:spcPct val="0"/>
        </a:spcBef>
        <a:spcAft>
          <a:spcPct val="0"/>
        </a:spcAft>
        <a:defRPr sz="3600" b="1">
          <a:solidFill>
            <a:schemeClr val="tx2"/>
          </a:solidFill>
          <a:latin typeface="Arial" charset="0"/>
        </a:defRPr>
      </a:lvl6pPr>
      <a:lvl7pPr marL="914400" algn="l" rtl="0" fontAlgn="base">
        <a:spcBef>
          <a:spcPct val="0"/>
        </a:spcBef>
        <a:spcAft>
          <a:spcPct val="0"/>
        </a:spcAft>
        <a:defRPr sz="3600" b="1">
          <a:solidFill>
            <a:schemeClr val="tx2"/>
          </a:solidFill>
          <a:latin typeface="Arial" charset="0"/>
        </a:defRPr>
      </a:lvl7pPr>
      <a:lvl8pPr marL="1371600" algn="l" rtl="0" fontAlgn="base">
        <a:spcBef>
          <a:spcPct val="0"/>
        </a:spcBef>
        <a:spcAft>
          <a:spcPct val="0"/>
        </a:spcAft>
        <a:defRPr sz="3600" b="1">
          <a:solidFill>
            <a:schemeClr val="tx2"/>
          </a:solidFill>
          <a:latin typeface="Arial" charset="0"/>
        </a:defRPr>
      </a:lvl8pPr>
      <a:lvl9pPr marL="1828800" algn="l" rtl="0" fontAlgn="base">
        <a:spcBef>
          <a:spcPct val="0"/>
        </a:spcBef>
        <a:spcAft>
          <a:spcPct val="0"/>
        </a:spcAft>
        <a:defRPr sz="3600" b="1">
          <a:solidFill>
            <a:schemeClr val="tx2"/>
          </a:solidFill>
          <a:latin typeface="Arial" charset="0"/>
        </a:defRPr>
      </a:lvl9pPr>
    </p:titleStyle>
    <p:bodyStyle>
      <a:lvl1pPr marL="342900" indent="-342900" algn="l" rtl="0" eaLnBrk="0" fontAlgn="base" hangingPunct="0">
        <a:spcBef>
          <a:spcPct val="25000"/>
        </a:spcBef>
        <a:spcAft>
          <a:spcPct val="25000"/>
        </a:spcAft>
        <a:buClr>
          <a:srgbClr val="005AA6"/>
        </a:buClr>
        <a:buFont typeface="Wingdings" panose="05000000000000000000" pitchFamily="2" charset="2"/>
        <a:buChar char="§"/>
        <a:defRPr sz="2800">
          <a:solidFill>
            <a:srgbClr val="4D4D4D"/>
          </a:solidFill>
          <a:latin typeface="+mn-lt"/>
          <a:ea typeface="+mn-ea"/>
          <a:cs typeface="+mn-cs"/>
        </a:defRPr>
      </a:lvl1pPr>
      <a:lvl2pPr marL="742950" indent="-285750" algn="l" rtl="0" eaLnBrk="0" fontAlgn="base" hangingPunct="0">
        <a:spcBef>
          <a:spcPct val="25000"/>
        </a:spcBef>
        <a:spcAft>
          <a:spcPct val="25000"/>
        </a:spcAft>
        <a:buClr>
          <a:srgbClr val="005AA6"/>
        </a:buClr>
        <a:buChar char="–"/>
        <a:defRPr sz="2400">
          <a:solidFill>
            <a:srgbClr val="4D4D4D"/>
          </a:solidFill>
          <a:latin typeface="+mn-lt"/>
        </a:defRPr>
      </a:lvl2pPr>
      <a:lvl3pPr marL="1143000" indent="-228600" algn="l" rtl="0" eaLnBrk="0" fontAlgn="base" hangingPunct="0">
        <a:spcBef>
          <a:spcPct val="25000"/>
        </a:spcBef>
        <a:spcAft>
          <a:spcPct val="25000"/>
        </a:spcAft>
        <a:buClr>
          <a:srgbClr val="005AA6"/>
        </a:buClr>
        <a:buChar char="•"/>
        <a:defRPr sz="2000">
          <a:solidFill>
            <a:srgbClr val="4D4D4D"/>
          </a:solidFill>
          <a:latin typeface="+mn-lt"/>
        </a:defRPr>
      </a:lvl3pPr>
      <a:lvl4pPr marL="1600200" indent="-228600" algn="l" rtl="0" eaLnBrk="0" fontAlgn="base" hangingPunct="0">
        <a:spcBef>
          <a:spcPct val="25000"/>
        </a:spcBef>
        <a:spcAft>
          <a:spcPct val="25000"/>
        </a:spcAft>
        <a:buClr>
          <a:srgbClr val="005AA6"/>
        </a:buClr>
        <a:buChar char="–"/>
        <a:defRPr>
          <a:solidFill>
            <a:srgbClr val="4D4D4D"/>
          </a:solidFill>
          <a:latin typeface="+mn-lt"/>
        </a:defRPr>
      </a:lvl4pPr>
      <a:lvl5pPr marL="2057400" indent="-228600" algn="l" rtl="0" eaLnBrk="0" fontAlgn="base" hangingPunct="0">
        <a:spcBef>
          <a:spcPct val="25000"/>
        </a:spcBef>
        <a:spcAft>
          <a:spcPct val="25000"/>
        </a:spcAft>
        <a:buClr>
          <a:srgbClr val="005AA6"/>
        </a:buClr>
        <a:buChar char="»"/>
        <a:defRPr>
          <a:solidFill>
            <a:srgbClr val="4D4D4D"/>
          </a:solidFill>
          <a:latin typeface="+mn-lt"/>
        </a:defRPr>
      </a:lvl5pPr>
      <a:lvl6pPr marL="2514600" indent="-228600" algn="l" rtl="0" fontAlgn="base">
        <a:spcBef>
          <a:spcPct val="25000"/>
        </a:spcBef>
        <a:spcAft>
          <a:spcPct val="25000"/>
        </a:spcAft>
        <a:buClr>
          <a:srgbClr val="005AA6"/>
        </a:buClr>
        <a:buChar char="»"/>
        <a:defRPr>
          <a:solidFill>
            <a:srgbClr val="4D4D4D"/>
          </a:solidFill>
          <a:latin typeface="+mn-lt"/>
        </a:defRPr>
      </a:lvl6pPr>
      <a:lvl7pPr marL="2971800" indent="-228600" algn="l" rtl="0" fontAlgn="base">
        <a:spcBef>
          <a:spcPct val="25000"/>
        </a:spcBef>
        <a:spcAft>
          <a:spcPct val="25000"/>
        </a:spcAft>
        <a:buClr>
          <a:srgbClr val="005AA6"/>
        </a:buClr>
        <a:buChar char="»"/>
        <a:defRPr>
          <a:solidFill>
            <a:srgbClr val="4D4D4D"/>
          </a:solidFill>
          <a:latin typeface="+mn-lt"/>
        </a:defRPr>
      </a:lvl7pPr>
      <a:lvl8pPr marL="3429000" indent="-228600" algn="l" rtl="0" fontAlgn="base">
        <a:spcBef>
          <a:spcPct val="25000"/>
        </a:spcBef>
        <a:spcAft>
          <a:spcPct val="25000"/>
        </a:spcAft>
        <a:buClr>
          <a:srgbClr val="005AA6"/>
        </a:buClr>
        <a:buChar char="»"/>
        <a:defRPr>
          <a:solidFill>
            <a:srgbClr val="4D4D4D"/>
          </a:solidFill>
          <a:latin typeface="+mn-lt"/>
        </a:defRPr>
      </a:lvl8pPr>
      <a:lvl9pPr marL="3886200" indent="-228600" algn="l" rtl="0" fontAlgn="base">
        <a:spcBef>
          <a:spcPct val="25000"/>
        </a:spcBef>
        <a:spcAft>
          <a:spcPct val="25000"/>
        </a:spcAft>
        <a:buClr>
          <a:srgbClr val="005AA6"/>
        </a:buClr>
        <a:buChar char="»"/>
        <a:defRPr>
          <a:solidFill>
            <a:srgbClr val="4D4D4D"/>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arxiv.org/abs/1207.0580"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0">
            <a:extLst>
              <a:ext uri="{FF2B5EF4-FFF2-40B4-BE49-F238E27FC236}">
                <a16:creationId xmlns:a16="http://schemas.microsoft.com/office/drawing/2014/main" id="{D00018FE-FBE1-A6A6-7F30-27432F9D66C2}"/>
              </a:ext>
            </a:extLst>
          </p:cNvPr>
          <p:cNvSpPr>
            <a:spLocks noGrp="1" noChangeArrowheads="1"/>
          </p:cNvSpPr>
          <p:nvPr>
            <p:ph type="ctrTitle"/>
          </p:nvPr>
        </p:nvSpPr>
        <p:spPr>
          <a:xfrm>
            <a:off x="1955800" y="363150"/>
            <a:ext cx="7188200" cy="431800"/>
          </a:xfrm>
        </p:spPr>
        <p:txBody>
          <a:bodyPr/>
          <a:lstStyle/>
          <a:p>
            <a:pPr eaLnBrk="1" hangingPunct="1"/>
            <a:r>
              <a:rPr lang="en-CA" altLang="en-US" sz="2800" dirty="0"/>
              <a:t>AASD4011: Adv. </a:t>
            </a:r>
            <a:r>
              <a:rPr lang="en-US" altLang="en-US" sz="2800" dirty="0"/>
              <a:t>Mathematical Concepts for Deep Learning</a:t>
            </a:r>
            <a:endParaRPr lang="en-CA" altLang="en-US" sz="2800" dirty="0"/>
          </a:p>
        </p:txBody>
      </p:sp>
      <p:sp>
        <p:nvSpPr>
          <p:cNvPr id="3075" name="Rectangle 21">
            <a:extLst>
              <a:ext uri="{FF2B5EF4-FFF2-40B4-BE49-F238E27FC236}">
                <a16:creationId xmlns:a16="http://schemas.microsoft.com/office/drawing/2014/main" id="{92D337C7-439E-D57C-0D5E-7FA39E1EDADB}"/>
              </a:ext>
            </a:extLst>
          </p:cNvPr>
          <p:cNvSpPr>
            <a:spLocks noGrp="1" noChangeArrowheads="1"/>
          </p:cNvSpPr>
          <p:nvPr>
            <p:ph type="subTitle" idx="1"/>
          </p:nvPr>
        </p:nvSpPr>
        <p:spPr/>
        <p:txBody>
          <a:bodyPr/>
          <a:lstStyle/>
          <a:p>
            <a:pPr eaLnBrk="1" hangingPunct="1"/>
            <a:r>
              <a:rPr lang="en-CA" altLang="en-US" sz="3200" dirty="0"/>
              <a:t>Dropout</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24417-90A3-E5E6-4421-F557A68B08F7}"/>
              </a:ext>
            </a:extLst>
          </p:cNvPr>
          <p:cNvSpPr>
            <a:spLocks noGrp="1"/>
          </p:cNvSpPr>
          <p:nvPr>
            <p:ph type="title"/>
          </p:nvPr>
        </p:nvSpPr>
        <p:spPr/>
        <p:txBody>
          <a:bodyPr/>
          <a:lstStyle/>
          <a:p>
            <a:r>
              <a:rPr lang="en-CA" dirty="0"/>
              <a:t>Dropout</a:t>
            </a:r>
          </a:p>
        </p:txBody>
      </p:sp>
      <p:sp>
        <p:nvSpPr>
          <p:cNvPr id="3" name="TextBox 2">
            <a:extLst>
              <a:ext uri="{FF2B5EF4-FFF2-40B4-BE49-F238E27FC236}">
                <a16:creationId xmlns:a16="http://schemas.microsoft.com/office/drawing/2014/main" id="{E5C26988-5BFD-AFBA-DFC6-CFE20A388EE3}"/>
              </a:ext>
            </a:extLst>
          </p:cNvPr>
          <p:cNvSpPr txBox="1"/>
          <p:nvPr/>
        </p:nvSpPr>
        <p:spPr>
          <a:xfrm>
            <a:off x="193638" y="1323191"/>
            <a:ext cx="8563087" cy="3416320"/>
          </a:xfrm>
          <a:prstGeom prst="rect">
            <a:avLst/>
          </a:prstGeom>
          <a:noFill/>
        </p:spPr>
        <p:txBody>
          <a:bodyPr wrap="square" rtlCol="0">
            <a:spAutoFit/>
          </a:bodyPr>
          <a:lstStyle/>
          <a:p>
            <a:pPr marL="342900" indent="-342900">
              <a:buFont typeface="+mj-lt"/>
              <a:buAutoNum type="arabicPeriod"/>
            </a:pPr>
            <a:r>
              <a:rPr lang="en-US" sz="2400" dirty="0"/>
              <a:t>Dropout is a regularization technique for reducing overfitting in artificial neural networks. </a:t>
            </a:r>
          </a:p>
          <a:p>
            <a:pPr marL="342900" indent="-342900">
              <a:buFont typeface="+mj-lt"/>
              <a:buAutoNum type="arabicPeriod"/>
            </a:pPr>
            <a:endParaRPr lang="en-US" sz="2400" dirty="0"/>
          </a:p>
          <a:p>
            <a:pPr marL="342900" indent="-342900">
              <a:buFont typeface="+mj-lt"/>
              <a:buAutoNum type="arabicPeriod"/>
            </a:pPr>
            <a:r>
              <a:rPr lang="en-US" sz="2400" dirty="0"/>
              <a:t>The method works by randomly "dropping out," or turning off, a proportion of neurons </a:t>
            </a:r>
            <a:r>
              <a:rPr lang="en-US" sz="2400" b="1" dirty="0"/>
              <a:t>during training</a:t>
            </a:r>
            <a:r>
              <a:rPr lang="en-US" sz="2400" dirty="0"/>
              <a:t>.</a:t>
            </a:r>
          </a:p>
          <a:p>
            <a:pPr marL="342900" indent="-342900">
              <a:buFont typeface="+mj-lt"/>
              <a:buAutoNum type="arabicPeriod"/>
            </a:pPr>
            <a:endParaRPr lang="en-US" sz="2400" dirty="0"/>
          </a:p>
          <a:p>
            <a:pPr marL="342900" indent="-342900">
              <a:buFont typeface="+mj-lt"/>
              <a:buAutoNum type="arabicPeriod"/>
            </a:pPr>
            <a:r>
              <a:rPr lang="en-US" sz="2400" dirty="0"/>
              <a:t>This has the effect of making the model more robust, as it has to learn to make predictions with a less-than-complete view of the input data.</a:t>
            </a:r>
            <a:endParaRPr lang="en-CA" sz="2400" dirty="0"/>
          </a:p>
        </p:txBody>
      </p:sp>
    </p:spTree>
    <p:extLst>
      <p:ext uri="{BB962C8B-B14F-4D97-AF65-F5344CB8AC3E}">
        <p14:creationId xmlns:p14="http://schemas.microsoft.com/office/powerpoint/2010/main" val="3539373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24417-90A3-E5E6-4421-F557A68B08F7}"/>
              </a:ext>
            </a:extLst>
          </p:cNvPr>
          <p:cNvSpPr>
            <a:spLocks noGrp="1"/>
          </p:cNvSpPr>
          <p:nvPr>
            <p:ph type="title"/>
          </p:nvPr>
        </p:nvSpPr>
        <p:spPr/>
        <p:txBody>
          <a:bodyPr/>
          <a:lstStyle/>
          <a:p>
            <a:r>
              <a:rPr lang="en-CA" dirty="0"/>
              <a:t>Dropout</a:t>
            </a:r>
          </a:p>
        </p:txBody>
      </p:sp>
      <p:sp>
        <p:nvSpPr>
          <p:cNvPr id="4" name="TextBox 3">
            <a:extLst>
              <a:ext uri="{FF2B5EF4-FFF2-40B4-BE49-F238E27FC236}">
                <a16:creationId xmlns:a16="http://schemas.microsoft.com/office/drawing/2014/main" id="{6D978E7F-9189-F274-F843-FBD09C8FC7F8}"/>
              </a:ext>
            </a:extLst>
          </p:cNvPr>
          <p:cNvSpPr txBox="1"/>
          <p:nvPr/>
        </p:nvSpPr>
        <p:spPr>
          <a:xfrm>
            <a:off x="0" y="1120676"/>
            <a:ext cx="4572000" cy="369332"/>
          </a:xfrm>
          <a:prstGeom prst="rect">
            <a:avLst/>
          </a:prstGeom>
          <a:noFill/>
        </p:spPr>
        <p:txBody>
          <a:bodyPr wrap="square">
            <a:spAutoFit/>
          </a:bodyPr>
          <a:lstStyle/>
          <a:p>
            <a:r>
              <a:rPr lang="en-CA" b="1" dirty="0"/>
              <a:t>Neural Network without Dropout</a:t>
            </a:r>
          </a:p>
        </p:txBody>
      </p:sp>
      <p:sp>
        <p:nvSpPr>
          <p:cNvPr id="6" name="TextBox 5">
            <a:extLst>
              <a:ext uri="{FF2B5EF4-FFF2-40B4-BE49-F238E27FC236}">
                <a16:creationId xmlns:a16="http://schemas.microsoft.com/office/drawing/2014/main" id="{586BF9AB-2EFF-3EB0-ADF6-A1A9A68E369C}"/>
              </a:ext>
            </a:extLst>
          </p:cNvPr>
          <p:cNvSpPr txBox="1"/>
          <p:nvPr/>
        </p:nvSpPr>
        <p:spPr>
          <a:xfrm>
            <a:off x="4539728" y="1120676"/>
            <a:ext cx="4604272" cy="1661993"/>
          </a:xfrm>
          <a:prstGeom prst="rect">
            <a:avLst/>
          </a:prstGeom>
          <a:noFill/>
        </p:spPr>
        <p:txBody>
          <a:bodyPr wrap="square">
            <a:spAutoFit/>
          </a:bodyPr>
          <a:lstStyle/>
          <a:p>
            <a:r>
              <a:rPr lang="en-CA" b="1" dirty="0"/>
              <a:t>Neural Network with Dropout</a:t>
            </a:r>
          </a:p>
          <a:p>
            <a:r>
              <a:rPr lang="en-CA" sz="1400" dirty="0"/>
              <a:t>This graph depicts the same neural network, but now with dropout applied. Some nodes in the hidden layer are turned off randomly, indicating the effect of the dropout algorithm. The turned-off nodes do not contribute to the network during a specific iteration of training.</a:t>
            </a:r>
          </a:p>
        </p:txBody>
      </p:sp>
      <p:pic>
        <p:nvPicPr>
          <p:cNvPr id="8" name="Picture 7">
            <a:extLst>
              <a:ext uri="{FF2B5EF4-FFF2-40B4-BE49-F238E27FC236}">
                <a16:creationId xmlns:a16="http://schemas.microsoft.com/office/drawing/2014/main" id="{E71983D2-37B6-E6CC-1C0C-4EAA382B8990}"/>
              </a:ext>
            </a:extLst>
          </p:cNvPr>
          <p:cNvPicPr>
            <a:picLocks noChangeAspect="1"/>
          </p:cNvPicPr>
          <p:nvPr/>
        </p:nvPicPr>
        <p:blipFill rotWithShape="1">
          <a:blip r:embed="rId2"/>
          <a:srcRect l="3997"/>
          <a:stretch/>
        </p:blipFill>
        <p:spPr>
          <a:xfrm>
            <a:off x="321632" y="3167781"/>
            <a:ext cx="3928735" cy="2781541"/>
          </a:xfrm>
          <a:prstGeom prst="rect">
            <a:avLst/>
          </a:prstGeom>
        </p:spPr>
      </p:pic>
      <p:pic>
        <p:nvPicPr>
          <p:cNvPr id="10" name="Picture 9">
            <a:extLst>
              <a:ext uri="{FF2B5EF4-FFF2-40B4-BE49-F238E27FC236}">
                <a16:creationId xmlns:a16="http://schemas.microsoft.com/office/drawing/2014/main" id="{44105466-774A-BFE6-7312-9EED675C2667}"/>
              </a:ext>
            </a:extLst>
          </p:cNvPr>
          <p:cNvPicPr>
            <a:picLocks noChangeAspect="1"/>
          </p:cNvPicPr>
          <p:nvPr/>
        </p:nvPicPr>
        <p:blipFill>
          <a:blip r:embed="rId3"/>
          <a:stretch>
            <a:fillRect/>
          </a:stretch>
        </p:blipFill>
        <p:spPr>
          <a:xfrm>
            <a:off x="4840251" y="3205884"/>
            <a:ext cx="4084674" cy="2705334"/>
          </a:xfrm>
          <a:prstGeom prst="rect">
            <a:avLst/>
          </a:prstGeom>
        </p:spPr>
      </p:pic>
    </p:spTree>
    <p:extLst>
      <p:ext uri="{BB962C8B-B14F-4D97-AF65-F5344CB8AC3E}">
        <p14:creationId xmlns:p14="http://schemas.microsoft.com/office/powerpoint/2010/main" val="225756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D467E-E83C-C9C6-A945-146BC6D67CCD}"/>
              </a:ext>
            </a:extLst>
          </p:cNvPr>
          <p:cNvSpPr>
            <a:spLocks noGrp="1"/>
          </p:cNvSpPr>
          <p:nvPr>
            <p:ph type="title"/>
          </p:nvPr>
        </p:nvSpPr>
        <p:spPr/>
        <p:txBody>
          <a:bodyPr/>
          <a:lstStyle/>
          <a:p>
            <a:r>
              <a:rPr lang="en-CA" dirty="0"/>
              <a:t>Dropout</a:t>
            </a:r>
          </a:p>
        </p:txBody>
      </p:sp>
      <p:pic>
        <p:nvPicPr>
          <p:cNvPr id="5" name="Picture 4">
            <a:extLst>
              <a:ext uri="{FF2B5EF4-FFF2-40B4-BE49-F238E27FC236}">
                <a16:creationId xmlns:a16="http://schemas.microsoft.com/office/drawing/2014/main" id="{23237825-9A1B-0242-87A1-6C2C84DAB9F8}"/>
              </a:ext>
            </a:extLst>
          </p:cNvPr>
          <p:cNvPicPr>
            <a:picLocks noChangeAspect="1"/>
          </p:cNvPicPr>
          <p:nvPr/>
        </p:nvPicPr>
        <p:blipFill>
          <a:blip r:embed="rId2"/>
          <a:stretch>
            <a:fillRect/>
          </a:stretch>
        </p:blipFill>
        <p:spPr>
          <a:xfrm>
            <a:off x="0" y="1157963"/>
            <a:ext cx="9144000" cy="4542074"/>
          </a:xfrm>
          <a:prstGeom prst="rect">
            <a:avLst/>
          </a:prstGeom>
        </p:spPr>
      </p:pic>
      <p:sp>
        <p:nvSpPr>
          <p:cNvPr id="7" name="TextBox 6">
            <a:extLst>
              <a:ext uri="{FF2B5EF4-FFF2-40B4-BE49-F238E27FC236}">
                <a16:creationId xmlns:a16="http://schemas.microsoft.com/office/drawing/2014/main" id="{878F92B1-B451-9B30-7EEE-4E91B0064E60}"/>
              </a:ext>
            </a:extLst>
          </p:cNvPr>
          <p:cNvSpPr txBox="1"/>
          <p:nvPr/>
        </p:nvSpPr>
        <p:spPr>
          <a:xfrm>
            <a:off x="0" y="6563974"/>
            <a:ext cx="4582758" cy="307777"/>
          </a:xfrm>
          <a:prstGeom prst="rect">
            <a:avLst/>
          </a:prstGeom>
          <a:noFill/>
        </p:spPr>
        <p:txBody>
          <a:bodyPr wrap="square">
            <a:spAutoFit/>
          </a:bodyPr>
          <a:lstStyle/>
          <a:p>
            <a:r>
              <a:rPr lang="en-CA" sz="1400" dirty="0">
                <a:hlinkClick r:id="rId3"/>
              </a:rPr>
              <a:t>https://arxiv.org/abs/1207.0580</a:t>
            </a:r>
            <a:endParaRPr lang="en-CA" sz="1400" dirty="0"/>
          </a:p>
        </p:txBody>
      </p:sp>
    </p:spTree>
    <p:extLst>
      <p:ext uri="{BB962C8B-B14F-4D97-AF65-F5344CB8AC3E}">
        <p14:creationId xmlns:p14="http://schemas.microsoft.com/office/powerpoint/2010/main" val="2070983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24417-90A3-E5E6-4421-F557A68B08F7}"/>
              </a:ext>
            </a:extLst>
          </p:cNvPr>
          <p:cNvSpPr>
            <a:spLocks noGrp="1"/>
          </p:cNvSpPr>
          <p:nvPr>
            <p:ph type="title"/>
          </p:nvPr>
        </p:nvSpPr>
        <p:spPr/>
        <p:txBody>
          <a:bodyPr/>
          <a:lstStyle/>
          <a:p>
            <a:r>
              <a:rPr lang="en-CA" dirty="0"/>
              <a:t>Dropout - Implementation</a:t>
            </a:r>
          </a:p>
        </p:txBody>
      </p:sp>
      <p:sp>
        <p:nvSpPr>
          <p:cNvPr id="8" name="TextBox 7">
            <a:extLst>
              <a:ext uri="{FF2B5EF4-FFF2-40B4-BE49-F238E27FC236}">
                <a16:creationId xmlns:a16="http://schemas.microsoft.com/office/drawing/2014/main" id="{6363C8A6-80F9-2B35-FDF6-5BFA5C9EF122}"/>
              </a:ext>
            </a:extLst>
          </p:cNvPr>
          <p:cNvSpPr txBox="1"/>
          <p:nvPr/>
        </p:nvSpPr>
        <p:spPr>
          <a:xfrm>
            <a:off x="161365" y="1712260"/>
            <a:ext cx="4410635" cy="1815882"/>
          </a:xfrm>
          <a:prstGeom prst="rect">
            <a:avLst/>
          </a:prstGeom>
          <a:solidFill>
            <a:schemeClr val="tx1"/>
          </a:solidFill>
        </p:spPr>
        <p:txBody>
          <a:bodyPr wrap="square">
            <a:spAutoFit/>
          </a:bodyPr>
          <a:lstStyle/>
          <a:p>
            <a:r>
              <a:rPr lang="en-CA" sz="1400" b="0" i="0" dirty="0">
                <a:solidFill>
                  <a:srgbClr val="2E95D3"/>
                </a:solidFill>
                <a:effectLst/>
                <a:latin typeface="Söhne Mono"/>
              </a:rPr>
              <a:t>from</a:t>
            </a:r>
            <a:r>
              <a:rPr lang="en-CA" sz="1400" b="0" i="0" dirty="0">
                <a:solidFill>
                  <a:srgbClr val="FFFFFF"/>
                </a:solidFill>
                <a:effectLst/>
                <a:latin typeface="Söhne Mono"/>
              </a:rPr>
              <a:t> </a:t>
            </a:r>
            <a:r>
              <a:rPr lang="en-CA" sz="1400" b="0" i="0" dirty="0" err="1">
                <a:solidFill>
                  <a:srgbClr val="FFFFFF"/>
                </a:solidFill>
                <a:effectLst/>
                <a:latin typeface="Söhne Mono"/>
              </a:rPr>
              <a:t>tensorflow.keras.models</a:t>
            </a:r>
            <a:r>
              <a:rPr lang="en-CA" sz="1400" b="0" i="0" dirty="0">
                <a:solidFill>
                  <a:srgbClr val="FFFFFF"/>
                </a:solidFill>
                <a:effectLst/>
                <a:latin typeface="Söhne Mono"/>
              </a:rPr>
              <a:t> </a:t>
            </a:r>
            <a:r>
              <a:rPr lang="en-CA" sz="1400" b="0" i="0" dirty="0">
                <a:solidFill>
                  <a:srgbClr val="2E95D3"/>
                </a:solidFill>
                <a:effectLst/>
                <a:latin typeface="Söhne Mono"/>
              </a:rPr>
              <a:t>import</a:t>
            </a:r>
            <a:r>
              <a:rPr lang="en-CA" sz="1400" b="0" i="0" dirty="0">
                <a:solidFill>
                  <a:srgbClr val="FFFFFF"/>
                </a:solidFill>
                <a:effectLst/>
                <a:latin typeface="Söhne Mono"/>
              </a:rPr>
              <a:t> Sequential </a:t>
            </a:r>
          </a:p>
          <a:p>
            <a:r>
              <a:rPr lang="en-CA" sz="1400" b="0" i="0" dirty="0">
                <a:solidFill>
                  <a:srgbClr val="2E95D3"/>
                </a:solidFill>
                <a:effectLst/>
                <a:latin typeface="Söhne Mono"/>
              </a:rPr>
              <a:t>from</a:t>
            </a:r>
            <a:r>
              <a:rPr lang="en-CA" sz="1400" b="0" i="0" dirty="0">
                <a:solidFill>
                  <a:srgbClr val="FFFFFF"/>
                </a:solidFill>
                <a:effectLst/>
                <a:latin typeface="Söhne Mono"/>
              </a:rPr>
              <a:t> </a:t>
            </a:r>
            <a:r>
              <a:rPr lang="en-CA" sz="1400" b="0" i="0" dirty="0" err="1">
                <a:solidFill>
                  <a:srgbClr val="FFFFFF"/>
                </a:solidFill>
                <a:effectLst/>
                <a:latin typeface="Söhne Mono"/>
              </a:rPr>
              <a:t>tensorflow.keras.layers</a:t>
            </a:r>
            <a:r>
              <a:rPr lang="en-CA" sz="1400" b="0" i="0" dirty="0">
                <a:solidFill>
                  <a:srgbClr val="FFFFFF"/>
                </a:solidFill>
                <a:effectLst/>
                <a:latin typeface="Söhne Mono"/>
              </a:rPr>
              <a:t> </a:t>
            </a:r>
            <a:r>
              <a:rPr lang="en-CA" sz="1400" b="0" i="0" dirty="0">
                <a:solidFill>
                  <a:srgbClr val="2E95D3"/>
                </a:solidFill>
                <a:effectLst/>
                <a:latin typeface="Söhne Mono"/>
              </a:rPr>
              <a:t>import</a:t>
            </a:r>
            <a:r>
              <a:rPr lang="en-CA" sz="1400" b="0" i="0" dirty="0">
                <a:solidFill>
                  <a:srgbClr val="FFFFFF"/>
                </a:solidFill>
                <a:effectLst/>
                <a:latin typeface="Söhne Mono"/>
              </a:rPr>
              <a:t> Dense, Dropout </a:t>
            </a:r>
          </a:p>
          <a:p>
            <a:endParaRPr lang="en-CA" sz="1400" dirty="0">
              <a:solidFill>
                <a:srgbClr val="FFFFFF"/>
              </a:solidFill>
              <a:latin typeface="Söhne Mono"/>
            </a:endParaRPr>
          </a:p>
          <a:p>
            <a:r>
              <a:rPr lang="en-CA" sz="1400" b="0" i="0" dirty="0">
                <a:solidFill>
                  <a:srgbClr val="FFFFFF"/>
                </a:solidFill>
                <a:effectLst/>
                <a:latin typeface="Söhne Mono"/>
              </a:rPr>
              <a:t>model = Sequential([</a:t>
            </a:r>
          </a:p>
          <a:p>
            <a:r>
              <a:rPr lang="en-CA" sz="1400" b="0" i="0" dirty="0">
                <a:solidFill>
                  <a:srgbClr val="FFFFFF"/>
                </a:solidFill>
                <a:effectLst/>
                <a:latin typeface="Söhne Mono"/>
              </a:rPr>
              <a:t>  Dense(</a:t>
            </a:r>
            <a:r>
              <a:rPr lang="en-CA" sz="1400" b="0" i="0" dirty="0">
                <a:solidFill>
                  <a:srgbClr val="DF3079"/>
                </a:solidFill>
                <a:effectLst/>
                <a:latin typeface="Söhne Mono"/>
              </a:rPr>
              <a:t>64</a:t>
            </a:r>
            <a:r>
              <a:rPr lang="en-CA" sz="1400" b="0" i="0" dirty="0">
                <a:solidFill>
                  <a:srgbClr val="FFFFFF"/>
                </a:solidFill>
                <a:effectLst/>
                <a:latin typeface="Söhne Mono"/>
              </a:rPr>
              <a:t>, activation=</a:t>
            </a:r>
            <a:r>
              <a:rPr lang="en-CA" sz="1400" b="0" i="0" dirty="0">
                <a:solidFill>
                  <a:srgbClr val="00A67D"/>
                </a:solidFill>
                <a:effectLst/>
                <a:latin typeface="Söhne Mono"/>
              </a:rPr>
              <a:t>'</a:t>
            </a:r>
            <a:r>
              <a:rPr lang="en-CA" sz="1400" b="0" i="0" dirty="0" err="1">
                <a:solidFill>
                  <a:srgbClr val="00A67D"/>
                </a:solidFill>
                <a:effectLst/>
                <a:latin typeface="Söhne Mono"/>
              </a:rPr>
              <a:t>relu</a:t>
            </a:r>
            <a:r>
              <a:rPr lang="en-CA" sz="1400" b="0" i="0" dirty="0">
                <a:solidFill>
                  <a:srgbClr val="00A67D"/>
                </a:solidFill>
                <a:effectLst/>
                <a:latin typeface="Söhne Mono"/>
              </a:rPr>
              <a:t>'</a:t>
            </a:r>
            <a:r>
              <a:rPr lang="en-CA" sz="1400" b="0" i="0" dirty="0">
                <a:solidFill>
                  <a:srgbClr val="FFFFFF"/>
                </a:solidFill>
                <a:effectLst/>
                <a:latin typeface="Söhne Mono"/>
              </a:rPr>
              <a:t>, </a:t>
            </a:r>
            <a:r>
              <a:rPr lang="en-CA" sz="1400" b="0" i="0" dirty="0" err="1">
                <a:solidFill>
                  <a:srgbClr val="FFFFFF"/>
                </a:solidFill>
                <a:effectLst/>
                <a:latin typeface="Söhne Mono"/>
              </a:rPr>
              <a:t>input_shape</a:t>
            </a:r>
            <a:r>
              <a:rPr lang="en-CA" sz="1400" b="0" i="0" dirty="0">
                <a:solidFill>
                  <a:srgbClr val="FFFFFF"/>
                </a:solidFill>
                <a:effectLst/>
                <a:latin typeface="Söhne Mono"/>
              </a:rPr>
              <a:t>=(</a:t>
            </a:r>
            <a:r>
              <a:rPr lang="en-CA" sz="1400" b="0" i="0" dirty="0">
                <a:solidFill>
                  <a:srgbClr val="DF3079"/>
                </a:solidFill>
                <a:effectLst/>
                <a:latin typeface="Söhne Mono"/>
              </a:rPr>
              <a:t>10</a:t>
            </a:r>
            <a:r>
              <a:rPr lang="en-CA" sz="1400" b="0" i="0" dirty="0">
                <a:solidFill>
                  <a:srgbClr val="FFFFFF"/>
                </a:solidFill>
                <a:effectLst/>
                <a:latin typeface="Söhne Mono"/>
              </a:rPr>
              <a:t>,)), </a:t>
            </a:r>
          </a:p>
          <a:p>
            <a:r>
              <a:rPr lang="en-CA" sz="1400" dirty="0">
                <a:solidFill>
                  <a:srgbClr val="FFFFFF"/>
                </a:solidFill>
                <a:latin typeface="Söhne Mono"/>
              </a:rPr>
              <a:t>  </a:t>
            </a:r>
            <a:r>
              <a:rPr lang="en-CA" sz="1400" b="0" i="0" dirty="0">
                <a:solidFill>
                  <a:srgbClr val="FFFFFF"/>
                </a:solidFill>
                <a:effectLst/>
                <a:latin typeface="Söhne Mono"/>
              </a:rPr>
              <a:t>Dropout(</a:t>
            </a:r>
            <a:r>
              <a:rPr lang="en-CA" sz="1400" b="0" i="0" dirty="0">
                <a:solidFill>
                  <a:srgbClr val="DF3079"/>
                </a:solidFill>
                <a:effectLst/>
                <a:latin typeface="Söhne Mono"/>
              </a:rPr>
              <a:t>0.5</a:t>
            </a:r>
            <a:r>
              <a:rPr lang="en-CA" sz="1400" b="0" i="0" dirty="0">
                <a:solidFill>
                  <a:srgbClr val="FFFFFF"/>
                </a:solidFill>
                <a:effectLst/>
                <a:latin typeface="Söhne Mono"/>
              </a:rPr>
              <a:t>),</a:t>
            </a:r>
          </a:p>
          <a:p>
            <a:r>
              <a:rPr lang="en-CA" sz="1400" dirty="0">
                <a:solidFill>
                  <a:srgbClr val="FFFFFF"/>
                </a:solidFill>
                <a:latin typeface="Söhne Mono"/>
              </a:rPr>
              <a:t>  </a:t>
            </a:r>
            <a:r>
              <a:rPr lang="en-CA" sz="1400" b="0" i="0" dirty="0">
                <a:solidFill>
                  <a:srgbClr val="FFFFFF"/>
                </a:solidFill>
                <a:effectLst/>
                <a:latin typeface="Söhne Mono"/>
              </a:rPr>
              <a:t> Dense(</a:t>
            </a:r>
            <a:r>
              <a:rPr lang="en-CA" sz="1400" b="0" i="0" dirty="0">
                <a:solidFill>
                  <a:srgbClr val="DF3079"/>
                </a:solidFill>
                <a:effectLst/>
                <a:latin typeface="Söhne Mono"/>
              </a:rPr>
              <a:t>2</a:t>
            </a:r>
            <a:r>
              <a:rPr lang="en-CA" sz="1400" b="0" i="0" dirty="0">
                <a:solidFill>
                  <a:srgbClr val="FFFFFF"/>
                </a:solidFill>
                <a:effectLst/>
                <a:latin typeface="Söhne Mono"/>
              </a:rPr>
              <a:t>)</a:t>
            </a:r>
          </a:p>
          <a:p>
            <a:r>
              <a:rPr lang="en-CA" sz="1400" b="0" i="0" dirty="0">
                <a:solidFill>
                  <a:srgbClr val="FFFFFF"/>
                </a:solidFill>
                <a:effectLst/>
                <a:latin typeface="Söhne Mono"/>
              </a:rPr>
              <a:t>])</a:t>
            </a:r>
            <a:endParaRPr lang="en-CA" sz="1400" dirty="0"/>
          </a:p>
        </p:txBody>
      </p:sp>
      <p:sp>
        <p:nvSpPr>
          <p:cNvPr id="10" name="TextBox 9">
            <a:extLst>
              <a:ext uri="{FF2B5EF4-FFF2-40B4-BE49-F238E27FC236}">
                <a16:creationId xmlns:a16="http://schemas.microsoft.com/office/drawing/2014/main" id="{C155D847-1A70-032F-175A-3313B7FE31F9}"/>
              </a:ext>
            </a:extLst>
          </p:cNvPr>
          <p:cNvSpPr txBox="1"/>
          <p:nvPr/>
        </p:nvSpPr>
        <p:spPr>
          <a:xfrm>
            <a:off x="4718685" y="1712260"/>
            <a:ext cx="4410635" cy="3323987"/>
          </a:xfrm>
          <a:prstGeom prst="rect">
            <a:avLst/>
          </a:prstGeom>
          <a:solidFill>
            <a:schemeClr val="tx1"/>
          </a:solidFill>
        </p:spPr>
        <p:txBody>
          <a:bodyPr wrap="square">
            <a:spAutoFit/>
          </a:bodyPr>
          <a:lstStyle/>
          <a:p>
            <a:r>
              <a:rPr lang="en-CA" sz="1400" b="0" i="0" dirty="0">
                <a:solidFill>
                  <a:srgbClr val="2E95D3"/>
                </a:solidFill>
                <a:effectLst/>
                <a:latin typeface="Söhne Mono"/>
              </a:rPr>
              <a:t>import</a:t>
            </a:r>
            <a:r>
              <a:rPr lang="en-CA" sz="1400" b="0" i="0" dirty="0">
                <a:solidFill>
                  <a:srgbClr val="FFFFFF"/>
                </a:solidFill>
                <a:effectLst/>
                <a:latin typeface="Söhne Mono"/>
              </a:rPr>
              <a:t> torch</a:t>
            </a:r>
          </a:p>
          <a:p>
            <a:r>
              <a:rPr lang="en-CA" sz="1400" b="0" i="0" dirty="0">
                <a:solidFill>
                  <a:srgbClr val="2E95D3"/>
                </a:solidFill>
                <a:effectLst/>
                <a:latin typeface="Söhne Mono"/>
              </a:rPr>
              <a:t>from</a:t>
            </a:r>
            <a:r>
              <a:rPr lang="en-CA" sz="1400" b="0" i="0" dirty="0">
                <a:solidFill>
                  <a:srgbClr val="FFFFFF"/>
                </a:solidFill>
                <a:effectLst/>
                <a:latin typeface="Söhne Mono"/>
              </a:rPr>
              <a:t> torch </a:t>
            </a:r>
            <a:r>
              <a:rPr lang="en-CA" sz="1400" b="0" i="0" dirty="0">
                <a:solidFill>
                  <a:srgbClr val="2E95D3"/>
                </a:solidFill>
                <a:effectLst/>
                <a:latin typeface="Söhne Mono"/>
              </a:rPr>
              <a:t>import</a:t>
            </a:r>
            <a:r>
              <a:rPr lang="en-CA" sz="1400" b="0" i="0" dirty="0">
                <a:solidFill>
                  <a:srgbClr val="FFFFFF"/>
                </a:solidFill>
                <a:effectLst/>
                <a:latin typeface="Söhne Mono"/>
              </a:rPr>
              <a:t> </a:t>
            </a:r>
            <a:r>
              <a:rPr lang="en-CA" sz="1400" b="0" i="0" dirty="0" err="1">
                <a:solidFill>
                  <a:srgbClr val="FFFFFF"/>
                </a:solidFill>
                <a:effectLst/>
                <a:latin typeface="Söhne Mono"/>
              </a:rPr>
              <a:t>nn</a:t>
            </a:r>
            <a:r>
              <a:rPr lang="en-CA" sz="1400" b="0" i="0" dirty="0">
                <a:solidFill>
                  <a:srgbClr val="FFFFFF"/>
                </a:solidFill>
                <a:effectLst/>
                <a:latin typeface="Söhne Mono"/>
              </a:rPr>
              <a:t> </a:t>
            </a:r>
          </a:p>
          <a:p>
            <a:endParaRPr lang="en-CA" sz="1400" dirty="0">
              <a:solidFill>
                <a:srgbClr val="FFFFFF"/>
              </a:solidFill>
              <a:latin typeface="Söhne Mono"/>
            </a:endParaRPr>
          </a:p>
          <a:p>
            <a:r>
              <a:rPr lang="en-CA" sz="1400" b="0" i="0" dirty="0">
                <a:solidFill>
                  <a:srgbClr val="2E95D3"/>
                </a:solidFill>
                <a:effectLst/>
                <a:latin typeface="Söhne Mono"/>
              </a:rPr>
              <a:t>class</a:t>
            </a:r>
            <a:r>
              <a:rPr lang="en-CA" sz="1400" b="0" i="0" dirty="0">
                <a:solidFill>
                  <a:srgbClr val="FFFFFF"/>
                </a:solidFill>
                <a:effectLst/>
                <a:latin typeface="Söhne Mono"/>
              </a:rPr>
              <a:t> </a:t>
            </a:r>
            <a:r>
              <a:rPr lang="en-CA" sz="1400" b="0" i="0" dirty="0">
                <a:solidFill>
                  <a:srgbClr val="F22C3D"/>
                </a:solidFill>
                <a:effectLst/>
                <a:latin typeface="Söhne Mono"/>
              </a:rPr>
              <a:t>Model</a:t>
            </a:r>
            <a:r>
              <a:rPr lang="en-CA" sz="1400" b="0" i="0" dirty="0">
                <a:solidFill>
                  <a:srgbClr val="FFFFFF"/>
                </a:solidFill>
                <a:effectLst/>
                <a:latin typeface="Söhne Mono"/>
              </a:rPr>
              <a:t>(</a:t>
            </a:r>
            <a:r>
              <a:rPr lang="en-CA" sz="1400" b="0" i="0" dirty="0" err="1">
                <a:solidFill>
                  <a:srgbClr val="FFFFFF"/>
                </a:solidFill>
                <a:effectLst/>
                <a:latin typeface="Söhne Mono"/>
              </a:rPr>
              <a:t>nn.Module</a:t>
            </a:r>
            <a:r>
              <a:rPr lang="en-CA" sz="1400" b="0" i="0" dirty="0">
                <a:solidFill>
                  <a:srgbClr val="FFFFFF"/>
                </a:solidFill>
                <a:effectLst/>
                <a:latin typeface="Söhne Mono"/>
              </a:rPr>
              <a:t>): </a:t>
            </a:r>
            <a:endParaRPr lang="en-CA" sz="1400" dirty="0">
              <a:solidFill>
                <a:srgbClr val="FFFFFF"/>
              </a:solidFill>
              <a:latin typeface="Söhne Mono"/>
            </a:endParaRPr>
          </a:p>
          <a:p>
            <a:r>
              <a:rPr lang="en-CA" sz="1400" b="0" i="0" dirty="0">
                <a:solidFill>
                  <a:srgbClr val="FFFFFF"/>
                </a:solidFill>
                <a:effectLst/>
                <a:latin typeface="Söhne Mono"/>
              </a:rPr>
              <a:t>  </a:t>
            </a:r>
            <a:r>
              <a:rPr lang="en-CA" sz="1400" b="0" i="0" dirty="0">
                <a:solidFill>
                  <a:srgbClr val="2E95D3"/>
                </a:solidFill>
                <a:effectLst/>
                <a:latin typeface="Söhne Mono"/>
              </a:rPr>
              <a:t>def</a:t>
            </a:r>
            <a:r>
              <a:rPr lang="en-CA" sz="1400" b="0" i="0" dirty="0">
                <a:solidFill>
                  <a:srgbClr val="FFFFFF"/>
                </a:solidFill>
                <a:effectLst/>
                <a:latin typeface="Söhne Mono"/>
              </a:rPr>
              <a:t> </a:t>
            </a:r>
            <a:r>
              <a:rPr lang="en-CA" sz="1400" b="0" i="0" dirty="0">
                <a:solidFill>
                  <a:srgbClr val="F22C3D"/>
                </a:solidFill>
                <a:effectLst/>
                <a:latin typeface="Söhne Mono"/>
              </a:rPr>
              <a:t>__</a:t>
            </a:r>
            <a:r>
              <a:rPr lang="en-CA" sz="1400" b="0" i="0" dirty="0" err="1">
                <a:solidFill>
                  <a:srgbClr val="F22C3D"/>
                </a:solidFill>
                <a:effectLst/>
                <a:latin typeface="Söhne Mono"/>
              </a:rPr>
              <a:t>init</a:t>
            </a:r>
            <a:r>
              <a:rPr lang="en-CA" sz="1400" b="0" i="0" dirty="0">
                <a:solidFill>
                  <a:srgbClr val="F22C3D"/>
                </a:solidFill>
                <a:effectLst/>
                <a:latin typeface="Söhne Mono"/>
              </a:rPr>
              <a:t>__</a:t>
            </a:r>
            <a:r>
              <a:rPr lang="en-CA" sz="1400" b="0" i="0" dirty="0">
                <a:solidFill>
                  <a:srgbClr val="FFFFFF"/>
                </a:solidFill>
                <a:effectLst/>
                <a:latin typeface="Söhne Mono"/>
              </a:rPr>
              <a:t>(self): </a:t>
            </a:r>
            <a:r>
              <a:rPr lang="en-CA" sz="1400" b="0" i="0" dirty="0">
                <a:solidFill>
                  <a:srgbClr val="E9950C"/>
                </a:solidFill>
                <a:effectLst/>
                <a:latin typeface="Söhne Mono"/>
              </a:rPr>
              <a:t>super</a:t>
            </a:r>
            <a:r>
              <a:rPr lang="en-CA" sz="1400" b="0" i="0" dirty="0">
                <a:solidFill>
                  <a:srgbClr val="FFFFFF"/>
                </a:solidFill>
                <a:effectLst/>
                <a:latin typeface="Söhne Mono"/>
              </a:rPr>
              <a:t>(Model, self).__</a:t>
            </a:r>
            <a:r>
              <a:rPr lang="en-CA" sz="1400" b="0" i="0" dirty="0" err="1">
                <a:solidFill>
                  <a:srgbClr val="FFFFFF"/>
                </a:solidFill>
                <a:effectLst/>
                <a:latin typeface="Söhne Mono"/>
              </a:rPr>
              <a:t>init</a:t>
            </a:r>
            <a:r>
              <a:rPr lang="en-CA" sz="1400" b="0" i="0" dirty="0">
                <a:solidFill>
                  <a:srgbClr val="FFFFFF"/>
                </a:solidFill>
                <a:effectLst/>
                <a:latin typeface="Söhne Mono"/>
              </a:rPr>
              <a:t>__()    </a:t>
            </a:r>
          </a:p>
          <a:p>
            <a:r>
              <a:rPr lang="en-CA" sz="1400" dirty="0">
                <a:solidFill>
                  <a:srgbClr val="FFFFFF"/>
                </a:solidFill>
                <a:latin typeface="Söhne Mono"/>
              </a:rPr>
              <a:t>    </a:t>
            </a:r>
            <a:r>
              <a:rPr lang="en-CA" sz="1400" b="0" i="0" dirty="0">
                <a:solidFill>
                  <a:srgbClr val="FFFFFF"/>
                </a:solidFill>
                <a:effectLst/>
                <a:latin typeface="Söhne Mono"/>
              </a:rPr>
              <a:t>self.layer1 = </a:t>
            </a:r>
            <a:r>
              <a:rPr lang="en-CA" sz="1400" b="0" i="0" dirty="0" err="1">
                <a:solidFill>
                  <a:srgbClr val="FFFFFF"/>
                </a:solidFill>
                <a:effectLst/>
                <a:latin typeface="Söhne Mono"/>
              </a:rPr>
              <a:t>nn.Linear</a:t>
            </a:r>
            <a:r>
              <a:rPr lang="en-CA" sz="1400" b="0" i="0" dirty="0">
                <a:solidFill>
                  <a:srgbClr val="FFFFFF"/>
                </a:solidFill>
                <a:effectLst/>
                <a:latin typeface="Söhne Mono"/>
              </a:rPr>
              <a:t>(</a:t>
            </a:r>
            <a:r>
              <a:rPr lang="en-CA" sz="1400" b="0" i="0" dirty="0">
                <a:solidFill>
                  <a:srgbClr val="DF3079"/>
                </a:solidFill>
                <a:effectLst/>
                <a:latin typeface="Söhne Mono"/>
              </a:rPr>
              <a:t>10</a:t>
            </a:r>
            <a:r>
              <a:rPr lang="en-CA" sz="1400" b="0" i="0" dirty="0">
                <a:solidFill>
                  <a:srgbClr val="FFFFFF"/>
                </a:solidFill>
                <a:effectLst/>
                <a:latin typeface="Söhne Mono"/>
              </a:rPr>
              <a:t>, </a:t>
            </a:r>
            <a:r>
              <a:rPr lang="en-CA" sz="1400" b="0" i="0" dirty="0">
                <a:solidFill>
                  <a:srgbClr val="DF3079"/>
                </a:solidFill>
                <a:effectLst/>
                <a:latin typeface="Söhne Mono"/>
              </a:rPr>
              <a:t>64</a:t>
            </a:r>
            <a:r>
              <a:rPr lang="en-CA" sz="1400" b="0" i="0" dirty="0">
                <a:solidFill>
                  <a:srgbClr val="FFFFFF"/>
                </a:solidFill>
                <a:effectLst/>
                <a:latin typeface="Söhne Mono"/>
              </a:rPr>
              <a:t>)</a:t>
            </a:r>
          </a:p>
          <a:p>
            <a:r>
              <a:rPr lang="en-CA" sz="1400" dirty="0">
                <a:solidFill>
                  <a:srgbClr val="FFFFFF"/>
                </a:solidFill>
                <a:latin typeface="Söhne Mono"/>
              </a:rPr>
              <a:t>   </a:t>
            </a:r>
            <a:r>
              <a:rPr lang="en-CA" sz="1400" b="0" i="0" dirty="0">
                <a:solidFill>
                  <a:srgbClr val="FFFFFF"/>
                </a:solidFill>
                <a:effectLst/>
                <a:latin typeface="Söhne Mono"/>
              </a:rPr>
              <a:t> self.layer2 = </a:t>
            </a:r>
            <a:r>
              <a:rPr lang="en-CA" sz="1400" b="0" i="0" dirty="0" err="1">
                <a:solidFill>
                  <a:srgbClr val="FFFFFF"/>
                </a:solidFill>
                <a:effectLst/>
                <a:latin typeface="Söhne Mono"/>
              </a:rPr>
              <a:t>nn.Dropout</a:t>
            </a:r>
            <a:r>
              <a:rPr lang="en-CA" sz="1400" b="0" i="0" dirty="0">
                <a:solidFill>
                  <a:srgbClr val="FFFFFF"/>
                </a:solidFill>
                <a:effectLst/>
                <a:latin typeface="Söhne Mono"/>
              </a:rPr>
              <a:t>(</a:t>
            </a:r>
            <a:r>
              <a:rPr lang="en-CA" sz="1400" b="0" i="0" dirty="0">
                <a:solidFill>
                  <a:srgbClr val="DF3079"/>
                </a:solidFill>
                <a:effectLst/>
                <a:latin typeface="Söhne Mono"/>
              </a:rPr>
              <a:t>0.5</a:t>
            </a:r>
            <a:r>
              <a:rPr lang="en-CA" sz="1400" b="0" i="0" dirty="0">
                <a:solidFill>
                  <a:srgbClr val="FFFFFF"/>
                </a:solidFill>
                <a:effectLst/>
                <a:latin typeface="Söhne Mono"/>
              </a:rPr>
              <a:t>) </a:t>
            </a:r>
          </a:p>
          <a:p>
            <a:r>
              <a:rPr lang="en-CA" sz="1400" dirty="0">
                <a:solidFill>
                  <a:srgbClr val="FFFFFF"/>
                </a:solidFill>
                <a:latin typeface="Söhne Mono"/>
              </a:rPr>
              <a:t>    </a:t>
            </a:r>
            <a:r>
              <a:rPr lang="en-CA" sz="1400" b="0" i="0" dirty="0">
                <a:solidFill>
                  <a:srgbClr val="FFFFFF"/>
                </a:solidFill>
                <a:effectLst/>
                <a:latin typeface="Söhne Mono"/>
              </a:rPr>
              <a:t>self.layer3 = </a:t>
            </a:r>
            <a:r>
              <a:rPr lang="en-CA" sz="1400" b="0" i="0" dirty="0" err="1">
                <a:solidFill>
                  <a:srgbClr val="FFFFFF"/>
                </a:solidFill>
                <a:effectLst/>
                <a:latin typeface="Söhne Mono"/>
              </a:rPr>
              <a:t>nn.Linear</a:t>
            </a:r>
            <a:r>
              <a:rPr lang="en-CA" sz="1400" b="0" i="0" dirty="0">
                <a:solidFill>
                  <a:srgbClr val="FFFFFF"/>
                </a:solidFill>
                <a:effectLst/>
                <a:latin typeface="Söhne Mono"/>
              </a:rPr>
              <a:t>(</a:t>
            </a:r>
            <a:r>
              <a:rPr lang="en-CA" sz="1400" b="0" i="0" dirty="0">
                <a:solidFill>
                  <a:srgbClr val="DF3079"/>
                </a:solidFill>
                <a:effectLst/>
                <a:latin typeface="Söhne Mono"/>
              </a:rPr>
              <a:t>64</a:t>
            </a:r>
            <a:r>
              <a:rPr lang="en-CA" sz="1400" b="0" i="0" dirty="0">
                <a:solidFill>
                  <a:srgbClr val="FFFFFF"/>
                </a:solidFill>
                <a:effectLst/>
                <a:latin typeface="Söhne Mono"/>
              </a:rPr>
              <a:t>, </a:t>
            </a:r>
            <a:r>
              <a:rPr lang="en-CA" sz="1400" b="0" i="0" dirty="0">
                <a:solidFill>
                  <a:srgbClr val="DF3079"/>
                </a:solidFill>
                <a:effectLst/>
                <a:latin typeface="Söhne Mono"/>
              </a:rPr>
              <a:t>2</a:t>
            </a:r>
            <a:r>
              <a:rPr lang="en-CA" sz="1400" b="0" i="0" dirty="0">
                <a:solidFill>
                  <a:srgbClr val="FFFFFF"/>
                </a:solidFill>
                <a:effectLst/>
                <a:latin typeface="Söhne Mono"/>
              </a:rPr>
              <a:t>) </a:t>
            </a:r>
          </a:p>
          <a:p>
            <a:r>
              <a:rPr lang="en-CA" sz="1400" b="0" i="0" dirty="0">
                <a:solidFill>
                  <a:srgbClr val="2E95D3"/>
                </a:solidFill>
                <a:effectLst/>
                <a:latin typeface="Söhne Mono"/>
              </a:rPr>
              <a:t>  def</a:t>
            </a:r>
            <a:r>
              <a:rPr lang="en-CA" sz="1400" b="0" i="0" dirty="0">
                <a:solidFill>
                  <a:srgbClr val="FFFFFF"/>
                </a:solidFill>
                <a:effectLst/>
                <a:latin typeface="Söhne Mono"/>
              </a:rPr>
              <a:t> </a:t>
            </a:r>
            <a:r>
              <a:rPr lang="en-CA" sz="1400" b="0" i="0" dirty="0">
                <a:solidFill>
                  <a:srgbClr val="F22C3D"/>
                </a:solidFill>
                <a:effectLst/>
                <a:latin typeface="Söhne Mono"/>
              </a:rPr>
              <a:t>forward</a:t>
            </a:r>
            <a:r>
              <a:rPr lang="en-CA" sz="1400" b="0" i="0" dirty="0">
                <a:solidFill>
                  <a:srgbClr val="FFFFFF"/>
                </a:solidFill>
                <a:effectLst/>
                <a:latin typeface="Söhne Mono"/>
              </a:rPr>
              <a:t>(self, x): </a:t>
            </a:r>
          </a:p>
          <a:p>
            <a:r>
              <a:rPr lang="en-CA" sz="1400" dirty="0">
                <a:solidFill>
                  <a:srgbClr val="FFFFFF"/>
                </a:solidFill>
                <a:latin typeface="Söhne Mono"/>
              </a:rPr>
              <a:t>    </a:t>
            </a:r>
            <a:r>
              <a:rPr lang="en-CA" sz="1400" b="0" i="0" dirty="0">
                <a:solidFill>
                  <a:srgbClr val="FFFFFF"/>
                </a:solidFill>
                <a:effectLst/>
                <a:latin typeface="Söhne Mono"/>
              </a:rPr>
              <a:t>x = </a:t>
            </a:r>
            <a:r>
              <a:rPr lang="en-CA" sz="1400" b="0" i="0" dirty="0" err="1">
                <a:solidFill>
                  <a:srgbClr val="FFFFFF"/>
                </a:solidFill>
                <a:effectLst/>
                <a:latin typeface="Söhne Mono"/>
              </a:rPr>
              <a:t>torch.relu</a:t>
            </a:r>
            <a:r>
              <a:rPr lang="en-CA" sz="1400" b="0" i="0" dirty="0">
                <a:solidFill>
                  <a:srgbClr val="FFFFFF"/>
                </a:solidFill>
                <a:effectLst/>
                <a:latin typeface="Söhne Mono"/>
              </a:rPr>
              <a:t>(self.layer1(x))</a:t>
            </a:r>
          </a:p>
          <a:p>
            <a:r>
              <a:rPr lang="en-CA" sz="1400" dirty="0">
                <a:solidFill>
                  <a:srgbClr val="FFFFFF"/>
                </a:solidFill>
                <a:latin typeface="Söhne Mono"/>
              </a:rPr>
              <a:t>   </a:t>
            </a:r>
            <a:r>
              <a:rPr lang="en-CA" sz="1400" b="0" i="0" dirty="0">
                <a:solidFill>
                  <a:srgbClr val="FFFFFF"/>
                </a:solidFill>
                <a:effectLst/>
                <a:latin typeface="Söhne Mono"/>
              </a:rPr>
              <a:t> x = self.layer2(x) </a:t>
            </a:r>
          </a:p>
          <a:p>
            <a:r>
              <a:rPr lang="en-CA" sz="1400" dirty="0">
                <a:solidFill>
                  <a:srgbClr val="FFFFFF"/>
                </a:solidFill>
                <a:latin typeface="Söhne Mono"/>
              </a:rPr>
              <a:t>    </a:t>
            </a:r>
            <a:r>
              <a:rPr lang="en-CA" sz="1400" b="0" i="0" dirty="0">
                <a:solidFill>
                  <a:srgbClr val="FFFFFF"/>
                </a:solidFill>
                <a:effectLst/>
                <a:latin typeface="Söhne Mono"/>
              </a:rPr>
              <a:t>x = self.layer3(x) </a:t>
            </a:r>
          </a:p>
          <a:p>
            <a:r>
              <a:rPr lang="en-CA" sz="1400" dirty="0">
                <a:solidFill>
                  <a:srgbClr val="FFFFFF"/>
                </a:solidFill>
                <a:latin typeface="Söhne Mono"/>
              </a:rPr>
              <a:t>    </a:t>
            </a:r>
            <a:r>
              <a:rPr lang="en-CA" sz="1400" b="0" i="0" dirty="0">
                <a:solidFill>
                  <a:srgbClr val="2E95D3"/>
                </a:solidFill>
                <a:effectLst/>
                <a:latin typeface="Söhne Mono"/>
              </a:rPr>
              <a:t>return</a:t>
            </a:r>
            <a:r>
              <a:rPr lang="en-CA" sz="1400" b="0" i="0" dirty="0">
                <a:solidFill>
                  <a:srgbClr val="FFFFFF"/>
                </a:solidFill>
                <a:effectLst/>
                <a:latin typeface="Söhne Mono"/>
              </a:rPr>
              <a:t> x </a:t>
            </a:r>
          </a:p>
          <a:p>
            <a:endParaRPr lang="en-CA" sz="1400" dirty="0">
              <a:solidFill>
                <a:srgbClr val="FFFFFF"/>
              </a:solidFill>
              <a:latin typeface="Söhne Mono"/>
            </a:endParaRPr>
          </a:p>
          <a:p>
            <a:r>
              <a:rPr lang="en-CA" sz="1400" b="0" i="0" dirty="0">
                <a:solidFill>
                  <a:srgbClr val="FFFFFF"/>
                </a:solidFill>
                <a:effectLst/>
                <a:latin typeface="Söhne Mono"/>
              </a:rPr>
              <a:t>model = Model()</a:t>
            </a:r>
            <a:endParaRPr lang="en-CA" sz="1400" dirty="0"/>
          </a:p>
        </p:txBody>
      </p:sp>
      <p:sp>
        <p:nvSpPr>
          <p:cNvPr id="11" name="TextBox 10">
            <a:extLst>
              <a:ext uri="{FF2B5EF4-FFF2-40B4-BE49-F238E27FC236}">
                <a16:creationId xmlns:a16="http://schemas.microsoft.com/office/drawing/2014/main" id="{7CB5446D-6168-A8DF-F046-1BCFD8307B82}"/>
              </a:ext>
            </a:extLst>
          </p:cNvPr>
          <p:cNvSpPr txBox="1"/>
          <p:nvPr/>
        </p:nvSpPr>
        <p:spPr>
          <a:xfrm>
            <a:off x="5762177" y="1307041"/>
            <a:ext cx="3162748" cy="369332"/>
          </a:xfrm>
          <a:prstGeom prst="rect">
            <a:avLst/>
          </a:prstGeom>
          <a:noFill/>
        </p:spPr>
        <p:txBody>
          <a:bodyPr wrap="square" rtlCol="0">
            <a:spAutoFit/>
          </a:bodyPr>
          <a:lstStyle/>
          <a:p>
            <a:r>
              <a:rPr lang="en-CA" dirty="0"/>
              <a:t>PyTorch</a:t>
            </a:r>
          </a:p>
        </p:txBody>
      </p:sp>
      <p:sp>
        <p:nvSpPr>
          <p:cNvPr id="12" name="TextBox 11">
            <a:extLst>
              <a:ext uri="{FF2B5EF4-FFF2-40B4-BE49-F238E27FC236}">
                <a16:creationId xmlns:a16="http://schemas.microsoft.com/office/drawing/2014/main" id="{8CC0B13E-4178-916C-F168-EA586E30D35E}"/>
              </a:ext>
            </a:extLst>
          </p:cNvPr>
          <p:cNvSpPr txBox="1"/>
          <p:nvPr/>
        </p:nvSpPr>
        <p:spPr>
          <a:xfrm>
            <a:off x="765586" y="1307041"/>
            <a:ext cx="3162748" cy="369332"/>
          </a:xfrm>
          <a:prstGeom prst="rect">
            <a:avLst/>
          </a:prstGeom>
          <a:noFill/>
        </p:spPr>
        <p:txBody>
          <a:bodyPr wrap="square" rtlCol="0">
            <a:spAutoFit/>
          </a:bodyPr>
          <a:lstStyle/>
          <a:p>
            <a:r>
              <a:rPr lang="en-CA" dirty="0"/>
              <a:t>Tensorflow</a:t>
            </a:r>
          </a:p>
        </p:txBody>
      </p:sp>
      <p:sp>
        <p:nvSpPr>
          <p:cNvPr id="13" name="TextBox 12">
            <a:extLst>
              <a:ext uri="{FF2B5EF4-FFF2-40B4-BE49-F238E27FC236}">
                <a16:creationId xmlns:a16="http://schemas.microsoft.com/office/drawing/2014/main" id="{651D1600-313B-BBED-A34C-300D59DFE501}"/>
              </a:ext>
            </a:extLst>
          </p:cNvPr>
          <p:cNvSpPr txBox="1"/>
          <p:nvPr/>
        </p:nvSpPr>
        <p:spPr>
          <a:xfrm>
            <a:off x="161365" y="5357308"/>
            <a:ext cx="8627633" cy="646331"/>
          </a:xfrm>
          <a:prstGeom prst="rect">
            <a:avLst/>
          </a:prstGeom>
          <a:noFill/>
        </p:spPr>
        <p:txBody>
          <a:bodyPr wrap="square" rtlCol="0">
            <a:spAutoFit/>
          </a:bodyPr>
          <a:lstStyle/>
          <a:p>
            <a:r>
              <a:rPr lang="en-CA" dirty="0"/>
              <a:t>In both implementations, the Dropout layer is active only during training, and not during inference.</a:t>
            </a:r>
          </a:p>
        </p:txBody>
      </p:sp>
    </p:spTree>
    <p:extLst>
      <p:ext uri="{BB962C8B-B14F-4D97-AF65-F5344CB8AC3E}">
        <p14:creationId xmlns:p14="http://schemas.microsoft.com/office/powerpoint/2010/main" val="2487779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C686E-8EC0-9F8B-1DBA-87F5545B8B09}"/>
              </a:ext>
            </a:extLst>
          </p:cNvPr>
          <p:cNvSpPr>
            <a:spLocks noGrp="1"/>
          </p:cNvSpPr>
          <p:nvPr>
            <p:ph type="title"/>
          </p:nvPr>
        </p:nvSpPr>
        <p:spPr/>
        <p:txBody>
          <a:bodyPr/>
          <a:lstStyle/>
          <a:p>
            <a:r>
              <a:rPr lang="en-CA" dirty="0"/>
              <a:t>Dropout - Implementation</a:t>
            </a:r>
          </a:p>
        </p:txBody>
      </p:sp>
      <p:sp>
        <p:nvSpPr>
          <p:cNvPr id="3" name="Content Placeholder 2">
            <a:extLst>
              <a:ext uri="{FF2B5EF4-FFF2-40B4-BE49-F238E27FC236}">
                <a16:creationId xmlns:a16="http://schemas.microsoft.com/office/drawing/2014/main" id="{F772DB52-3465-C624-7CA8-C70A5628AB9D}"/>
              </a:ext>
            </a:extLst>
          </p:cNvPr>
          <p:cNvSpPr>
            <a:spLocks noGrp="1"/>
          </p:cNvSpPr>
          <p:nvPr>
            <p:ph idx="1"/>
          </p:nvPr>
        </p:nvSpPr>
        <p:spPr/>
        <p:txBody>
          <a:bodyPr/>
          <a:lstStyle/>
          <a:p>
            <a:r>
              <a:rPr lang="en-US" dirty="0"/>
              <a:t>The Dropout layer randomly sets a fraction rate of the input units to 0 at each update during training time, which helps prevent overfitting.</a:t>
            </a:r>
          </a:p>
          <a:p>
            <a:r>
              <a:rPr lang="en-US" dirty="0"/>
              <a:t>With 50% dropout rate - approximately half of the activations of the neurons in the previous layer will set to 0 during a given training step. </a:t>
            </a:r>
          </a:p>
          <a:p>
            <a:r>
              <a:rPr lang="en-US" dirty="0"/>
              <a:t>In each training step, a new random sample is taken.</a:t>
            </a:r>
            <a:endParaRPr lang="en-CA" dirty="0"/>
          </a:p>
        </p:txBody>
      </p:sp>
    </p:spTree>
    <p:extLst>
      <p:ext uri="{BB962C8B-B14F-4D97-AF65-F5344CB8AC3E}">
        <p14:creationId xmlns:p14="http://schemas.microsoft.com/office/powerpoint/2010/main" val="3198527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C7E9D-4B7E-A92E-8F09-647F63582A13}"/>
              </a:ext>
            </a:extLst>
          </p:cNvPr>
          <p:cNvSpPr>
            <a:spLocks noGrp="1"/>
          </p:cNvSpPr>
          <p:nvPr>
            <p:ph type="title"/>
          </p:nvPr>
        </p:nvSpPr>
        <p:spPr/>
        <p:txBody>
          <a:bodyPr/>
          <a:lstStyle/>
          <a:p>
            <a:r>
              <a:rPr lang="en-CA" dirty="0"/>
              <a:t>Dropout – Common Values</a:t>
            </a:r>
          </a:p>
        </p:txBody>
      </p:sp>
      <p:sp>
        <p:nvSpPr>
          <p:cNvPr id="3" name="Content Placeholder 2">
            <a:extLst>
              <a:ext uri="{FF2B5EF4-FFF2-40B4-BE49-F238E27FC236}">
                <a16:creationId xmlns:a16="http://schemas.microsoft.com/office/drawing/2014/main" id="{BF5BFB4D-5409-7FAA-8735-24918D202B54}"/>
              </a:ext>
            </a:extLst>
          </p:cNvPr>
          <p:cNvSpPr>
            <a:spLocks noGrp="1"/>
          </p:cNvSpPr>
          <p:nvPr>
            <p:ph idx="1"/>
          </p:nvPr>
        </p:nvSpPr>
        <p:spPr/>
        <p:txBody>
          <a:bodyPr/>
          <a:lstStyle/>
          <a:p>
            <a:r>
              <a:rPr lang="en-US" sz="1600" dirty="0"/>
              <a:t>The typical values of dropout rates used in practice usually range from 0.2 to 0.5. However, the optimal value can vary depending on the specific dataset and model architecture, and it's often chosen via hyperparameter tuning. Here's a general guideline:</a:t>
            </a:r>
          </a:p>
          <a:p>
            <a:pPr lvl="1"/>
            <a:r>
              <a:rPr lang="en-US" sz="1600" b="1" dirty="0"/>
              <a:t>0.2 - 0.3</a:t>
            </a:r>
            <a:r>
              <a:rPr lang="en-US" sz="1600" dirty="0"/>
              <a:t>: A good starting point for simple models and small datasets.</a:t>
            </a:r>
          </a:p>
          <a:p>
            <a:pPr lvl="1"/>
            <a:r>
              <a:rPr lang="en-US" sz="1600" b="1" dirty="0"/>
              <a:t>0.4 - 0.5</a:t>
            </a:r>
            <a:r>
              <a:rPr lang="en-US" sz="1600" dirty="0"/>
              <a:t>: Commonly used with complex models and larger datasets to prevent overfitting.</a:t>
            </a:r>
          </a:p>
          <a:p>
            <a:endParaRPr lang="en-US" sz="1600" dirty="0"/>
          </a:p>
          <a:p>
            <a:r>
              <a:rPr lang="en-US" sz="1600" dirty="0"/>
              <a:t>Dropout is a regularization technique, and like all regularization techniques, the goal is to prevent overfitting the model to the training data. Therefore, if your model is underfitting, you might want to reduce the dropout rate or remove the dropout layers. Conversely, if your model is overfitting, increasing the dropout rate might help.</a:t>
            </a:r>
          </a:p>
        </p:txBody>
      </p:sp>
    </p:spTree>
    <p:extLst>
      <p:ext uri="{BB962C8B-B14F-4D97-AF65-F5344CB8AC3E}">
        <p14:creationId xmlns:p14="http://schemas.microsoft.com/office/powerpoint/2010/main" val="3774988025"/>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2541F4A2AEEDF4DB6E6832E6C073FD1" ma:contentTypeVersion="3" ma:contentTypeDescription="Create a new document." ma:contentTypeScope="" ma:versionID="9268e19a6822d965796d8c78b08efc5b">
  <xsd:schema xmlns:xsd="http://www.w3.org/2001/XMLSchema" xmlns:xs="http://www.w3.org/2001/XMLSchema" xmlns:p="http://schemas.microsoft.com/office/2006/metadata/properties" xmlns:ns3="471877f5-a38f-4ad0-af4a-779fecd0f16c" targetNamespace="http://schemas.microsoft.com/office/2006/metadata/properties" ma:root="true" ma:fieldsID="08036cfecaa53e246936d3f437a2668d" ns3:_="">
    <xsd:import namespace="471877f5-a38f-4ad0-af4a-779fecd0f16c"/>
    <xsd:element name="properties">
      <xsd:complexType>
        <xsd:sequence>
          <xsd:element name="documentManagement">
            <xsd:complexType>
              <xsd:all>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1877f5-a38f-4ad0-af4a-779fecd0f1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F697DAF-2A12-4863-BCC2-808FCD841207}">
  <ds:schemaRefs>
    <ds:schemaRef ds:uri="http://purl.org/dc/dcmitype/"/>
    <ds:schemaRef ds:uri="http://www.w3.org/XML/1998/namespace"/>
    <ds:schemaRef ds:uri="http://purl.org/dc/terms/"/>
    <ds:schemaRef ds:uri="http://schemas.microsoft.com/office/2006/documentManagement/types"/>
    <ds:schemaRef ds:uri="http://schemas.microsoft.com/office/infopath/2007/PartnerControls"/>
    <ds:schemaRef ds:uri="http://schemas.microsoft.com/office/2006/metadata/properties"/>
    <ds:schemaRef ds:uri="471877f5-a38f-4ad0-af4a-779fecd0f16c"/>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91FE9E45-0155-430E-B2C2-E743AF908C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1877f5-a38f-4ad0-af4a-779fecd0f1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542BB7-62A6-4901-8F1F-E0C16096E44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1604</TotalTime>
  <Words>534</Words>
  <Application>Microsoft Office PowerPoint</Application>
  <PresentationFormat>On-screen Show (4:3)</PresentationFormat>
  <Paragraphs>52</Paragraphs>
  <Slides>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Söhne Mono</vt:lpstr>
      <vt:lpstr>Wingdings</vt:lpstr>
      <vt:lpstr>Default Design</vt:lpstr>
      <vt:lpstr>AASD4011: Adv. Mathematical Concepts for Deep Learning</vt:lpstr>
      <vt:lpstr>Dropout</vt:lpstr>
      <vt:lpstr>Dropout</vt:lpstr>
      <vt:lpstr>Dropout</vt:lpstr>
      <vt:lpstr>Dropout - Implementation</vt:lpstr>
      <vt:lpstr>Dropout - Implementation</vt:lpstr>
      <vt:lpstr>Dropout – Common Values</vt:lpstr>
    </vt:vector>
  </TitlesOfParts>
  <Company>STSMEDIA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Template</dc:title>
  <dc:subject>Slide Template</dc:subject>
  <dc:creator>George Brown College</dc:creator>
  <cp:keywords>George Brown College; Slides Template; Master Layout</cp:keywords>
  <cp:lastModifiedBy>Ran Feldesh</cp:lastModifiedBy>
  <cp:revision>36</cp:revision>
  <dcterms:created xsi:type="dcterms:W3CDTF">2008-02-14T00:02:49Z</dcterms:created>
  <dcterms:modified xsi:type="dcterms:W3CDTF">2023-05-30T20:41:20Z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0x01010092541F4A2AEEDF4DB6E6832E6C073FD1</vt:lpwstr>
  </property>
</Properties>
</file>