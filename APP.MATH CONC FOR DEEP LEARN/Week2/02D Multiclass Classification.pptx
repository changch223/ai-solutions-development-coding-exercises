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6">
          <p15:clr>
            <a:srgbClr val="A4A3A4"/>
          </p15:clr>
        </p15:guide>
        <p15:guide id="2" pos="1292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soRXq8M6DLqHCcadSLRL8Upbh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6" orient="horz"/>
        <p:guide pos="12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b10a49351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2b10a493513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10a493513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10a4935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2b10a493513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b10a493513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b10a49351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2b10a493513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10a493513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b10a49351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2b10a493513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BC PPT Main" id="14" name="Google Shape;1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 txBox="1"/>
          <p:nvPr>
            <p:ph type="ctrTitle"/>
          </p:nvPr>
        </p:nvSpPr>
        <p:spPr>
          <a:xfrm>
            <a:off x="1955800" y="517525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" type="subTitle"/>
          </p:nvPr>
        </p:nvSpPr>
        <p:spPr>
          <a:xfrm>
            <a:off x="838200" y="2408238"/>
            <a:ext cx="746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1100"/>
              </a:spcBef>
              <a:spcAft>
                <a:spcPts val="0"/>
              </a:spcAft>
              <a:buSzPts val="4400"/>
              <a:buFont typeface="Noto Sans Symbols"/>
              <a:buNone/>
              <a:defRPr b="1" sz="4400"/>
            </a:lvl1pPr>
            <a:lvl2pPr lvl="1" algn="l">
              <a:spcBef>
                <a:spcPts val="110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35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6" name="Google Shape;2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70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1" name="Google Shape;31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450"/>
              </a:spcBef>
              <a:spcAft>
                <a:spcPts val="0"/>
              </a:spcAft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400"/>
              </a:spcAft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80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800"/>
              </a:spcBef>
              <a:spcAft>
                <a:spcPts val="0"/>
              </a:spcAft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70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600"/>
              </a:spcBef>
              <a:spcAft>
                <a:spcPts val="0"/>
              </a:spcAft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500"/>
              </a:spcAft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5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25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225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 rot="5400000">
            <a:off x="4994275" y="2195513"/>
            <a:ext cx="5745163" cy="211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 rot="5400000">
            <a:off x="684213" y="153987"/>
            <a:ext cx="5745163" cy="619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450"/>
              </a:spcBef>
              <a:spcAft>
                <a:spcPts val="45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/>
          <p:nvPr>
            <p:ph idx="2" type="dgm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 Slide with white slide Background. The template slide has a top section as a horizontal bar with blue background. The top section contains the George Brown College logo (top left). The footer is separated from the white background with a blue line." id="10" name="Google Shape;10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6350" y="0"/>
            <a:ext cx="9156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700"/>
              </a:spcBef>
              <a:spcAft>
                <a:spcPts val="0"/>
              </a:spcAft>
              <a:buClr>
                <a:srgbClr val="005AA6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005AA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450"/>
              </a:spcBef>
              <a:spcAft>
                <a:spcPts val="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450"/>
              </a:spcBef>
              <a:spcAft>
                <a:spcPts val="450"/>
              </a:spcAft>
              <a:buClr>
                <a:srgbClr val="005AA6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4D4D4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n.wikipedia.org/wiki/Keras#/media/File:Keras_logo.sv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towardsdatascience.com/cross-entropy-loss-function-f38c4ec8643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en.wikipedia.org/wiki/Logistic_function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towardsdatascience.com/cross-entropy-loss-function-f38c4ec8643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955800" y="315646"/>
            <a:ext cx="71882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AASD4011: Mathematical Concepts for Deep Learning</a:t>
            </a:r>
            <a:endParaRPr/>
          </a:p>
        </p:txBody>
      </p:sp>
      <p:sp>
        <p:nvSpPr>
          <p:cNvPr id="59" name="Google Shape;59;p1"/>
          <p:cNvSpPr txBox="1"/>
          <p:nvPr>
            <p:ph idx="1" type="subTitle"/>
          </p:nvPr>
        </p:nvSpPr>
        <p:spPr>
          <a:xfrm>
            <a:off x="838200" y="2408237"/>
            <a:ext cx="7467600" cy="352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400"/>
              <a:buFont typeface="Noto Sans Symbols"/>
              <a:buNone/>
            </a:pPr>
            <a:r>
              <a:rPr lang="en-CA"/>
              <a:t>Multiclass Classification</a:t>
            </a:r>
            <a:endParaRPr/>
          </a:p>
          <a:p>
            <a:pPr indent="0" lvl="0" marL="0" rtl="0" algn="ctr">
              <a:spcBef>
                <a:spcPts val="190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0" lang="en-CA" sz="3200"/>
              <a:t>Softmax</a:t>
            </a:r>
            <a:endParaRPr b="0" sz="3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b="0" lang="en-CA" sz="3200"/>
              <a:t>Sparse categorical cross-entropy</a:t>
            </a:r>
            <a:endParaRPr/>
          </a:p>
        </p:txBody>
      </p:sp>
      <p:sp>
        <p:nvSpPr>
          <p:cNvPr id="60" name="Google Shape;60;p1"/>
          <p:cNvSpPr txBox="1"/>
          <p:nvPr/>
        </p:nvSpPr>
        <p:spPr>
          <a:xfrm>
            <a:off x="130629" y="6531429"/>
            <a:ext cx="15556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b10a493513_0_12"/>
          <p:cNvSpPr txBox="1"/>
          <p:nvPr>
            <p:ph type="title"/>
          </p:nvPr>
        </p:nvSpPr>
        <p:spPr>
          <a:xfrm>
            <a:off x="1930400" y="0"/>
            <a:ext cx="69945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/>
              <a:t>How Neural Network vote for class?</a:t>
            </a:r>
            <a:endParaRPr sz="3000"/>
          </a:p>
        </p:txBody>
      </p:sp>
      <p:pic>
        <p:nvPicPr>
          <p:cNvPr id="66" name="Google Shape;66;g2b10a493513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51" y="1532362"/>
            <a:ext cx="8994097" cy="313944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2b10a493513_0_12"/>
          <p:cNvSpPr txBox="1"/>
          <p:nvPr/>
        </p:nvSpPr>
        <p:spPr>
          <a:xfrm>
            <a:off x="179882" y="6488668"/>
            <a:ext cx="785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https://towardsdatascience.com/cross-entropy-loss-function-f38c4ec8643e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10a493513_0_6"/>
          <p:cNvSpPr txBox="1"/>
          <p:nvPr>
            <p:ph type="title"/>
          </p:nvPr>
        </p:nvSpPr>
        <p:spPr>
          <a:xfrm>
            <a:off x="1930400" y="381000"/>
            <a:ext cx="6994500" cy="63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Logits</a:t>
            </a:r>
            <a:endParaRPr/>
          </a:p>
        </p:txBody>
      </p:sp>
      <p:sp>
        <p:nvSpPr>
          <p:cNvPr id="74" name="Google Shape;74;g2b10a493513_0_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</a:pPr>
            <a:r>
              <a:rPr lang="en-CA"/>
              <a:t>Logits are net inputs of last neuron layer.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CA"/>
              <a:t>They are un-normalize probabilities of the item belonging to a certain class.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CA"/>
              <a:t>Logits are often used in classification tasks, where the goal is to predict the class label of an input.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b10a493513_0_19"/>
          <p:cNvSpPr txBox="1"/>
          <p:nvPr>
            <p:ph type="title"/>
          </p:nvPr>
        </p:nvSpPr>
        <p:spPr>
          <a:xfrm>
            <a:off x="1930400" y="381000"/>
            <a:ext cx="6994500" cy="63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Activation Function:</a:t>
            </a:r>
            <a:endParaRPr/>
          </a:p>
        </p:txBody>
      </p:sp>
      <p:sp>
        <p:nvSpPr>
          <p:cNvPr id="81" name="Google Shape;81;g2b10a493513_0_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spcBef>
                <a:spcPts val="450"/>
              </a:spcBef>
              <a:spcAft>
                <a:spcPts val="0"/>
              </a:spcAft>
              <a:buSzPts val="2400"/>
              <a:buChar char="▪"/>
            </a:pPr>
            <a:r>
              <a:rPr lang="en-CA" sz="2400">
                <a:solidFill>
                  <a:srgbClr val="222222"/>
                </a:solidFill>
                <a:highlight>
                  <a:srgbClr val="FFFFFF"/>
                </a:highlight>
              </a:rPr>
              <a:t>Activation functions are functions used in a neural network to compute the weighted sum of inputs and biases, </a:t>
            </a:r>
            <a:r>
              <a:rPr lang="en-CA" sz="2400" u="sng">
                <a:solidFill>
                  <a:srgbClr val="222222"/>
                </a:solidFill>
                <a:highlight>
                  <a:srgbClr val="FFFFFF"/>
                </a:highlight>
              </a:rPr>
              <a:t>which is in turn used to decide whether a neuron can be activated or not. </a:t>
            </a:r>
            <a:endParaRPr sz="2400" u="sng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CA" sz="2400">
                <a:solidFill>
                  <a:srgbClr val="222222"/>
                </a:solidFill>
                <a:highlight>
                  <a:srgbClr val="FFFFFF"/>
                </a:highlight>
              </a:rPr>
              <a:t>It manipulates the presented data and produces an output for the neural network that contains the parameters in the data. </a:t>
            </a:r>
            <a:endParaRPr sz="2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CA" sz="2400">
                <a:solidFill>
                  <a:srgbClr val="222222"/>
                </a:solidFill>
                <a:highlight>
                  <a:srgbClr val="FFFFFF"/>
                </a:highlight>
              </a:rPr>
              <a:t>We have linear and non-linear activation function.</a:t>
            </a:r>
            <a:endParaRPr sz="2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▪"/>
            </a:pPr>
            <a:r>
              <a:rPr lang="en-CA" sz="2400">
                <a:solidFill>
                  <a:srgbClr val="222222"/>
                </a:solidFill>
                <a:highlight>
                  <a:srgbClr val="FFFFFF"/>
                </a:highlight>
              </a:rPr>
              <a:t>Some of activation functions are: </a:t>
            </a:r>
            <a:endParaRPr sz="2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Char char="–"/>
            </a:pPr>
            <a:r>
              <a:rPr lang="en-CA" sz="2200">
                <a:solidFill>
                  <a:srgbClr val="222222"/>
                </a:solidFill>
                <a:highlight>
                  <a:srgbClr val="FFFFFF"/>
                </a:highlight>
              </a:rPr>
              <a:t>Logistic(Sigmoid)</a:t>
            </a:r>
            <a:endParaRPr sz="22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–"/>
            </a:pPr>
            <a:r>
              <a:rPr lang="en-CA" sz="2200">
                <a:solidFill>
                  <a:srgbClr val="222222"/>
                </a:solidFill>
                <a:highlight>
                  <a:srgbClr val="FFFFFF"/>
                </a:highlight>
              </a:rPr>
              <a:t>Hyperbolic tang</a:t>
            </a:r>
            <a:endParaRPr sz="22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–"/>
            </a:pPr>
            <a:r>
              <a:rPr lang="en-CA" sz="2200">
                <a:solidFill>
                  <a:srgbClr val="222222"/>
                </a:solidFill>
                <a:highlight>
                  <a:srgbClr val="FFFFFF"/>
                </a:highlight>
              </a:rPr>
              <a:t>Relu(Rectified Linear Unit)</a:t>
            </a:r>
            <a:endParaRPr sz="22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–"/>
            </a:pPr>
            <a:r>
              <a:rPr lang="en-CA" sz="2200">
                <a:solidFill>
                  <a:srgbClr val="222222"/>
                </a:solidFill>
                <a:highlight>
                  <a:srgbClr val="FFFFFF"/>
                </a:highlight>
              </a:rPr>
              <a:t>Glue, Leaky Relu</a:t>
            </a:r>
            <a:endParaRPr sz="22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Logistic/Sigmoid Function</a:t>
            </a:r>
            <a:endParaRPr/>
          </a:p>
        </p:txBody>
      </p:sp>
      <p:sp>
        <p:nvSpPr>
          <p:cNvPr id="87" name="Google Shape;87;p2"/>
          <p:cNvSpPr txBox="1"/>
          <p:nvPr>
            <p:ph idx="1" type="body"/>
          </p:nvPr>
        </p:nvSpPr>
        <p:spPr>
          <a:xfrm>
            <a:off x="219075" y="1372957"/>
            <a:ext cx="4023141" cy="1909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A logistic function is a common S-shaped curve (sigmoid curve) with equation:</a:t>
            </a:r>
            <a:endParaRPr/>
          </a:p>
        </p:txBody>
      </p:sp>
      <p:pic>
        <p:nvPicPr>
          <p:cNvPr id="88" name="Google Shape;8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3471" y="1349800"/>
            <a:ext cx="4730529" cy="380681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 txBox="1"/>
          <p:nvPr/>
        </p:nvSpPr>
        <p:spPr>
          <a:xfrm>
            <a:off x="0" y="6498353"/>
            <a:ext cx="3028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Wikipedia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612" y="3171789"/>
            <a:ext cx="3916494" cy="11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825" y="4341984"/>
            <a:ext cx="4252464" cy="148919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4572000" y="5492003"/>
            <a:ext cx="48071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standard logistic function, where L=1,k=1,x_0=0, is sometimes simply called the sigmoid.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Softmax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457200" y="3069236"/>
            <a:ext cx="8229600" cy="309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CA" sz="1600"/>
              <a:t>A generalization of the Logistic Function</a:t>
            </a:r>
            <a:endParaRPr/>
          </a:p>
          <a:p>
            <a:pPr indent="-342900" lvl="0" marL="342900" rtl="0" algn="l">
              <a:spcBef>
                <a:spcPts val="800"/>
              </a:spcBef>
              <a:spcAft>
                <a:spcPts val="0"/>
              </a:spcAft>
              <a:buSzPts val="1600"/>
              <a:buChar char="▪"/>
            </a:pPr>
            <a:r>
              <a:rPr b="1" lang="en-CA" sz="1600"/>
              <a:t>The softmax function takes as input a vector of K real numbers and normalizes it into a probability distribution consisting of K probabilities proportional to the exponentials of the input numbers. </a:t>
            </a:r>
            <a:r>
              <a:rPr lang="en-CA" sz="1600"/>
              <a:t>That is:</a:t>
            </a:r>
            <a:endParaRPr/>
          </a:p>
          <a:p>
            <a:pPr indent="-285750" lvl="1" marL="742950" rtl="0" algn="l">
              <a:spcBef>
                <a:spcPts val="80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CA" sz="1600"/>
              <a:t>Prior to applying softmax, some vector components could be negative, or greater than one; and might not sum to 1; but after applying softmax, each component will be in the interval (0,1) </a:t>
            </a:r>
            <a:endParaRPr/>
          </a:p>
          <a:p>
            <a:pPr indent="-285750" lvl="1" marL="742950" rtl="0" algn="l">
              <a:spcBef>
                <a:spcPts val="800"/>
              </a:spcBef>
              <a:spcAft>
                <a:spcPts val="0"/>
              </a:spcAft>
              <a:buSzPts val="1600"/>
              <a:buFont typeface="Arial"/>
              <a:buChar char="–"/>
            </a:pPr>
            <a:r>
              <a:rPr lang="en-CA" sz="1600"/>
              <a:t>The components will add up to 1, so that they can be interpreted as probabilities</a:t>
            </a:r>
            <a:endParaRPr/>
          </a:p>
          <a:p>
            <a:pPr indent="-285750" lvl="1" marL="742950" rtl="0" algn="l">
              <a:spcBef>
                <a:spcPts val="800"/>
              </a:spcBef>
              <a:spcAft>
                <a:spcPts val="0"/>
              </a:spcAft>
              <a:buSzPts val="1600"/>
              <a:buChar char="–"/>
            </a:pPr>
            <a:r>
              <a:rPr b="1" lang="en-CA" sz="1600"/>
              <a:t>The larger input components will correspond to larger probabilities.</a:t>
            </a:r>
            <a:endParaRPr b="1" sz="1600"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7456" y="1184222"/>
            <a:ext cx="3509088" cy="16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Softmax</a:t>
            </a:r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51" y="1532362"/>
            <a:ext cx="8994098" cy="313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179882" y="6488668"/>
            <a:ext cx="78548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https://towardsdatascience.com/cross-entropy-loss-function-f38c4ec8643e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10a493513_0_28"/>
          <p:cNvSpPr txBox="1"/>
          <p:nvPr>
            <p:ph type="title"/>
          </p:nvPr>
        </p:nvSpPr>
        <p:spPr>
          <a:xfrm>
            <a:off x="1930400" y="381000"/>
            <a:ext cx="6994500" cy="63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Loss:</a:t>
            </a:r>
            <a:endParaRPr/>
          </a:p>
        </p:txBody>
      </p:sp>
      <p:sp>
        <p:nvSpPr>
          <p:cNvPr id="113" name="Google Shape;113;g2b10a493513_0_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SzPts val="2400"/>
              <a:buChar char="▪"/>
            </a:pPr>
            <a:r>
              <a:rPr lang="en-CA" sz="2400">
                <a:solidFill>
                  <a:srgbClr val="202124"/>
                </a:solidFill>
                <a:highlight>
                  <a:srgbClr val="FFFFFF"/>
                </a:highlight>
              </a:rPr>
              <a:t>Cross-entropy loss, or log loss, </a:t>
            </a:r>
            <a:r>
              <a:rPr lang="en-CA" sz="2400" u="sng">
                <a:solidFill>
                  <a:srgbClr val="040C28"/>
                </a:solidFill>
              </a:rPr>
              <a:t>measures the performance of a classification model whose output is a probability value between 0 and 1</a:t>
            </a:r>
            <a:r>
              <a:rPr lang="en-CA" sz="2400" u="sng">
                <a:solidFill>
                  <a:srgbClr val="202124"/>
                </a:solidFill>
                <a:highlight>
                  <a:srgbClr val="FFFFFF"/>
                </a:highlight>
              </a:rPr>
              <a:t>. </a:t>
            </a:r>
            <a:endParaRPr sz="2400" u="sng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CA" sz="2400">
                <a:solidFill>
                  <a:srgbClr val="202124"/>
                </a:solidFill>
                <a:highlight>
                  <a:srgbClr val="FFFFFF"/>
                </a:highlight>
              </a:rPr>
              <a:t>Cross-entropy loss increases as the predicted probability diverges from the actual label.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1930400" y="381000"/>
            <a:ext cx="7213600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Categorical </a:t>
            </a:r>
            <a:r>
              <a:rPr lang="en-CA"/>
              <a:t>C</a:t>
            </a:r>
            <a:r>
              <a:rPr lang="en-CA" sz="3600"/>
              <a:t>ross-entropy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457200" y="1166018"/>
            <a:ext cx="8229600" cy="3480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CA" sz="2400"/>
              <a:t>Computes the </a:t>
            </a:r>
            <a:r>
              <a:rPr i="1" lang="en-CA" sz="2400"/>
              <a:t>cross-entropy loss</a:t>
            </a:r>
            <a:r>
              <a:rPr lang="en-CA" sz="2400"/>
              <a:t> between the labels and predictions.</a:t>
            </a:r>
            <a:endParaRPr/>
          </a:p>
          <a:p>
            <a:pPr indent="-342900" lvl="0" marL="342900" rtl="0" algn="just">
              <a:spcBef>
                <a:spcPts val="1200"/>
              </a:spcBef>
              <a:spcAft>
                <a:spcPts val="0"/>
              </a:spcAft>
              <a:buSzPts val="2400"/>
              <a:buChar char="▪"/>
            </a:pPr>
            <a:r>
              <a:rPr lang="en-CA" sz="2400"/>
              <a:t>Cross-entropy is a quantity from the field of information theory that </a:t>
            </a:r>
            <a:r>
              <a:rPr b="1" lang="en-CA" sz="2400"/>
              <a:t>measures the distance between probability distributions</a:t>
            </a:r>
            <a:r>
              <a:rPr lang="en-CA" sz="2400"/>
              <a:t> or, in this case, </a:t>
            </a:r>
            <a:r>
              <a:rPr b="1" lang="en-CA" sz="2400"/>
              <a:t>between the ground-truth distribution and the model’s predictions</a:t>
            </a:r>
            <a:r>
              <a:rPr lang="en-CA" sz="2400"/>
              <a:t>.</a:t>
            </a:r>
            <a:endParaRPr/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1000" y="3949276"/>
            <a:ext cx="4991100" cy="224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Categorical </a:t>
            </a:r>
            <a:r>
              <a:rPr lang="en-CA"/>
              <a:t>C</a:t>
            </a:r>
            <a:r>
              <a:rPr lang="en-CA" sz="3600"/>
              <a:t>ross-entropy</a:t>
            </a:r>
            <a:endParaRPr/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457200" y="4088569"/>
            <a:ext cx="8229600" cy="1172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87597"/>
            <a:ext cx="8991648" cy="2313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899410" y="1387597"/>
            <a:ext cx="5621311" cy="1295642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1930400" y="381000"/>
            <a:ext cx="6994525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/>
              <a:t>Categorical </a:t>
            </a:r>
            <a:r>
              <a:rPr lang="en-CA"/>
              <a:t>C</a:t>
            </a:r>
            <a:r>
              <a:rPr lang="en-CA" sz="3600"/>
              <a:t>ross-entropy</a:t>
            </a:r>
            <a:endParaRPr/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50326" l="0" r="0" t="0"/>
          <a:stretch/>
        </p:blipFill>
        <p:spPr>
          <a:xfrm>
            <a:off x="152352" y="1119152"/>
            <a:ext cx="8991648" cy="1149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9684" y="2212255"/>
            <a:ext cx="6464632" cy="167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6446" y="3991287"/>
            <a:ext cx="4991108" cy="266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1693890" y="381000"/>
            <a:ext cx="7231036" cy="633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 sz="3600"/>
              <a:t>Sparse Categorical </a:t>
            </a:r>
            <a:r>
              <a:rPr b="0" lang="en-CA"/>
              <a:t>C</a:t>
            </a:r>
            <a:r>
              <a:rPr b="0" lang="en-CA" sz="3600"/>
              <a:t>ross-entropy</a:t>
            </a:r>
            <a:endParaRPr b="0"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457200" y="1514007"/>
            <a:ext cx="8229600" cy="4962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Categorical cross-entropy is used when true labels are one-hot encoded, for example, we have the following true values for 3-class classification problem [1,0,0], [0,1,0] and [0,0,1].</a:t>
            </a:r>
            <a:endParaRPr/>
          </a:p>
          <a:p>
            <a:pPr indent="-342900" lvl="0" marL="342900" rtl="0" algn="l">
              <a:spcBef>
                <a:spcPts val="1400"/>
              </a:spcBef>
              <a:spcAft>
                <a:spcPts val="0"/>
              </a:spcAft>
              <a:buSzPts val="2800"/>
              <a:buChar char="▪"/>
            </a:pPr>
            <a:r>
              <a:rPr lang="en-CA"/>
              <a:t>In </a:t>
            </a:r>
            <a:r>
              <a:rPr b="1" lang="en-CA"/>
              <a:t>sparse categorical cross-entropy </a:t>
            </a:r>
            <a:r>
              <a:rPr lang="en-CA"/>
              <a:t>, truth labels are integer encoded, for example, [1], [2] and [3] for 3-class problem.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2008-02-14T00:02:49Z</dcterms:created>
  <dc:creator>George Brown College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0x01010092541F4A2AEEDF4DB6E6832E6C073FD1</vt:lpwstr>
  </property>
</Properties>
</file>