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66">
          <p15:clr>
            <a:srgbClr val="A4A3A4"/>
          </p15:clr>
        </p15:guide>
        <p15:guide id="2" pos="1292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4" roundtripDataSignature="AMtx7mhniBbhq2ipduxBt7wyrrBqrENT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66" orient="horz"/>
        <p:guide pos="129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41ae71e794_0_1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41ae71e794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241ae71e794_0_1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41ae71e794_0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41ae71e7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41ae71e794_0_21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41ae71e79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41ae71e794_0_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41ae71e79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41ae71e794_0_1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41ae71e79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41ae71e794_0_8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41ae71e79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41ae71e794_0_9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41ae71e79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41ae71e794_0_15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41ae71e794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41ae71e794_0_95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41ae71e79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41ae71e794_0_10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41ae71e79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41ae71e794_0_1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41ae71e794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241ae71e794_0_1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41ae71e794_0_1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41ae71e794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241ae71e794_0_18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BC PPT Main" id="14" name="Google Shape;14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6350" y="0"/>
            <a:ext cx="91567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0"/>
          <p:cNvSpPr txBox="1"/>
          <p:nvPr>
            <p:ph type="ctrTitle"/>
          </p:nvPr>
        </p:nvSpPr>
        <p:spPr>
          <a:xfrm>
            <a:off x="1955800" y="517525"/>
            <a:ext cx="71882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" type="subTitle"/>
          </p:nvPr>
        </p:nvSpPr>
        <p:spPr>
          <a:xfrm>
            <a:off x="838200" y="2408238"/>
            <a:ext cx="7467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1100"/>
              </a:spcBef>
              <a:spcAft>
                <a:spcPts val="0"/>
              </a:spcAft>
              <a:buSzPts val="4400"/>
              <a:buFont typeface="Noto Sans Symbols"/>
              <a:buNone/>
              <a:defRPr b="1" sz="4400"/>
            </a:lvl1pPr>
            <a:lvl2pPr lvl="1" algn="l">
              <a:spcBef>
                <a:spcPts val="110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lvl="5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lvl="6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lvl="7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lvl="8" algn="l"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350"/>
              </a:spcBef>
              <a:spcAft>
                <a:spcPts val="350"/>
              </a:spcAft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70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26" name="Google Shape;2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70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Font typeface="Arial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0" name="Google Shape;30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60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31" name="Google Shape;31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2" name="Google Shape;32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60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80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500"/>
              </a:spcBef>
              <a:spcAft>
                <a:spcPts val="500"/>
              </a:spcAft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35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25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225"/>
              </a:spcBef>
              <a:spcAft>
                <a:spcPts val="225"/>
              </a:spcAft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35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25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225"/>
              </a:spcBef>
              <a:spcAft>
                <a:spcPts val="225"/>
              </a:spcAft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/>
          <p:nvPr>
            <p:ph type="title"/>
          </p:nvPr>
        </p:nvSpPr>
        <p:spPr>
          <a:xfrm rot="5400000">
            <a:off x="4994275" y="2195513"/>
            <a:ext cx="5745163" cy="2116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" type="body"/>
          </p:nvPr>
        </p:nvSpPr>
        <p:spPr>
          <a:xfrm rot="5400000">
            <a:off x="684213" y="153987"/>
            <a:ext cx="5745163" cy="6199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iagram or Organization Chart" type="dgm">
  <p:cSld name="DIAGRAM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/>
          <p:nvPr>
            <p:ph idx="2" type="dgm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rgbClr val="005AA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50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50"/>
              </a:spcBef>
              <a:spcAft>
                <a:spcPts val="45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41ae71e794_0_7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241ae71e794_0_7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rtl="0">
              <a:spcBef>
                <a:spcPts val="700"/>
              </a:spcBef>
              <a:spcAft>
                <a:spcPts val="0"/>
              </a:spcAft>
              <a:buSzPts val="2800"/>
              <a:buChar char="▪"/>
              <a:defRPr/>
            </a:lvl1pPr>
            <a:lvl2pPr indent="-381000" lvl="1" marL="914400" rtl="0">
              <a:spcBef>
                <a:spcPts val="700"/>
              </a:spcBef>
              <a:spcAft>
                <a:spcPts val="0"/>
              </a:spcAft>
              <a:buSzPts val="2400"/>
              <a:buChar char="–"/>
              <a:defRPr/>
            </a:lvl2pPr>
            <a:lvl3pPr indent="-355600" lvl="2" marL="1371600" rtl="0"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rtl="0"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rtl="0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rtl="0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rtl="0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rtl="0"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56" name="Google Shape;56;g241ae71e794_0_7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late Slide with white slide Background. The template slide has a top section as a horizontal bar with blue background. The top section contains the George Brown College logo (top left). The footer is separated from the white background with a blue line." id="10" name="Google Shape;10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6350" y="0"/>
            <a:ext cx="91567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9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005AA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0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450"/>
              </a:spcBef>
              <a:spcAft>
                <a:spcPts val="45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olab.research.google.com/" TargetMode="External"/><Relationship Id="rId4" Type="http://schemas.openxmlformats.org/officeDocument/2006/relationships/hyperlink" Target="https://www.kaggle.com/co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olab.research.google.com/" TargetMode="External"/><Relationship Id="rId4" Type="http://schemas.openxmlformats.org/officeDocument/2006/relationships/hyperlink" Target="https://www.kaggle.com/code" TargetMode="External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learn.microsoft.com/en-us/powershell/scripting/install/installing-powershell-on-windows?view=powershell-7.3#msi" TargetMode="External"/><Relationship Id="rId4" Type="http://schemas.openxmlformats.org/officeDocument/2006/relationships/hyperlink" Target="https://learn.microsoft.com/en-us/powershell/" TargetMode="External"/><Relationship Id="rId5" Type="http://schemas.openxmlformats.org/officeDocument/2006/relationships/hyperlink" Target="https://github.com/PowerShell/PowerShell" TargetMode="External"/><Relationship Id="rId6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microsoft/vscode" TargetMode="External"/><Relationship Id="rId4" Type="http://schemas.openxmlformats.org/officeDocument/2006/relationships/hyperlink" Target="https://pypl.github.io/IDE.html" TargetMode="External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-scm.com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-scm.com/download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>
            <p:ph type="ctrTitle"/>
          </p:nvPr>
        </p:nvSpPr>
        <p:spPr>
          <a:xfrm>
            <a:off x="1955800" y="363150"/>
            <a:ext cx="71882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800"/>
              <a:t>AASD4011: Mathematical Concepts for Deep Learning</a:t>
            </a:r>
            <a:endParaRPr sz="2800"/>
          </a:p>
        </p:txBody>
      </p:sp>
      <p:sp>
        <p:nvSpPr>
          <p:cNvPr id="63" name="Google Shape;63;p1"/>
          <p:cNvSpPr txBox="1"/>
          <p:nvPr>
            <p:ph idx="1" type="subTitle"/>
          </p:nvPr>
        </p:nvSpPr>
        <p:spPr>
          <a:xfrm>
            <a:off x="838200" y="2408238"/>
            <a:ext cx="7467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CA"/>
              <a:t>Setting Up a Development Environment</a:t>
            </a:r>
            <a:endParaRPr sz="320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CA"/>
              <a:t>Three Types of Environments:</a:t>
            </a:r>
            <a:endParaRPr/>
          </a:p>
          <a:p>
            <a:pPr indent="-514350" lvl="0" marL="514350" rtl="0" algn="l">
              <a:spcBef>
                <a:spcPts val="14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CA"/>
              <a:t>Local Computer</a:t>
            </a:r>
            <a:endParaRPr/>
          </a:p>
          <a:p>
            <a:pPr indent="-514350" lvl="0" marL="514350" rtl="0" algn="l">
              <a:spcBef>
                <a:spcPts val="14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CA"/>
              <a:t>Remote Computer (for example AWS EC2)</a:t>
            </a:r>
            <a:endParaRPr/>
          </a:p>
          <a:p>
            <a:pPr indent="-514350" lvl="0" marL="514350" rtl="0" algn="l">
              <a:spcBef>
                <a:spcPts val="14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CA"/>
              <a:t>Online Notebooks Service (such as </a:t>
            </a:r>
            <a:r>
              <a:rPr lang="en-CA" u="sng">
                <a:solidFill>
                  <a:schemeClr val="hlink"/>
                </a:solidFill>
                <a:hlinkClick r:id="rId3"/>
              </a:rPr>
              <a:t>Google Colab</a:t>
            </a:r>
            <a:r>
              <a:rPr lang="en-CA"/>
              <a:t> or </a:t>
            </a:r>
            <a:r>
              <a:rPr lang="en-CA" u="sng">
                <a:solidFill>
                  <a:schemeClr val="hlink"/>
                </a:solidFill>
                <a:hlinkClick r:id="rId4"/>
              </a:rPr>
              <a:t>Kaggle Notebooks</a:t>
            </a:r>
            <a:r>
              <a:rPr lang="en-CA"/>
              <a:t>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CA"/>
              <a:t>Three Types of Environments:</a:t>
            </a:r>
            <a:endParaRPr/>
          </a:p>
          <a:p>
            <a:pPr indent="-514350" lvl="0" marL="514350" rtl="0" algn="l">
              <a:spcBef>
                <a:spcPts val="14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CA"/>
              <a:t>Local Computer</a:t>
            </a:r>
            <a:endParaRPr/>
          </a:p>
          <a:p>
            <a:pPr indent="-514350" lvl="0" marL="514350" rtl="0" algn="l">
              <a:spcBef>
                <a:spcPts val="14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CA"/>
              <a:t>Remote Computer (for example AWS EC2)</a:t>
            </a:r>
            <a:endParaRPr/>
          </a:p>
          <a:p>
            <a:pPr indent="-514350" lvl="0" marL="514350" rtl="0" algn="l">
              <a:spcBef>
                <a:spcPts val="14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CA"/>
              <a:t>Online Notebooks Service (such as </a:t>
            </a:r>
            <a:r>
              <a:rPr lang="en-CA" u="sng">
                <a:solidFill>
                  <a:schemeClr val="hlink"/>
                </a:solidFill>
                <a:hlinkClick r:id="rId3"/>
              </a:rPr>
              <a:t>Google Colab</a:t>
            </a:r>
            <a:r>
              <a:rPr lang="en-CA"/>
              <a:t> or </a:t>
            </a:r>
            <a:r>
              <a:rPr lang="en-CA" u="sng">
                <a:solidFill>
                  <a:schemeClr val="hlink"/>
                </a:solidFill>
                <a:hlinkClick r:id="rId4"/>
              </a:rPr>
              <a:t>Kaggle Notebooks</a:t>
            </a:r>
            <a:r>
              <a:rPr lang="en-CA"/>
              <a:t>)</a:t>
            </a:r>
            <a:endParaRPr/>
          </a:p>
        </p:txBody>
      </p:sp>
      <p:sp>
        <p:nvSpPr>
          <p:cNvPr id="76" name="Google Shape;76;p5"/>
          <p:cNvSpPr txBox="1"/>
          <p:nvPr/>
        </p:nvSpPr>
        <p:spPr>
          <a:xfrm>
            <a:off x="42175" y="4383975"/>
            <a:ext cx="91440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recommendation is to start with (1) for part one of the course, and then consider either option (2) or (3) for part two.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local environment sets up a developer for the work in industry, and for deploying models. However, it is less complex than setting up a remote environment. An online notebook service is an excellent choice for the short-term, but it abstracts out some of the processes required to deploy a DL model in production.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41ae71e794_0_164"/>
          <p:cNvSpPr txBox="1"/>
          <p:nvPr>
            <p:ph type="title"/>
          </p:nvPr>
        </p:nvSpPr>
        <p:spPr>
          <a:xfrm>
            <a:off x="1930400" y="381000"/>
            <a:ext cx="6994500" cy="633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241ae71e794_0_164"/>
          <p:cNvSpPr txBox="1"/>
          <p:nvPr>
            <p:ph idx="4294967295" type="subTitle"/>
          </p:nvPr>
        </p:nvSpPr>
        <p:spPr>
          <a:xfrm>
            <a:off x="1340100" y="1137888"/>
            <a:ext cx="1553100" cy="63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700"/>
              </a:spcAft>
              <a:buNone/>
            </a:pPr>
            <a:r>
              <a:rPr b="1" lang="en-CA" sz="2400"/>
              <a:t>CLI</a:t>
            </a:r>
            <a:endParaRPr b="1" sz="2400"/>
          </a:p>
        </p:txBody>
      </p:sp>
      <p:pic>
        <p:nvPicPr>
          <p:cNvPr id="84" name="Google Shape;84;g241ae71e794_0_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802628"/>
            <a:ext cx="844675" cy="84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g241ae71e794_0_1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3445" y="1970980"/>
            <a:ext cx="1205602" cy="50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g241ae71e794_0_1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39225" y="1953740"/>
            <a:ext cx="844675" cy="542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g241ae71e794_0_1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0270" y="3966410"/>
            <a:ext cx="1553100" cy="155311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241ae71e794_0_164"/>
          <p:cNvSpPr txBox="1"/>
          <p:nvPr/>
        </p:nvSpPr>
        <p:spPr>
          <a:xfrm>
            <a:off x="1340100" y="3225875"/>
            <a:ext cx="2384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500"/>
              <a:t>Code Editor</a:t>
            </a:r>
            <a:endParaRPr b="1" sz="2500"/>
          </a:p>
        </p:txBody>
      </p:sp>
      <p:pic>
        <p:nvPicPr>
          <p:cNvPr id="89" name="Google Shape;89;g241ae71e794_0_16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73712" y="4099099"/>
            <a:ext cx="2016817" cy="84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241ae71e794_0_16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97237" y="5053375"/>
            <a:ext cx="969751" cy="9712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241ae71e794_0_164"/>
          <p:cNvSpPr txBox="1"/>
          <p:nvPr/>
        </p:nvSpPr>
        <p:spPr>
          <a:xfrm>
            <a:off x="4040200" y="3225875"/>
            <a:ext cx="338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/>
              <a:t>Code Collaboration and Version Control</a:t>
            </a:r>
            <a:endParaRPr b="1" sz="2400"/>
          </a:p>
        </p:txBody>
      </p:sp>
      <p:pic>
        <p:nvPicPr>
          <p:cNvPr id="92" name="Google Shape;92;g241ae71e794_0_16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37666" y="1970975"/>
            <a:ext cx="2987233" cy="8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241ae71e794_0_164"/>
          <p:cNvSpPr txBox="1"/>
          <p:nvPr/>
        </p:nvSpPr>
        <p:spPr>
          <a:xfrm>
            <a:off x="5802000" y="1161900"/>
            <a:ext cx="3275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/>
              <a:t>Running Code and maintaining envs</a:t>
            </a:r>
            <a:endParaRPr b="1" sz="2400"/>
          </a:p>
        </p:txBody>
      </p:sp>
      <p:pic>
        <p:nvPicPr>
          <p:cNvPr id="94" name="Google Shape;94;g241ae71e794_0_16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712751" y="4658062"/>
            <a:ext cx="1364651" cy="17618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241ae71e794_0_164"/>
          <p:cNvSpPr txBox="1"/>
          <p:nvPr/>
        </p:nvSpPr>
        <p:spPr>
          <a:xfrm>
            <a:off x="7365300" y="3658450"/>
            <a:ext cx="177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/>
              <a:t>Interactive Code</a:t>
            </a:r>
            <a:endParaRPr b="1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type="title"/>
          </p:nvPr>
        </p:nvSpPr>
        <p:spPr>
          <a:xfrm>
            <a:off x="1930400" y="21475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/>
              <a:t>Setting Up a Development Environment</a:t>
            </a:r>
            <a:endParaRPr/>
          </a:p>
        </p:txBody>
      </p:sp>
      <p:sp>
        <p:nvSpPr>
          <p:cNvPr id="101" name="Google Shape;101;p6"/>
          <p:cNvSpPr txBox="1"/>
          <p:nvPr/>
        </p:nvSpPr>
        <p:spPr>
          <a:xfrm>
            <a:off x="178130" y="1258784"/>
            <a:ext cx="8746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</a:rPr>
              <a:t>Git</a:t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 Account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 3.7-3.11.x (the code was tested on Python 3.10.9 and 3.11.3 on Windows)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Python’s built-in </a:t>
            </a:r>
            <a:r>
              <a:rPr i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venv</a:t>
            </a: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create virtual environments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Python’s </a:t>
            </a:r>
            <a:r>
              <a:rPr i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</a:t>
            </a: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install Python packages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41ae71e794_0_0"/>
          <p:cNvSpPr txBox="1"/>
          <p:nvPr>
            <p:ph type="ctrTitle"/>
          </p:nvPr>
        </p:nvSpPr>
        <p:spPr>
          <a:xfrm>
            <a:off x="1955800" y="232833"/>
            <a:ext cx="7188300" cy="57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Command Line Interface</a:t>
            </a:r>
            <a:endParaRPr/>
          </a:p>
        </p:txBody>
      </p:sp>
      <p:sp>
        <p:nvSpPr>
          <p:cNvPr id="107" name="Google Shape;107;g241ae71e794_0_0"/>
          <p:cNvSpPr txBox="1"/>
          <p:nvPr>
            <p:ph idx="1" type="subTitle"/>
          </p:nvPr>
        </p:nvSpPr>
        <p:spPr>
          <a:xfrm>
            <a:off x="838200" y="2067984"/>
            <a:ext cx="7467600" cy="2336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100"/>
              </a:spcBef>
              <a:spcAft>
                <a:spcPts val="1100"/>
              </a:spcAft>
              <a:buNone/>
            </a:pPr>
            <a:r>
              <a:rPr lang="en-CA"/>
              <a:t>CLI</a:t>
            </a:r>
            <a:endParaRPr/>
          </a:p>
        </p:txBody>
      </p:sp>
      <p:pic>
        <p:nvPicPr>
          <p:cNvPr id="108" name="Google Shape;108;g241ae71e79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1725" y="3447583"/>
            <a:ext cx="1315325" cy="131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241ae71e794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7340" y="3692635"/>
            <a:ext cx="2249323" cy="9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41ae71e794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1875" y="3761355"/>
            <a:ext cx="1315324" cy="844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41ae71e794_0_21"/>
          <p:cNvSpPr txBox="1"/>
          <p:nvPr>
            <p:ph type="title"/>
          </p:nvPr>
        </p:nvSpPr>
        <p:spPr>
          <a:xfrm>
            <a:off x="1775150" y="135025"/>
            <a:ext cx="67812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Linux (e.g. Ubuntu)</a:t>
            </a:r>
            <a:endParaRPr/>
          </a:p>
        </p:txBody>
      </p:sp>
      <p:sp>
        <p:nvSpPr>
          <p:cNvPr id="116" name="Google Shape;116;g241ae71e794_0_21"/>
          <p:cNvSpPr txBox="1"/>
          <p:nvPr>
            <p:ph idx="1" type="body"/>
          </p:nvPr>
        </p:nvSpPr>
        <p:spPr>
          <a:xfrm>
            <a:off x="311700" y="1536633"/>
            <a:ext cx="8520600" cy="172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700"/>
              </a:spcBef>
              <a:spcAft>
                <a:spcPts val="700"/>
              </a:spcAft>
              <a:buSzPts val="2800"/>
              <a:buChar char="●"/>
            </a:pPr>
            <a:r>
              <a:rPr lang="en-CA"/>
              <a:t>In most Linux distributions, including Ubuntu, the default shell is </a:t>
            </a:r>
            <a:r>
              <a:rPr b="1" lang="en-CA"/>
              <a:t>bash</a:t>
            </a:r>
            <a:r>
              <a:rPr lang="en-CA"/>
              <a:t>.</a:t>
            </a:r>
            <a:endParaRPr/>
          </a:p>
        </p:txBody>
      </p:sp>
      <p:sp>
        <p:nvSpPr>
          <p:cNvPr id="117" name="Google Shape;117;g241ae71e794_0_21"/>
          <p:cNvSpPr txBox="1"/>
          <p:nvPr/>
        </p:nvSpPr>
        <p:spPr>
          <a:xfrm>
            <a:off x="160275" y="610033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https://www.gnu.org/software/bash/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41ae71e794_0_8"/>
          <p:cNvSpPr txBox="1"/>
          <p:nvPr>
            <p:ph type="title"/>
          </p:nvPr>
        </p:nvSpPr>
        <p:spPr>
          <a:xfrm>
            <a:off x="2051050" y="165975"/>
            <a:ext cx="67812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Windows</a:t>
            </a:r>
            <a:endParaRPr/>
          </a:p>
        </p:txBody>
      </p:sp>
      <p:sp>
        <p:nvSpPr>
          <p:cNvPr id="123" name="Google Shape;123;g241ae71e794_0_8"/>
          <p:cNvSpPr txBox="1"/>
          <p:nvPr>
            <p:ph idx="1" type="body"/>
          </p:nvPr>
        </p:nvSpPr>
        <p:spPr>
          <a:xfrm>
            <a:off x="85700" y="1081975"/>
            <a:ext cx="8966400" cy="154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0050" lvl="0" marL="457200" rtl="0" algn="l">
              <a:spcBef>
                <a:spcPts val="700"/>
              </a:spcBef>
              <a:spcAft>
                <a:spcPts val="0"/>
              </a:spcAft>
              <a:buSzPts val="2700"/>
              <a:buChar char="●"/>
            </a:pPr>
            <a:r>
              <a:rPr lang="en-CA" sz="2700"/>
              <a:t>CMD</a:t>
            </a:r>
            <a:endParaRPr sz="2700"/>
          </a:p>
          <a:p>
            <a:pPr indent="-400050" lvl="0" marL="457200" rtl="0" algn="l">
              <a:spcBef>
                <a:spcPts val="700"/>
              </a:spcBef>
              <a:spcAft>
                <a:spcPts val="0"/>
              </a:spcAft>
              <a:buSzPts val="2700"/>
              <a:buChar char="●"/>
            </a:pPr>
            <a:r>
              <a:rPr lang="en-CA" sz="2700"/>
              <a:t>Windows Powershell (5.1)</a:t>
            </a:r>
            <a:endParaRPr sz="2700"/>
          </a:p>
          <a:p>
            <a:pPr indent="-400050" lvl="0" marL="457200" rtl="0" algn="l">
              <a:spcBef>
                <a:spcPts val="700"/>
              </a:spcBef>
              <a:spcAft>
                <a:spcPts val="700"/>
              </a:spcAft>
              <a:buSzPts val="2700"/>
              <a:buChar char="●"/>
            </a:pPr>
            <a:r>
              <a:rPr b="1" lang="en-CA" sz="2700"/>
              <a:t>Powershell Core (7.x) - recommended</a:t>
            </a:r>
            <a:r>
              <a:rPr lang="en-CA" sz="2700"/>
              <a:t> (</a:t>
            </a:r>
            <a:r>
              <a:rPr lang="en-CA" sz="2700" u="sng">
                <a:solidFill>
                  <a:schemeClr val="hlink"/>
                </a:solidFill>
                <a:hlinkClick r:id="rId3"/>
              </a:rPr>
              <a:t>installation</a:t>
            </a:r>
            <a:r>
              <a:rPr lang="en-CA" sz="2700"/>
              <a:t>)</a:t>
            </a:r>
            <a:endParaRPr sz="2700"/>
          </a:p>
        </p:txBody>
      </p:sp>
      <p:sp>
        <p:nvSpPr>
          <p:cNvPr id="124" name="Google Shape;124;g241ae71e794_0_8"/>
          <p:cNvSpPr txBox="1"/>
          <p:nvPr/>
        </p:nvSpPr>
        <p:spPr>
          <a:xfrm>
            <a:off x="0" y="5695767"/>
            <a:ext cx="4682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u="sng">
                <a:solidFill>
                  <a:schemeClr val="hlink"/>
                </a:solidFill>
                <a:hlinkClick r:id="rId4"/>
              </a:rPr>
              <a:t>https://learn.microsoft.com/en-us/powershell/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u="sng">
                <a:solidFill>
                  <a:schemeClr val="hlink"/>
                </a:solidFill>
                <a:hlinkClick r:id="rId5"/>
              </a:rPr>
              <a:t>https://github.com/PowerShell/PowerShell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g241ae71e794_0_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51046" y="3430297"/>
            <a:ext cx="5463301" cy="226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241ae71e794_0_8"/>
          <p:cNvSpPr txBox="1"/>
          <p:nvPr/>
        </p:nvSpPr>
        <p:spPr>
          <a:xfrm>
            <a:off x="452275" y="2780375"/>
            <a:ext cx="533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700"/>
              <a:t>Check your version: $PSVersionTable</a:t>
            </a:r>
            <a:endParaRPr sz="1700"/>
          </a:p>
        </p:txBody>
      </p:sp>
      <p:sp>
        <p:nvSpPr>
          <p:cNvPr id="127" name="Google Shape;127;g241ae71e794_0_8"/>
          <p:cNvSpPr txBox="1"/>
          <p:nvPr/>
        </p:nvSpPr>
        <p:spPr>
          <a:xfrm>
            <a:off x="4460700" y="6000575"/>
            <a:ext cx="468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PS is partially compatible with Linux’ Bash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41ae71e794_0_16"/>
          <p:cNvSpPr txBox="1"/>
          <p:nvPr>
            <p:ph type="title"/>
          </p:nvPr>
        </p:nvSpPr>
        <p:spPr>
          <a:xfrm>
            <a:off x="1873675" y="135025"/>
            <a:ext cx="67812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macOS</a:t>
            </a:r>
            <a:endParaRPr/>
          </a:p>
        </p:txBody>
      </p:sp>
      <p:sp>
        <p:nvSpPr>
          <p:cNvPr id="133" name="Google Shape;133;g241ae71e794_0_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700"/>
              </a:spcBef>
              <a:spcAft>
                <a:spcPts val="0"/>
              </a:spcAft>
              <a:buSzPts val="2800"/>
              <a:buChar char="●"/>
            </a:pPr>
            <a:r>
              <a:rPr lang="en-CA"/>
              <a:t>The default shell in macOS is the Z shell (commonly known as Zsh)</a:t>
            </a:r>
            <a:endParaRPr/>
          </a:p>
          <a:p>
            <a:pPr indent="-406400" lvl="0" marL="457200" rtl="0" algn="l">
              <a:spcBef>
                <a:spcPts val="700"/>
              </a:spcBef>
              <a:spcAft>
                <a:spcPts val="700"/>
              </a:spcAft>
              <a:buSzPts val="2800"/>
              <a:buChar char="●"/>
            </a:pPr>
            <a:r>
              <a:rPr lang="en-CA"/>
              <a:t>It is mostly compatible with linux’s Bash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>
            <p:ph type="title"/>
          </p:nvPr>
        </p:nvSpPr>
        <p:spPr>
          <a:xfrm>
            <a:off x="1930400" y="21475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/>
              <a:t>Setting Up a Development Environment</a:t>
            </a:r>
            <a:endParaRPr/>
          </a:p>
        </p:txBody>
      </p:sp>
      <p:sp>
        <p:nvSpPr>
          <p:cNvPr id="139" name="Google Shape;139;p7"/>
          <p:cNvSpPr txBox="1"/>
          <p:nvPr/>
        </p:nvSpPr>
        <p:spPr>
          <a:xfrm>
            <a:off x="0" y="1128156"/>
            <a:ext cx="7695210" cy="221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Recommended IDE: VSCode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Free and built on </a:t>
            </a:r>
            <a:r>
              <a:rPr lang="en-CA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Open-Source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 in support for Github and Jupyter Notebooks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 for Remote Connection via SSH (e.g. to AWS EC2)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Innovative (e.g. CoPilot Support)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Most-popular IDE as of December 2022 (</a:t>
            </a:r>
            <a:r>
              <a:rPr lang="en-CA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reference</a:t>
            </a: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and trending up</a:t>
            </a:r>
            <a:endParaRPr/>
          </a:p>
        </p:txBody>
      </p:sp>
      <p:pic>
        <p:nvPicPr>
          <p:cNvPr id="140" name="Google Shape;14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51340" y="3429000"/>
            <a:ext cx="3041320" cy="3041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1ae71e794_0_83"/>
          <p:cNvSpPr txBox="1"/>
          <p:nvPr>
            <p:ph type="ctrTitle"/>
          </p:nvPr>
        </p:nvSpPr>
        <p:spPr>
          <a:xfrm>
            <a:off x="1955800" y="232833"/>
            <a:ext cx="7188300" cy="57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Git and Github</a:t>
            </a:r>
            <a:endParaRPr/>
          </a:p>
        </p:txBody>
      </p:sp>
      <p:pic>
        <p:nvPicPr>
          <p:cNvPr id="146" name="Google Shape;146;g241ae71e794_0_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975" y="4884899"/>
            <a:ext cx="3063101" cy="128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241ae71e794_0_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9725" y="4884900"/>
            <a:ext cx="1280969" cy="128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41ae71e794_0_90"/>
          <p:cNvSpPr txBox="1"/>
          <p:nvPr>
            <p:ph type="title"/>
          </p:nvPr>
        </p:nvSpPr>
        <p:spPr>
          <a:xfrm>
            <a:off x="1907950" y="0"/>
            <a:ext cx="6789600" cy="1017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Git - a version control system</a:t>
            </a:r>
            <a:endParaRPr/>
          </a:p>
        </p:txBody>
      </p:sp>
      <p:sp>
        <p:nvSpPr>
          <p:cNvPr id="153" name="Google Shape;153;g241ae71e794_0_90"/>
          <p:cNvSpPr txBox="1"/>
          <p:nvPr>
            <p:ph idx="1" type="body"/>
          </p:nvPr>
        </p:nvSpPr>
        <p:spPr>
          <a:xfrm>
            <a:off x="311700" y="1319694"/>
            <a:ext cx="8520600" cy="607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CA"/>
              <a:t>Repository: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CA"/>
              <a:t>Local:</a:t>
            </a:r>
            <a:endParaRPr/>
          </a:p>
          <a:p>
            <a:pPr indent="-406400" lvl="0" marL="457200" rtl="0" algn="l">
              <a:spcBef>
                <a:spcPts val="700"/>
              </a:spcBef>
              <a:spcAft>
                <a:spcPts val="0"/>
              </a:spcAft>
              <a:buSzPts val="2800"/>
              <a:buAutoNum type="arabicPeriod"/>
            </a:pPr>
            <a:r>
              <a:rPr lang="en-CA"/>
              <a:t>Status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CA"/>
              <a:t>Add a file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CA"/>
              <a:t>Commit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CA"/>
              <a:t>Remote:</a:t>
            </a:r>
            <a:endParaRPr/>
          </a:p>
          <a:p>
            <a:pPr indent="-406400" lvl="0" marL="457200" rtl="0" algn="l">
              <a:spcBef>
                <a:spcPts val="700"/>
              </a:spcBef>
              <a:spcAft>
                <a:spcPts val="0"/>
              </a:spcAft>
              <a:buSzPts val="2800"/>
              <a:buAutoNum type="arabicPeriod"/>
            </a:pPr>
            <a:r>
              <a:rPr lang="en-CA"/>
              <a:t>Clone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CA"/>
              <a:t>Push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CA"/>
              <a:t>Pull</a:t>
            </a:r>
            <a:endParaRPr/>
          </a:p>
        </p:txBody>
      </p:sp>
      <p:sp>
        <p:nvSpPr>
          <p:cNvPr id="154" name="Google Shape;154;g241ae71e794_0_90"/>
          <p:cNvSpPr txBox="1"/>
          <p:nvPr/>
        </p:nvSpPr>
        <p:spPr>
          <a:xfrm>
            <a:off x="0" y="59317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 u="sng">
                <a:solidFill>
                  <a:schemeClr val="hlink"/>
                </a:solidFill>
                <a:hlinkClick r:id="rId3"/>
              </a:rPr>
              <a:t>https://git-scm.com/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41ae71e794_0_156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241ae71e794_0_156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700"/>
              </a:spcBef>
              <a:spcAft>
                <a:spcPts val="0"/>
              </a:spcAft>
              <a:buSzPts val="2800"/>
              <a:buAutoNum type="arabicPeriod"/>
            </a:pPr>
            <a:r>
              <a:rPr lang="en-CA"/>
              <a:t>Set a Github account</a:t>
            </a:r>
            <a:endParaRPr/>
          </a:p>
          <a:p>
            <a:pPr indent="-406400" lvl="0" marL="457200" rtl="0" algn="l">
              <a:spcBef>
                <a:spcPts val="700"/>
              </a:spcBef>
              <a:spcAft>
                <a:spcPts val="0"/>
              </a:spcAft>
              <a:buSzPts val="2800"/>
              <a:buAutoNum type="arabicPeriod"/>
            </a:pPr>
            <a:r>
              <a:rPr lang="en-CA"/>
              <a:t>Create a repository</a:t>
            </a:r>
            <a:endParaRPr/>
          </a:p>
          <a:p>
            <a:pPr indent="-406400" lvl="0" marL="457200" rtl="0" algn="l">
              <a:spcBef>
                <a:spcPts val="700"/>
              </a:spcBef>
              <a:spcAft>
                <a:spcPts val="700"/>
              </a:spcAft>
              <a:buSzPts val="2800"/>
              <a:buAutoNum type="arabicPeriod"/>
            </a:pPr>
            <a:r>
              <a:rPr lang="en-CA"/>
              <a:t>Clone the repository (requires GIT)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41ae71e794_0_95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Setting up Git on Your Laptop</a:t>
            </a:r>
            <a:endParaRPr/>
          </a:p>
        </p:txBody>
      </p:sp>
      <p:sp>
        <p:nvSpPr>
          <p:cNvPr id="166" name="Google Shape;166;g241ae71e794_0_95"/>
          <p:cNvSpPr txBox="1"/>
          <p:nvPr>
            <p:ph idx="1" type="body"/>
          </p:nvPr>
        </p:nvSpPr>
        <p:spPr>
          <a:xfrm>
            <a:off x="311700" y="1058244"/>
            <a:ext cx="8520600" cy="607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700"/>
              </a:spcBef>
              <a:spcAft>
                <a:spcPts val="0"/>
              </a:spcAft>
              <a:buSzPts val="2800"/>
              <a:buAutoNum type="arabicPeriod"/>
            </a:pPr>
            <a:r>
              <a:rPr lang="en-CA"/>
              <a:t>Open a terminal and check if git is already installed by typing `git --version`</a:t>
            </a:r>
            <a:endParaRPr/>
          </a:p>
          <a:p>
            <a:pPr indent="-406400" lvl="0" marL="457200" rtl="0" algn="l">
              <a:spcBef>
                <a:spcPts val="700"/>
              </a:spcBef>
              <a:spcAft>
                <a:spcPts val="0"/>
              </a:spcAft>
              <a:buSzPts val="2800"/>
              <a:buAutoNum type="arabicPeriod"/>
            </a:pPr>
            <a:r>
              <a:rPr lang="en-CA"/>
              <a:t>Download and install Git. You can download Git from this URL: </a:t>
            </a:r>
            <a:r>
              <a:rPr lang="en-CA" u="sng">
                <a:solidFill>
                  <a:schemeClr val="hlink"/>
                </a:solidFill>
                <a:hlinkClick r:id="rId3"/>
              </a:rPr>
              <a:t>https://git-scm.com/downloads</a:t>
            </a:r>
            <a:endParaRPr/>
          </a:p>
          <a:p>
            <a:pPr indent="-406400" lvl="0" marL="457200" rtl="0" algn="l">
              <a:spcBef>
                <a:spcPts val="700"/>
              </a:spcBef>
              <a:spcAft>
                <a:spcPts val="0"/>
              </a:spcAft>
              <a:buSzPts val="2800"/>
              <a:buAutoNum type="arabicPeriod"/>
            </a:pPr>
            <a:r>
              <a:rPr lang="en-CA"/>
              <a:t>Verify the installation by typing `git --version` into your terminal.</a:t>
            </a:r>
            <a:endParaRPr/>
          </a:p>
          <a:p>
            <a:pPr indent="-406400" lvl="0" marL="457200" rtl="0" algn="l">
              <a:spcBef>
                <a:spcPts val="700"/>
              </a:spcBef>
              <a:spcAft>
                <a:spcPts val="0"/>
              </a:spcAft>
              <a:buSzPts val="2800"/>
              <a:buAutoNum type="arabicPeriod"/>
            </a:pPr>
            <a:r>
              <a:rPr lang="en-CA"/>
              <a:t>Set up your user name and email address for Git to track who is making changes. You can do this by typing the following commands:</a:t>
            </a:r>
            <a:endParaRPr/>
          </a:p>
          <a:p>
            <a:pPr indent="-381000" lvl="1" marL="914400" rtl="0" algn="l">
              <a:spcBef>
                <a:spcPts val="700"/>
              </a:spcBef>
              <a:spcAft>
                <a:spcPts val="0"/>
              </a:spcAft>
              <a:buSzPts val="2400"/>
              <a:buAutoNum type="alphaLcPeriod"/>
            </a:pPr>
            <a:r>
              <a:rPr lang="en-CA"/>
              <a:t>`git config --global user.name "Your Name"`</a:t>
            </a:r>
            <a:endParaRPr/>
          </a:p>
          <a:p>
            <a:pPr indent="-381000" lvl="1" marL="914400" rtl="0" algn="l">
              <a:spcBef>
                <a:spcPts val="600"/>
              </a:spcBef>
              <a:spcAft>
                <a:spcPts val="600"/>
              </a:spcAft>
              <a:buSzPts val="2400"/>
              <a:buAutoNum type="alphaLcPeriod"/>
            </a:pPr>
            <a:r>
              <a:rPr lang="en-CA"/>
              <a:t>`git config --global user.email "your_email@example.com"`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41ae71e794_0_100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Making Changes, Commit, and Push</a:t>
            </a:r>
            <a:endParaRPr/>
          </a:p>
        </p:txBody>
      </p:sp>
      <p:sp>
        <p:nvSpPr>
          <p:cNvPr id="172" name="Google Shape;172;g241ae71e794_0_100"/>
          <p:cNvSpPr txBox="1"/>
          <p:nvPr>
            <p:ph idx="1" type="body"/>
          </p:nvPr>
        </p:nvSpPr>
        <p:spPr>
          <a:xfrm>
            <a:off x="311700" y="1134444"/>
            <a:ext cx="8520600" cy="607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700"/>
              </a:spcBef>
              <a:spcAft>
                <a:spcPts val="0"/>
              </a:spcAft>
              <a:buSzPts val="2400"/>
              <a:buAutoNum type="arabicPeriod"/>
            </a:pPr>
            <a:r>
              <a:rPr lang="en-CA" sz="2400"/>
              <a:t>Navigate to your local repository on your computer using the terminal.</a:t>
            </a:r>
            <a:endParaRPr sz="2400"/>
          </a:p>
          <a:p>
            <a:pPr indent="-381000" lvl="0" marL="457200" rtl="0" algn="l">
              <a:spcBef>
                <a:spcPts val="700"/>
              </a:spcBef>
              <a:spcAft>
                <a:spcPts val="0"/>
              </a:spcAft>
              <a:buSzPts val="2400"/>
              <a:buAutoNum type="arabicPeriod"/>
            </a:pPr>
            <a:r>
              <a:rPr lang="en-CA" sz="2400"/>
              <a:t>You can make changes to the existing files or create new ones.</a:t>
            </a:r>
            <a:endParaRPr sz="2400"/>
          </a:p>
          <a:p>
            <a:pPr indent="-381000" lvl="0" marL="457200" rtl="0" algn="l">
              <a:spcBef>
                <a:spcPts val="700"/>
              </a:spcBef>
              <a:spcAft>
                <a:spcPts val="0"/>
              </a:spcAft>
              <a:buSzPts val="2400"/>
              <a:buAutoNum type="arabicPeriod"/>
            </a:pPr>
            <a:r>
              <a:rPr lang="en-CA" sz="2400"/>
              <a:t>After making changes, type `git status` to see the changes Git has tracked.</a:t>
            </a:r>
            <a:endParaRPr sz="2400"/>
          </a:p>
          <a:p>
            <a:pPr indent="-381000" lvl="0" marL="457200" rtl="0" algn="l">
              <a:spcBef>
                <a:spcPts val="700"/>
              </a:spcBef>
              <a:spcAft>
                <a:spcPts val="0"/>
              </a:spcAft>
              <a:buSzPts val="2400"/>
              <a:buAutoNum type="arabicPeriod"/>
            </a:pPr>
            <a:r>
              <a:rPr lang="en-CA" sz="2400"/>
              <a:t>Add the changes to the staging area using `git add .` (The '.' means all changes are added. If you want to add specific files, replace '.' with the file's name)</a:t>
            </a:r>
            <a:endParaRPr sz="2400"/>
          </a:p>
          <a:p>
            <a:pPr indent="-381000" lvl="0" marL="457200" rtl="0" algn="l">
              <a:spcBef>
                <a:spcPts val="700"/>
              </a:spcBef>
              <a:spcAft>
                <a:spcPts val="0"/>
              </a:spcAft>
              <a:buSzPts val="2400"/>
              <a:buAutoNum type="arabicPeriod"/>
            </a:pPr>
            <a:r>
              <a:rPr lang="en-CA" sz="2400"/>
              <a:t>Commit your changes using `git commit -m "Your meaningful commit message"`</a:t>
            </a:r>
            <a:endParaRPr sz="2400"/>
          </a:p>
          <a:p>
            <a:pPr indent="-381000" lvl="0" marL="457200" rtl="0" algn="l">
              <a:spcBef>
                <a:spcPts val="700"/>
              </a:spcBef>
              <a:spcAft>
                <a:spcPts val="700"/>
              </a:spcAft>
              <a:buSzPts val="2400"/>
              <a:buAutoNum type="arabicPeriod"/>
            </a:pPr>
            <a:r>
              <a:rPr lang="en-CA" sz="2400"/>
              <a:t>Push your changes to the remote repository using `git push`</a:t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41ae71e794_0_150"/>
          <p:cNvSpPr txBox="1"/>
          <p:nvPr>
            <p:ph type="title"/>
          </p:nvPr>
        </p:nvSpPr>
        <p:spPr>
          <a:xfrm>
            <a:off x="1854000" y="135025"/>
            <a:ext cx="67812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300"/>
              <a:t>Python and Virtual Environments</a:t>
            </a:r>
            <a:endParaRPr sz="3300"/>
          </a:p>
        </p:txBody>
      </p:sp>
      <p:pic>
        <p:nvPicPr>
          <p:cNvPr id="179" name="Google Shape;179;g241ae71e794_0_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9966" y="3411200"/>
            <a:ext cx="2987233" cy="8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241ae71e794_0_150"/>
          <p:cNvSpPr txBox="1"/>
          <p:nvPr/>
        </p:nvSpPr>
        <p:spPr>
          <a:xfrm>
            <a:off x="2934300" y="2602125"/>
            <a:ext cx="3275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/>
              <a:t>Ru</a:t>
            </a:r>
            <a:r>
              <a:rPr b="1" lang="en-CA" sz="2400"/>
              <a:t>n</a:t>
            </a:r>
            <a:r>
              <a:rPr b="1" lang="en-CA" sz="2400"/>
              <a:t>ning Code and maintaining envs</a:t>
            </a:r>
            <a:endParaRPr b="1"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 txBox="1"/>
          <p:nvPr>
            <p:ph type="title"/>
          </p:nvPr>
        </p:nvSpPr>
        <p:spPr>
          <a:xfrm>
            <a:off x="1930400" y="21475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/>
              <a:t>Setting Up a Development Environment</a:t>
            </a:r>
            <a:endParaRPr/>
          </a:p>
        </p:txBody>
      </p:sp>
      <p:sp>
        <p:nvSpPr>
          <p:cNvPr id="186" name="Google Shape;186;p8"/>
          <p:cNvSpPr txBox="1"/>
          <p:nvPr/>
        </p:nvSpPr>
        <p:spPr>
          <a:xfrm>
            <a:off x="332509" y="1211283"/>
            <a:ext cx="7802088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venv and pip?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environments – activation and direct usage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Requirements.txt files, versioning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.gitignore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 owners file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Folder Organization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 branches and rebase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41ae71e794_0_185"/>
          <p:cNvSpPr txBox="1"/>
          <p:nvPr>
            <p:ph type="title"/>
          </p:nvPr>
        </p:nvSpPr>
        <p:spPr>
          <a:xfrm>
            <a:off x="1930400" y="381000"/>
            <a:ext cx="6994500" cy="633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Jupyter Notebooks</a:t>
            </a:r>
            <a:endParaRPr/>
          </a:p>
        </p:txBody>
      </p:sp>
      <p:pic>
        <p:nvPicPr>
          <p:cNvPr id="193" name="Google Shape;193;g241ae71e794_0_1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0101" y="3047887"/>
            <a:ext cx="1364651" cy="176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241ae71e794_0_185"/>
          <p:cNvSpPr txBox="1"/>
          <p:nvPr/>
        </p:nvSpPr>
        <p:spPr>
          <a:xfrm>
            <a:off x="3682650" y="2048275"/>
            <a:ext cx="177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/>
              <a:t>Interactive Code</a:t>
            </a:r>
            <a:endParaRPr b="1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2008-02-14T00:02:49Z</dcterms:created>
  <dc:creator>George Brown College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0x01010092541F4A2AEEDF4DB6E6832E6C073FD1</vt:lpwstr>
  </property>
</Properties>
</file>