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D6F69A-8300-4023-810D-2FF27928BDD0}">
  <a:tblStyle styleId="{87D6F69A-8300-4023-810D-2FF27928BDD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6" orient="horz"/>
        <p:guide pos="1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b9c673a0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b9c673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2db9c673a0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Tensorflow don’t offer abstractions for most operations. The way to go would be to define this with Python (as we done for the binary classification).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CA"/>
              <a:t>In particular, see discussion on implementing Optimizers in Core TF, which might be the more intricate of all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CA"/>
              <a:t>https://www.tensorflow.org/guide/core/optimizers_core</a:t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Tensorflow don’t offer abstractions for most operations. The way to go would be to define this with Python (as we done for the binary classification).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CA"/>
              <a:t>In particular, see discussion on implementing Optimizers in Core TF, which might be the more intricate of all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CA"/>
              <a:t>https://www.tensorflow.org/guide/core/optimizers_core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BC PPT Main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type="ctrTitle"/>
          </p:nvPr>
        </p:nvSpPr>
        <p:spPr>
          <a:xfrm>
            <a:off x="1955800" y="517525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1100"/>
              </a:spcBef>
              <a:spcAft>
                <a:spcPts val="0"/>
              </a:spcAft>
              <a:buSzPts val="4400"/>
              <a:buFont typeface="Noto Sans Symbols"/>
              <a:buNone/>
              <a:defRPr b="1" sz="4400"/>
            </a:lvl1pPr>
            <a:lvl2pPr lvl="1" algn="l">
              <a:spcBef>
                <a:spcPts val="110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35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1" name="Google Shape;31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8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50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 rot="5400000">
            <a:off x="4994275" y="2195513"/>
            <a:ext cx="5745163" cy="211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 rot="5400000">
            <a:off x="684213" y="153987"/>
            <a:ext cx="5745163" cy="619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2" type="dgm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 Slide with white slide Background. The template slide has a top section as a horizontal bar with blue background. The top section contains the George Brown College logo (top left). The footer is separated from the white background with a blue line.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n.wikipedia.org/wiki/Keras#/media/File:Keras_logo.svg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medium.com/analytics-vidhya/ml03-9de2f0dbd62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955800" y="315646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AASD4011: Mathematical Concepts for Deep Learning</a:t>
            </a:r>
            <a:endParaRPr/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400"/>
              <a:buFont typeface="Noto Sans Symbols"/>
              <a:buNone/>
            </a:pPr>
            <a:r>
              <a:rPr lang="en-CA"/>
              <a:t>Keras Abstractions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130629" y="6531429"/>
            <a:ext cx="15556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5699" y="3497036"/>
            <a:ext cx="1752601" cy="175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08102" y="1750289"/>
            <a:ext cx="2173044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Python Code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292250" y="2855498"/>
            <a:ext cx="1302374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861063" y="2855498"/>
            <a:ext cx="1302374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API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13506" y="3814743"/>
            <a:ext cx="2871008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TF low-level API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742662" y="3814743"/>
            <a:ext cx="1160803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C++ API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461613" y="3814743"/>
            <a:ext cx="1160803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API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463544" y="3814743"/>
            <a:ext cx="1160803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292250" y="4809661"/>
            <a:ext cx="8332097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Execution engine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292251" y="5772242"/>
            <a:ext cx="1672100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Kernels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2512250" y="5801159"/>
            <a:ext cx="1672100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GPU Kernels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732249" y="5785103"/>
            <a:ext cx="1672100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TPU Kernels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952248" y="5804579"/>
            <a:ext cx="1672100" cy="36933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4E5E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79" name="Google Shape;79;p15"/>
          <p:cNvCxnSpPr>
            <a:endCxn id="68" idx="0"/>
          </p:cNvCxnSpPr>
          <p:nvPr/>
        </p:nvCxnSpPr>
        <p:spPr>
          <a:xfrm>
            <a:off x="943437" y="2119598"/>
            <a:ext cx="0" cy="73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" name="Google Shape;80;p15"/>
          <p:cNvCxnSpPr/>
          <p:nvPr/>
        </p:nvCxnSpPr>
        <p:spPr>
          <a:xfrm>
            <a:off x="2334409" y="2119621"/>
            <a:ext cx="0" cy="73587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" name="Google Shape;81;p15"/>
          <p:cNvCxnSpPr/>
          <p:nvPr/>
        </p:nvCxnSpPr>
        <p:spPr>
          <a:xfrm>
            <a:off x="1749010" y="2119621"/>
            <a:ext cx="0" cy="1602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p15"/>
          <p:cNvSpPr txBox="1"/>
          <p:nvPr/>
        </p:nvSpPr>
        <p:spPr>
          <a:xfrm>
            <a:off x="354983" y="2267553"/>
            <a:ext cx="1160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1706676" y="3263839"/>
            <a:ext cx="1160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1930400" y="381000"/>
            <a:ext cx="6994500" cy="63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b="29938" l="26222" r="26179" t="30382"/>
          <a:stretch/>
        </p:blipFill>
        <p:spPr>
          <a:xfrm>
            <a:off x="457200" y="1741850"/>
            <a:ext cx="8229601" cy="428768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495500" y="6203150"/>
            <a:ext cx="8685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50">
                <a:solidFill>
                  <a:srgbClr val="6B6B6B"/>
                </a:solidFill>
                <a:highlight>
                  <a:srgbClr val="FFFFFF"/>
                </a:highlight>
              </a:rPr>
              <a:t>Image from </a:t>
            </a:r>
            <a:r>
              <a:rPr lang="en-CA" sz="105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ML03: PyTorch vs. Tensorflow | Analytics Vidhya (medium.com)</a:t>
            </a:r>
            <a:endParaRPr sz="2800">
              <a:solidFill>
                <a:srgbClr val="4D4D4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" name="Google Shape;99;p17"/>
          <p:cNvGraphicFramePr/>
          <p:nvPr/>
        </p:nvGraphicFramePr>
        <p:xfrm>
          <a:off x="320633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{87D6F69A-8300-4023-810D-2FF27928BDD0}</a:tableStyleId>
              </a:tblPr>
              <a:tblGrid>
                <a:gridCol w="2868100"/>
                <a:gridCol w="2868100"/>
                <a:gridCol w="2868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Step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Keras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Tensorflow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Definition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keras.Sequential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keras.layers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tf.nn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Optimizer Definition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keras.optimizers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</a:rPr>
                        <a:t>Loss function Definition (+)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keras.losses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model.compile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Loop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model.fit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model.predict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model.evaluate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keras.models.save_model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tf.saved_model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" name="Google Shape;106;p18"/>
          <p:cNvGraphicFramePr/>
          <p:nvPr/>
        </p:nvGraphicFramePr>
        <p:xfrm>
          <a:off x="320632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{87D6F69A-8300-4023-810D-2FF27928BDD0}</a:tableStyleId>
              </a:tblPr>
              <a:tblGrid>
                <a:gridCol w="2838200"/>
                <a:gridCol w="2838200"/>
                <a:gridCol w="2838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Step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Tensorflow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PyTorch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Definition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tf.nn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torch.nn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Optimizer Definition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torch.optim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</a:rPr>
                        <a:t>Loss function Definition (+)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torch.nn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Loop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CA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tf.saved_model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torch.save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u="none" cap="none" strike="noStrike">
                          <a:solidFill>
                            <a:schemeClr val="dk1"/>
                          </a:solidFill>
                        </a:rPr>
                        <a:t>torch.load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