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f4nP68H3m4I+nrH3w/IBe83R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6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4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6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4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ww.oed.com/viewdictionaryentry/Entry/271625" TargetMode="External"/><Relationship Id="rId6" Type="http://schemas.openxmlformats.org/officeDocument/2006/relationships/hyperlink" Target="https://en.wikipedia.org/wiki/Artificial_intelligence" TargetMode="External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s://en.wikipedia.org/wiki/Artificial_intelligence#Learning" TargetMode="External"/><Relationship Id="rId5" Type="http://schemas.openxmlformats.org/officeDocument/2006/relationships/hyperlink" Target="http://aima.cs.berkeley.edu/" TargetMode="External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www.deeplearningbook.org/contents/intro.html" TargetMode="External"/><Relationship Id="rId5" Type="http://schemas.openxmlformats.org/officeDocument/2006/relationships/hyperlink" Target="https://books.google.co.il/books?id=9CqQDwAAQBAJ&amp;pg=PA15&amp;redir_esc=y#v=onepage&amp;q&amp;f=fals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hyperlink" Target="https://beta.dreamstudio.ai/drea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/index.php?curid=7280138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Relationship Id="rId4" Type="http://schemas.openxmlformats.org/officeDocument/2006/relationships/image" Target="../media/image27.png"/><Relationship Id="rId5" Type="http://schemas.openxmlformats.org/officeDocument/2006/relationships/hyperlink" Target="https://commons.wikimedia.org/wiki/File:Cajal-Restored.jpg#/media/Archivo:Cajal-Restored.jp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en.wikipedia.org/wiki/Cerebral_cortex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ommons.wikimedia.org/w/index.php?curid=125222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mmons.wikimedia.org/w/index.php?curid=125222" TargetMode="External"/><Relationship Id="rId4" Type="http://schemas.openxmlformats.org/officeDocument/2006/relationships/image" Target="../media/image24.png"/><Relationship Id="rId5" Type="http://schemas.openxmlformats.org/officeDocument/2006/relationships/hyperlink" Target="https://en.wikipedia.org/wiki/Activation_functio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gif"/><Relationship Id="rId4" Type="http://schemas.openxmlformats.org/officeDocument/2006/relationships/hyperlink" Target="https://en.wikipedia.org/w/index.php?curid=8201514" TargetMode="External"/><Relationship Id="rId5" Type="http://schemas.openxmlformats.org/officeDocument/2006/relationships/hyperlink" Target="https://commons.wikimedia.org/wiki/File:RecurrentLayerNeuralNetwork.png" TargetMode="External"/><Relationship Id="rId6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en.wikipedia.org/wiki/Artificial_neural_networ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hyperlink" Target="https://commons.wikimedia.org/w/index.php?curid=4099808" TargetMode="External"/><Relationship Id="rId5" Type="http://schemas.openxmlformats.org/officeDocument/2006/relationships/image" Target="../media/image26.png"/><Relationship Id="rId6" Type="http://schemas.openxmlformats.org/officeDocument/2006/relationships/hyperlink" Target="https://en.wikipedia.org/wiki/Mean_squared_erro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hyperlink" Target="https://chat.openai.com/cha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Relationship Id="rId4" Type="http://schemas.openxmlformats.org/officeDocument/2006/relationships/hyperlink" Target="https://commons.wikimedia.org/w/index.php?curid=72715391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hyperlink" Target="https://commons.wikimedia.org/w/index.php?curid=20569355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upload.wikimedia.org/wikipedia/commons/4/4c/Gradient_Descent_in_2D.webm" TargetMode="External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955800" y="363150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2800"/>
              <a:t>AASD4011: Mathematical Concepts for Deep Learning</a:t>
            </a:r>
            <a:endParaRPr sz="2800"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/>
              <a:t>Introduction to Deep Learning</a:t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600"/>
              <a:t>“What is deep learning?”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What would be your answer?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What is Deep Learning?</a:t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9982" r="0" t="0"/>
          <a:stretch/>
        </p:blipFill>
        <p:spPr>
          <a:xfrm>
            <a:off x="913200" y="1617675"/>
            <a:ext cx="8230801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111069" y="1146761"/>
            <a:ext cx="85449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OpenAI’s ChatGPT, a Deep Learning model,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answers the question “what is deep learning” as follows: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0" y="1780400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0" y="26370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 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What is Deep Learning?</a:t>
            </a:r>
            <a:endParaRPr/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8095" r="0" t="0"/>
          <a:stretch/>
        </p:blipFill>
        <p:spPr>
          <a:xfrm>
            <a:off x="740025" y="1643975"/>
            <a:ext cx="8403976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380010" y="5343896"/>
            <a:ext cx="854491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examine these four elements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(and see how accurate ChatGPT 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629392" y="308426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7408224" y="2371744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548743" y="240539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2848099" y="2853432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0" y="26370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 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What is Deep Learning?</a:t>
            </a:r>
            <a:endParaRPr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3">
            <a:alphaModFix/>
          </a:blip>
          <a:srcRect b="0" l="8223" r="0" t="0"/>
          <a:stretch/>
        </p:blipFill>
        <p:spPr>
          <a:xfrm>
            <a:off x="751575" y="1643975"/>
            <a:ext cx="8392426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380010" y="5343896"/>
            <a:ext cx="854491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examine these four elements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(and see how accurate ChatGPT 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29392" y="308426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408224" y="2371744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3548743" y="240539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2848099" y="2853432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0" y="26370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 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200"/>
              <a:t>“Deep Learning is a Type of Machine Learning”</a:t>
            </a:r>
            <a:endParaRPr/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716" y="1641764"/>
            <a:ext cx="6773806" cy="407323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/>
          <p:nvPr/>
        </p:nvSpPr>
        <p:spPr>
          <a:xfrm>
            <a:off x="-21516" y="6540650"/>
            <a:ext cx="31627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Chollet, Chapter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8569" y="5993795"/>
            <a:ext cx="37436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what is Machine Learning?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200"/>
              <a:t>Deep Learning is a Type of Machine Learning</a:t>
            </a:r>
            <a:endParaRPr/>
          </a:p>
        </p:txBody>
      </p:sp>
      <p:pic>
        <p:nvPicPr>
          <p:cNvPr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502"/>
            <a:ext cx="4537264" cy="272835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/>
        </p:nvSpPr>
        <p:spPr>
          <a:xfrm>
            <a:off x="856233" y="4379955"/>
            <a:ext cx="73620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r>
              <a:rPr b="0" i="0" lang="en-CA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 The capacity of computers or other machines to exhibit or simulate intelligent behavior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84" y="3785261"/>
            <a:ext cx="2658143" cy="464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/>
        </p:nvSpPr>
        <p:spPr>
          <a:xfrm>
            <a:off x="-1" y="6543303"/>
            <a:ext cx="64245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OED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December 2022;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December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856233" y="5542817"/>
            <a:ext cx="76239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Artificial intelligence 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1" lang="en-CA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intelligence - perceiving, synthesizing, and inferring information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demonstrated by machines, as opposed to intelligence displayed by animals and humans.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309" y="5032720"/>
            <a:ext cx="1778091" cy="53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4537263" y="1478630"/>
            <a:ext cx="45898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Artificial intelligence 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intelligence demonstrated by machines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200"/>
              <a:t>Deep Learning is a Type of Machine Learning</a:t>
            </a:r>
            <a:endParaRPr/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502"/>
            <a:ext cx="4537264" cy="2728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 txBox="1"/>
          <p:nvPr/>
        </p:nvSpPr>
        <p:spPr>
          <a:xfrm>
            <a:off x="-1" y="6543303"/>
            <a:ext cx="64245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December 2022;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Russell &amp; Norvig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(2003), pp. 649–788.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344384" y="4310737"/>
            <a:ext cx="82889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 - </a:t>
            </a:r>
            <a:r>
              <a:rPr b="0" i="0" lang="en-CA" sz="1800" u="none" cap="none" strike="noStrik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 the study of computer algorithms that improve automatically through experience.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371106" y="5510287"/>
            <a:ext cx="81553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 - A computer program is set to learn from an experience E with respect to some task T and some performance measure P if its performance on T as measured by P improves with experience 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0266" y="5077435"/>
            <a:ext cx="66739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Tom Mitchell's widely quoted definition of machine learning: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309" y="3674335"/>
            <a:ext cx="1778091" cy="53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/>
        </p:nvSpPr>
        <p:spPr>
          <a:xfrm>
            <a:off x="4537263" y="1478630"/>
            <a:ext cx="45898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methods for achieving intelligence demonstrated by machines, where the intelligence was acquired </a:t>
            </a:r>
            <a:r>
              <a:rPr b="0" i="0" lang="en-CA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by learning from experience (data)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1930400" y="21475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200"/>
              <a:t>Deep Learning is a Type of Machine Learning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502"/>
            <a:ext cx="4537264" cy="27283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0" y="4060438"/>
            <a:ext cx="690640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word “Deep” in “Deep Learning” refers to either: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hierarchy of representations (Chollet, p.7, </a:t>
            </a:r>
            <a:r>
              <a:rPr b="0" i="0" lang="en-CA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Goodfellow</a:t>
            </a: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layers in a feedforward-network or an unrolled RNN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length of the credit assignment path (</a:t>
            </a:r>
            <a:r>
              <a:rPr b="0" i="0" lang="en-CA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Sugiyama</a:t>
            </a: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p.15)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4537263" y="1478630"/>
            <a:ext cx="45898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methods for achieving intelligence demonstrated by machines, where the intelligence was acquired by learning from experience (data), and by using artificial neural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1894774" y="20287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3600"/>
              <a:t>Deep Learning is a Type of Machine Learning</a:t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163" y="1834273"/>
            <a:ext cx="5474435" cy="318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What is Deep Learning?</a:t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7842" r="0" t="0"/>
          <a:stretch/>
        </p:blipFill>
        <p:spPr>
          <a:xfrm>
            <a:off x="716925" y="1643975"/>
            <a:ext cx="8427074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/>
        </p:nvSpPr>
        <p:spPr>
          <a:xfrm>
            <a:off x="380010" y="5343896"/>
            <a:ext cx="85449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OpenAI’s ChatGPT, a Deep Learning model, answers the question “what is deep learning?”.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29392" y="308426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7408224" y="2371744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3548743" y="240539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2848099" y="2853432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0" y="26370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 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A picture containing decorated, light&#10;&#10;Description automatically generated"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367" y="1266785"/>
            <a:ext cx="3594025" cy="359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painting&#10;&#10;Description automatically generated with medium confidence" id="170" name="Google Shape;17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09" y="1266786"/>
            <a:ext cx="3594025" cy="35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2"/>
          <p:cNvSpPr txBox="1"/>
          <p:nvPr/>
        </p:nvSpPr>
        <p:spPr>
          <a:xfrm>
            <a:off x="472366" y="5591214"/>
            <a:ext cx="79293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“Artificial neural network in the style of Salvador Dalí”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Produced with </a:t>
            </a:r>
            <a:r>
              <a:rPr b="0" i="0" lang="en-CA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DreamStudio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by StableAI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1882900" y="174278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The Biological Neuron Analogy</a:t>
            </a:r>
            <a:endParaRPr/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457200" y="5367647"/>
            <a:ext cx="8229600" cy="758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166255" y="1116281"/>
            <a:ext cx="3835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Biological Neuron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135" y="1438473"/>
            <a:ext cx="7493330" cy="416426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0" y="6550223"/>
            <a:ext cx="4583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Egm4313.s12 , </a:t>
            </a:r>
            <a:r>
              <a:rPr b="0" i="0" lang="en-CA" sz="1400" u="sng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The Biological Neuron Analogy</a:t>
            </a:r>
            <a:endParaRPr/>
          </a:p>
        </p:txBody>
      </p:sp>
      <p:pic>
        <p:nvPicPr>
          <p:cNvPr descr="A person with a beard&#10;&#10;Description automatically generated with low confidence" id="186" name="Google Shape;18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14" y="5023822"/>
            <a:ext cx="945524" cy="128522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/>
        </p:nvSpPr>
        <p:spPr>
          <a:xfrm>
            <a:off x="166255" y="1116281"/>
            <a:ext cx="3835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Biological Neuron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7034" y="1025710"/>
            <a:ext cx="4272700" cy="5451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/>
          <p:nvPr/>
        </p:nvSpPr>
        <p:spPr>
          <a:xfrm>
            <a:off x="1" y="6578867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Santiago Ramón y Cajal, The pyramidal neuron of the cerebral cortex, 1904, Credit: Cajal Institute (CSIC), Madrid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166255" y="6266012"/>
            <a:ext cx="10319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1800"/>
              <a:t>The Biological Neuron Analogy</a:t>
            </a:r>
            <a:endParaRPr/>
          </a:p>
        </p:txBody>
      </p:sp>
      <p:pic>
        <p:nvPicPr>
          <p:cNvPr descr="Background pattern&#10;&#10;Description automatically generated" id="196" name="Google Shape;196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62059" r="0" t="0"/>
          <a:stretch/>
        </p:blipFill>
        <p:spPr>
          <a:xfrm>
            <a:off x="6875813" y="-54501"/>
            <a:ext cx="2268187" cy="691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/>
        </p:nvSpPr>
        <p:spPr>
          <a:xfrm>
            <a:off x="237507" y="1311296"/>
            <a:ext cx="545077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Drawing of cortical lamination by Santiago Ramon y Cajal,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vertical cross-section, with the surface of the cortex at the top.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(this is a Golgi-stain which shows the dendrites and axons of a random subset of neurons).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0" y="6531429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Domain, Retrieved from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https://en.wikipedia.org/wiki/Cerebral_cortex</a:t>
            </a: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December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Modeling a Single Neuron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-11874" y="6548250"/>
            <a:ext cx="4583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7"/>
          <p:cNvGrpSpPr/>
          <p:nvPr/>
        </p:nvGrpSpPr>
        <p:grpSpPr>
          <a:xfrm>
            <a:off x="2089562" y="1131522"/>
            <a:ext cx="4964875" cy="3413352"/>
            <a:chOff x="2089562" y="1131522"/>
            <a:chExt cx="4964875" cy="3413352"/>
          </a:xfrm>
        </p:grpSpPr>
        <p:pic>
          <p:nvPicPr>
            <p:cNvPr id="206" name="Google Shape;20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89562" y="1131522"/>
              <a:ext cx="4964875" cy="3413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7"/>
            <p:cNvSpPr txBox="1"/>
            <p:nvPr/>
          </p:nvSpPr>
          <p:spPr>
            <a:xfrm>
              <a:off x="5760171" y="2291223"/>
              <a:ext cx="7237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CA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819" y="4668602"/>
            <a:ext cx="7930360" cy="89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3504" y="5671463"/>
            <a:ext cx="1296989" cy="76593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6375870" y="1405671"/>
            <a:ext cx="2161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rgbClr val="009DDC"/>
                </a:solidFill>
                <a:latin typeface="Arial"/>
                <a:ea typeface="Arial"/>
                <a:cs typeface="Arial"/>
                <a:sym typeface="Arial"/>
              </a:rPr>
              <a:t>Activation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7"/>
          <p:cNvCxnSpPr/>
          <p:nvPr/>
        </p:nvCxnSpPr>
        <p:spPr>
          <a:xfrm flipH="1">
            <a:off x="6258296" y="1775003"/>
            <a:ext cx="368135" cy="671314"/>
          </a:xfrm>
          <a:prstGeom prst="straightConnector1">
            <a:avLst/>
          </a:prstGeom>
          <a:noFill/>
          <a:ln cap="flat" cmpd="sng" w="9525">
            <a:solidFill>
              <a:srgbClr val="B5DAD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Activation Functions</a:t>
            </a:r>
            <a:endParaRPr/>
          </a:p>
        </p:txBody>
      </p:sp>
      <p:grpSp>
        <p:nvGrpSpPr>
          <p:cNvPr id="217" name="Google Shape;217;p18"/>
          <p:cNvGrpSpPr/>
          <p:nvPr/>
        </p:nvGrpSpPr>
        <p:grpSpPr>
          <a:xfrm>
            <a:off x="926275" y="1014413"/>
            <a:ext cx="7291450" cy="7064772"/>
            <a:chOff x="-11874" y="381001"/>
            <a:chExt cx="5165765" cy="6475026"/>
          </a:xfrm>
        </p:grpSpPr>
        <p:sp>
          <p:nvSpPr>
            <p:cNvPr id="218" name="Google Shape;218;p18"/>
            <p:cNvSpPr txBox="1"/>
            <p:nvPr/>
          </p:nvSpPr>
          <p:spPr>
            <a:xfrm>
              <a:off x="-11874" y="6548250"/>
              <a:ext cx="45838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CA" sz="1400" u="sng" cap="none" strike="noStrike">
                  <a:solidFill>
                    <a:srgbClr val="0097A7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Wikipedia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" name="Google Shape;219;p18"/>
            <p:cNvPicPr preferRelativeResize="0"/>
            <p:nvPr/>
          </p:nvPicPr>
          <p:blipFill rotWithShape="1">
            <a:blip r:embed="rId4">
              <a:alphaModFix/>
            </a:blip>
            <a:srcRect b="19656" l="0" r="43637" t="-820"/>
            <a:stretch/>
          </p:blipFill>
          <p:spPr>
            <a:xfrm>
              <a:off x="0" y="381001"/>
              <a:ext cx="5153891" cy="48678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18"/>
          <p:cNvSpPr txBox="1"/>
          <p:nvPr/>
        </p:nvSpPr>
        <p:spPr>
          <a:xfrm>
            <a:off x="0" y="6550223"/>
            <a:ext cx="15813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Two Types of Neural Networks</a:t>
            </a:r>
            <a:endParaRPr/>
          </a:p>
        </p:txBody>
      </p:sp>
      <p:sp>
        <p:nvSpPr>
          <p:cNvPr id="226" name="Google Shape;226;p19"/>
          <p:cNvSpPr txBox="1"/>
          <p:nvPr>
            <p:ph idx="1" type="body"/>
          </p:nvPr>
        </p:nvSpPr>
        <p:spPr>
          <a:xfrm>
            <a:off x="457200" y="1600200"/>
            <a:ext cx="2770094" cy="633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CA"/>
              <a:t>Feed-Forward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5916708" y="1655296"/>
            <a:ext cx="26248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A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Recurrent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, schematic&#10;&#10;Description automatically generated"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64" y="2378337"/>
            <a:ext cx="3035815" cy="351515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1694329" y="6550223"/>
            <a:ext cx="15813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300395" y="6550223"/>
            <a:ext cx="15813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31" name="Google Shape;23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9185" y="2550216"/>
            <a:ext cx="371475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957430" y="6066268"/>
            <a:ext cx="25065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Directed Acyclic Graph (DAG)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513294" y="6111302"/>
            <a:ext cx="25065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Directed Cyclic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Artificial Neural Network</a:t>
            </a:r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457200" y="1600200"/>
            <a:ext cx="82296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CA" sz="1600"/>
              <a:t>Artificial neural networks (ANNs) -</a:t>
            </a:r>
            <a:r>
              <a:rPr lang="en-CA" sz="1600"/>
              <a:t>are computing systems inspired by the biological neural networks that constitute animal brains.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An ANN is based on a collection of connected units or </a:t>
            </a:r>
            <a:r>
              <a:rPr b="1" lang="en-CA" sz="1600"/>
              <a:t>nodes</a:t>
            </a:r>
            <a:r>
              <a:rPr lang="en-CA" sz="1600"/>
              <a:t> called artificial neurons, which loosely model the neurons in a biological brain.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Each </a:t>
            </a:r>
            <a:r>
              <a:rPr b="1" lang="en-CA" sz="1600"/>
              <a:t>connection</a:t>
            </a:r>
            <a:r>
              <a:rPr lang="en-CA" sz="1600"/>
              <a:t>, like the synapses in a biological brain, can transmit a signal to other neurons.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An artificial neuron receives signals then processes them and can signal neurons connected to it.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The "signal" at a connection is a </a:t>
            </a:r>
            <a:r>
              <a:rPr b="1" lang="en-CA" sz="1600"/>
              <a:t>real number</a:t>
            </a:r>
            <a:r>
              <a:rPr lang="en-CA" sz="1600"/>
              <a:t>, and the output of each neuron is computed by some </a:t>
            </a:r>
            <a:r>
              <a:rPr b="1" lang="en-CA" sz="1600"/>
              <a:t>non-linear function </a:t>
            </a:r>
            <a:r>
              <a:rPr lang="en-CA" sz="1600"/>
              <a:t>of the sum of its inputs.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The connections typically have a </a:t>
            </a:r>
            <a:r>
              <a:rPr b="1" lang="en-CA" sz="1600"/>
              <a:t>weights</a:t>
            </a:r>
            <a:r>
              <a:rPr lang="en-CA" sz="1600"/>
              <a:t> that adjusts as learning proceeds. 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The weight increases or decreases the strength of the signal at a connection.</a:t>
            </a: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Neurons may have a </a:t>
            </a:r>
            <a:r>
              <a:rPr b="1" lang="en-CA" sz="1600"/>
              <a:t>threshold</a:t>
            </a:r>
            <a:r>
              <a:rPr lang="en-CA" sz="1600"/>
              <a:t> such that a signal is sent only if the aggregate signal crosses that threshold.</a:t>
            </a:r>
            <a:endParaRPr sz="1600"/>
          </a:p>
        </p:txBody>
      </p:sp>
      <p:sp>
        <p:nvSpPr>
          <p:cNvPr id="240" name="Google Shape;240;p29"/>
          <p:cNvSpPr txBox="1"/>
          <p:nvPr/>
        </p:nvSpPr>
        <p:spPr>
          <a:xfrm>
            <a:off x="0" y="6540649"/>
            <a:ext cx="27324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Definition of Deep Learning</a:t>
            </a:r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3">
            <a:alphaModFix/>
          </a:blip>
          <a:srcRect b="0" l="8095" r="0" t="0"/>
          <a:stretch/>
        </p:blipFill>
        <p:spPr>
          <a:xfrm>
            <a:off x="740025" y="1643975"/>
            <a:ext cx="8403976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380010" y="5343896"/>
            <a:ext cx="85449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OpenAI’s ChatGPT, a Deep Learning model, answers the question “what is deep learning?”.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629392" y="308426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7408224" y="2371744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3548743" y="240539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2848099" y="2853432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0" y="2853413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ChatGPT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Loss Function</a:t>
            </a:r>
            <a:endParaRPr/>
          </a:p>
        </p:txBody>
      </p:sp>
      <p:pic>
        <p:nvPicPr>
          <p:cNvPr descr="Chart, line chart&#10;&#10;Description automatically generated" id="260" name="Google Shape;26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8260" y="1161527"/>
            <a:ext cx="3991173" cy="502984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/>
        </p:nvSpPr>
        <p:spPr>
          <a:xfrm>
            <a:off x="154379" y="1161527"/>
            <a:ext cx="477388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loss function (or cost function)</a:t>
            </a: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is a function that maps values of one or more variables onto a real number intuitively representing some "cost" associated with the event, that is negatively correlated with a success measure (such as accuracy). An optimization problem seeks to minimize a loss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0" y="6536375"/>
            <a:ext cx="4583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Oleg Alexandrov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5320145" y="5949540"/>
            <a:ext cx="38238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Regression and an associated Loss Function (in green)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378" y="4643841"/>
            <a:ext cx="4773882" cy="78834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 txBox="1"/>
          <p:nvPr/>
        </p:nvSpPr>
        <p:spPr>
          <a:xfrm>
            <a:off x="224567" y="4172116"/>
            <a:ext cx="3693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Squared Error (MSE):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-17814" y="6203123"/>
            <a:ext cx="46016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https://en.wikipedia.org/wiki/Mean_squared_error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Definition of Deep Learning</a:t>
            </a:r>
            <a:endParaRPr/>
          </a:p>
        </p:txBody>
      </p:sp>
      <p:pic>
        <p:nvPicPr>
          <p:cNvPr id="272" name="Google Shape;272;p36"/>
          <p:cNvPicPr preferRelativeResize="0"/>
          <p:nvPr/>
        </p:nvPicPr>
        <p:blipFill rotWithShape="1">
          <a:blip r:embed="rId3">
            <a:alphaModFix/>
          </a:blip>
          <a:srcRect b="0" l="8095" r="0" t="0"/>
          <a:stretch/>
        </p:blipFill>
        <p:spPr>
          <a:xfrm>
            <a:off x="740025" y="1643975"/>
            <a:ext cx="8403976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6"/>
          <p:cNvSpPr txBox="1"/>
          <p:nvPr/>
        </p:nvSpPr>
        <p:spPr>
          <a:xfrm>
            <a:off x="380010" y="5343896"/>
            <a:ext cx="85449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OpenAI’s ChatGPT, a Deep Learning model, answers the question “what is deep learning?”.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313046" y="6550223"/>
            <a:ext cx="87359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ChatGPT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retrieved on December 2022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629392" y="308426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7408224" y="2371744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3548743" y="2405395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2848099" y="2853432"/>
            <a:ext cx="700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CA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0" y="27611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930400" y="202871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Learning with </a:t>
            </a:r>
            <a:br>
              <a:rPr lang="en-CA"/>
            </a:br>
            <a:r>
              <a:rPr lang="en-CA"/>
              <a:t>Gradient Descent</a:t>
            </a:r>
            <a:endParaRPr/>
          </a:p>
        </p:txBody>
      </p:sp>
      <p:pic>
        <p:nvPicPr>
          <p:cNvPr descr="A foggy forest with trees&#10;&#10;Description automatically generated with low confidence" id="286" name="Google Shape;286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297" y="1258784"/>
            <a:ext cx="7804807" cy="519544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/>
        </p:nvSpPr>
        <p:spPr>
          <a:xfrm>
            <a:off x="0" y="6550223"/>
            <a:ext cx="91439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U.S. Forest Service - Okanogan-Wenatchee National Forest, morning fog shrouds trees, </a:t>
            </a: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937" y="800796"/>
            <a:ext cx="4904509" cy="525640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 txBox="1"/>
          <p:nvPr/>
        </p:nvSpPr>
        <p:spPr>
          <a:xfrm>
            <a:off x="0" y="6550223"/>
            <a:ext cx="1068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A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2449285" y="5903892"/>
            <a:ext cx="45898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Illustration of gradient descent on a series of level sets of a 2D -&gt; 1D convex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 txBox="1"/>
          <p:nvPr>
            <p:ph type="title"/>
          </p:nvPr>
        </p:nvSpPr>
        <p:spPr>
          <a:xfrm>
            <a:off x="1930400" y="202871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Learning with </a:t>
            </a:r>
            <a:br>
              <a:rPr lang="en-CA"/>
            </a:br>
            <a:r>
              <a:rPr lang="en-CA"/>
              <a:t>Gradient Descent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1930400" y="202871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Learning with </a:t>
            </a:r>
            <a:br>
              <a:rPr lang="en-CA"/>
            </a:br>
            <a:r>
              <a:rPr lang="en-CA"/>
              <a:t>Gradient Descent</a:t>
            </a:r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362197" y="6127667"/>
            <a:ext cx="8229600" cy="422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1400"/>
              <a:t>Video: </a:t>
            </a:r>
            <a:r>
              <a:rPr lang="en-CA" sz="1400" u="sng">
                <a:solidFill>
                  <a:schemeClr val="hlink"/>
                </a:solidFill>
                <a:hlinkClick r:id="rId3"/>
              </a:rPr>
              <a:t>https://upload.wikimedia.org/wikipedia/commons/4/4c/Gradient_Descent_in_2D.webm</a:t>
            </a:r>
            <a:endParaRPr sz="1400"/>
          </a:p>
        </p:txBody>
      </p:sp>
      <p:pic>
        <p:nvPicPr>
          <p:cNvPr id="302" name="Google Shape;30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0400" y="1313837"/>
            <a:ext cx="5188217" cy="461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Definition of Deep Learning</a:t>
            </a:r>
            <a:endParaRPr/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 b="0" l="10112" r="0" t="0"/>
          <a:stretch/>
        </p:blipFill>
        <p:spPr>
          <a:xfrm>
            <a:off x="924750" y="1617675"/>
            <a:ext cx="8219251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 txBox="1"/>
          <p:nvPr/>
        </p:nvSpPr>
        <p:spPr>
          <a:xfrm>
            <a:off x="0" y="1772375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Human: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0" y="2756050"/>
            <a:ext cx="66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CA" sz="9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ChatGPT:</a:t>
            </a:r>
            <a:endParaRPr b="1" i="0" sz="900" u="none" cap="none" strike="noStrik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Take-Aways: Definitions</a:t>
            </a:r>
            <a:endParaRPr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142504" y="1600200"/>
            <a:ext cx="854429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Deep Learning (DL) is a type of Machine Learning.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In the general sense, DL is distinguished from ML models by having many intermediate representations (Goodfellow and Chollet).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 u="sng">
                <a:highlight>
                  <a:schemeClr val="lt1"/>
                </a:highlight>
              </a:rPr>
              <a:t>In practice, DL models are artificial neural networks (ANN), trained based on gradient descent algorithms.</a:t>
            </a:r>
            <a:endParaRPr u="sng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Take-Aways: Single Neuron</a:t>
            </a:r>
            <a:endParaRPr/>
          </a:p>
        </p:txBody>
      </p:sp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142504" y="1600200"/>
            <a:ext cx="854429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An Artificial neuron sums up all of its input, and feeds it into an activation function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The activation function might be linear (‘pass-through’), or non-linear (e.g. sigmoid or a ReLU). Its output is the neuron’s output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Take-Aways: Loss Function</a:t>
            </a:r>
            <a:endParaRPr/>
          </a:p>
        </p:txBody>
      </p:sp>
      <p:sp>
        <p:nvSpPr>
          <p:cNvPr id="328" name="Google Shape;328;p43"/>
          <p:cNvSpPr txBox="1"/>
          <p:nvPr>
            <p:ph idx="1" type="body"/>
          </p:nvPr>
        </p:nvSpPr>
        <p:spPr>
          <a:xfrm>
            <a:off x="142504" y="1600200"/>
            <a:ext cx="854429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In DL, Learning from data is equivalent to training of a neural network.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During training, a neural network requires an objective by which its performance can be numerically measured, and this is the </a:t>
            </a:r>
            <a:r>
              <a:rPr b="1" lang="en-CA"/>
              <a:t>loss function.</a:t>
            </a:r>
            <a:endParaRPr b="1"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A common loss function for regression problems in the mean squared error (MSE)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Take-Aways: Gradient Descent</a:t>
            </a:r>
            <a:endParaRPr/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142504" y="1600200"/>
            <a:ext cx="854429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 u="sng"/>
              <a:t>Training a neural network is done by </a:t>
            </a:r>
            <a:r>
              <a:rPr b="1" lang="en-CA" u="sng"/>
              <a:t>minimizing the value of its loss function </a:t>
            </a:r>
            <a:r>
              <a:rPr lang="en-CA" u="sng"/>
              <a:t>for a given dataset.</a:t>
            </a:r>
            <a:endParaRPr u="sng"/>
          </a:p>
          <a:p>
            <a:pPr indent="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/>
          </a:p>
          <a:p>
            <a:pPr indent="-3429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 u="sng"/>
              <a:t>This is done by taking small steps, in the direction opposite to the direction of the gradient.</a:t>
            </a:r>
            <a:r>
              <a:rPr lang="en-CA"/>
              <a:t> </a:t>
            </a:r>
            <a:r>
              <a:rPr lang="en-CA" u="sng"/>
              <a:t>This is called gradient descent</a:t>
            </a:r>
            <a:r>
              <a:rPr lang="en-CA"/>
              <a:t> (a detailed example will appear soon).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0x01010092541F4A2AEEDF4DB6E6832E6C073FD1</vt:lpwstr>
  </property>
</Properties>
</file>