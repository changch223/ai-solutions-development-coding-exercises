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66">
          <p15:clr>
            <a:srgbClr val="A4A3A4"/>
          </p15:clr>
        </p15:guide>
        <p15:guide id="2" pos="1292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jyM7DEmhkMwzFW+oCajF8SNcy9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66" orient="horz"/>
        <p:guide pos="129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BC PPT Main" id="14" name="Google Shape;1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6350" y="0"/>
            <a:ext cx="91567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4"/>
          <p:cNvSpPr txBox="1"/>
          <p:nvPr>
            <p:ph type="ctrTitle"/>
          </p:nvPr>
        </p:nvSpPr>
        <p:spPr>
          <a:xfrm>
            <a:off x="1955800" y="517525"/>
            <a:ext cx="71882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" type="subTitle"/>
          </p:nvPr>
        </p:nvSpPr>
        <p:spPr>
          <a:xfrm>
            <a:off x="838200" y="2408238"/>
            <a:ext cx="7467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4400"/>
              <a:buFont typeface="Noto Sans Symbols"/>
              <a:buNone/>
              <a:defRPr b="1" sz="4400"/>
            </a:lvl1pPr>
            <a:lvl2pPr lvl="1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350"/>
              </a:spcBef>
              <a:spcAft>
                <a:spcPts val="350"/>
              </a:spcAft>
              <a:buSzPts val="1400"/>
              <a:buFont typeface="Arial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26" name="Google Shape;2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800"/>
              <a:buFont typeface="Arial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0" name="Google Shape;30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31" name="Google Shape;31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2" name="Google Shape;32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4"/>
          <p:cNvSpPr txBox="1"/>
          <p:nvPr>
            <p:ph type="title"/>
          </p:nvPr>
        </p:nvSpPr>
        <p:spPr>
          <a:xfrm rot="5400000">
            <a:off x="4994275" y="2195513"/>
            <a:ext cx="5745163" cy="2116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" type="body"/>
          </p:nvPr>
        </p:nvSpPr>
        <p:spPr>
          <a:xfrm rot="5400000">
            <a:off x="684213" y="153987"/>
            <a:ext cx="5745163" cy="6199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iagram or Organization Chart" type="dgm">
  <p:cSld name="DIAGRAM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/>
          <p:nvPr>
            <p:ph idx="2" type="dgm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5AA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late Slide with white slide Background. The template slide has a top section as a horizontal bar with blue background. The top section contains the George Brown College logo (top left). The footer is separated from the white background with a blue line." id="10" name="Google Shape;10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6350" y="0"/>
            <a:ext cx="91567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3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5AA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MaxKotlan/Cuda-Matrix-Multiplication-Benchmar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ctrTitle"/>
          </p:nvPr>
        </p:nvSpPr>
        <p:spPr>
          <a:xfrm>
            <a:off x="1955800" y="363150"/>
            <a:ext cx="71882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 sz="2800"/>
              <a:t>AASD4011: Mathematical Concepts for Deep Learning</a:t>
            </a:r>
            <a:endParaRPr sz="2800"/>
          </a:p>
        </p:txBody>
      </p:sp>
      <p:sp>
        <p:nvSpPr>
          <p:cNvPr id="59" name="Google Shape;59;p1"/>
          <p:cNvSpPr txBox="1"/>
          <p:nvPr>
            <p:ph idx="1" type="subTitle"/>
          </p:nvPr>
        </p:nvSpPr>
        <p:spPr>
          <a:xfrm>
            <a:off x="653143" y="1095547"/>
            <a:ext cx="7467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CA"/>
              <a:t>Matrix Multiplication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SzPts val="3200"/>
              <a:buNone/>
            </a:pPr>
            <a:r>
              <a:rPr lang="en-CA" sz="3200"/>
              <a:t>The ‘Magic’ of</a:t>
            </a:r>
            <a:endParaRPr sz="3200"/>
          </a:p>
        </p:txBody>
      </p:sp>
      <p:pic>
        <p:nvPicPr>
          <p:cNvPr id="60" name="Google Shape;6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0759" y="2586741"/>
            <a:ext cx="2012368" cy="96657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 txBox="1"/>
          <p:nvPr/>
        </p:nvSpPr>
        <p:spPr>
          <a:xfrm>
            <a:off x="1603169" y="4303679"/>
            <a:ext cx="556754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CA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its importance for neural networks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ape&#10;&#10;Description automatically generated with medium confidence" id="62" name="Google Shape;6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996" y="3856454"/>
            <a:ext cx="1011555" cy="250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63" name="Google Shape;6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5667" y="3598942"/>
            <a:ext cx="1197430" cy="76593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"/>
          <p:cNvSpPr txBox="1"/>
          <p:nvPr/>
        </p:nvSpPr>
        <p:spPr>
          <a:xfrm>
            <a:off x="2934196" y="3429000"/>
            <a:ext cx="2971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CA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70267" y="4871865"/>
            <a:ext cx="2590800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1865086" y="185057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Conventions (in 2D)</a:t>
            </a:r>
            <a:endParaRPr/>
          </a:p>
        </p:txBody>
      </p:sp>
      <p:pic>
        <p:nvPicPr>
          <p:cNvPr id="71" name="Google Shape;7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7434" y="1660199"/>
            <a:ext cx="3992828" cy="2745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/>
          <p:nvPr>
            <p:ph type="title"/>
          </p:nvPr>
        </p:nvSpPr>
        <p:spPr>
          <a:xfrm>
            <a:off x="1778000" y="185057"/>
            <a:ext cx="7344229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Terminology</a:t>
            </a:r>
            <a:endParaRPr/>
          </a:p>
        </p:txBody>
      </p:sp>
      <p:sp>
        <p:nvSpPr>
          <p:cNvPr id="77" name="Google Shape;77;p3"/>
          <p:cNvSpPr txBox="1"/>
          <p:nvPr>
            <p:ph idx="1" type="body"/>
          </p:nvPr>
        </p:nvSpPr>
        <p:spPr>
          <a:xfrm>
            <a:off x="457200" y="5685631"/>
            <a:ext cx="82296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 txBox="1"/>
          <p:nvPr/>
        </p:nvSpPr>
        <p:spPr>
          <a:xfrm>
            <a:off x="141514" y="1328057"/>
            <a:ext cx="8860972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Instance </a:t>
            </a: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a single ‘real world’ example for which the model will need to provide inference on. Examples are: a </a:t>
            </a:r>
            <a:r>
              <a:rPr b="0" i="1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tweet</a:t>
            </a: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sentiment analysis, an </a:t>
            </a:r>
            <a:r>
              <a:rPr b="0" i="1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classification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Entry</a:t>
            </a: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a descriptor of the data instance. Together, the entries are the input the model receives per instance, on which the model is required to provide inference. For example: a </a:t>
            </a:r>
            <a:r>
              <a:rPr b="0" i="1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character</a:t>
            </a: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a tweet, or the </a:t>
            </a:r>
            <a:r>
              <a:rPr b="0" i="1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intensity of the red-color </a:t>
            </a: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one pixel of an RGB image.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Batch</a:t>
            </a: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a collection of data instances. Usually training is done in batches. In each iteration, the gradient is averaged over all data instances (average can be weighted). A batch is composed of a collection of data instances.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/>
          <p:nvPr>
            <p:ph type="title"/>
          </p:nvPr>
        </p:nvSpPr>
        <p:spPr>
          <a:xfrm>
            <a:off x="1952171" y="217714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Conventions (1D and 2D)</a:t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1524000" y="1741715"/>
            <a:ext cx="1045028" cy="10450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CA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524000" y="3154817"/>
            <a:ext cx="1045028" cy="10450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CA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1524000" y="4567919"/>
            <a:ext cx="1045028" cy="10450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CA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6335486" y="2622437"/>
            <a:ext cx="1045028" cy="10450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CA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335486" y="4035539"/>
            <a:ext cx="1045028" cy="10450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CA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335486" y="5448641"/>
            <a:ext cx="1045028" cy="10450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CA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357260" y="1219201"/>
            <a:ext cx="1045028" cy="10450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CA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4"/>
          <p:cNvCxnSpPr>
            <a:stCxn id="84" idx="6"/>
            <a:endCxn id="90" idx="2"/>
          </p:cNvCxnSpPr>
          <p:nvPr/>
        </p:nvCxnSpPr>
        <p:spPr>
          <a:xfrm flipH="1" rot="10800000">
            <a:off x="2569028" y="1741629"/>
            <a:ext cx="3788100" cy="5226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" name="Google Shape;92;p4"/>
          <p:cNvCxnSpPr>
            <a:stCxn id="84" idx="6"/>
            <a:endCxn id="87" idx="2"/>
          </p:cNvCxnSpPr>
          <p:nvPr/>
        </p:nvCxnSpPr>
        <p:spPr>
          <a:xfrm>
            <a:off x="2569028" y="2264229"/>
            <a:ext cx="3766500" cy="8808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3" name="Google Shape;93;p4"/>
          <p:cNvCxnSpPr>
            <a:stCxn id="84" idx="6"/>
            <a:endCxn id="88" idx="2"/>
          </p:cNvCxnSpPr>
          <p:nvPr/>
        </p:nvCxnSpPr>
        <p:spPr>
          <a:xfrm>
            <a:off x="2569028" y="2264229"/>
            <a:ext cx="3766500" cy="22938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" name="Google Shape;94;p4"/>
          <p:cNvCxnSpPr>
            <a:stCxn id="84" idx="6"/>
            <a:endCxn id="89" idx="2"/>
          </p:cNvCxnSpPr>
          <p:nvPr/>
        </p:nvCxnSpPr>
        <p:spPr>
          <a:xfrm>
            <a:off x="2569028" y="2264229"/>
            <a:ext cx="3766500" cy="37068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5" name="Google Shape;95;p4"/>
          <p:cNvCxnSpPr>
            <a:stCxn id="85" idx="6"/>
          </p:cNvCxnSpPr>
          <p:nvPr/>
        </p:nvCxnSpPr>
        <p:spPr>
          <a:xfrm flipH="1" rot="10800000">
            <a:off x="2569028" y="1921431"/>
            <a:ext cx="3766500" cy="17559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6" name="Google Shape;96;p4"/>
          <p:cNvCxnSpPr>
            <a:stCxn id="85" idx="6"/>
          </p:cNvCxnSpPr>
          <p:nvPr/>
        </p:nvCxnSpPr>
        <p:spPr>
          <a:xfrm flipH="1" rot="10800000">
            <a:off x="2569028" y="3276531"/>
            <a:ext cx="3766500" cy="4008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" name="Google Shape;97;p4"/>
          <p:cNvCxnSpPr>
            <a:stCxn id="85" idx="6"/>
          </p:cNvCxnSpPr>
          <p:nvPr/>
        </p:nvCxnSpPr>
        <p:spPr>
          <a:xfrm>
            <a:off x="2569028" y="3677331"/>
            <a:ext cx="3766500" cy="10689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" name="Google Shape;98;p4"/>
          <p:cNvCxnSpPr>
            <a:stCxn id="85" idx="6"/>
          </p:cNvCxnSpPr>
          <p:nvPr/>
        </p:nvCxnSpPr>
        <p:spPr>
          <a:xfrm>
            <a:off x="2569028" y="3677331"/>
            <a:ext cx="3788100" cy="25929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" name="Google Shape;99;p4"/>
          <p:cNvCxnSpPr>
            <a:stCxn id="86" idx="6"/>
          </p:cNvCxnSpPr>
          <p:nvPr/>
        </p:nvCxnSpPr>
        <p:spPr>
          <a:xfrm>
            <a:off x="2569028" y="5090433"/>
            <a:ext cx="3766500" cy="10056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0" name="Google Shape;100;p4"/>
          <p:cNvCxnSpPr>
            <a:stCxn id="86" idx="6"/>
            <a:endCxn id="88" idx="3"/>
          </p:cNvCxnSpPr>
          <p:nvPr/>
        </p:nvCxnSpPr>
        <p:spPr>
          <a:xfrm flipH="1" rot="10800000">
            <a:off x="2569028" y="4927533"/>
            <a:ext cx="3919500" cy="1629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" name="Google Shape;101;p4"/>
          <p:cNvCxnSpPr>
            <a:stCxn id="86" idx="6"/>
          </p:cNvCxnSpPr>
          <p:nvPr/>
        </p:nvCxnSpPr>
        <p:spPr>
          <a:xfrm flipH="1" rot="10800000">
            <a:off x="2569028" y="3429033"/>
            <a:ext cx="3766500" cy="16614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" name="Google Shape;102;p4"/>
          <p:cNvCxnSpPr>
            <a:stCxn id="86" idx="6"/>
            <a:endCxn id="90" idx="3"/>
          </p:cNvCxnSpPr>
          <p:nvPr/>
        </p:nvCxnSpPr>
        <p:spPr>
          <a:xfrm flipH="1" rot="10800000">
            <a:off x="2569028" y="2111133"/>
            <a:ext cx="3941400" cy="29793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1952171" y="217714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Conventions (1D and 2D)</a:t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1524000" y="1741715"/>
            <a:ext cx="1045028" cy="10450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CA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524000" y="3154817"/>
            <a:ext cx="1045028" cy="10450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CA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1524000" y="4567919"/>
            <a:ext cx="1045028" cy="10450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CA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335486" y="2622437"/>
            <a:ext cx="1045028" cy="10450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CA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335486" y="4035539"/>
            <a:ext cx="1045028" cy="10450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CA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335486" y="5448641"/>
            <a:ext cx="1045028" cy="10450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CA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357260" y="1219201"/>
            <a:ext cx="1045028" cy="10450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CA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5"/>
          <p:cNvCxnSpPr>
            <a:stCxn id="108" idx="6"/>
            <a:endCxn id="114" idx="2"/>
          </p:cNvCxnSpPr>
          <p:nvPr/>
        </p:nvCxnSpPr>
        <p:spPr>
          <a:xfrm flipH="1" rot="10800000">
            <a:off x="2569028" y="1741629"/>
            <a:ext cx="3788100" cy="522600"/>
          </a:xfrm>
          <a:prstGeom prst="straightConnector1">
            <a:avLst/>
          </a:prstGeom>
          <a:noFill/>
          <a:ln cap="flat" cmpd="sng" w="38100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" name="Google Shape;116;p5"/>
          <p:cNvCxnSpPr>
            <a:stCxn id="108" idx="6"/>
            <a:endCxn id="111" idx="2"/>
          </p:cNvCxnSpPr>
          <p:nvPr/>
        </p:nvCxnSpPr>
        <p:spPr>
          <a:xfrm>
            <a:off x="2569028" y="2264229"/>
            <a:ext cx="3766500" cy="8808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7" name="Google Shape;117;p5"/>
          <p:cNvCxnSpPr>
            <a:stCxn id="108" idx="6"/>
            <a:endCxn id="112" idx="2"/>
          </p:cNvCxnSpPr>
          <p:nvPr/>
        </p:nvCxnSpPr>
        <p:spPr>
          <a:xfrm>
            <a:off x="2569028" y="2264229"/>
            <a:ext cx="3766500" cy="22938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8" name="Google Shape;118;p5"/>
          <p:cNvCxnSpPr>
            <a:stCxn id="108" idx="6"/>
            <a:endCxn id="113" idx="2"/>
          </p:cNvCxnSpPr>
          <p:nvPr/>
        </p:nvCxnSpPr>
        <p:spPr>
          <a:xfrm>
            <a:off x="2569028" y="2264229"/>
            <a:ext cx="3766500" cy="37068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" name="Google Shape;119;p5"/>
          <p:cNvCxnSpPr>
            <a:stCxn id="109" idx="6"/>
          </p:cNvCxnSpPr>
          <p:nvPr/>
        </p:nvCxnSpPr>
        <p:spPr>
          <a:xfrm flipH="1" rot="10800000">
            <a:off x="2569028" y="1921431"/>
            <a:ext cx="3766500" cy="1755900"/>
          </a:xfrm>
          <a:prstGeom prst="straightConnector1">
            <a:avLst/>
          </a:prstGeom>
          <a:noFill/>
          <a:ln cap="flat" cmpd="sng" w="38100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0" name="Google Shape;120;p5"/>
          <p:cNvCxnSpPr>
            <a:stCxn id="109" idx="6"/>
          </p:cNvCxnSpPr>
          <p:nvPr/>
        </p:nvCxnSpPr>
        <p:spPr>
          <a:xfrm flipH="1" rot="10800000">
            <a:off x="2569028" y="3276531"/>
            <a:ext cx="3766500" cy="4008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1" name="Google Shape;121;p5"/>
          <p:cNvCxnSpPr>
            <a:stCxn id="109" idx="6"/>
          </p:cNvCxnSpPr>
          <p:nvPr/>
        </p:nvCxnSpPr>
        <p:spPr>
          <a:xfrm>
            <a:off x="2569028" y="3677331"/>
            <a:ext cx="3766500" cy="10689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" name="Google Shape;122;p5"/>
          <p:cNvCxnSpPr>
            <a:stCxn id="109" idx="6"/>
          </p:cNvCxnSpPr>
          <p:nvPr/>
        </p:nvCxnSpPr>
        <p:spPr>
          <a:xfrm>
            <a:off x="2569028" y="3677331"/>
            <a:ext cx="3788100" cy="25929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" name="Google Shape;123;p5"/>
          <p:cNvCxnSpPr>
            <a:stCxn id="110" idx="6"/>
          </p:cNvCxnSpPr>
          <p:nvPr/>
        </p:nvCxnSpPr>
        <p:spPr>
          <a:xfrm>
            <a:off x="2569028" y="5090433"/>
            <a:ext cx="3766500" cy="10056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" name="Google Shape;124;p5"/>
          <p:cNvCxnSpPr>
            <a:stCxn id="110" idx="6"/>
            <a:endCxn id="112" idx="3"/>
          </p:cNvCxnSpPr>
          <p:nvPr/>
        </p:nvCxnSpPr>
        <p:spPr>
          <a:xfrm flipH="1" rot="10800000">
            <a:off x="2569028" y="4927533"/>
            <a:ext cx="3919500" cy="1629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5" name="Google Shape;125;p5"/>
          <p:cNvCxnSpPr>
            <a:stCxn id="110" idx="6"/>
          </p:cNvCxnSpPr>
          <p:nvPr/>
        </p:nvCxnSpPr>
        <p:spPr>
          <a:xfrm flipH="1" rot="10800000">
            <a:off x="2569028" y="3429033"/>
            <a:ext cx="3766500" cy="16614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6" name="Google Shape;126;p5"/>
          <p:cNvCxnSpPr>
            <a:stCxn id="110" idx="6"/>
            <a:endCxn id="114" idx="3"/>
          </p:cNvCxnSpPr>
          <p:nvPr/>
        </p:nvCxnSpPr>
        <p:spPr>
          <a:xfrm flipH="1" rot="10800000">
            <a:off x="2569028" y="2111133"/>
            <a:ext cx="3941400" cy="2979300"/>
          </a:xfrm>
          <a:prstGeom prst="straightConnector1">
            <a:avLst/>
          </a:prstGeom>
          <a:noFill/>
          <a:ln cap="flat" cmpd="sng" w="38100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7" name="Google Shape;127;p5"/>
          <p:cNvSpPr txBox="1"/>
          <p:nvPr/>
        </p:nvSpPr>
        <p:spPr>
          <a:xfrm>
            <a:off x="4631871" y="2928019"/>
            <a:ext cx="8599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4572000" y="2211212"/>
            <a:ext cx="8599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4599214" y="1687916"/>
            <a:ext cx="8599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1952171" y="217714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Conventions (in 2D)</a:t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1524000" y="1741715"/>
            <a:ext cx="1045028" cy="10450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CA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524000" y="3154817"/>
            <a:ext cx="1045028" cy="10450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CA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524000" y="4567919"/>
            <a:ext cx="1045028" cy="10450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CA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335486" y="2622437"/>
            <a:ext cx="1045028" cy="10450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CA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335486" y="4035539"/>
            <a:ext cx="1045028" cy="10450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CA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335486" y="5448641"/>
            <a:ext cx="1045028" cy="10450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CA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357260" y="1219201"/>
            <a:ext cx="1045028" cy="10450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CA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6"/>
          <p:cNvCxnSpPr>
            <a:stCxn id="135" idx="6"/>
            <a:endCxn id="141" idx="2"/>
          </p:cNvCxnSpPr>
          <p:nvPr/>
        </p:nvCxnSpPr>
        <p:spPr>
          <a:xfrm flipH="1" rot="10800000">
            <a:off x="2569028" y="1741629"/>
            <a:ext cx="3788100" cy="5226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" name="Google Shape;143;p6"/>
          <p:cNvCxnSpPr>
            <a:stCxn id="135" idx="6"/>
            <a:endCxn id="138" idx="2"/>
          </p:cNvCxnSpPr>
          <p:nvPr/>
        </p:nvCxnSpPr>
        <p:spPr>
          <a:xfrm>
            <a:off x="2569028" y="2264229"/>
            <a:ext cx="3766500" cy="880800"/>
          </a:xfrm>
          <a:prstGeom prst="straightConnector1">
            <a:avLst/>
          </a:prstGeom>
          <a:noFill/>
          <a:ln cap="flat" cmpd="sng" w="38100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4" name="Google Shape;144;p6"/>
          <p:cNvCxnSpPr>
            <a:stCxn id="135" idx="6"/>
            <a:endCxn id="139" idx="2"/>
          </p:cNvCxnSpPr>
          <p:nvPr/>
        </p:nvCxnSpPr>
        <p:spPr>
          <a:xfrm>
            <a:off x="2569028" y="2264229"/>
            <a:ext cx="3766500" cy="22938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5" name="Google Shape;145;p6"/>
          <p:cNvCxnSpPr>
            <a:stCxn id="135" idx="6"/>
            <a:endCxn id="140" idx="2"/>
          </p:cNvCxnSpPr>
          <p:nvPr/>
        </p:nvCxnSpPr>
        <p:spPr>
          <a:xfrm>
            <a:off x="2569028" y="2264229"/>
            <a:ext cx="3766500" cy="37068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" name="Google Shape;146;p6"/>
          <p:cNvCxnSpPr>
            <a:stCxn id="136" idx="6"/>
          </p:cNvCxnSpPr>
          <p:nvPr/>
        </p:nvCxnSpPr>
        <p:spPr>
          <a:xfrm flipH="1" rot="10800000">
            <a:off x="2569028" y="1921431"/>
            <a:ext cx="3766500" cy="17559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7" name="Google Shape;147;p6"/>
          <p:cNvCxnSpPr>
            <a:stCxn id="136" idx="6"/>
          </p:cNvCxnSpPr>
          <p:nvPr/>
        </p:nvCxnSpPr>
        <p:spPr>
          <a:xfrm flipH="1" rot="10800000">
            <a:off x="2569028" y="3276531"/>
            <a:ext cx="3766500" cy="400800"/>
          </a:xfrm>
          <a:prstGeom prst="straightConnector1">
            <a:avLst/>
          </a:prstGeom>
          <a:noFill/>
          <a:ln cap="flat" cmpd="sng" w="38100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8" name="Google Shape;148;p6"/>
          <p:cNvCxnSpPr>
            <a:stCxn id="136" idx="6"/>
          </p:cNvCxnSpPr>
          <p:nvPr/>
        </p:nvCxnSpPr>
        <p:spPr>
          <a:xfrm>
            <a:off x="2569028" y="3677331"/>
            <a:ext cx="3766500" cy="10689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" name="Google Shape;149;p6"/>
          <p:cNvCxnSpPr>
            <a:stCxn id="136" idx="6"/>
          </p:cNvCxnSpPr>
          <p:nvPr/>
        </p:nvCxnSpPr>
        <p:spPr>
          <a:xfrm>
            <a:off x="2569028" y="3677331"/>
            <a:ext cx="3788100" cy="25929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" name="Google Shape;150;p6"/>
          <p:cNvCxnSpPr>
            <a:stCxn id="137" idx="6"/>
          </p:cNvCxnSpPr>
          <p:nvPr/>
        </p:nvCxnSpPr>
        <p:spPr>
          <a:xfrm>
            <a:off x="2569028" y="5090433"/>
            <a:ext cx="3766500" cy="10056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1" name="Google Shape;151;p6"/>
          <p:cNvCxnSpPr>
            <a:stCxn id="137" idx="6"/>
            <a:endCxn id="139" idx="3"/>
          </p:cNvCxnSpPr>
          <p:nvPr/>
        </p:nvCxnSpPr>
        <p:spPr>
          <a:xfrm flipH="1" rot="10800000">
            <a:off x="2569028" y="4927533"/>
            <a:ext cx="3919500" cy="1629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2" name="Google Shape;152;p6"/>
          <p:cNvCxnSpPr>
            <a:stCxn id="137" idx="6"/>
          </p:cNvCxnSpPr>
          <p:nvPr/>
        </p:nvCxnSpPr>
        <p:spPr>
          <a:xfrm flipH="1" rot="10800000">
            <a:off x="2569028" y="3429033"/>
            <a:ext cx="3766500" cy="1661400"/>
          </a:xfrm>
          <a:prstGeom prst="straightConnector1">
            <a:avLst/>
          </a:prstGeom>
          <a:noFill/>
          <a:ln cap="flat" cmpd="sng" w="38100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" name="Google Shape;153;p6"/>
          <p:cNvCxnSpPr>
            <a:stCxn id="137" idx="6"/>
            <a:endCxn id="141" idx="3"/>
          </p:cNvCxnSpPr>
          <p:nvPr/>
        </p:nvCxnSpPr>
        <p:spPr>
          <a:xfrm flipH="1" rot="10800000">
            <a:off x="2569028" y="2111133"/>
            <a:ext cx="3941400" cy="2979300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4" name="Google Shape;154;p6"/>
          <p:cNvSpPr txBox="1"/>
          <p:nvPr/>
        </p:nvSpPr>
        <p:spPr>
          <a:xfrm>
            <a:off x="4528456" y="3020429"/>
            <a:ext cx="7184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4484914" y="2421551"/>
            <a:ext cx="7184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4517570" y="3710379"/>
            <a:ext cx="7184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 txBox="1"/>
          <p:nvPr>
            <p:ph type="title"/>
          </p:nvPr>
        </p:nvSpPr>
        <p:spPr>
          <a:xfrm>
            <a:off x="1952171" y="217714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Conventions (in 2D)</a:t>
            </a:r>
            <a:endParaRPr/>
          </a:p>
        </p:txBody>
      </p:sp>
      <p:pic>
        <p:nvPicPr>
          <p:cNvPr id="162" name="Google Shape;1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5258" y="2092758"/>
            <a:ext cx="6084807" cy="267248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 txBox="1"/>
          <p:nvPr/>
        </p:nvSpPr>
        <p:spPr>
          <a:xfrm>
            <a:off x="3033487" y="1450473"/>
            <a:ext cx="12518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CA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5717948" y="1446427"/>
            <a:ext cx="12518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CA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251857" y="2977634"/>
            <a:ext cx="533401" cy="1208314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0" y="3397125"/>
            <a:ext cx="12518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 rot="-5400000">
            <a:off x="2994480" y="3136917"/>
            <a:ext cx="533401" cy="272324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2635251" y="4765240"/>
            <a:ext cx="12518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 rot="10800000">
            <a:off x="7717664" y="2467168"/>
            <a:ext cx="533402" cy="2179516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2857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7984364" y="3182518"/>
            <a:ext cx="12518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Neurons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 rot="-5400000">
            <a:off x="5801778" y="4044814"/>
            <a:ext cx="533402" cy="2179516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2857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5014326" y="5401273"/>
            <a:ext cx="2409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 per Feature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130627" y="6006872"/>
            <a:ext cx="40240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=&gt; A , neurons X activations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 txBox="1"/>
          <p:nvPr>
            <p:ph type="title"/>
          </p:nvPr>
        </p:nvSpPr>
        <p:spPr>
          <a:xfrm>
            <a:off x="1865086" y="185057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Multiple Entries, Single Instance and a Single Neuron</a:t>
            </a:r>
            <a:endParaRPr/>
          </a:p>
        </p:txBody>
      </p:sp>
      <p:pic>
        <p:nvPicPr>
          <p:cNvPr id="179" name="Google Shape;1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9980" y="1171598"/>
            <a:ext cx="2012368" cy="966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489" y="2399534"/>
            <a:ext cx="8585122" cy="205893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8"/>
          <p:cNvSpPr txBox="1"/>
          <p:nvPr/>
        </p:nvSpPr>
        <p:spPr>
          <a:xfrm>
            <a:off x="1299029" y="2138169"/>
            <a:ext cx="5660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CA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3349980" y="2168701"/>
            <a:ext cx="5660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CA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152400" y="4169229"/>
            <a:ext cx="80663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the shapes of the matrices?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the result?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 txBox="1"/>
          <p:nvPr>
            <p:ph type="title"/>
          </p:nvPr>
        </p:nvSpPr>
        <p:spPr>
          <a:xfrm>
            <a:off x="1865086" y="185057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Multiple Instances and a Single Neuron</a:t>
            </a:r>
            <a:endParaRPr/>
          </a:p>
        </p:txBody>
      </p:sp>
      <p:pic>
        <p:nvPicPr>
          <p:cNvPr id="189" name="Google Shape;1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9980" y="1171598"/>
            <a:ext cx="2012368" cy="96657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 txBox="1"/>
          <p:nvPr/>
        </p:nvSpPr>
        <p:spPr>
          <a:xfrm>
            <a:off x="1124857" y="2537468"/>
            <a:ext cx="5660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CA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2914552" y="2604403"/>
            <a:ext cx="5660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CA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206829" y="4780497"/>
            <a:ext cx="80663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the shapes?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829" y="2999133"/>
            <a:ext cx="8277799" cy="145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/>
          <p:nvPr>
            <p:ph type="title"/>
          </p:nvPr>
        </p:nvSpPr>
        <p:spPr>
          <a:xfrm>
            <a:off x="1865086" y="185057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Multiple Instances and a Multiple Neurons</a:t>
            </a:r>
            <a:endParaRPr/>
          </a:p>
        </p:txBody>
      </p:sp>
      <p:pic>
        <p:nvPicPr>
          <p:cNvPr id="199" name="Google Shape;1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9980" y="1171598"/>
            <a:ext cx="2012368" cy="96657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0"/>
          <p:cNvSpPr txBox="1"/>
          <p:nvPr/>
        </p:nvSpPr>
        <p:spPr>
          <a:xfrm>
            <a:off x="700315" y="2554533"/>
            <a:ext cx="5660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CA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1865086" y="2554532"/>
            <a:ext cx="5660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CA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206829" y="4780497"/>
            <a:ext cx="80663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the shapes?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does each dimension in the result represent?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45" y="3178629"/>
            <a:ext cx="9087211" cy="1277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 txBox="1"/>
          <p:nvPr>
            <p:ph type="title"/>
          </p:nvPr>
        </p:nvSpPr>
        <p:spPr>
          <a:xfrm>
            <a:off x="1865086" y="185057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Multiple Instances and a Multiple Neurons</a:t>
            </a:r>
            <a:endParaRPr/>
          </a:p>
        </p:txBody>
      </p:sp>
      <p:pic>
        <p:nvPicPr>
          <p:cNvPr id="209" name="Google Shape;209;p11"/>
          <p:cNvPicPr preferRelativeResize="0"/>
          <p:nvPr/>
        </p:nvPicPr>
        <p:blipFill rotWithShape="1">
          <a:blip r:embed="rId3">
            <a:alphaModFix/>
          </a:blip>
          <a:srcRect b="0" l="71363" r="0" t="0"/>
          <a:stretch/>
        </p:blipFill>
        <p:spPr>
          <a:xfrm>
            <a:off x="2737808" y="1208316"/>
            <a:ext cx="4103812" cy="201385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1"/>
          <p:cNvSpPr txBox="1"/>
          <p:nvPr/>
        </p:nvSpPr>
        <p:spPr>
          <a:xfrm>
            <a:off x="925285" y="2122714"/>
            <a:ext cx="1524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1"/>
          <p:cNvSpPr txBox="1"/>
          <p:nvPr/>
        </p:nvSpPr>
        <p:spPr>
          <a:xfrm>
            <a:off x="3646714" y="2852840"/>
            <a:ext cx="25853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Activation per Neuron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11"/>
          <p:cNvPicPr preferRelativeResize="0"/>
          <p:nvPr/>
        </p:nvPicPr>
        <p:blipFill rotWithShape="1">
          <a:blip r:embed="rId4">
            <a:alphaModFix/>
          </a:blip>
          <a:srcRect b="2963" l="0" r="0" t="0"/>
          <a:stretch/>
        </p:blipFill>
        <p:spPr>
          <a:xfrm>
            <a:off x="2548831" y="3222172"/>
            <a:ext cx="3683189" cy="312419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1"/>
          <p:cNvSpPr/>
          <p:nvPr/>
        </p:nvSpPr>
        <p:spPr>
          <a:xfrm>
            <a:off x="5421086" y="3222172"/>
            <a:ext cx="903514" cy="3219615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11"/>
          <p:cNvCxnSpPr/>
          <p:nvPr/>
        </p:nvCxnSpPr>
        <p:spPr>
          <a:xfrm flipH="1">
            <a:off x="6487886" y="2950029"/>
            <a:ext cx="141514" cy="272143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Matrix Multiplication and GPUs</a:t>
            </a:r>
            <a:endParaRPr/>
          </a:p>
        </p:txBody>
      </p:sp>
      <p:sp>
        <p:nvSpPr>
          <p:cNvPr id="220" name="Google Shape;220;p12"/>
          <p:cNvSpPr txBox="1"/>
          <p:nvPr>
            <p:ph idx="1" type="body"/>
          </p:nvPr>
        </p:nvSpPr>
        <p:spPr>
          <a:xfrm>
            <a:off x="457200" y="1600201"/>
            <a:ext cx="8229600" cy="1132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CA" u="sng">
                <a:solidFill>
                  <a:schemeClr val="hlink"/>
                </a:solidFill>
                <a:hlinkClick r:id="rId3"/>
              </a:rPr>
              <a:t>https://github.com/MaxKotlan/Cuda-Matrix-Multiplication-Benchmark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2008-02-14T00:02:49Z</dcterms:created>
  <dc:creator>George Brown College</dc:creator>
</cp:coreProperties>
</file>