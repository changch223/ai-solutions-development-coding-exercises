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55a7052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d55a7052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d55a7052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d55a7052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d55a705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d55a705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dda1d27c1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dda1d27c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dda1d27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dda1d27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dda1d27c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dda1d27c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dda1d27c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dda1d27c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dda1d27c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dda1d27c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dda1d27c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dda1d27c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d55a7052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d55a7052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dda1d27c1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dda1d27c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d55a7052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d55a7052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dbd3a283f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dbd3a283f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d55a7052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d55a7052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dbd3a283f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dbd3a283f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d55a7052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d55a7052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d55a7052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d55a7052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d55a7052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d55a7052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d55a7052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d55a7052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competitions/playground-series-s5e5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kaggle.com/code/changchiawei/dense-notebook5a7e8f403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changch223/AI-Solutions-Development-Coding-Exercises/tree/main/APP.MATH%20CONC%20FOR%20DEEP%20LEARN/Final%20Project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11950" y="1813950"/>
            <a:ext cx="51201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>
                <a:latin typeface="Calibri"/>
                <a:ea typeface="Calibri"/>
                <a:cs typeface="Calibri"/>
                <a:sym typeface="Calibri"/>
              </a:rPr>
              <a:t>Predict Calorie Expenditure</a:t>
            </a:r>
            <a:endParaRPr sz="4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571100" y="2737300"/>
            <a:ext cx="6001800" cy="1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</a:t>
            </a:r>
            <a:r>
              <a:rPr b="1" lang="ja" sz="192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9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Bikash Giri (101575097)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Chia-Wei Chang (101570243)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Diparshan Bhattarai (101494737)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Hsi-Teng Liu (101576074)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Gavriel Kirichenko (101119609)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Abdul-Rasaq Omisesan (101571156)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Callum Arul (101585383)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8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Friba Hussainyar (101591222) </a:t>
            </a:r>
            <a:endParaRPr sz="118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65250" y="415075"/>
            <a:ext cx="661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Applied A.I. Solutions Development Program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2021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Applied Mathematical Concepts for Deep Learning</a:t>
            </a:r>
            <a:endParaRPr sz="1500">
              <a:solidFill>
                <a:srgbClr val="2021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885644" y="1245591"/>
            <a:ext cx="53727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 Project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03475" y="1266450"/>
            <a:ext cx="78678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Introduction: Friba Hussainyar</a:t>
            </a:r>
            <a:endParaRPr sz="17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Gavriel Kirichenko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 Engineering &amp; Selection: Callum A</a:t>
            </a: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rul</a:t>
            </a:r>
            <a:endParaRPr sz="15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&amp; Hyperparameter Tuning</a:t>
            </a:r>
            <a:r>
              <a:rPr lang="ja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Hsi-Teng Liu 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Model Evaluation: ABdul-Rasaq Omisesan</a:t>
            </a:r>
            <a:endParaRPr sz="17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Demo: Diparshan Bhattarai</a:t>
            </a:r>
            <a:endParaRPr sz="17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ja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Next Step: Chia-Wei Chang</a:t>
            </a:r>
            <a:endParaRPr sz="17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Bikash Giri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ja" sz="17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Lessons to Learn</a:t>
            </a:r>
            <a:endParaRPr sz="17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03475" y="53417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5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Agenda </a:t>
            </a:r>
            <a:endParaRPr b="1" sz="25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Competition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Link: </a:t>
            </a:r>
            <a:r>
              <a:rPr lang="ja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Predict Calorie Expenditure | Kaggle</a:t>
            </a:r>
            <a:endParaRPr>
              <a:solidFill>
                <a:srgbClr val="4A86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objective was to develop a DL model that accurately predicts calorie expenditure based on physiological and activity data.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 was to predict how many calories a person burns during physical activity using features such as age, weight, gender, height and heart rate. Accurate calorie estimation can help people better manage their fitness, nutrition, and health goals.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ja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prediction, we used a Multi-Layer Perceptron (MLP) built with TensorFlow/Keras. We fine-tuned it through several experiments and finally selected the best model using cross-validation. Our model achieved excellent results with an R² of 0.996 and a very low RMSLE of 0.063.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dataset comprises anonymized workout session data, with each row representing a single session. The primary objective is to predict the number of calories burned during these sessions.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Key Features: </a:t>
            </a:r>
            <a:endParaRPr b="1"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Numerical Variables: </a:t>
            </a: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Age, Height, Weight, Duration, Heart_Rate, Body_Temp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Categorical</a:t>
            </a: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Variables:</a:t>
            </a: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Sex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Target Variable:</a:t>
            </a: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Calories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Evaluation </a:t>
            </a: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Metric</a:t>
            </a:r>
            <a:r>
              <a:rPr b="1"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7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evaluation metric for this competition is Root Mean Squared Logarithmic Error (RMSLE), which penalizes underpredictions more than overpredictions and is suitable for targets that span a wide range.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Times New Roman"/>
                <a:ea typeface="Times New Roman"/>
                <a:cs typeface="Times New Roman"/>
                <a:sym typeface="Times New Roman"/>
              </a:rPr>
              <a:t>EDA - Calories Distribution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 </a:t>
            </a:r>
            <a:endParaRPr/>
          </a:p>
        </p:txBody>
      </p:sp>
      <p:pic>
        <p:nvPicPr>
          <p:cNvPr id="82" name="Google Shape;82;p17" title="Screenshot 2025-05-27 at 1.10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750" y="1152475"/>
            <a:ext cx="560052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EDA - Numerical Feature Distributions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Screenshot 2025-05-27 at 1.10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975" y="925300"/>
            <a:ext cx="5298050" cy="387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EDA - Sex Distribution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Screenshot 2025-05-27 at 1.11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302" y="1152475"/>
            <a:ext cx="4123180" cy="376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EDA - Correlation Heatmap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 title="Screenshot 2025-05-27 at 1.1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650" y="1152475"/>
            <a:ext cx="4471625" cy="387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EDA - Missing Values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A</a:t>
            </a:r>
            <a:r>
              <a:rPr lang="ja"/>
              <a:t>bout 5% of height entries were missing - imputed using the median.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Outliers beyond 1.5×IQR were capped at the nearest whisker, affecting about 2% of records.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Feature Engineering &amp; Selection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Code: </a:t>
            </a:r>
            <a:r>
              <a:rPr lang="ja" u="sng">
                <a:solidFill>
                  <a:schemeClr val="hlink"/>
                </a:solidFill>
                <a:hlinkClick r:id="rId3"/>
              </a:rPr>
              <a:t>Dense notebook5a7e8f4039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Added new features:</a:t>
            </a:r>
            <a:endParaRPr sz="14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Cross Terms (e.g. </a:t>
            </a:r>
            <a:r>
              <a:rPr lang="ja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Weight × HeartRate</a:t>
            </a:r>
            <a:r>
              <a:rPr lang="ja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Interaction Features - Sum, difference, and ratio terms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Row-wise Stats (mean, std, max, etc.)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400"/>
              <a:t>Feature Selection:</a:t>
            </a:r>
            <a:endParaRPr sz="14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Dropped features with </a:t>
            </a:r>
            <a:r>
              <a:rPr b="1" lang="ja" sz="1100">
                <a:solidFill>
                  <a:schemeClr val="dk1"/>
                </a:solidFill>
              </a:rPr>
              <a:t>correlation &gt; 0.95</a:t>
            </a:r>
            <a:r>
              <a:rPr lang="ja" sz="1100">
                <a:solidFill>
                  <a:schemeClr val="dk1"/>
                </a:solidFill>
              </a:rPr>
              <a:t> (reduces redundancy)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Selected </a:t>
            </a:r>
            <a:r>
              <a:rPr b="1" lang="ja" sz="1100">
                <a:solidFill>
                  <a:schemeClr val="dk1"/>
                </a:solidFill>
              </a:rPr>
              <a:t>Top 100</a:t>
            </a:r>
            <a:r>
              <a:rPr lang="ja" sz="1100">
                <a:solidFill>
                  <a:schemeClr val="dk1"/>
                </a:solidFill>
              </a:rPr>
              <a:t> via LightGBM feature importance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ja" sz="1100">
                <a:solidFill>
                  <a:schemeClr val="dk1"/>
                </a:solidFill>
              </a:rPr>
              <a:t>Visualized </a:t>
            </a:r>
            <a:r>
              <a:rPr b="1" lang="ja" sz="1100">
                <a:solidFill>
                  <a:schemeClr val="dk1"/>
                </a:solidFill>
              </a:rPr>
              <a:t>Top 20</a:t>
            </a:r>
            <a:r>
              <a:rPr lang="ja" sz="1100">
                <a:solidFill>
                  <a:schemeClr val="dk1"/>
                </a:solidFill>
              </a:rPr>
              <a:t> to gain insights into key predictors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ja"/>
              <a:t>Feature Engineering &amp; Selection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 title="Screenshot 2025-05-27 at 1.26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563" y="953725"/>
            <a:ext cx="5884875" cy="381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Model Implementation &amp; Hyperparameter Tuning</a:t>
            </a:r>
            <a:endParaRPr/>
          </a:p>
        </p:txBody>
      </p:sp>
      <p:sp>
        <p:nvSpPr>
          <p:cNvPr id="128" name="Google Shape;128;p24"/>
          <p:cNvSpPr txBox="1"/>
          <p:nvPr/>
        </p:nvSpPr>
        <p:spPr>
          <a:xfrm>
            <a:off x="311700" y="959325"/>
            <a:ext cx="64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First Attempt: A Simple Approach with MinMaxScaler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311700" y="3024475"/>
            <a:ext cx="425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RMSLE = 0.06064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420625" y="1586600"/>
            <a:ext cx="425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Layer 1: 6 nodes with tanh activation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Layer 2: 4 nodes with ReLU activation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Learning Rate: 0.001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Model Implementation &amp; Hyperparameter Tuning</a:t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311700" y="959325"/>
            <a:ext cx="64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Second Try with Help from Optuna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311700" y="3024475"/>
            <a:ext cx="425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RMSLE = </a:t>
            </a:r>
            <a:r>
              <a:rPr lang="ja" sz="1800">
                <a:solidFill>
                  <a:schemeClr val="dk2"/>
                </a:solidFill>
              </a:rPr>
              <a:t>0.05947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20625" y="1586600"/>
            <a:ext cx="836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Layer 1: 555 nodes with tanh activation, Batch Normalization, Dropout of 0.277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Layer 2: 277 nodes with ReLU activation, Batch Normalization, Dropout of 0.277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Learning Rate: 0.0001277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550" y="3024475"/>
            <a:ext cx="5942575" cy="9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6" title="Screenshot 2025-05-27 at 4.09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48"/>
            <a:ext cx="9144000" cy="5125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178200" y="0"/>
            <a:ext cx="3223500" cy="3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2120">
                <a:latin typeface="Times New Roman"/>
                <a:ea typeface="Times New Roman"/>
                <a:cs typeface="Times New Roman"/>
                <a:sym typeface="Times New Roman"/>
              </a:rPr>
              <a:t>Model </a:t>
            </a:r>
            <a:r>
              <a:rPr lang="ja" sz="2120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r>
              <a:rPr lang="ja" sz="2120">
                <a:latin typeface="Times New Roman"/>
                <a:ea typeface="Times New Roman"/>
                <a:cs typeface="Times New Roman"/>
                <a:sym typeface="Times New Roman"/>
              </a:rPr>
              <a:t> Contd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p27" title="Screenshot 2025-05-27 at 4.12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4625" y="441375"/>
            <a:ext cx="4001949" cy="21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Screenshot 2025-05-27 at 4.14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000" y="75175"/>
            <a:ext cx="3690126" cy="26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 title="Screenshot 2025-05-27 at 4.14.4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6425" y="2640275"/>
            <a:ext cx="3518499" cy="25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Demo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Code: </a:t>
            </a:r>
            <a:r>
              <a:rPr lang="ja" u="sng">
                <a:solidFill>
                  <a:schemeClr val="hlink"/>
                </a:solidFill>
                <a:hlinkClick r:id="rId3"/>
              </a:rPr>
              <a:t>link1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 title="Screenshot 2025-05-27 at 3.34.3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3350" y="557450"/>
            <a:ext cx="6882977" cy="414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2273" y="1330025"/>
            <a:ext cx="6602077" cy="381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/>
        </p:nvSpPr>
        <p:spPr>
          <a:xfrm>
            <a:off x="171650" y="849800"/>
            <a:ext cx="39702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2"/>
                </a:solidFill>
              </a:rPr>
              <a:t>1</a:t>
            </a:r>
            <a:r>
              <a:rPr b="1" lang="ja" sz="1100">
                <a:solidFill>
                  <a:schemeClr val="dk2"/>
                </a:solidFill>
              </a:rPr>
              <a:t>. Feature Engineering</a:t>
            </a:r>
            <a:endParaRPr b="1" sz="11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Added cross-product features (e.g., </a:t>
            </a:r>
            <a:r>
              <a:rPr lang="ja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Age × Height</a:t>
            </a:r>
            <a:r>
              <a:rPr lang="ja" sz="900">
                <a:solidFill>
                  <a:schemeClr val="dk2"/>
                </a:solidFill>
              </a:rPr>
              <a:t>).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Created interaction features (sum, difference, division).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Generated row-level statistics (mean, std, max, etc.).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2"/>
                </a:solidFill>
              </a:rPr>
              <a:t>2</a:t>
            </a:r>
            <a:r>
              <a:rPr b="1" lang="ja" sz="1100">
                <a:solidFill>
                  <a:schemeClr val="dk2"/>
                </a:solidFill>
              </a:rPr>
              <a:t>. Feature Selection</a:t>
            </a:r>
            <a:endParaRPr b="1" sz="11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Removed highly correlated features (correlation &gt; 0.95).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Used LightGBM to select top 100 important features.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2"/>
                </a:solidFill>
              </a:rPr>
              <a:t>3</a:t>
            </a:r>
            <a:r>
              <a:rPr b="1" lang="ja" sz="1100">
                <a:solidFill>
                  <a:schemeClr val="dk2"/>
                </a:solidFill>
              </a:rPr>
              <a:t>. Data Preprocessing</a:t>
            </a:r>
            <a:endParaRPr b="1" sz="11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Standardized numerical features using </a:t>
            </a:r>
            <a:r>
              <a:rPr lang="ja" sz="9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StandardScaler</a:t>
            </a:r>
            <a:r>
              <a:rPr lang="ja" sz="900">
                <a:solidFill>
                  <a:schemeClr val="dk2"/>
                </a:solidFill>
              </a:rPr>
              <a:t>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2"/>
                </a:solidFill>
              </a:rPr>
              <a:t>4</a:t>
            </a:r>
            <a:r>
              <a:rPr b="1" lang="ja" sz="1100">
                <a:solidFill>
                  <a:schemeClr val="dk2"/>
                </a:solidFill>
              </a:rPr>
              <a:t>. Model Optimization with Optuna</a:t>
            </a:r>
            <a:endParaRPr b="1" sz="11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Defined objective function for hyperparameter tuning of MLP (hidden size, dropout, learning rate).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Used 5-fold cross-validation to evaluate performance.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Selected best hyperparameters after 20 trials.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dk2"/>
                </a:solidFill>
              </a:rPr>
              <a:t>5</a:t>
            </a:r>
            <a:r>
              <a:rPr b="1" lang="ja" sz="1100">
                <a:solidFill>
                  <a:schemeClr val="dk2"/>
                </a:solidFill>
              </a:rPr>
              <a:t>. Model Training &amp; Prediction</a:t>
            </a:r>
            <a:endParaRPr b="1" sz="11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Trained final MLP model with best parameters using 5-fold CV.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Saved model and preprocessing artifacts (scaler, top features).</a:t>
            </a:r>
            <a:endParaRPr sz="900">
              <a:solidFill>
                <a:schemeClr val="dk2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</a:pPr>
            <a:r>
              <a:rPr lang="ja" sz="900">
                <a:solidFill>
                  <a:schemeClr val="dk2"/>
                </a:solidFill>
              </a:rPr>
              <a:t>Generated test predictions by averaging across folds.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171650" y="418700"/>
            <a:ext cx="144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 u="sng">
                <a:solidFill>
                  <a:schemeClr val="dk2"/>
                </a:solidFill>
              </a:rPr>
              <a:t>What we did</a:t>
            </a:r>
            <a:endParaRPr sz="1600" u="sng">
              <a:solidFill>
                <a:schemeClr val="dk2"/>
              </a:solidFill>
            </a:endParaRPr>
          </a:p>
        </p:txBody>
      </p:sp>
      <p:sp>
        <p:nvSpPr>
          <p:cNvPr id="168" name="Google Shape;168;p29"/>
          <p:cNvSpPr txBox="1"/>
          <p:nvPr>
            <p:ph type="title"/>
          </p:nvPr>
        </p:nvSpPr>
        <p:spPr>
          <a:xfrm>
            <a:off x="171650" y="-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Next Step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4411050" y="616500"/>
            <a:ext cx="4662900" cy="44508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 u="sng"/>
              <a:t>How to </a:t>
            </a:r>
            <a:r>
              <a:rPr lang="ja" sz="1100" u="sng"/>
              <a:t>Improving Competition Score: </a:t>
            </a:r>
            <a:endParaRPr sz="11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/>
              <a:t>Level 1</a:t>
            </a:r>
            <a:r>
              <a:rPr lang="ja" sz="1100"/>
              <a:t>: </a:t>
            </a:r>
            <a:r>
              <a:rPr lang="ja" sz="1100"/>
              <a:t>Advanced Modeling Strategy: Model Stacking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ja" sz="1100"/>
              <a:t>To achieve a higher score in the competition, we need to go beyond using a single model.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ja" sz="1100"/>
              <a:t>Currently, we're relying on one model, but we can improve performance through model stacking combining multiple models such as CatBoost, XGBoost, and LightGBM.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ja" sz="1100"/>
              <a:t>By applying ensemble techniques like voting or blending, we can make our predictions more accurate, stable, and competitive.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100"/>
              <a:t>Level 2: Stacking Public Submissions for Higher Scores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ja" sz="1100"/>
              <a:t>As we observed from other teams in the competition, some teams achieved higher scores by stacking public submission data from other Kaggle notebook.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ja" sz="1100"/>
              <a:t>By identifying groups with higher leaderboard scores, we can: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ja" sz="1100"/>
              <a:t>Collect 10+ strong public submissions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ja" sz="1100"/>
              <a:t>Ensemble their predictions using techniques like median voting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ja" sz="1100"/>
              <a:t>Improve the robustness and accuracy of our final prediction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Conclusion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Lessons to Learn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Bikash Giri (101575097) 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Chia-Wei Chang (101570243) </a:t>
            </a:r>
            <a:r>
              <a:rPr lang="ja" sz="1200"/>
              <a:t>- </a:t>
            </a:r>
            <a:r>
              <a:rPr lang="ja" sz="1200"/>
              <a:t>I learned how to train a dense deep learning model using Optuna to find the optimal hyperparameters, including the number of nodes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Diparshan Bhattarai (101494737) - </a:t>
            </a:r>
            <a:r>
              <a:rPr lang="ja" sz="1200"/>
              <a:t>I learned how to prepare data for modeling by removing redundant features, selecting the most important ones using LightGBM, and standardizing inputs to improve model performance and accuracy.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Hsi-Teng Liu (101576074)</a:t>
            </a:r>
            <a:r>
              <a:rPr lang="ja" sz="1200"/>
              <a:t> </a:t>
            </a:r>
            <a:r>
              <a:rPr lang="ja" sz="1200"/>
              <a:t>- </a:t>
            </a:r>
            <a:r>
              <a:rPr lang="ja" sz="1200"/>
              <a:t>Sometimes it’s worth considering a simpler mode which has slightly worse performance, but needs significant less resources when training and </a:t>
            </a:r>
            <a:r>
              <a:rPr lang="ja" sz="1200"/>
              <a:t>inferencing.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Gavriel Kirichenko (101119609)</a:t>
            </a:r>
            <a:r>
              <a:rPr lang="ja" sz="1200"/>
              <a:t> - I learned that deep learning isn’t always the best solution in fact, in our case, smaller models like XGBoost performed better.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Abdul-Rasaq Omisesan (101571156)</a:t>
            </a:r>
            <a:r>
              <a:rPr lang="ja" sz="1200"/>
              <a:t> - I learned that thoughtful feature engineering and 5-fold cross-validation can beat simply building bigger networks.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Callum Arul (101585383) - </a:t>
            </a:r>
            <a:r>
              <a:rPr lang="ja" sz="1200"/>
              <a:t>I learned that you can dramatically improve model performance not just by tuning models, but by engineering smart features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ja" sz="1200"/>
              <a:t>Friba Hussainyar (101591222)</a:t>
            </a:r>
            <a:r>
              <a:rPr lang="ja" sz="1200"/>
              <a:t> </a:t>
            </a:r>
            <a:r>
              <a:rPr lang="ja" sz="1200"/>
              <a:t>- </a:t>
            </a:r>
            <a:r>
              <a:rPr lang="ja" sz="1200"/>
              <a:t>I learned how to use the streamlit and connect the model to the front-end. 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