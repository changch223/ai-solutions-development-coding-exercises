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edaa210b5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edaa210b5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efd1346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efd1346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efd1346a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4efd1346a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d2f3b56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4d2f3b56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d2f3b564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d2f3b564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d2f3b564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d2f3b564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d2f3b564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4d2f3b564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4d32749cc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4d32749cc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edaa210b5_14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edaa210b5_14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edaa210b5_7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4edaa210b5_7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edaa210b5_7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4edaa210b5_7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4edaa210b5_14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4edaa210b5_14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We gathered all the features from the Big Idea Vignettes and insights from the Hills. We then prioritized these features based on their importance and feasibility. Finally, we selected three features that ranked highest in both criteria. These features also align with the Hills and</a:t>
            </a:r>
            <a:r>
              <a:rPr lang="ja"/>
              <a:t> address the stakeholders' </a:t>
            </a:r>
            <a:r>
              <a:rPr lang="ja"/>
              <a:t>expectations.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4edaa210b5_14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4edaa210b5_14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In the top-right corner, these are the three features we selected for our prototype.</a:t>
            </a:r>
            <a:endParaRPr/>
          </a:p>
          <a:p>
            <a:pPr indent="-298450" lvl="0" marL="457200" rtl="0" algn="l">
              <a:spcBef>
                <a:spcPts val="0"/>
              </a:spcBef>
              <a:spcAft>
                <a:spcPts val="0"/>
              </a:spcAft>
              <a:buSzPts val="1100"/>
              <a:buAutoNum type="arabicPeriod"/>
            </a:pPr>
            <a:r>
              <a:rPr lang="ja"/>
              <a:t>Real-Time Classification Guidance</a:t>
            </a:r>
            <a:r>
              <a:rPr lang="ja">
                <a:solidFill>
                  <a:schemeClr val="dk1"/>
                </a:solidFill>
              </a:rPr>
              <a:t>:</a:t>
            </a:r>
            <a:r>
              <a:rPr lang="ja"/>
              <a:t> The customer can receive accurate guidance on which type of garbage should be thrown into which bin.</a:t>
            </a:r>
            <a:endParaRPr/>
          </a:p>
          <a:p>
            <a:pPr indent="-298450" lvl="0" marL="457200" rtl="0" algn="l">
              <a:spcBef>
                <a:spcPts val="0"/>
              </a:spcBef>
              <a:spcAft>
                <a:spcPts val="0"/>
              </a:spcAft>
              <a:buSzPts val="1100"/>
              <a:buAutoNum type="arabicPeriod"/>
            </a:pPr>
            <a:r>
              <a:rPr lang="ja"/>
              <a:t>Overflowing System Alerts: The manager gets real-time alerts when a bin is full during busy hours and can clean it right away.</a:t>
            </a:r>
            <a:endParaRPr/>
          </a:p>
          <a:p>
            <a:pPr indent="-298450" lvl="0" marL="457200" rtl="0" algn="l">
              <a:spcBef>
                <a:spcPts val="0"/>
              </a:spcBef>
              <a:spcAft>
                <a:spcPts val="0"/>
              </a:spcAft>
              <a:buSzPts val="1100"/>
              <a:buAutoNum type="arabicPeriod"/>
            </a:pPr>
            <a:r>
              <a:rPr lang="ja"/>
              <a:t>Auto-Generated Reports: Auto-generated reports help the manager check information remotely and in real time</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f042f795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f042f795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f042f795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4f042f795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4edaa210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4edaa210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4edaa210b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4edaa210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4edaa210b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4edaa210b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4edaa210b5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4edaa210b5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4edaa210b5_7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4edaa210b5_7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4f042f795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4f042f795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f042f795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4f042f795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4edaa210b5_7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4edaa210b5_7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4edaa210b5_7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4edaa210b5_7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4edaa210b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4edaa210b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4edaa210b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4edaa210b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4edaa210b5_7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4edaa210b5_7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4edaa210b5_4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4edaa210b5_4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4edaa210b5_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4edaa210b5_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4edaa210b5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4edaa210b5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4f042f795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4f042f795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4.jp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S</a:t>
            </a:r>
            <a:r>
              <a:rPr lang="ja"/>
              <a:t>mart Recycle Bin</a:t>
            </a:r>
            <a:endParaRPr/>
          </a:p>
        </p:txBody>
      </p:sp>
      <p:sp>
        <p:nvSpPr>
          <p:cNvPr id="55" name="Google Shape;55;p13"/>
          <p:cNvSpPr txBox="1"/>
          <p:nvPr>
            <p:ph idx="1" type="subTitle"/>
          </p:nvPr>
        </p:nvSpPr>
        <p:spPr>
          <a:xfrm>
            <a:off x="311700" y="2834125"/>
            <a:ext cx="8520600" cy="19263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lang="ja"/>
              <a:t>Group 7</a:t>
            </a:r>
            <a:endParaRPr/>
          </a:p>
          <a:p>
            <a:pPr indent="0" lvl="0" marL="0" rtl="0" algn="ctr">
              <a:spcBef>
                <a:spcPts val="0"/>
              </a:spcBef>
              <a:spcAft>
                <a:spcPts val="0"/>
              </a:spcAft>
              <a:buNone/>
            </a:pPr>
            <a:r>
              <a:rPr lang="ja"/>
              <a:t>Chia-Wei Chang</a:t>
            </a:r>
            <a:endParaRPr/>
          </a:p>
          <a:p>
            <a:pPr indent="0" lvl="0" marL="0" rtl="0" algn="ctr">
              <a:spcBef>
                <a:spcPts val="0"/>
              </a:spcBef>
              <a:spcAft>
                <a:spcPts val="0"/>
              </a:spcAft>
              <a:buNone/>
            </a:pPr>
            <a:r>
              <a:rPr lang="ja"/>
              <a:t>Gavriel Kirichenko</a:t>
            </a:r>
            <a:endParaRPr/>
          </a:p>
          <a:p>
            <a:pPr indent="0" lvl="0" marL="0" rtl="0" algn="ctr">
              <a:spcBef>
                <a:spcPts val="0"/>
              </a:spcBef>
              <a:spcAft>
                <a:spcPts val="0"/>
              </a:spcAft>
              <a:buNone/>
            </a:pPr>
            <a:r>
              <a:rPr lang="ja"/>
              <a:t>Bikash Giri</a:t>
            </a:r>
            <a:endParaRPr/>
          </a:p>
          <a:p>
            <a:pPr indent="0" lvl="0" marL="0" rtl="0" algn="ctr">
              <a:spcBef>
                <a:spcPts val="0"/>
              </a:spcBef>
              <a:spcAft>
                <a:spcPts val="0"/>
              </a:spcAft>
              <a:buNone/>
            </a:pPr>
            <a:r>
              <a:rPr lang="ja"/>
              <a:t>Friba Hussainyar</a:t>
            </a:r>
            <a:endParaRPr/>
          </a:p>
          <a:p>
            <a:pPr indent="0" lvl="0" marL="0" rtl="0" algn="ctr">
              <a:spcBef>
                <a:spcPts val="0"/>
              </a:spcBef>
              <a:spcAft>
                <a:spcPts val="0"/>
              </a:spcAft>
              <a:buNone/>
            </a:pPr>
            <a:r>
              <a:rPr lang="ja"/>
              <a:t>Sergio Medrano</a:t>
            </a:r>
            <a:endParaRPr/>
          </a:p>
          <a:p>
            <a:pPr indent="0" lvl="0" marL="0" rtl="0" algn="ctr">
              <a:spcBef>
                <a:spcPts val="0"/>
              </a:spcBef>
              <a:spcAft>
                <a:spcPts val="0"/>
              </a:spcAft>
              <a:buNone/>
            </a:pPr>
            <a:r>
              <a:rPr lang="ja"/>
              <a:t>Diparshan Bhattarai</a:t>
            </a:r>
            <a:endParaRPr/>
          </a:p>
          <a:p>
            <a:pPr indent="0" lvl="0" marL="0" rtl="0" algn="ctr">
              <a:spcBef>
                <a:spcPts val="0"/>
              </a:spcBef>
              <a:spcAft>
                <a:spcPts val="0"/>
              </a:spcAft>
              <a:buNone/>
            </a:pPr>
            <a:r>
              <a:rPr lang="ja"/>
              <a:t>Callum Arul</a:t>
            </a:r>
            <a:endParaRPr/>
          </a:p>
          <a:p>
            <a:pPr indent="0" lvl="0" marL="0" rtl="0" algn="ctr">
              <a:spcBef>
                <a:spcPts val="0"/>
              </a:spcBef>
              <a:spcAft>
                <a:spcPts val="0"/>
              </a:spcAft>
              <a:buNone/>
            </a:pPr>
            <a:r>
              <a:rPr lang="ja"/>
              <a:t>Hsi-Teng Liu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subTitle"/>
          </p:nvPr>
        </p:nvSpPr>
        <p:spPr>
          <a:xfrm>
            <a:off x="284550" y="1142100"/>
            <a:ext cx="8574900" cy="4001400"/>
          </a:xfrm>
          <a:prstGeom prst="rect">
            <a:avLst/>
          </a:prstGeom>
        </p:spPr>
        <p:txBody>
          <a:bodyPr anchorCtr="0" anchor="t" bIns="91425" lIns="91425" spcFirstLastPara="1" rIns="91425" wrap="square" tIns="91425">
            <a:normAutofit fontScale="92500" lnSpcReduction="20000"/>
          </a:bodyPr>
          <a:lstStyle/>
          <a:p>
            <a:pPr indent="-381317" lvl="0" marL="457200" rtl="0" algn="l">
              <a:lnSpc>
                <a:spcPct val="150000"/>
              </a:lnSpc>
              <a:spcBef>
                <a:spcPts val="0"/>
              </a:spcBef>
              <a:spcAft>
                <a:spcPts val="0"/>
              </a:spcAft>
              <a:buSzPct val="100000"/>
              <a:buChar char="●"/>
            </a:pPr>
            <a:r>
              <a:rPr lang="ja" sz="2600"/>
              <a:t>Introduction (with Subspace) - Diparshan</a:t>
            </a:r>
            <a:endParaRPr sz="2600" strike="sngStrike"/>
          </a:p>
          <a:p>
            <a:pPr indent="-381317" lvl="0" marL="457200" rtl="0" algn="l">
              <a:lnSpc>
                <a:spcPct val="150000"/>
              </a:lnSpc>
              <a:spcBef>
                <a:spcPts val="0"/>
              </a:spcBef>
              <a:spcAft>
                <a:spcPts val="0"/>
              </a:spcAft>
              <a:buSzPct val="100000"/>
              <a:buChar char="●"/>
            </a:pPr>
            <a:r>
              <a:rPr lang="ja" sz="2600"/>
              <a:t>Data Source - Friba</a:t>
            </a:r>
            <a:endParaRPr sz="2600"/>
          </a:p>
          <a:p>
            <a:pPr indent="-381317" lvl="0" marL="457200" rtl="0" algn="l">
              <a:lnSpc>
                <a:spcPct val="150000"/>
              </a:lnSpc>
              <a:spcBef>
                <a:spcPts val="0"/>
              </a:spcBef>
              <a:spcAft>
                <a:spcPts val="0"/>
              </a:spcAft>
              <a:buSzPct val="100000"/>
              <a:buChar char="●"/>
            </a:pPr>
            <a:r>
              <a:rPr lang="ja" sz="2600"/>
              <a:t>Persona - Sergio</a:t>
            </a:r>
            <a:endParaRPr sz="2600"/>
          </a:p>
          <a:p>
            <a:pPr indent="-381317" lvl="0" marL="457200" rtl="0" algn="l">
              <a:lnSpc>
                <a:spcPct val="150000"/>
              </a:lnSpc>
              <a:spcBef>
                <a:spcPts val="0"/>
              </a:spcBef>
              <a:spcAft>
                <a:spcPts val="0"/>
              </a:spcAft>
              <a:buSzPct val="100000"/>
              <a:buChar char="●"/>
            </a:pPr>
            <a:r>
              <a:rPr lang="ja" sz="2600"/>
              <a:t>AI Intents - Hsi-Teng Liu </a:t>
            </a:r>
            <a:endParaRPr sz="2600"/>
          </a:p>
          <a:p>
            <a:pPr indent="-381317" lvl="0" marL="457200" rtl="0" algn="l">
              <a:lnSpc>
                <a:spcPct val="150000"/>
              </a:lnSpc>
              <a:spcBef>
                <a:spcPts val="0"/>
              </a:spcBef>
              <a:spcAft>
                <a:spcPts val="0"/>
              </a:spcAft>
              <a:buSzPct val="100000"/>
              <a:buChar char="●"/>
            </a:pPr>
            <a:r>
              <a:rPr lang="ja" sz="2600"/>
              <a:t>Prioritization - Chia-Wei</a:t>
            </a:r>
            <a:endParaRPr sz="2600"/>
          </a:p>
          <a:p>
            <a:pPr indent="-381317" lvl="0" marL="457200" rtl="0" algn="l">
              <a:lnSpc>
                <a:spcPct val="150000"/>
              </a:lnSpc>
              <a:spcBef>
                <a:spcPts val="0"/>
              </a:spcBef>
              <a:spcAft>
                <a:spcPts val="0"/>
              </a:spcAft>
              <a:buSzPct val="100000"/>
              <a:buChar char="●"/>
            </a:pPr>
            <a:r>
              <a:rPr lang="ja" sz="2600"/>
              <a:t>To-Be Scenario Map - Beekash</a:t>
            </a:r>
            <a:endParaRPr sz="2600"/>
          </a:p>
          <a:p>
            <a:pPr indent="-381317" lvl="0" marL="457200" rtl="0" algn="l">
              <a:lnSpc>
                <a:spcPct val="150000"/>
              </a:lnSpc>
              <a:spcBef>
                <a:spcPts val="0"/>
              </a:spcBef>
              <a:spcAft>
                <a:spcPts val="0"/>
              </a:spcAft>
              <a:buSzPct val="100000"/>
              <a:buChar char="●"/>
            </a:pPr>
            <a:r>
              <a:rPr lang="ja" sz="2600"/>
              <a:t>Prototype 1 - Gavriel</a:t>
            </a:r>
            <a:endParaRPr sz="2600"/>
          </a:p>
          <a:p>
            <a:pPr indent="-381317" lvl="0" marL="457200" rtl="0" algn="l">
              <a:lnSpc>
                <a:spcPct val="150000"/>
              </a:lnSpc>
              <a:spcBef>
                <a:spcPts val="0"/>
              </a:spcBef>
              <a:spcAft>
                <a:spcPts val="0"/>
              </a:spcAft>
              <a:buSzPct val="100000"/>
              <a:buChar char="●"/>
            </a:pPr>
            <a:r>
              <a:rPr lang="ja" sz="2600"/>
              <a:t>Prototype 2 (and </a:t>
            </a:r>
            <a:r>
              <a:rPr lang="ja" sz="2600"/>
              <a:t>Conclusion</a:t>
            </a:r>
            <a:r>
              <a:rPr lang="ja" sz="2600"/>
              <a:t>) - Callum</a:t>
            </a:r>
            <a:endParaRPr sz="2600"/>
          </a:p>
        </p:txBody>
      </p:sp>
      <p:sp>
        <p:nvSpPr>
          <p:cNvPr id="61" name="Google Shape;61;p14"/>
          <p:cNvSpPr txBox="1"/>
          <p:nvPr>
            <p:ph idx="4294967295"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Agenda &amp; PRESENTATION ORDER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ja"/>
              <a:t>Introduction </a:t>
            </a:r>
            <a:endParaRPr b="1"/>
          </a:p>
        </p:txBody>
      </p:sp>
      <p:sp>
        <p:nvSpPr>
          <p:cNvPr id="67" name="Google Shape;67;p15"/>
          <p:cNvSpPr txBox="1"/>
          <p:nvPr>
            <p:ph idx="1" type="body"/>
          </p:nvPr>
        </p:nvSpPr>
        <p:spPr>
          <a:xfrm>
            <a:off x="311700" y="1152475"/>
            <a:ext cx="6575700" cy="632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ja"/>
              <a:t>The Future of Waste Management: Why Change Is Urgent</a:t>
            </a:r>
            <a:endParaRPr b="1"/>
          </a:p>
          <a:p>
            <a:pPr indent="0" lvl="0" marL="0" rtl="0" algn="l">
              <a:spcBef>
                <a:spcPts val="1200"/>
              </a:spcBef>
              <a:spcAft>
                <a:spcPts val="1200"/>
              </a:spcAft>
              <a:buNone/>
            </a:pPr>
            <a:r>
              <a:t/>
            </a:r>
            <a:endParaRPr/>
          </a:p>
        </p:txBody>
      </p:sp>
      <p:pic>
        <p:nvPicPr>
          <p:cNvPr id="68" name="Google Shape;68;p15" title="ChatGPT Image Apr 17, 2025, 12_33_07 AM.png"/>
          <p:cNvPicPr preferRelativeResize="0"/>
          <p:nvPr/>
        </p:nvPicPr>
        <p:blipFill>
          <a:blip r:embed="rId3">
            <a:alphaModFix/>
          </a:blip>
          <a:stretch>
            <a:fillRect/>
          </a:stretch>
        </p:blipFill>
        <p:spPr>
          <a:xfrm>
            <a:off x="5119475" y="1784875"/>
            <a:ext cx="3712827" cy="2475200"/>
          </a:xfrm>
          <a:prstGeom prst="rect">
            <a:avLst/>
          </a:prstGeom>
          <a:noFill/>
          <a:ln>
            <a:noFill/>
          </a:ln>
        </p:spPr>
      </p:pic>
      <p:sp>
        <p:nvSpPr>
          <p:cNvPr id="69" name="Google Shape;69;p15"/>
          <p:cNvSpPr txBox="1"/>
          <p:nvPr>
            <p:ph type="title"/>
          </p:nvPr>
        </p:nvSpPr>
        <p:spPr>
          <a:xfrm>
            <a:off x="443175" y="1675525"/>
            <a:ext cx="4748400" cy="29091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SzPts val="1600"/>
              <a:buChar char="●"/>
            </a:pPr>
            <a:r>
              <a:rPr lang="ja" sz="1600"/>
              <a:t>Traditional waste collection is inefficient and outdated</a:t>
            </a:r>
            <a:endParaRPr sz="1600"/>
          </a:p>
          <a:p>
            <a:pPr indent="-330200" lvl="0" marL="457200" rtl="0" algn="l">
              <a:lnSpc>
                <a:spcPct val="115000"/>
              </a:lnSpc>
              <a:spcBef>
                <a:spcPts val="0"/>
              </a:spcBef>
              <a:spcAft>
                <a:spcPts val="0"/>
              </a:spcAft>
              <a:buSzPts val="1600"/>
              <a:buChar char="●"/>
            </a:pPr>
            <a:r>
              <a:rPr lang="ja" sz="1600"/>
              <a:t>Fixed collection routes cause fuel waste, pollution, and overflow</a:t>
            </a:r>
            <a:endParaRPr sz="1600"/>
          </a:p>
          <a:p>
            <a:pPr indent="-330200" lvl="0" marL="457200" rtl="0" algn="l">
              <a:lnSpc>
                <a:spcPct val="115000"/>
              </a:lnSpc>
              <a:spcBef>
                <a:spcPts val="0"/>
              </a:spcBef>
              <a:spcAft>
                <a:spcPts val="0"/>
              </a:spcAft>
              <a:buSzPts val="1600"/>
              <a:buChar char="●"/>
            </a:pPr>
            <a:r>
              <a:rPr lang="ja" sz="1600"/>
              <a:t>Improper sorting leads to low recycling rates and regulatory fines</a:t>
            </a:r>
            <a:endParaRPr sz="1600"/>
          </a:p>
          <a:p>
            <a:pPr indent="-330200" lvl="0" marL="457200" rtl="0" algn="l">
              <a:lnSpc>
                <a:spcPct val="115000"/>
              </a:lnSpc>
              <a:spcBef>
                <a:spcPts val="0"/>
              </a:spcBef>
              <a:spcAft>
                <a:spcPts val="0"/>
              </a:spcAft>
              <a:buSzPts val="1600"/>
              <a:buChar char="●"/>
            </a:pPr>
            <a:r>
              <a:rPr lang="ja" sz="1600"/>
              <a:t>Manual tracking is labor-intensive and error-prone</a:t>
            </a:r>
            <a:endParaRPr sz="1600"/>
          </a:p>
          <a:p>
            <a:pPr indent="-330200" lvl="0" marL="457200" rtl="0" algn="l">
              <a:lnSpc>
                <a:spcPct val="115000"/>
              </a:lnSpc>
              <a:spcBef>
                <a:spcPts val="0"/>
              </a:spcBef>
              <a:spcAft>
                <a:spcPts val="0"/>
              </a:spcAft>
              <a:buSzPts val="1600"/>
              <a:buChar char="●"/>
            </a:pPr>
            <a:r>
              <a:rPr lang="ja" sz="1600"/>
              <a:t>Growing demand for smart, sustainable urban solutions</a:t>
            </a:r>
            <a:endParaRPr sz="1600"/>
          </a:p>
          <a:p>
            <a:pPr indent="0" lvl="0" marL="0" rtl="0" algn="l">
              <a:spcBef>
                <a:spcPts val="1200"/>
              </a:spcBef>
              <a:spcAft>
                <a:spcPts val="0"/>
              </a:spcAft>
              <a:buNone/>
            </a:pPr>
            <a:r>
              <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422250" y="477150"/>
            <a:ext cx="4999800" cy="4189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800">
              <a:solidFill>
                <a:schemeClr val="dk2"/>
              </a:solidFill>
            </a:endParaRPr>
          </a:p>
          <a:p>
            <a:pPr indent="-298450" lvl="0" marL="457200" rtl="0" algn="l">
              <a:lnSpc>
                <a:spcPct val="115000"/>
              </a:lnSpc>
              <a:spcBef>
                <a:spcPts val="1200"/>
              </a:spcBef>
              <a:spcAft>
                <a:spcPts val="0"/>
              </a:spcAft>
              <a:buSzPts val="1100"/>
              <a:buChar char="●"/>
            </a:pPr>
            <a:r>
              <a:rPr lang="ja" sz="1800">
                <a:solidFill>
                  <a:schemeClr val="dk2"/>
                </a:solidFill>
              </a:rPr>
              <a:t>Combines image classification + sensor data for waste recognition</a:t>
            </a:r>
            <a:endParaRPr sz="1800">
              <a:solidFill>
                <a:schemeClr val="dk2"/>
              </a:solidFill>
            </a:endParaRPr>
          </a:p>
          <a:p>
            <a:pPr indent="-298450" lvl="0" marL="457200" rtl="0" algn="l">
              <a:lnSpc>
                <a:spcPct val="115000"/>
              </a:lnSpc>
              <a:spcBef>
                <a:spcPts val="0"/>
              </a:spcBef>
              <a:spcAft>
                <a:spcPts val="0"/>
              </a:spcAft>
              <a:buSzPts val="1100"/>
              <a:buChar char="●"/>
            </a:pPr>
            <a:r>
              <a:rPr lang="ja" sz="1800">
                <a:solidFill>
                  <a:schemeClr val="dk2"/>
                </a:solidFill>
              </a:rPr>
              <a:t>Enables real-time alerts and dynamic route planning</a:t>
            </a:r>
            <a:endParaRPr sz="1800">
              <a:solidFill>
                <a:schemeClr val="dk2"/>
              </a:solidFill>
            </a:endParaRPr>
          </a:p>
          <a:p>
            <a:pPr indent="-298450" lvl="0" marL="457200" rtl="0" algn="l">
              <a:lnSpc>
                <a:spcPct val="115000"/>
              </a:lnSpc>
              <a:spcBef>
                <a:spcPts val="0"/>
              </a:spcBef>
              <a:spcAft>
                <a:spcPts val="0"/>
              </a:spcAft>
              <a:buSzPts val="1100"/>
              <a:buChar char="●"/>
            </a:pPr>
            <a:r>
              <a:rPr lang="ja" sz="1800">
                <a:solidFill>
                  <a:schemeClr val="dk2"/>
                </a:solidFill>
              </a:rPr>
              <a:t>Improves recycling accuracy and reduces contamination</a:t>
            </a:r>
            <a:endParaRPr sz="1800">
              <a:solidFill>
                <a:schemeClr val="dk2"/>
              </a:solidFill>
            </a:endParaRPr>
          </a:p>
          <a:p>
            <a:pPr indent="-298450" lvl="0" marL="457200" rtl="0" algn="l">
              <a:lnSpc>
                <a:spcPct val="115000"/>
              </a:lnSpc>
              <a:spcBef>
                <a:spcPts val="0"/>
              </a:spcBef>
              <a:spcAft>
                <a:spcPts val="0"/>
              </a:spcAft>
              <a:buSzPts val="1100"/>
              <a:buChar char="●"/>
            </a:pPr>
            <a:r>
              <a:rPr lang="ja" sz="1800">
                <a:solidFill>
                  <a:schemeClr val="dk2"/>
                </a:solidFill>
              </a:rPr>
              <a:t>Delivers data-driven reports to support management decisions</a:t>
            </a:r>
            <a:endParaRPr sz="1800">
              <a:solidFill>
                <a:schemeClr val="dk2"/>
              </a:solidFill>
            </a:endParaRPr>
          </a:p>
          <a:p>
            <a:pPr indent="-298450" lvl="0" marL="457200" rtl="0" algn="l">
              <a:lnSpc>
                <a:spcPct val="115000"/>
              </a:lnSpc>
              <a:spcBef>
                <a:spcPts val="0"/>
              </a:spcBef>
              <a:spcAft>
                <a:spcPts val="0"/>
              </a:spcAft>
              <a:buSzPts val="1100"/>
              <a:buChar char="●"/>
            </a:pPr>
            <a:r>
              <a:rPr lang="ja" sz="1800">
                <a:solidFill>
                  <a:schemeClr val="dk2"/>
                </a:solidFill>
              </a:rPr>
              <a:t>Target users: Restaurants, urban waste departments, and smart cities</a:t>
            </a:r>
            <a:endParaRPr sz="1800">
              <a:solidFill>
                <a:schemeClr val="dk2"/>
              </a:solidFill>
            </a:endParaRPr>
          </a:p>
          <a:p>
            <a:pPr indent="0" lvl="0" marL="0" rtl="0" algn="l">
              <a:spcBef>
                <a:spcPts val="1200"/>
              </a:spcBef>
              <a:spcAft>
                <a:spcPts val="0"/>
              </a:spcAft>
              <a:buNone/>
            </a:pPr>
            <a:r>
              <a:t/>
            </a:r>
            <a:endParaRPr sz="1600"/>
          </a:p>
        </p:txBody>
      </p:sp>
      <p:pic>
        <p:nvPicPr>
          <p:cNvPr id="75" name="Google Shape;75;p16" title="ChatGPT Image Apr 17, 2025, 12_35_49 AM.png"/>
          <p:cNvPicPr preferRelativeResize="0"/>
          <p:nvPr/>
        </p:nvPicPr>
        <p:blipFill>
          <a:blip r:embed="rId3">
            <a:alphaModFix/>
          </a:blip>
          <a:stretch>
            <a:fillRect/>
          </a:stretch>
        </p:blipFill>
        <p:spPr>
          <a:xfrm>
            <a:off x="5861550" y="819575"/>
            <a:ext cx="2498150" cy="3747199"/>
          </a:xfrm>
          <a:prstGeom prst="rect">
            <a:avLst/>
          </a:prstGeom>
          <a:noFill/>
          <a:ln>
            <a:noFill/>
          </a:ln>
        </p:spPr>
      </p:pic>
      <p:sp>
        <p:nvSpPr>
          <p:cNvPr id="76" name="Google Shape;76;p16"/>
          <p:cNvSpPr txBox="1"/>
          <p:nvPr>
            <p:ph idx="1" type="body"/>
          </p:nvPr>
        </p:nvSpPr>
        <p:spPr>
          <a:xfrm>
            <a:off x="422250" y="377600"/>
            <a:ext cx="7109400" cy="632400"/>
          </a:xfrm>
          <a:prstGeom prst="rect">
            <a:avLst/>
          </a:prstGeom>
        </p:spPr>
        <p:txBody>
          <a:bodyPr anchorCtr="0" anchor="t" bIns="91425" lIns="91425" spcFirstLastPara="1" rIns="91425" wrap="square" tIns="91425">
            <a:noAutofit/>
          </a:bodyPr>
          <a:lstStyle/>
          <a:p>
            <a:pPr indent="0" lvl="0" marL="0" rtl="0" algn="l">
              <a:spcBef>
                <a:spcPts val="1200"/>
              </a:spcBef>
              <a:spcAft>
                <a:spcPts val="1200"/>
              </a:spcAft>
              <a:buClr>
                <a:schemeClr val="dk1"/>
              </a:buClr>
              <a:buSzPts val="1100"/>
              <a:buFont typeface="Arial"/>
              <a:buNone/>
            </a:pPr>
            <a:r>
              <a:rPr b="1" lang="ja"/>
              <a:t>AI-Powered Smart Bin</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Data Source: </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marR="0" rtl="0" algn="l">
              <a:lnSpc>
                <a:spcPct val="115000"/>
              </a:lnSpc>
              <a:spcBef>
                <a:spcPts val="1200"/>
              </a:spcBef>
              <a:spcAft>
                <a:spcPts val="0"/>
              </a:spcAft>
              <a:buNone/>
            </a:pPr>
            <a:r>
              <a:t/>
            </a:r>
            <a:endParaRPr sz="1408">
              <a:solidFill>
                <a:schemeClr val="dk1"/>
              </a:solidFill>
            </a:endParaRPr>
          </a:p>
          <a:p>
            <a:pPr indent="0" lvl="0" marL="0" rtl="0" algn="l">
              <a:spcBef>
                <a:spcPts val="1200"/>
              </a:spcBef>
              <a:spcAft>
                <a:spcPts val="1200"/>
              </a:spcAft>
              <a:buNone/>
            </a:pPr>
            <a:r>
              <a:t/>
            </a:r>
            <a:endParaRPr sz="1100">
              <a:solidFill>
                <a:schemeClr val="dk1"/>
              </a:solidFill>
            </a:endParaRPr>
          </a:p>
        </p:txBody>
      </p:sp>
      <p:sp>
        <p:nvSpPr>
          <p:cNvPr id="83" name="Google Shape;83;p17"/>
          <p:cNvSpPr txBox="1"/>
          <p:nvPr/>
        </p:nvSpPr>
        <p:spPr>
          <a:xfrm>
            <a:off x="368900" y="1228225"/>
            <a:ext cx="3571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800">
                <a:solidFill>
                  <a:schemeClr val="dk2"/>
                </a:solidFill>
              </a:rPr>
              <a:t>Public &amp; have:</a:t>
            </a:r>
            <a:endParaRPr b="1" sz="1800">
              <a:solidFill>
                <a:schemeClr val="dk2"/>
              </a:solidFill>
            </a:endParaRPr>
          </a:p>
        </p:txBody>
      </p:sp>
      <p:sp>
        <p:nvSpPr>
          <p:cNvPr id="84" name="Google Shape;84;p17"/>
          <p:cNvSpPr txBox="1"/>
          <p:nvPr/>
        </p:nvSpPr>
        <p:spPr>
          <a:xfrm>
            <a:off x="595250" y="1847625"/>
            <a:ext cx="72438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b="1" lang="ja" sz="1800">
                <a:solidFill>
                  <a:schemeClr val="dk2"/>
                </a:solidFill>
              </a:rPr>
              <a:t>Toronto Waste Management Data (Solid Waste Tonnages):</a:t>
            </a:r>
            <a:endParaRPr b="1" sz="1800">
              <a:solidFill>
                <a:schemeClr val="dk2"/>
              </a:solidFill>
            </a:endParaRPr>
          </a:p>
          <a:p>
            <a:pPr indent="0" lvl="0" marL="457200" rtl="0" algn="l">
              <a:spcBef>
                <a:spcPts val="0"/>
              </a:spcBef>
              <a:spcAft>
                <a:spcPts val="0"/>
              </a:spcAft>
              <a:buNone/>
            </a:pPr>
            <a:r>
              <a:rPr lang="ja" sz="1800">
                <a:solidFill>
                  <a:schemeClr val="dk2"/>
                </a:solidFill>
              </a:rPr>
              <a:t>Provides solid waste tonnage data crucial for understanding waste trends in urban areas </a:t>
            </a:r>
            <a:endParaRPr sz="1800">
              <a:solidFill>
                <a:schemeClr val="dk2"/>
              </a:solidFill>
            </a:endParaRPr>
          </a:p>
          <a:p>
            <a:pPr indent="-342900" lvl="0" marL="457200" rtl="0" algn="l">
              <a:spcBef>
                <a:spcPts val="0"/>
              </a:spcBef>
              <a:spcAft>
                <a:spcPts val="0"/>
              </a:spcAft>
              <a:buClr>
                <a:schemeClr val="dk2"/>
              </a:buClr>
              <a:buSzPts val="1800"/>
              <a:buChar char="●"/>
            </a:pPr>
            <a:r>
              <a:rPr b="1" lang="ja" sz="1800">
                <a:solidFill>
                  <a:schemeClr val="dk2"/>
                </a:solidFill>
              </a:rPr>
              <a:t>OpenAI Environment &amp; Sustainability Datasets:</a:t>
            </a:r>
            <a:endParaRPr b="1" sz="1800">
              <a:solidFill>
                <a:schemeClr val="dk2"/>
              </a:solidFill>
            </a:endParaRPr>
          </a:p>
          <a:p>
            <a:pPr indent="0" lvl="0" marL="457200" rtl="0" algn="l">
              <a:spcBef>
                <a:spcPts val="0"/>
              </a:spcBef>
              <a:spcAft>
                <a:spcPts val="0"/>
              </a:spcAft>
              <a:buNone/>
            </a:pPr>
            <a:r>
              <a:rPr lang="ja" sz="1800">
                <a:solidFill>
                  <a:schemeClr val="dk2"/>
                </a:solidFill>
              </a:rPr>
              <a:t>Offers insights into broader environmental impacts and sustainable practices. </a:t>
            </a:r>
            <a:endParaRPr sz="1800">
              <a:solidFill>
                <a:schemeClr val="dk2"/>
              </a:solidFill>
            </a:endParaRPr>
          </a:p>
        </p:txBody>
      </p:sp>
      <p:sp>
        <p:nvSpPr>
          <p:cNvPr id="85" name="Google Shape;85;p17"/>
          <p:cNvSpPr txBox="1"/>
          <p:nvPr/>
        </p:nvSpPr>
        <p:spPr>
          <a:xfrm>
            <a:off x="368900" y="2812775"/>
            <a:ext cx="4766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b="1"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86" name="Google Shape;86;p17"/>
          <p:cNvSpPr txBox="1"/>
          <p:nvPr/>
        </p:nvSpPr>
        <p:spPr>
          <a:xfrm>
            <a:off x="595250" y="3416425"/>
            <a:ext cx="7633500" cy="4617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Data Source: </a:t>
            </a:r>
            <a:endParaRPr/>
          </a:p>
        </p:txBody>
      </p:sp>
      <p:sp>
        <p:nvSpPr>
          <p:cNvPr id="92" name="Google Shape;9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marR="0" rtl="0" algn="l">
              <a:lnSpc>
                <a:spcPct val="115000"/>
              </a:lnSpc>
              <a:spcBef>
                <a:spcPts val="1200"/>
              </a:spcBef>
              <a:spcAft>
                <a:spcPts val="0"/>
              </a:spcAft>
              <a:buNone/>
            </a:pPr>
            <a:r>
              <a:t/>
            </a:r>
            <a:endParaRPr sz="1408">
              <a:solidFill>
                <a:schemeClr val="dk1"/>
              </a:solidFill>
            </a:endParaRPr>
          </a:p>
          <a:p>
            <a:pPr indent="0" lvl="0" marL="0" rtl="0" algn="l">
              <a:spcBef>
                <a:spcPts val="1200"/>
              </a:spcBef>
              <a:spcAft>
                <a:spcPts val="1200"/>
              </a:spcAft>
              <a:buNone/>
            </a:pPr>
            <a:r>
              <a:t/>
            </a:r>
            <a:endParaRPr sz="1100">
              <a:solidFill>
                <a:schemeClr val="dk1"/>
              </a:solidFill>
            </a:endParaRPr>
          </a:p>
        </p:txBody>
      </p:sp>
      <p:sp>
        <p:nvSpPr>
          <p:cNvPr id="93" name="Google Shape;93;p18"/>
          <p:cNvSpPr txBox="1"/>
          <p:nvPr/>
        </p:nvSpPr>
        <p:spPr>
          <a:xfrm>
            <a:off x="368900" y="1228225"/>
            <a:ext cx="3571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800">
                <a:solidFill>
                  <a:schemeClr val="dk2"/>
                </a:solidFill>
              </a:rPr>
              <a:t>Public &amp; Need:</a:t>
            </a:r>
            <a:endParaRPr b="1" sz="1800">
              <a:solidFill>
                <a:schemeClr val="dk2"/>
              </a:solidFill>
            </a:endParaRPr>
          </a:p>
        </p:txBody>
      </p:sp>
      <p:sp>
        <p:nvSpPr>
          <p:cNvPr id="94" name="Google Shape;94;p18"/>
          <p:cNvSpPr txBox="1"/>
          <p:nvPr/>
        </p:nvSpPr>
        <p:spPr>
          <a:xfrm>
            <a:off x="595250" y="1831875"/>
            <a:ext cx="72438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ja" sz="1800">
                <a:solidFill>
                  <a:schemeClr val="dk2"/>
                </a:solidFill>
              </a:rPr>
              <a:t>Real-time waste generation statistics from Toronto Open Data (if available)  </a:t>
            </a:r>
            <a:r>
              <a:rPr lang="ja" sz="1800">
                <a:solidFill>
                  <a:schemeClr val="dk2"/>
                </a:solidFill>
              </a:rPr>
              <a:t> </a:t>
            </a:r>
            <a:endParaRPr sz="1800">
              <a:solidFill>
                <a:schemeClr val="dk2"/>
              </a:solidFill>
            </a:endParaRPr>
          </a:p>
          <a:p>
            <a:pPr indent="-342900" lvl="0" marL="457200" rtl="0" algn="l">
              <a:spcBef>
                <a:spcPts val="0"/>
              </a:spcBef>
              <a:spcAft>
                <a:spcPts val="0"/>
              </a:spcAft>
              <a:buClr>
                <a:schemeClr val="dk2"/>
              </a:buClr>
              <a:buSzPts val="1800"/>
              <a:buChar char="●"/>
            </a:pPr>
            <a:r>
              <a:rPr lang="ja" sz="1800">
                <a:solidFill>
                  <a:schemeClr val="dk2"/>
                </a:solidFill>
              </a:rPr>
              <a:t>Waste generation trends from GODAN  (Global Open Data for Agriculture and Nutrition)  </a:t>
            </a:r>
            <a:r>
              <a:rPr lang="ja" sz="1800">
                <a:solidFill>
                  <a:schemeClr val="dk2"/>
                </a:solidFill>
              </a:rPr>
              <a:t>  </a:t>
            </a:r>
            <a:endParaRPr sz="1800">
              <a:solidFill>
                <a:schemeClr val="dk2"/>
              </a:solidFill>
            </a:endParaRPr>
          </a:p>
        </p:txBody>
      </p:sp>
      <p:sp>
        <p:nvSpPr>
          <p:cNvPr id="95" name="Google Shape;95;p18"/>
          <p:cNvSpPr txBox="1"/>
          <p:nvPr/>
        </p:nvSpPr>
        <p:spPr>
          <a:xfrm>
            <a:off x="368900" y="2976250"/>
            <a:ext cx="4766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800">
                <a:solidFill>
                  <a:schemeClr val="dk2"/>
                </a:solidFill>
              </a:rPr>
              <a:t>Private &amp; Need:</a:t>
            </a:r>
            <a:endParaRPr b="1"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96" name="Google Shape;96;p18"/>
          <p:cNvSpPr txBox="1"/>
          <p:nvPr/>
        </p:nvSpPr>
        <p:spPr>
          <a:xfrm>
            <a:off x="595250" y="3416425"/>
            <a:ext cx="76335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ja" sz="1800">
                <a:solidFill>
                  <a:schemeClr val="dk2"/>
                </a:solidFill>
              </a:rPr>
              <a:t>User interaction data with smart bin (how/when it's used)  </a:t>
            </a:r>
            <a:endParaRPr sz="1800">
              <a:solidFill>
                <a:schemeClr val="dk2"/>
              </a:solidFill>
            </a:endParaRPr>
          </a:p>
          <a:p>
            <a:pPr indent="-342900" lvl="0" marL="457200" rtl="0" algn="l">
              <a:spcBef>
                <a:spcPts val="0"/>
              </a:spcBef>
              <a:spcAft>
                <a:spcPts val="0"/>
              </a:spcAft>
              <a:buClr>
                <a:schemeClr val="dk2"/>
              </a:buClr>
              <a:buSzPts val="1800"/>
              <a:buChar char="●"/>
            </a:pPr>
            <a:r>
              <a:rPr lang="ja" sz="1800">
                <a:solidFill>
                  <a:schemeClr val="dk2"/>
                </a:solidFill>
              </a:rPr>
              <a:t>Data on types of non-recyclable items detected </a:t>
            </a:r>
            <a:endParaRPr sz="1800">
              <a:solidFill>
                <a:schemeClr val="dk2"/>
              </a:solidFill>
            </a:endParaRPr>
          </a:p>
          <a:p>
            <a:pPr indent="-342900" lvl="0" marL="457200" rtl="0" algn="l">
              <a:spcBef>
                <a:spcPts val="0"/>
              </a:spcBef>
              <a:spcAft>
                <a:spcPts val="0"/>
              </a:spcAft>
              <a:buClr>
                <a:schemeClr val="dk2"/>
              </a:buClr>
              <a:buSzPts val="1800"/>
              <a:buChar char="●"/>
            </a:pPr>
            <a:r>
              <a:rPr lang="ja" sz="1800">
                <a:solidFill>
                  <a:schemeClr val="dk2"/>
                </a:solidFill>
              </a:rPr>
              <a:t>Waste management in the U.S | Statista</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Data Source: </a:t>
            </a:r>
            <a:endParaRPr/>
          </a:p>
        </p:txBody>
      </p:sp>
      <p:sp>
        <p:nvSpPr>
          <p:cNvPr id="102" name="Google Shape;102;p19"/>
          <p:cNvSpPr txBox="1"/>
          <p:nvPr>
            <p:ph idx="1" type="body"/>
          </p:nvPr>
        </p:nvSpPr>
        <p:spPr>
          <a:xfrm>
            <a:off x="311700" y="812925"/>
            <a:ext cx="8520600" cy="3416400"/>
          </a:xfrm>
          <a:prstGeom prst="rect">
            <a:avLst/>
          </a:prstGeom>
        </p:spPr>
        <p:txBody>
          <a:bodyPr anchorCtr="0" anchor="t" bIns="91425" lIns="91425" spcFirstLastPara="1" rIns="91425" wrap="square" tIns="91425">
            <a:normAutofit/>
          </a:bodyPr>
          <a:lstStyle/>
          <a:p>
            <a:pPr indent="0" lvl="0" marL="457200" marR="0" rtl="0" algn="l">
              <a:lnSpc>
                <a:spcPct val="115000"/>
              </a:lnSpc>
              <a:spcBef>
                <a:spcPts val="1200"/>
              </a:spcBef>
              <a:spcAft>
                <a:spcPts val="0"/>
              </a:spcAft>
              <a:buNone/>
            </a:pPr>
            <a:r>
              <a:t/>
            </a:r>
            <a:endParaRPr sz="1408">
              <a:solidFill>
                <a:schemeClr val="dk1"/>
              </a:solidFill>
            </a:endParaRPr>
          </a:p>
          <a:p>
            <a:pPr indent="0" lvl="0" marL="0" rtl="0" algn="l">
              <a:spcBef>
                <a:spcPts val="1200"/>
              </a:spcBef>
              <a:spcAft>
                <a:spcPts val="1200"/>
              </a:spcAft>
              <a:buNone/>
            </a:pPr>
            <a:r>
              <a:t/>
            </a:r>
            <a:endParaRPr sz="1100">
              <a:solidFill>
                <a:schemeClr val="dk1"/>
              </a:solidFill>
            </a:endParaRPr>
          </a:p>
        </p:txBody>
      </p:sp>
      <p:sp>
        <p:nvSpPr>
          <p:cNvPr id="103" name="Google Shape;103;p19"/>
          <p:cNvSpPr txBox="1"/>
          <p:nvPr/>
        </p:nvSpPr>
        <p:spPr>
          <a:xfrm>
            <a:off x="368900" y="1228225"/>
            <a:ext cx="3571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800">
                <a:solidFill>
                  <a:schemeClr val="dk2"/>
                </a:solidFill>
              </a:rPr>
              <a:t>User </a:t>
            </a:r>
            <a:r>
              <a:rPr b="1" lang="ja" sz="1800">
                <a:solidFill>
                  <a:schemeClr val="dk2"/>
                </a:solidFill>
              </a:rPr>
              <a:t>&amp; Nice to have:</a:t>
            </a:r>
            <a:endParaRPr b="1" sz="1800">
              <a:solidFill>
                <a:schemeClr val="dk2"/>
              </a:solidFill>
            </a:endParaRPr>
          </a:p>
        </p:txBody>
      </p:sp>
      <p:sp>
        <p:nvSpPr>
          <p:cNvPr id="104" name="Google Shape;104;p19"/>
          <p:cNvSpPr txBox="1"/>
          <p:nvPr/>
        </p:nvSpPr>
        <p:spPr>
          <a:xfrm>
            <a:off x="400250" y="1689925"/>
            <a:ext cx="74388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ja" sz="1800">
                <a:solidFill>
                  <a:schemeClr val="dk2"/>
                </a:solidFill>
              </a:rPr>
              <a:t>User feedback data</a:t>
            </a:r>
            <a:endParaRPr sz="1800">
              <a:solidFill>
                <a:schemeClr val="dk2"/>
              </a:solidFill>
            </a:endParaRPr>
          </a:p>
          <a:p>
            <a:pPr indent="0" lvl="0" marL="457200" rtl="0" algn="l">
              <a:spcBef>
                <a:spcPts val="0"/>
              </a:spcBef>
              <a:spcAft>
                <a:spcPts val="0"/>
              </a:spcAft>
              <a:buNone/>
            </a:pPr>
            <a:r>
              <a:rPr lang="ja" sz="1800">
                <a:solidFill>
                  <a:schemeClr val="dk2"/>
                </a:solidFill>
              </a:rPr>
              <a:t>  </a:t>
            </a:r>
            <a:endParaRPr sz="1800">
              <a:solidFill>
                <a:schemeClr val="dk2"/>
              </a:solidFill>
            </a:endParaRPr>
          </a:p>
        </p:txBody>
      </p:sp>
      <p:sp>
        <p:nvSpPr>
          <p:cNvPr id="105" name="Google Shape;105;p19"/>
          <p:cNvSpPr txBox="1"/>
          <p:nvPr/>
        </p:nvSpPr>
        <p:spPr>
          <a:xfrm>
            <a:off x="368900" y="2309750"/>
            <a:ext cx="4841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800">
                <a:solidFill>
                  <a:schemeClr val="dk2"/>
                </a:solidFill>
              </a:rPr>
              <a:t>Public &amp; Nice to have:</a:t>
            </a:r>
            <a:endParaRPr b="1"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06" name="Google Shape;106;p19"/>
          <p:cNvSpPr txBox="1"/>
          <p:nvPr/>
        </p:nvSpPr>
        <p:spPr>
          <a:xfrm>
            <a:off x="444350" y="2762475"/>
            <a:ext cx="76335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ja" sz="1800">
                <a:solidFill>
                  <a:schemeClr val="dk2"/>
                </a:solidFill>
              </a:rPr>
              <a:t>Global Environmental Impact Data (Pollution &amp; Sustainability Metrics from OpenAI Datasets)  </a:t>
            </a:r>
            <a:r>
              <a:rPr lang="ja" sz="1800">
                <a:solidFill>
                  <a:schemeClr val="dk2"/>
                </a:solidFill>
              </a:rPr>
              <a:t> </a:t>
            </a:r>
            <a:endParaRPr sz="1800">
              <a:solidFill>
                <a:schemeClr val="dk2"/>
              </a:solidFill>
            </a:endParaRPr>
          </a:p>
          <a:p>
            <a:pPr indent="-342900" lvl="0" marL="457200" rtl="0" algn="l">
              <a:spcBef>
                <a:spcPts val="0"/>
              </a:spcBef>
              <a:spcAft>
                <a:spcPts val="0"/>
              </a:spcAft>
              <a:buClr>
                <a:schemeClr val="dk2"/>
              </a:buClr>
              <a:buSzPts val="1800"/>
              <a:buChar char="●"/>
            </a:pPr>
            <a:r>
              <a:rPr lang="ja" sz="1800">
                <a:solidFill>
                  <a:schemeClr val="dk2"/>
                </a:solidFill>
              </a:rPr>
              <a:t>Smart city waste management reports  </a:t>
            </a:r>
            <a:endParaRPr sz="1800">
              <a:solidFill>
                <a:schemeClr val="dk2"/>
              </a:solidFill>
            </a:endParaRPr>
          </a:p>
        </p:txBody>
      </p:sp>
      <p:sp>
        <p:nvSpPr>
          <p:cNvPr id="107" name="Google Shape;107;p19"/>
          <p:cNvSpPr txBox="1"/>
          <p:nvPr/>
        </p:nvSpPr>
        <p:spPr>
          <a:xfrm>
            <a:off x="444350" y="3668475"/>
            <a:ext cx="7514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ja" sz="1800">
                <a:solidFill>
                  <a:schemeClr val="dk2"/>
                </a:solidFill>
              </a:rPr>
              <a:t>Private &amp; Nice to have:</a:t>
            </a:r>
            <a:endParaRPr b="1"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08" name="Google Shape;108;p19"/>
          <p:cNvSpPr txBox="1"/>
          <p:nvPr/>
        </p:nvSpPr>
        <p:spPr>
          <a:xfrm>
            <a:off x="444350" y="4045000"/>
            <a:ext cx="74388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ja" sz="1800">
                <a:solidFill>
                  <a:schemeClr val="dk2"/>
                </a:solidFill>
              </a:rPr>
              <a:t>Energy consumption of smart bin  </a:t>
            </a:r>
            <a:endParaRPr sz="1800">
              <a:solidFill>
                <a:schemeClr val="dk2"/>
              </a:solidFill>
            </a:endParaRPr>
          </a:p>
          <a:p>
            <a:pPr indent="-342900" lvl="0" marL="457200" rtl="0" algn="l">
              <a:spcBef>
                <a:spcPts val="0"/>
              </a:spcBef>
              <a:spcAft>
                <a:spcPts val="0"/>
              </a:spcAft>
              <a:buClr>
                <a:schemeClr val="dk2"/>
              </a:buClr>
              <a:buSzPts val="1800"/>
              <a:buChar char="●"/>
            </a:pPr>
            <a:r>
              <a:rPr lang="ja" sz="1800">
                <a:solidFill>
                  <a:schemeClr val="dk2"/>
                </a:solidFill>
              </a:rPr>
              <a:t>Real-time weight measurement of waste per bin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Data Source: </a:t>
            </a:r>
            <a:endParaRPr/>
          </a:p>
        </p:txBody>
      </p:sp>
      <p:sp>
        <p:nvSpPr>
          <p:cNvPr id="114" name="Google Shape;11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marR="0" rtl="0" algn="l">
              <a:lnSpc>
                <a:spcPct val="115000"/>
              </a:lnSpc>
              <a:spcBef>
                <a:spcPts val="1200"/>
              </a:spcBef>
              <a:spcAft>
                <a:spcPts val="0"/>
              </a:spcAft>
              <a:buNone/>
            </a:pPr>
            <a:r>
              <a:t/>
            </a:r>
            <a:endParaRPr sz="1408">
              <a:solidFill>
                <a:schemeClr val="dk1"/>
              </a:solidFill>
            </a:endParaRPr>
          </a:p>
          <a:p>
            <a:pPr indent="0" lvl="0" marL="0" rtl="0" algn="l">
              <a:spcBef>
                <a:spcPts val="1200"/>
              </a:spcBef>
              <a:spcAft>
                <a:spcPts val="1200"/>
              </a:spcAft>
              <a:buNone/>
            </a:pPr>
            <a:r>
              <a:t/>
            </a:r>
            <a:endParaRPr sz="1100">
              <a:solidFill>
                <a:schemeClr val="dk1"/>
              </a:solidFill>
            </a:endParaRPr>
          </a:p>
        </p:txBody>
      </p:sp>
      <p:pic>
        <p:nvPicPr>
          <p:cNvPr id="115" name="Google Shape;115;p20" title="Screenshot 2025-04-17 120212.png"/>
          <p:cNvPicPr preferRelativeResize="0"/>
          <p:nvPr/>
        </p:nvPicPr>
        <p:blipFill>
          <a:blip r:embed="rId3">
            <a:alphaModFix/>
          </a:blip>
          <a:stretch>
            <a:fillRect/>
          </a:stretch>
        </p:blipFill>
        <p:spPr>
          <a:xfrm>
            <a:off x="557525" y="1203075"/>
            <a:ext cx="7734126" cy="3621850"/>
          </a:xfrm>
          <a:prstGeom prst="rect">
            <a:avLst/>
          </a:prstGeom>
          <a:noFill/>
          <a:ln>
            <a:noFill/>
          </a:ln>
        </p:spPr>
      </p:pic>
      <p:sp>
        <p:nvSpPr>
          <p:cNvPr id="116" name="Google Shape;116;p20"/>
          <p:cNvSpPr/>
          <p:nvPr/>
        </p:nvSpPr>
        <p:spPr>
          <a:xfrm>
            <a:off x="2469050" y="2762475"/>
            <a:ext cx="855300" cy="402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226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Target Audience</a:t>
            </a:r>
            <a:endParaRPr/>
          </a:p>
        </p:txBody>
      </p:sp>
      <p:pic>
        <p:nvPicPr>
          <p:cNvPr id="122" name="Google Shape;122;p21" title="Food Court.jpg"/>
          <p:cNvPicPr preferRelativeResize="0"/>
          <p:nvPr/>
        </p:nvPicPr>
        <p:blipFill>
          <a:blip r:embed="rId3">
            <a:alphaModFix/>
          </a:blip>
          <a:stretch>
            <a:fillRect/>
          </a:stretch>
        </p:blipFill>
        <p:spPr>
          <a:xfrm>
            <a:off x="152400" y="951275"/>
            <a:ext cx="5168456" cy="3447326"/>
          </a:xfrm>
          <a:prstGeom prst="rect">
            <a:avLst/>
          </a:prstGeom>
          <a:noFill/>
          <a:ln>
            <a:noFill/>
          </a:ln>
        </p:spPr>
      </p:pic>
      <p:pic>
        <p:nvPicPr>
          <p:cNvPr id="123" name="Google Shape;123;p21" title="Misplaced Item.png"/>
          <p:cNvPicPr preferRelativeResize="0"/>
          <p:nvPr/>
        </p:nvPicPr>
        <p:blipFill>
          <a:blip r:embed="rId4">
            <a:alphaModFix/>
          </a:blip>
          <a:stretch>
            <a:fillRect/>
          </a:stretch>
        </p:blipFill>
        <p:spPr>
          <a:xfrm>
            <a:off x="5544275" y="951275"/>
            <a:ext cx="3447324" cy="34473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Personas</a:t>
            </a:r>
            <a:endParaRPr/>
          </a:p>
        </p:txBody>
      </p:sp>
      <p:sp>
        <p:nvSpPr>
          <p:cNvPr id="129" name="Google Shape;129;p22"/>
          <p:cNvSpPr txBox="1"/>
          <p:nvPr>
            <p:ph idx="1" type="body"/>
          </p:nvPr>
        </p:nvSpPr>
        <p:spPr>
          <a:xfrm>
            <a:off x="311700" y="1152475"/>
            <a:ext cx="52299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lang="ja"/>
              <a:t>Michael Chen</a:t>
            </a:r>
            <a:endParaRPr/>
          </a:p>
          <a:p>
            <a:pPr indent="-298450" lvl="1" marL="914400" rtl="0" algn="l">
              <a:spcBef>
                <a:spcPts val="0"/>
              </a:spcBef>
              <a:spcAft>
                <a:spcPts val="0"/>
              </a:spcAft>
              <a:buClr>
                <a:schemeClr val="dk1"/>
              </a:buClr>
              <a:buSzPts val="1100"/>
              <a:buAutoNum type="alphaLcPeriod"/>
            </a:pPr>
            <a:r>
              <a:rPr lang="ja"/>
              <a:t>Age: 35</a:t>
            </a:r>
            <a:endParaRPr/>
          </a:p>
          <a:p>
            <a:pPr indent="-298450" lvl="1" marL="914400" rtl="0" algn="l">
              <a:spcBef>
                <a:spcPts val="0"/>
              </a:spcBef>
              <a:spcAft>
                <a:spcPts val="0"/>
              </a:spcAft>
              <a:buClr>
                <a:schemeClr val="dk1"/>
              </a:buClr>
              <a:buSzPts val="1100"/>
              <a:buAutoNum type="alphaLcPeriod"/>
            </a:pPr>
            <a:r>
              <a:rPr lang="ja"/>
              <a:t>Work Experience: Over 10 years in restaurant management</a:t>
            </a:r>
            <a:endParaRPr/>
          </a:p>
          <a:p>
            <a:pPr indent="-298450" lvl="0" marL="457200" rtl="0" algn="l">
              <a:spcBef>
                <a:spcPts val="0"/>
              </a:spcBef>
              <a:spcAft>
                <a:spcPts val="0"/>
              </a:spcAft>
              <a:buClr>
                <a:schemeClr val="dk1"/>
              </a:buClr>
              <a:buSzPts val="1100"/>
              <a:buChar char="●"/>
            </a:pPr>
            <a:r>
              <a:rPr lang="ja"/>
              <a:t>Need and Pain Point</a:t>
            </a:r>
            <a:endParaRPr/>
          </a:p>
          <a:p>
            <a:pPr indent="-298450" lvl="1" marL="914400" rtl="0" algn="l">
              <a:spcBef>
                <a:spcPts val="0"/>
              </a:spcBef>
              <a:spcAft>
                <a:spcPts val="0"/>
              </a:spcAft>
              <a:buClr>
                <a:schemeClr val="dk1"/>
              </a:buClr>
              <a:buSzPts val="1100"/>
              <a:buAutoNum type="alphaLcPeriod"/>
            </a:pPr>
            <a:r>
              <a:rPr lang="ja"/>
              <a:t>Wants to minimize waste sorting errors to avoid fines or customer complaints</a:t>
            </a:r>
            <a:endParaRPr/>
          </a:p>
          <a:p>
            <a:pPr indent="-298450" lvl="1" marL="914400" rtl="0" algn="l">
              <a:spcBef>
                <a:spcPts val="0"/>
              </a:spcBef>
              <a:spcAft>
                <a:spcPts val="0"/>
              </a:spcAft>
              <a:buClr>
                <a:schemeClr val="dk1"/>
              </a:buClr>
              <a:buSzPts val="1100"/>
              <a:buAutoNum type="alphaLcPeriod"/>
            </a:pPr>
            <a:r>
              <a:rPr lang="ja"/>
              <a:t>Hopes to have real-time data and reports for operational management and reporting to superiors</a:t>
            </a:r>
            <a:endParaRPr/>
          </a:p>
          <a:p>
            <a:pPr indent="-298450" lvl="1" marL="914400" rtl="0" algn="l">
              <a:spcBef>
                <a:spcPts val="0"/>
              </a:spcBef>
              <a:spcAft>
                <a:spcPts val="0"/>
              </a:spcAft>
              <a:buClr>
                <a:schemeClr val="dk1"/>
              </a:buClr>
              <a:buSzPts val="1100"/>
              <a:buAutoNum type="alphaLcPeriod"/>
            </a:pPr>
            <a:r>
              <a:rPr lang="ja"/>
              <a:t>Worries about initial costs and maintenance difficulties of new system adoption</a:t>
            </a:r>
            <a:endParaRPr/>
          </a:p>
        </p:txBody>
      </p:sp>
      <p:pic>
        <p:nvPicPr>
          <p:cNvPr id="130" name="Google Shape;130;p22"/>
          <p:cNvPicPr preferRelativeResize="0"/>
          <p:nvPr/>
        </p:nvPicPr>
        <p:blipFill>
          <a:blip r:embed="rId3">
            <a:alphaModFix/>
          </a:blip>
          <a:stretch>
            <a:fillRect/>
          </a:stretch>
        </p:blipFill>
        <p:spPr>
          <a:xfrm>
            <a:off x="6205975" y="661263"/>
            <a:ext cx="2547315" cy="38209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000"/>
              </a:spcBef>
              <a:spcAft>
                <a:spcPts val="600"/>
              </a:spcAft>
              <a:buClr>
                <a:schemeClr val="dk1"/>
              </a:buClr>
              <a:buSzPct val="39285"/>
              <a:buFont typeface="Arial"/>
              <a:buNone/>
            </a:pPr>
            <a:r>
              <a:rPr lang="ja"/>
              <a:t>AI Intents: Recommend with Confidence</a:t>
            </a:r>
            <a:endParaRPr/>
          </a:p>
        </p:txBody>
      </p:sp>
      <p:sp>
        <p:nvSpPr>
          <p:cNvPr id="136" name="Google Shape;136;p23"/>
          <p:cNvSpPr txBox="1"/>
          <p:nvPr>
            <p:ph idx="1" type="body"/>
          </p:nvPr>
        </p:nvSpPr>
        <p:spPr>
          <a:xfrm>
            <a:off x="311700" y="1152475"/>
            <a:ext cx="5991300" cy="3730800"/>
          </a:xfrm>
          <a:prstGeom prst="rect">
            <a:avLst/>
          </a:prstGeom>
        </p:spPr>
        <p:txBody>
          <a:bodyPr anchorCtr="0" anchor="t" bIns="91425" lIns="91425" spcFirstLastPara="1" rIns="91425" wrap="square" tIns="91425">
            <a:normAutofit fontScale="92500" lnSpcReduction="10000"/>
          </a:bodyPr>
          <a:lstStyle/>
          <a:p>
            <a:pPr indent="-346075" lvl="0" marL="457200" rtl="0" algn="l">
              <a:lnSpc>
                <a:spcPct val="115000"/>
              </a:lnSpc>
              <a:spcBef>
                <a:spcPts val="0"/>
              </a:spcBef>
              <a:spcAft>
                <a:spcPts val="0"/>
              </a:spcAft>
              <a:buClr>
                <a:schemeClr val="dk1"/>
              </a:buClr>
              <a:buSzPct val="100000"/>
              <a:buChar char="●"/>
            </a:pPr>
            <a:r>
              <a:rPr lang="ja" sz="2000">
                <a:solidFill>
                  <a:schemeClr val="dk1"/>
                </a:solidFill>
              </a:rPr>
              <a:t>Correct waste classification.</a:t>
            </a:r>
            <a:endParaRPr sz="2000">
              <a:solidFill>
                <a:schemeClr val="dk1"/>
              </a:solidFill>
            </a:endParaRPr>
          </a:p>
          <a:p>
            <a:pPr indent="-346075" lvl="0" marL="457200" rtl="0" algn="l">
              <a:lnSpc>
                <a:spcPct val="115000"/>
              </a:lnSpc>
              <a:spcBef>
                <a:spcPts val="1000"/>
              </a:spcBef>
              <a:spcAft>
                <a:spcPts val="0"/>
              </a:spcAft>
              <a:buClr>
                <a:schemeClr val="dk1"/>
              </a:buClr>
              <a:buSzPct val="100000"/>
              <a:buChar char="●"/>
            </a:pPr>
            <a:r>
              <a:rPr lang="ja" sz="2000">
                <a:solidFill>
                  <a:schemeClr val="dk1"/>
                </a:solidFill>
              </a:rPr>
              <a:t>Classifications according to the type of bins which should be categorized to at list 3 principal spots: recyclable, organic, waste.</a:t>
            </a:r>
            <a:endParaRPr sz="2000">
              <a:solidFill>
                <a:schemeClr val="dk1"/>
              </a:solidFill>
            </a:endParaRPr>
          </a:p>
          <a:p>
            <a:pPr indent="-346075" lvl="0" marL="457200" rtl="0" algn="l">
              <a:lnSpc>
                <a:spcPct val="115000"/>
              </a:lnSpc>
              <a:spcBef>
                <a:spcPts val="1000"/>
              </a:spcBef>
              <a:spcAft>
                <a:spcPts val="0"/>
              </a:spcAft>
              <a:buClr>
                <a:schemeClr val="dk1"/>
              </a:buClr>
              <a:buSzPct val="100000"/>
              <a:buChar char="●"/>
            </a:pPr>
            <a:r>
              <a:rPr lang="ja" sz="2000">
                <a:solidFill>
                  <a:schemeClr val="dk1"/>
                </a:solidFill>
              </a:rPr>
              <a:t>Direct to waste bin when the classification is of low confidence.</a:t>
            </a:r>
            <a:endParaRPr sz="2000">
              <a:solidFill>
                <a:schemeClr val="dk1"/>
              </a:solidFill>
            </a:endParaRPr>
          </a:p>
          <a:p>
            <a:pPr indent="-346075" lvl="0" marL="457200" rtl="0" algn="l">
              <a:lnSpc>
                <a:spcPct val="115000"/>
              </a:lnSpc>
              <a:spcBef>
                <a:spcPts val="1000"/>
              </a:spcBef>
              <a:spcAft>
                <a:spcPts val="0"/>
              </a:spcAft>
              <a:buClr>
                <a:schemeClr val="dk1"/>
              </a:buClr>
              <a:buSzPct val="100000"/>
              <a:buChar char="●"/>
            </a:pPr>
            <a:r>
              <a:rPr lang="ja" sz="2000">
                <a:solidFill>
                  <a:schemeClr val="dk1"/>
                </a:solidFill>
              </a:rPr>
              <a:t>False classifications can be corrected via user feedback on screen for further training.</a:t>
            </a:r>
            <a:endParaRPr sz="2000">
              <a:solidFill>
                <a:schemeClr val="dk1"/>
              </a:solidFill>
            </a:endParaRPr>
          </a:p>
          <a:p>
            <a:pPr indent="-346075" lvl="0" marL="457200" rtl="0" algn="l">
              <a:lnSpc>
                <a:spcPct val="115000"/>
              </a:lnSpc>
              <a:spcBef>
                <a:spcPts val="1000"/>
              </a:spcBef>
              <a:spcAft>
                <a:spcPts val="1000"/>
              </a:spcAft>
              <a:buClr>
                <a:schemeClr val="dk1"/>
              </a:buClr>
              <a:buSzPct val="100000"/>
              <a:buChar char="●"/>
            </a:pPr>
            <a:r>
              <a:rPr lang="ja" sz="2000">
                <a:solidFill>
                  <a:schemeClr val="dk1"/>
                </a:solidFill>
              </a:rPr>
              <a:t>A primary model for each industry is trained while strategically utilizing models from other industries.</a:t>
            </a:r>
            <a:endParaRPr sz="2700"/>
          </a:p>
        </p:txBody>
      </p:sp>
      <p:pic>
        <p:nvPicPr>
          <p:cNvPr id="137" name="Google Shape;137;p23"/>
          <p:cNvPicPr preferRelativeResize="0"/>
          <p:nvPr/>
        </p:nvPicPr>
        <p:blipFill>
          <a:blip r:embed="rId3">
            <a:alphaModFix/>
          </a:blip>
          <a:stretch>
            <a:fillRect/>
          </a:stretch>
        </p:blipFill>
        <p:spPr>
          <a:xfrm>
            <a:off x="6388351" y="1621563"/>
            <a:ext cx="2601725" cy="27926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000"/>
              </a:spcBef>
              <a:spcAft>
                <a:spcPts val="600"/>
              </a:spcAft>
              <a:buNone/>
            </a:pPr>
            <a:r>
              <a:rPr lang="ja"/>
              <a:t>AI Intents: Enrich Your Interactions</a:t>
            </a:r>
            <a:endParaRPr/>
          </a:p>
        </p:txBody>
      </p:sp>
      <p:sp>
        <p:nvSpPr>
          <p:cNvPr id="143" name="Google Shape;14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Clr>
                <a:schemeClr val="dk1"/>
              </a:buClr>
              <a:buSzPts val="1800"/>
              <a:buChar char="●"/>
            </a:pPr>
            <a:r>
              <a:rPr lang="ja">
                <a:solidFill>
                  <a:schemeClr val="dk1"/>
                </a:solidFill>
              </a:rPr>
              <a:t>Direct people where to drop the trash according to classification result.</a:t>
            </a:r>
            <a:endParaRPr>
              <a:solidFill>
                <a:schemeClr val="dk1"/>
              </a:solidFill>
            </a:endParaRPr>
          </a:p>
          <a:p>
            <a:pPr indent="-342900" lvl="0" marL="457200" rtl="0" algn="l">
              <a:lnSpc>
                <a:spcPct val="200000"/>
              </a:lnSpc>
              <a:spcBef>
                <a:spcPts val="0"/>
              </a:spcBef>
              <a:spcAft>
                <a:spcPts val="0"/>
              </a:spcAft>
              <a:buClr>
                <a:schemeClr val="dk1"/>
              </a:buClr>
              <a:buSzPts val="1800"/>
              <a:buChar char="●"/>
            </a:pPr>
            <a:r>
              <a:rPr lang="ja">
                <a:solidFill>
                  <a:schemeClr val="dk1"/>
                </a:solidFill>
              </a:rPr>
              <a:t>Non-disruptive pleasant sound when placed in correct bin</a:t>
            </a:r>
            <a:endParaRPr>
              <a:solidFill>
                <a:schemeClr val="dk1"/>
              </a:solidFill>
            </a:endParaRPr>
          </a:p>
          <a:p>
            <a:pPr indent="-342900" lvl="0" marL="457200" rtl="0" algn="l">
              <a:lnSpc>
                <a:spcPct val="200000"/>
              </a:lnSpc>
              <a:spcBef>
                <a:spcPts val="0"/>
              </a:spcBef>
              <a:spcAft>
                <a:spcPts val="0"/>
              </a:spcAft>
              <a:buClr>
                <a:schemeClr val="dk1"/>
              </a:buClr>
              <a:buSzPts val="1800"/>
              <a:buChar char="●"/>
            </a:pPr>
            <a:r>
              <a:rPr lang="ja">
                <a:solidFill>
                  <a:schemeClr val="dk1"/>
                </a:solidFill>
              </a:rPr>
              <a:t>Warnings to management of problems such as malfunctioning and overflowing.</a:t>
            </a:r>
            <a:endParaRPr>
              <a:solidFill>
                <a:schemeClr val="dk1"/>
              </a:solidFill>
            </a:endParaRPr>
          </a:p>
          <a:p>
            <a:pPr indent="-342900" lvl="0" marL="457200" rtl="0" algn="l">
              <a:lnSpc>
                <a:spcPct val="200000"/>
              </a:lnSpc>
              <a:spcBef>
                <a:spcPts val="0"/>
              </a:spcBef>
              <a:spcAft>
                <a:spcPts val="0"/>
              </a:spcAft>
              <a:buClr>
                <a:schemeClr val="dk1"/>
              </a:buClr>
              <a:buSzPts val="1800"/>
              <a:buChar char="●"/>
            </a:pPr>
            <a:r>
              <a:rPr lang="ja">
                <a:solidFill>
                  <a:schemeClr val="dk1"/>
                </a:solidFill>
              </a:rPr>
              <a:t>Customer reward programs with participating industries.</a:t>
            </a:r>
            <a:endParaRPr>
              <a:solidFill>
                <a:schemeClr val="dk1"/>
              </a:solidFill>
            </a:endParaRPr>
          </a:p>
          <a:p>
            <a:pPr indent="-342900" lvl="0" marL="457200" rtl="0" algn="l">
              <a:lnSpc>
                <a:spcPct val="200000"/>
              </a:lnSpc>
              <a:spcBef>
                <a:spcPts val="0"/>
              </a:spcBef>
              <a:spcAft>
                <a:spcPts val="0"/>
              </a:spcAft>
              <a:buClr>
                <a:schemeClr val="dk1"/>
              </a:buClr>
              <a:buSzPts val="1800"/>
              <a:buChar char="●"/>
            </a:pPr>
            <a:r>
              <a:rPr lang="ja">
                <a:solidFill>
                  <a:schemeClr val="dk1"/>
                </a:solidFill>
              </a:rPr>
              <a:t>Statistics reports to the management and headquarter.</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314250" y="206900"/>
            <a:ext cx="4729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Smart Bin Feature Prioritization</a:t>
            </a:r>
            <a:endParaRPr/>
          </a:p>
        </p:txBody>
      </p:sp>
      <p:sp>
        <p:nvSpPr>
          <p:cNvPr id="149" name="Google Shape;149;p25"/>
          <p:cNvSpPr txBox="1"/>
          <p:nvPr/>
        </p:nvSpPr>
        <p:spPr>
          <a:xfrm>
            <a:off x="130975" y="913563"/>
            <a:ext cx="4803300" cy="154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ja">
                <a:solidFill>
                  <a:schemeClr val="dk1"/>
                </a:solidFill>
              </a:rPr>
              <a:t>Goal</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ja">
                <a:solidFill>
                  <a:schemeClr val="dk1"/>
                </a:solidFill>
              </a:rPr>
              <a:t>Select features using insights from</a:t>
            </a:r>
            <a:r>
              <a:rPr lang="ja">
                <a:solidFill>
                  <a:schemeClr val="dk1"/>
                </a:solidFill>
              </a:rPr>
              <a:t> </a:t>
            </a:r>
            <a:r>
              <a:rPr b="1" lang="ja">
                <a:solidFill>
                  <a:schemeClr val="dk1"/>
                </a:solidFill>
              </a:rPr>
              <a:t>Big Idea Vignette</a:t>
            </a:r>
            <a:r>
              <a:rPr b="1" lang="ja">
                <a:solidFill>
                  <a:schemeClr val="dk1"/>
                </a:solidFill>
              </a:rPr>
              <a:t>s </a:t>
            </a:r>
            <a:endParaRPr b="1">
              <a:solidFill>
                <a:schemeClr val="dk1"/>
              </a:solidFill>
            </a:endParaRPr>
          </a:p>
          <a:p>
            <a:pPr indent="-317500" lvl="0" marL="457200" rtl="0" algn="l">
              <a:lnSpc>
                <a:spcPct val="115000"/>
              </a:lnSpc>
              <a:spcBef>
                <a:spcPts val="0"/>
              </a:spcBef>
              <a:spcAft>
                <a:spcPts val="0"/>
              </a:spcAft>
              <a:buClr>
                <a:schemeClr val="dk1"/>
              </a:buClr>
              <a:buSzPts val="1400"/>
              <a:buChar char="●"/>
            </a:pPr>
            <a:r>
              <a:rPr lang="ja">
                <a:solidFill>
                  <a:schemeClr val="dk1"/>
                </a:solidFill>
              </a:rPr>
              <a:t>Focus on features with </a:t>
            </a:r>
            <a:r>
              <a:rPr b="1" lang="ja">
                <a:solidFill>
                  <a:schemeClr val="dk1"/>
                </a:solidFill>
              </a:rPr>
              <a:t>high importance</a:t>
            </a:r>
            <a:r>
              <a:rPr lang="ja">
                <a:solidFill>
                  <a:schemeClr val="dk1"/>
                </a:solidFill>
              </a:rPr>
              <a:t> and </a:t>
            </a:r>
            <a:r>
              <a:rPr b="1" lang="ja">
                <a:solidFill>
                  <a:schemeClr val="dk1"/>
                </a:solidFill>
              </a:rPr>
              <a:t>high feasibility that satisfy the Hills.</a:t>
            </a:r>
            <a:endParaRPr b="1">
              <a:solidFill>
                <a:schemeClr val="dk1"/>
              </a:solidFill>
            </a:endParaRPr>
          </a:p>
        </p:txBody>
      </p:sp>
      <p:pic>
        <p:nvPicPr>
          <p:cNvPr id="150" name="Google Shape;150;p25"/>
          <p:cNvPicPr preferRelativeResize="0"/>
          <p:nvPr/>
        </p:nvPicPr>
        <p:blipFill>
          <a:blip r:embed="rId3">
            <a:alphaModFix/>
          </a:blip>
          <a:stretch>
            <a:fillRect/>
          </a:stretch>
        </p:blipFill>
        <p:spPr>
          <a:xfrm>
            <a:off x="5718341" y="400199"/>
            <a:ext cx="3315234" cy="2124000"/>
          </a:xfrm>
          <a:prstGeom prst="rect">
            <a:avLst/>
          </a:prstGeom>
          <a:noFill/>
          <a:ln cap="flat" cmpd="sng" w="9525">
            <a:solidFill>
              <a:schemeClr val="dk2"/>
            </a:solidFill>
            <a:prstDash val="solid"/>
            <a:round/>
            <a:headEnd len="sm" w="sm" type="none"/>
            <a:tailEnd len="sm" w="sm" type="none"/>
          </a:ln>
        </p:spPr>
      </p:pic>
      <p:grpSp>
        <p:nvGrpSpPr>
          <p:cNvPr id="151" name="Google Shape;151;p25"/>
          <p:cNvGrpSpPr/>
          <p:nvPr/>
        </p:nvGrpSpPr>
        <p:grpSpPr>
          <a:xfrm>
            <a:off x="665652" y="2592838"/>
            <a:ext cx="2668293" cy="2407975"/>
            <a:chOff x="1723087" y="2571750"/>
            <a:chExt cx="2848915" cy="2570975"/>
          </a:xfrm>
        </p:grpSpPr>
        <p:pic>
          <p:nvPicPr>
            <p:cNvPr id="152" name="Google Shape;152;p25"/>
            <p:cNvPicPr preferRelativeResize="0"/>
            <p:nvPr/>
          </p:nvPicPr>
          <p:blipFill>
            <a:blip r:embed="rId4">
              <a:alphaModFix/>
            </a:blip>
            <a:stretch>
              <a:fillRect/>
            </a:stretch>
          </p:blipFill>
          <p:spPr>
            <a:xfrm>
              <a:off x="1723087" y="2571750"/>
              <a:ext cx="2848914" cy="2570975"/>
            </a:xfrm>
            <a:prstGeom prst="rect">
              <a:avLst/>
            </a:prstGeom>
            <a:noFill/>
            <a:ln cap="flat" cmpd="sng" w="9525">
              <a:solidFill>
                <a:schemeClr val="dk2"/>
              </a:solidFill>
              <a:prstDash val="solid"/>
              <a:round/>
              <a:headEnd len="sm" w="sm" type="none"/>
              <a:tailEnd len="sm" w="sm" type="none"/>
            </a:ln>
          </p:spPr>
        </p:pic>
        <p:sp>
          <p:nvSpPr>
            <p:cNvPr id="153" name="Google Shape;153;p25"/>
            <p:cNvSpPr/>
            <p:nvPr/>
          </p:nvSpPr>
          <p:spPr>
            <a:xfrm>
              <a:off x="3381301" y="2717571"/>
              <a:ext cx="1190700" cy="11601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cxnSp>
        <p:nvCxnSpPr>
          <p:cNvPr id="154" name="Google Shape;154;p25"/>
          <p:cNvCxnSpPr>
            <a:stCxn id="150" idx="1"/>
            <a:endCxn id="152" idx="3"/>
          </p:cNvCxnSpPr>
          <p:nvPr/>
        </p:nvCxnSpPr>
        <p:spPr>
          <a:xfrm flipH="1">
            <a:off x="3333941" y="1462199"/>
            <a:ext cx="2384400" cy="2334600"/>
          </a:xfrm>
          <a:prstGeom prst="straightConnector1">
            <a:avLst/>
          </a:prstGeom>
          <a:noFill/>
          <a:ln cap="flat" cmpd="sng" w="9525">
            <a:solidFill>
              <a:schemeClr val="dk2"/>
            </a:solidFill>
            <a:prstDash val="solid"/>
            <a:round/>
            <a:headEnd len="med" w="med" type="none"/>
            <a:tailEnd len="med" w="med" type="triangle"/>
          </a:ln>
        </p:spPr>
      </p:cxnSp>
      <p:cxnSp>
        <p:nvCxnSpPr>
          <p:cNvPr id="155" name="Google Shape;155;p25"/>
          <p:cNvCxnSpPr>
            <a:stCxn id="156" idx="1"/>
            <a:endCxn id="152" idx="3"/>
          </p:cNvCxnSpPr>
          <p:nvPr/>
        </p:nvCxnSpPr>
        <p:spPr>
          <a:xfrm rot="10800000">
            <a:off x="3333875" y="3796825"/>
            <a:ext cx="1882800" cy="0"/>
          </a:xfrm>
          <a:prstGeom prst="straightConnector1">
            <a:avLst/>
          </a:prstGeom>
          <a:noFill/>
          <a:ln cap="flat" cmpd="sng" w="9525">
            <a:solidFill>
              <a:schemeClr val="dk2"/>
            </a:solidFill>
            <a:prstDash val="solid"/>
            <a:round/>
            <a:headEnd len="med" w="med" type="none"/>
            <a:tailEnd len="med" w="med" type="triangle"/>
          </a:ln>
        </p:spPr>
      </p:cxnSp>
      <p:sp>
        <p:nvSpPr>
          <p:cNvPr id="156" name="Google Shape;156;p25"/>
          <p:cNvSpPr txBox="1"/>
          <p:nvPr/>
        </p:nvSpPr>
        <p:spPr>
          <a:xfrm>
            <a:off x="5216675" y="2734825"/>
            <a:ext cx="3816900" cy="2124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a:t>Hills</a:t>
            </a:r>
            <a:endParaRPr b="1"/>
          </a:p>
          <a:p>
            <a:pPr indent="-317500" lvl="0" marL="457200" rtl="0" algn="l">
              <a:spcBef>
                <a:spcPts val="0"/>
              </a:spcBef>
              <a:spcAft>
                <a:spcPts val="0"/>
              </a:spcAft>
              <a:buSzPts val="1400"/>
              <a:buChar char="●"/>
            </a:pPr>
            <a:r>
              <a:rPr lang="ja"/>
              <a:t>The fast food chain manager can easily check the waste bin status from his phone and see that everything is operational and properly sorted.</a:t>
            </a:r>
            <a:endParaRPr/>
          </a:p>
          <a:p>
            <a:pPr indent="-317500" lvl="0" marL="457200" rtl="0" algn="l">
              <a:spcBef>
                <a:spcPts val="0"/>
              </a:spcBef>
              <a:spcAft>
                <a:spcPts val="0"/>
              </a:spcAft>
              <a:buSzPts val="1400"/>
              <a:buChar char="●"/>
            </a:pPr>
            <a:r>
              <a:rPr lang="ja"/>
              <a:t>When a customer places waste on the platform, the smart bin guides them to separate leftovers and containers into the correct bins.</a:t>
            </a:r>
            <a:endParaRPr/>
          </a:p>
        </p:txBody>
      </p:sp>
      <p:sp>
        <p:nvSpPr>
          <p:cNvPr id="157" name="Google Shape;157;p25"/>
          <p:cNvSpPr txBox="1"/>
          <p:nvPr/>
        </p:nvSpPr>
        <p:spPr>
          <a:xfrm>
            <a:off x="5718350" y="0"/>
            <a:ext cx="2264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ja">
                <a:solidFill>
                  <a:schemeClr val="dk1"/>
                </a:solidFill>
              </a:rPr>
              <a:t>Big Idea Vignettes </a:t>
            </a:r>
            <a:endParaRPr b="1">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grpSp>
        <p:nvGrpSpPr>
          <p:cNvPr id="162" name="Google Shape;162;p26"/>
          <p:cNvGrpSpPr/>
          <p:nvPr/>
        </p:nvGrpSpPr>
        <p:grpSpPr>
          <a:xfrm>
            <a:off x="4782452" y="1188950"/>
            <a:ext cx="4131617" cy="3728523"/>
            <a:chOff x="3055720" y="0"/>
            <a:chExt cx="5699568" cy="5143499"/>
          </a:xfrm>
        </p:grpSpPr>
        <p:pic>
          <p:nvPicPr>
            <p:cNvPr id="163" name="Google Shape;163;p26"/>
            <p:cNvPicPr preferRelativeResize="0"/>
            <p:nvPr/>
          </p:nvPicPr>
          <p:blipFill>
            <a:blip r:embed="rId3">
              <a:alphaModFix/>
            </a:blip>
            <a:stretch>
              <a:fillRect/>
            </a:stretch>
          </p:blipFill>
          <p:spPr>
            <a:xfrm>
              <a:off x="3055720" y="0"/>
              <a:ext cx="5699568" cy="5143499"/>
            </a:xfrm>
            <a:prstGeom prst="rect">
              <a:avLst/>
            </a:prstGeom>
            <a:noFill/>
            <a:ln cap="flat" cmpd="sng" w="9525">
              <a:solidFill>
                <a:schemeClr val="dk2"/>
              </a:solidFill>
              <a:prstDash val="solid"/>
              <a:round/>
              <a:headEnd len="sm" w="sm" type="none"/>
              <a:tailEnd len="sm" w="sm" type="none"/>
            </a:ln>
          </p:spPr>
        </p:pic>
        <p:sp>
          <p:nvSpPr>
            <p:cNvPr id="164" name="Google Shape;164;p26"/>
            <p:cNvSpPr/>
            <p:nvPr/>
          </p:nvSpPr>
          <p:spPr>
            <a:xfrm>
              <a:off x="6398775" y="333450"/>
              <a:ext cx="2297100" cy="22383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65" name="Google Shape;165;p26"/>
          <p:cNvSpPr txBox="1"/>
          <p:nvPr>
            <p:ph type="title"/>
          </p:nvPr>
        </p:nvSpPr>
        <p:spPr>
          <a:xfrm>
            <a:off x="314250" y="206900"/>
            <a:ext cx="4729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Smart Bin Feature Prioritization</a:t>
            </a:r>
            <a:endParaRPr/>
          </a:p>
        </p:txBody>
      </p:sp>
      <p:sp>
        <p:nvSpPr>
          <p:cNvPr id="166" name="Google Shape;166;p26"/>
          <p:cNvSpPr txBox="1"/>
          <p:nvPr/>
        </p:nvSpPr>
        <p:spPr>
          <a:xfrm>
            <a:off x="229925" y="1188938"/>
            <a:ext cx="4267500" cy="346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ja" sz="1300">
                <a:solidFill>
                  <a:schemeClr val="dk1"/>
                </a:solidFill>
              </a:rPr>
              <a:t>Prioritized </a:t>
            </a:r>
            <a:r>
              <a:rPr b="1" lang="ja" sz="1300">
                <a:solidFill>
                  <a:schemeClr val="dk1"/>
                </a:solidFill>
              </a:rPr>
              <a:t>Feature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ja" sz="1100">
                <a:solidFill>
                  <a:schemeClr val="dk1"/>
                </a:solidFill>
              </a:rPr>
              <a:t>Real-Time Classification Guidance</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Uses real-time camera recognition</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Displays on-screen instructions for correct disposal</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Aligns with Hill: Guiding users to sort waste accurately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ja" sz="1100">
                <a:solidFill>
                  <a:schemeClr val="dk1"/>
                </a:solidFill>
              </a:rPr>
              <a:t>Overflowing System Alerts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Sends alerts when bin is 80% full</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Notifies staff through dashboard or mobile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Matches Hill: Managers can monitor bin status remotely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ja" sz="1100">
                <a:solidFill>
                  <a:schemeClr val="dk1"/>
                </a:solidFill>
              </a:rPr>
              <a:t>AI Auto-Generated Reports</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Real-time/Weekly/monthly reports on waste volume and sort accuracy</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Sent directly to manager’s email</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ja" sz="1100">
                <a:solidFill>
                  <a:schemeClr val="dk1"/>
                </a:solidFill>
              </a:rPr>
              <a:t>Enhances monitoring and operational insights</a:t>
            </a:r>
            <a:endParaRPr sz="11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 Scenario Map - Overview</a:t>
            </a:r>
            <a:endParaRPr/>
          </a:p>
        </p:txBody>
      </p:sp>
      <p:sp>
        <p:nvSpPr>
          <p:cNvPr id="172" name="Google Shape;172;p27"/>
          <p:cNvSpPr txBox="1"/>
          <p:nvPr>
            <p:ph idx="1" type="body"/>
          </p:nvPr>
        </p:nvSpPr>
        <p:spPr>
          <a:xfrm>
            <a:off x="311700" y="1152475"/>
            <a:ext cx="3486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Michael and his team at a restaurant use AI-powered tools to manage waste efficiently, improve sustainability, and follow food safety guidelines all while tracking progress remotely.</a:t>
            </a:r>
            <a:endParaRPr/>
          </a:p>
        </p:txBody>
      </p:sp>
      <p:pic>
        <p:nvPicPr>
          <p:cNvPr id="173" name="Google Shape;173;p27"/>
          <p:cNvPicPr preferRelativeResize="0"/>
          <p:nvPr/>
        </p:nvPicPr>
        <p:blipFill>
          <a:blip r:embed="rId3">
            <a:alphaModFix/>
          </a:blip>
          <a:stretch>
            <a:fillRect/>
          </a:stretch>
        </p:blipFill>
        <p:spPr>
          <a:xfrm>
            <a:off x="3798600" y="1152475"/>
            <a:ext cx="5283726" cy="3638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Scenario Map - </a:t>
            </a:r>
            <a:r>
              <a:rPr lang="ja"/>
              <a:t>Key Takeaways &amp; Benefit</a:t>
            </a:r>
            <a:endParaRPr/>
          </a:p>
        </p:txBody>
      </p:sp>
      <p:sp>
        <p:nvSpPr>
          <p:cNvPr id="179" name="Google Shape;17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marR="0" rtl="0" algn="l">
              <a:lnSpc>
                <a:spcPct val="115000"/>
              </a:lnSpc>
              <a:spcBef>
                <a:spcPts val="1200"/>
              </a:spcBef>
              <a:spcAft>
                <a:spcPts val="0"/>
              </a:spcAft>
              <a:buNone/>
            </a:pPr>
            <a:r>
              <a:rPr b="1" lang="ja" sz="1600">
                <a:solidFill>
                  <a:schemeClr val="dk1"/>
                </a:solidFill>
              </a:rPr>
              <a:t>Key Insights:</a:t>
            </a:r>
            <a:endParaRPr b="1" sz="1600">
              <a:solidFill>
                <a:schemeClr val="dk1"/>
              </a:solidFill>
            </a:endParaRPr>
          </a:p>
          <a:p>
            <a:pPr indent="-304958" lvl="0" marL="457200" marR="0" rtl="0" algn="l">
              <a:lnSpc>
                <a:spcPct val="115000"/>
              </a:lnSpc>
              <a:spcBef>
                <a:spcPts val="1200"/>
              </a:spcBef>
              <a:spcAft>
                <a:spcPts val="0"/>
              </a:spcAft>
              <a:buClr>
                <a:schemeClr val="dk1"/>
              </a:buClr>
              <a:buSzPct val="100000"/>
              <a:buChar char="●"/>
            </a:pPr>
            <a:r>
              <a:rPr lang="ja" sz="1300">
                <a:solidFill>
                  <a:schemeClr val="dk1"/>
                </a:solidFill>
              </a:rPr>
              <a:t>Remote Monitoring: Staff can monitor waste bins from anywhere.</a:t>
            </a:r>
            <a:endParaRPr sz="1300">
              <a:solidFill>
                <a:schemeClr val="dk1"/>
              </a:solidFill>
            </a:endParaRPr>
          </a:p>
          <a:p>
            <a:pPr indent="-304958" lvl="0" marL="457200" marR="0" rtl="0" algn="l">
              <a:lnSpc>
                <a:spcPct val="115000"/>
              </a:lnSpc>
              <a:spcBef>
                <a:spcPts val="0"/>
              </a:spcBef>
              <a:spcAft>
                <a:spcPts val="0"/>
              </a:spcAft>
              <a:buClr>
                <a:schemeClr val="dk1"/>
              </a:buClr>
              <a:buSzPct val="100000"/>
              <a:buChar char="●"/>
            </a:pPr>
            <a:r>
              <a:rPr lang="ja" sz="1300">
                <a:solidFill>
                  <a:schemeClr val="dk1"/>
                </a:solidFill>
              </a:rPr>
              <a:t>AI-Driven Sorting: Reduces errors, simplifies training for new employees.</a:t>
            </a:r>
            <a:endParaRPr sz="1300">
              <a:solidFill>
                <a:schemeClr val="dk1"/>
              </a:solidFill>
            </a:endParaRPr>
          </a:p>
          <a:p>
            <a:pPr indent="-304958" lvl="0" marL="457200" marR="0" rtl="0" algn="l">
              <a:lnSpc>
                <a:spcPct val="115000"/>
              </a:lnSpc>
              <a:spcBef>
                <a:spcPts val="0"/>
              </a:spcBef>
              <a:spcAft>
                <a:spcPts val="0"/>
              </a:spcAft>
              <a:buClr>
                <a:schemeClr val="dk1"/>
              </a:buClr>
              <a:buSzPct val="100000"/>
              <a:buChar char="●"/>
            </a:pPr>
            <a:r>
              <a:rPr lang="ja" sz="1300">
                <a:solidFill>
                  <a:schemeClr val="dk1"/>
                </a:solidFill>
              </a:rPr>
              <a:t>Sustainability Reporting: Tracks progress and reduces operational costs</a:t>
            </a:r>
            <a:r>
              <a:rPr b="1" lang="ja" sz="1300">
                <a:solidFill>
                  <a:schemeClr val="dk1"/>
                </a:solidFill>
              </a:rPr>
              <a:t>.</a:t>
            </a:r>
            <a:endParaRPr b="1" sz="1300">
              <a:solidFill>
                <a:schemeClr val="dk1"/>
              </a:solidFill>
            </a:endParaRPr>
          </a:p>
          <a:p>
            <a:pPr indent="0" lvl="0" marL="0" marR="0" rtl="0" algn="l">
              <a:lnSpc>
                <a:spcPct val="115000"/>
              </a:lnSpc>
              <a:spcBef>
                <a:spcPts val="1200"/>
              </a:spcBef>
              <a:spcAft>
                <a:spcPts val="0"/>
              </a:spcAft>
              <a:buNone/>
            </a:pPr>
            <a:r>
              <a:rPr b="1" lang="ja" sz="1600">
                <a:solidFill>
                  <a:schemeClr val="dk1"/>
                </a:solidFill>
              </a:rPr>
              <a:t>Emotional Journey:</a:t>
            </a:r>
            <a:endParaRPr b="1" sz="1600">
              <a:solidFill>
                <a:schemeClr val="dk1"/>
              </a:solidFill>
            </a:endParaRPr>
          </a:p>
          <a:p>
            <a:pPr indent="-304958" lvl="0" marL="457200" marR="0" rtl="0" algn="l">
              <a:lnSpc>
                <a:spcPct val="115000"/>
              </a:lnSpc>
              <a:spcBef>
                <a:spcPts val="1200"/>
              </a:spcBef>
              <a:spcAft>
                <a:spcPts val="0"/>
              </a:spcAft>
              <a:buClr>
                <a:schemeClr val="dk1"/>
              </a:buClr>
              <a:buSzPct val="100000"/>
              <a:buChar char="●"/>
            </a:pPr>
            <a:r>
              <a:rPr lang="ja" sz="1300">
                <a:solidFill>
                  <a:schemeClr val="dk1"/>
                </a:solidFill>
              </a:rPr>
              <a:t>Starts with empowerment (staff using data), moves to confidence (easy food disposal process), ends with pride (sustainability achievements shared).</a:t>
            </a:r>
            <a:endParaRPr b="1" sz="1300">
              <a:solidFill>
                <a:schemeClr val="dk1"/>
              </a:solidFill>
            </a:endParaRPr>
          </a:p>
          <a:p>
            <a:pPr indent="0" lvl="0" marL="0" marR="0" rtl="0" algn="l">
              <a:lnSpc>
                <a:spcPct val="115000"/>
              </a:lnSpc>
              <a:spcBef>
                <a:spcPts val="1200"/>
              </a:spcBef>
              <a:spcAft>
                <a:spcPts val="0"/>
              </a:spcAft>
              <a:buNone/>
            </a:pPr>
            <a:r>
              <a:rPr b="1" lang="ja" sz="1600">
                <a:solidFill>
                  <a:schemeClr val="dk1"/>
                </a:solidFill>
              </a:rPr>
              <a:t>Business Impact:</a:t>
            </a:r>
            <a:endParaRPr b="1" sz="1600">
              <a:solidFill>
                <a:schemeClr val="dk1"/>
              </a:solidFill>
            </a:endParaRPr>
          </a:p>
          <a:p>
            <a:pPr indent="-311308" lvl="0" marL="457200" marR="0" rtl="0" algn="l">
              <a:lnSpc>
                <a:spcPct val="115000"/>
              </a:lnSpc>
              <a:spcBef>
                <a:spcPts val="1200"/>
              </a:spcBef>
              <a:spcAft>
                <a:spcPts val="0"/>
              </a:spcAft>
              <a:buClr>
                <a:schemeClr val="dk1"/>
              </a:buClr>
              <a:buSzPct val="100000"/>
              <a:buChar char="●"/>
            </a:pPr>
            <a:r>
              <a:rPr lang="ja" sz="1408">
                <a:solidFill>
                  <a:schemeClr val="dk1"/>
                </a:solidFill>
              </a:rPr>
              <a:t>Better resource management</a:t>
            </a:r>
            <a:r>
              <a:rPr lang="ja" sz="1408">
                <a:solidFill>
                  <a:schemeClr val="dk1"/>
                </a:solidFill>
              </a:rPr>
              <a:t>.</a:t>
            </a:r>
            <a:endParaRPr sz="1408">
              <a:solidFill>
                <a:schemeClr val="dk1"/>
              </a:solidFill>
            </a:endParaRPr>
          </a:p>
          <a:p>
            <a:pPr indent="-311308" lvl="0" marL="457200" marR="0" rtl="0" algn="l">
              <a:lnSpc>
                <a:spcPct val="115000"/>
              </a:lnSpc>
              <a:spcBef>
                <a:spcPts val="0"/>
              </a:spcBef>
              <a:spcAft>
                <a:spcPts val="0"/>
              </a:spcAft>
              <a:buClr>
                <a:schemeClr val="dk1"/>
              </a:buClr>
              <a:buSzPct val="100000"/>
              <a:buChar char="●"/>
            </a:pPr>
            <a:r>
              <a:rPr lang="ja" sz="1408">
                <a:solidFill>
                  <a:schemeClr val="dk1"/>
                </a:solidFill>
              </a:rPr>
              <a:t>Higher recycling and composting rates.</a:t>
            </a:r>
            <a:endParaRPr sz="1408">
              <a:solidFill>
                <a:schemeClr val="dk1"/>
              </a:solidFill>
            </a:endParaRPr>
          </a:p>
          <a:p>
            <a:pPr indent="-311308" lvl="0" marL="457200" marR="0" rtl="0" algn="l">
              <a:lnSpc>
                <a:spcPct val="115000"/>
              </a:lnSpc>
              <a:spcBef>
                <a:spcPts val="0"/>
              </a:spcBef>
              <a:spcAft>
                <a:spcPts val="0"/>
              </a:spcAft>
              <a:buClr>
                <a:schemeClr val="dk1"/>
              </a:buClr>
              <a:buSzPct val="100000"/>
              <a:buChar char="●"/>
            </a:pPr>
            <a:r>
              <a:rPr lang="ja" sz="1408">
                <a:solidFill>
                  <a:schemeClr val="dk1"/>
                </a:solidFill>
              </a:rPr>
              <a:t>Cost reduction through optimized supply ordering and waste handling.</a:t>
            </a:r>
            <a:endParaRPr sz="1408">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Prototype Key Tasks</a:t>
            </a:r>
            <a:endParaRPr/>
          </a:p>
        </p:txBody>
      </p:sp>
      <p:sp>
        <p:nvSpPr>
          <p:cNvPr id="185" name="Google Shape;18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Customer</a:t>
            </a:r>
            <a:r>
              <a:rPr lang="ja"/>
              <a:t>: </a:t>
            </a:r>
            <a:endParaRPr/>
          </a:p>
          <a:p>
            <a:pPr indent="0" lvl="0" marL="0" rtl="0" algn="l">
              <a:spcBef>
                <a:spcPts val="1200"/>
              </a:spcBef>
              <a:spcAft>
                <a:spcPts val="0"/>
              </a:spcAft>
              <a:buNone/>
            </a:pPr>
            <a:r>
              <a:rPr lang="ja"/>
              <a:t>1. Placing waste on the counter above the bins to determine which piece of the waste goes to which bin </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lang="ja"/>
              <a:t>M</a:t>
            </a:r>
            <a:r>
              <a:rPr lang="ja"/>
              <a:t>anager: </a:t>
            </a:r>
            <a:endParaRPr/>
          </a:p>
          <a:p>
            <a:pPr indent="0" lvl="0" marL="0" rtl="0" algn="l">
              <a:spcBef>
                <a:spcPts val="1200"/>
              </a:spcBef>
              <a:spcAft>
                <a:spcPts val="0"/>
              </a:spcAft>
              <a:buNone/>
            </a:pPr>
            <a:r>
              <a:rPr lang="ja"/>
              <a:t>1. Monitor bin status remotely</a:t>
            </a:r>
            <a:endParaRPr/>
          </a:p>
          <a:p>
            <a:pPr indent="0" lvl="0" marL="0" rtl="0" algn="l">
              <a:spcBef>
                <a:spcPts val="1200"/>
              </a:spcBef>
              <a:spcAft>
                <a:spcPts val="1200"/>
              </a:spcAft>
              <a:buNone/>
            </a:pPr>
            <a:r>
              <a:rPr lang="ja"/>
              <a:t>2</a:t>
            </a:r>
            <a:r>
              <a:rPr lang="ja"/>
              <a:t>. Resolve a smart bin full or error notification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Usability Testing Script</a:t>
            </a:r>
            <a:endParaRPr/>
          </a:p>
        </p:txBody>
      </p:sp>
      <p:sp>
        <p:nvSpPr>
          <p:cNvPr id="191" name="Google Shape;19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ja"/>
              <a:t>Scenario </a:t>
            </a:r>
            <a:r>
              <a:rPr lang="ja"/>
              <a:t>Customer: </a:t>
            </a:r>
            <a:endParaRPr/>
          </a:p>
          <a:p>
            <a:pPr indent="0" lvl="0" marL="0" rtl="0" algn="l">
              <a:spcBef>
                <a:spcPts val="1200"/>
              </a:spcBef>
              <a:spcAft>
                <a:spcPts val="0"/>
              </a:spcAft>
              <a:buNone/>
            </a:pPr>
            <a:r>
              <a:rPr lang="ja"/>
              <a:t>You are just finishing up your meal at the fast-food restaurant, you are about to take the waste and leftovers to the waste bins.</a:t>
            </a:r>
            <a:endParaRPr/>
          </a:p>
          <a:p>
            <a:pPr indent="-342900" lvl="0" marL="457200" rtl="0" algn="l">
              <a:spcBef>
                <a:spcPts val="1200"/>
              </a:spcBef>
              <a:spcAft>
                <a:spcPts val="0"/>
              </a:spcAft>
              <a:buSzPts val="1800"/>
              <a:buAutoNum type="arabicPeriod"/>
            </a:pPr>
            <a:r>
              <a:rPr lang="ja"/>
              <a:t>Are you going to segregate the waste?</a:t>
            </a:r>
            <a:endParaRPr/>
          </a:p>
          <a:p>
            <a:pPr indent="-342900" lvl="0" marL="457200" rtl="0" algn="l">
              <a:spcBef>
                <a:spcPts val="0"/>
              </a:spcBef>
              <a:spcAft>
                <a:spcPts val="0"/>
              </a:spcAft>
              <a:buSzPts val="1800"/>
              <a:buAutoNum type="arabicPeriod"/>
            </a:pPr>
            <a:r>
              <a:rPr lang="ja"/>
              <a:t>Do you know how the wastes are segregated?</a:t>
            </a:r>
            <a:endParaRPr/>
          </a:p>
          <a:p>
            <a:pPr indent="-342900" lvl="0" marL="457200" rtl="0" algn="l">
              <a:spcBef>
                <a:spcPts val="0"/>
              </a:spcBef>
              <a:spcAft>
                <a:spcPts val="0"/>
              </a:spcAft>
              <a:buSzPts val="1800"/>
              <a:buAutoNum type="arabicPeriod"/>
            </a:pPr>
            <a:r>
              <a:rPr lang="ja"/>
              <a:t>How long is it going to take just to dispose the waste?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Low-Fidelity Prototype</a:t>
            </a:r>
            <a:endParaRPr/>
          </a:p>
        </p:txBody>
      </p:sp>
      <p:sp>
        <p:nvSpPr>
          <p:cNvPr id="197" name="Google Shape;197;p31"/>
          <p:cNvSpPr txBox="1"/>
          <p:nvPr>
            <p:ph idx="1" type="body"/>
          </p:nvPr>
        </p:nvSpPr>
        <p:spPr>
          <a:xfrm>
            <a:off x="311700" y="1152475"/>
            <a:ext cx="8520600" cy="893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Scenario Customer: Placing waste on the counter above the bins to determine which piece of the waste goes to which bin</a:t>
            </a:r>
            <a:endParaRPr/>
          </a:p>
        </p:txBody>
      </p:sp>
      <p:sp>
        <p:nvSpPr>
          <p:cNvPr id="198" name="Google Shape;198;p31"/>
          <p:cNvSpPr txBox="1"/>
          <p:nvPr/>
        </p:nvSpPr>
        <p:spPr>
          <a:xfrm>
            <a:off x="311700" y="2571750"/>
            <a:ext cx="3624600" cy="1890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800">
                <a:solidFill>
                  <a:schemeClr val="dk2"/>
                </a:solidFill>
              </a:rPr>
              <a:t>Task 1: </a:t>
            </a:r>
            <a:endParaRPr sz="1800">
              <a:solidFill>
                <a:schemeClr val="dk2"/>
              </a:solidFill>
            </a:endParaRPr>
          </a:p>
          <a:p>
            <a:pPr indent="0" lvl="0" marL="0" rtl="0" algn="l">
              <a:lnSpc>
                <a:spcPct val="115000"/>
              </a:lnSpc>
              <a:spcBef>
                <a:spcPts val="1200"/>
              </a:spcBef>
              <a:spcAft>
                <a:spcPts val="1200"/>
              </a:spcAft>
              <a:buNone/>
            </a:pPr>
            <a:r>
              <a:rPr lang="ja" sz="1800">
                <a:solidFill>
                  <a:schemeClr val="dk2"/>
                </a:solidFill>
              </a:rPr>
              <a:t>You want to start disposing of waste into the bin. How can you use the prototype to ensure it's properly disposed of?</a:t>
            </a:r>
            <a:endParaRPr/>
          </a:p>
        </p:txBody>
      </p:sp>
      <p:pic>
        <p:nvPicPr>
          <p:cNvPr id="199" name="Google Shape;199;p31"/>
          <p:cNvPicPr preferRelativeResize="0"/>
          <p:nvPr/>
        </p:nvPicPr>
        <p:blipFill>
          <a:blip r:embed="rId3">
            <a:alphaModFix/>
          </a:blip>
          <a:stretch>
            <a:fillRect/>
          </a:stretch>
        </p:blipFill>
        <p:spPr>
          <a:xfrm>
            <a:off x="6595851" y="3949800"/>
            <a:ext cx="1337850" cy="1038125"/>
          </a:xfrm>
          <a:prstGeom prst="rect">
            <a:avLst/>
          </a:prstGeom>
          <a:noFill/>
          <a:ln cap="flat" cmpd="sng" w="9525">
            <a:solidFill>
              <a:schemeClr val="dk2"/>
            </a:solidFill>
            <a:prstDash val="solid"/>
            <a:round/>
            <a:headEnd len="sm" w="sm" type="none"/>
            <a:tailEnd len="sm" w="sm" type="none"/>
          </a:ln>
        </p:spPr>
      </p:pic>
      <p:pic>
        <p:nvPicPr>
          <p:cNvPr id="200" name="Google Shape;200;p31"/>
          <p:cNvPicPr preferRelativeResize="0"/>
          <p:nvPr/>
        </p:nvPicPr>
        <p:blipFill rotWithShape="1">
          <a:blip r:embed="rId4">
            <a:alphaModFix/>
          </a:blip>
          <a:srcRect b="0" l="0" r="53772" t="0"/>
          <a:stretch/>
        </p:blipFill>
        <p:spPr>
          <a:xfrm>
            <a:off x="4454474" y="2046175"/>
            <a:ext cx="1160475" cy="1228150"/>
          </a:xfrm>
          <a:prstGeom prst="rect">
            <a:avLst/>
          </a:prstGeom>
          <a:noFill/>
          <a:ln>
            <a:noFill/>
          </a:ln>
        </p:spPr>
      </p:pic>
      <p:pic>
        <p:nvPicPr>
          <p:cNvPr id="201" name="Google Shape;201;p31"/>
          <p:cNvPicPr preferRelativeResize="0"/>
          <p:nvPr/>
        </p:nvPicPr>
        <p:blipFill rotWithShape="1">
          <a:blip r:embed="rId5">
            <a:alphaModFix/>
          </a:blip>
          <a:srcRect b="7391" l="5317" r="7513" t="5847"/>
          <a:stretch/>
        </p:blipFill>
        <p:spPr>
          <a:xfrm>
            <a:off x="6368175" y="2195675"/>
            <a:ext cx="1337850" cy="1198658"/>
          </a:xfrm>
          <a:prstGeom prst="rect">
            <a:avLst/>
          </a:prstGeom>
          <a:noFill/>
          <a:ln cap="flat" cmpd="sng" w="9525">
            <a:solidFill>
              <a:srgbClr val="000000"/>
            </a:solidFill>
            <a:prstDash val="solid"/>
            <a:round/>
            <a:headEnd len="sm" w="sm" type="none"/>
            <a:tailEnd len="sm" w="sm" type="none"/>
          </a:ln>
        </p:spPr>
      </p:pic>
      <p:pic>
        <p:nvPicPr>
          <p:cNvPr id="202" name="Google Shape;202;p31"/>
          <p:cNvPicPr preferRelativeResize="0"/>
          <p:nvPr/>
        </p:nvPicPr>
        <p:blipFill rotWithShape="1">
          <a:blip r:embed="rId4">
            <a:alphaModFix/>
          </a:blip>
          <a:srcRect b="0" l="55281" r="0" t="0"/>
          <a:stretch/>
        </p:blipFill>
        <p:spPr>
          <a:xfrm>
            <a:off x="4609849" y="3719200"/>
            <a:ext cx="1122625" cy="1228150"/>
          </a:xfrm>
          <a:prstGeom prst="rect">
            <a:avLst/>
          </a:prstGeom>
          <a:noFill/>
          <a:ln>
            <a:noFill/>
          </a:ln>
        </p:spPr>
      </p:pic>
      <p:pic>
        <p:nvPicPr>
          <p:cNvPr id="203" name="Google Shape;203;p31"/>
          <p:cNvPicPr preferRelativeResize="0"/>
          <p:nvPr/>
        </p:nvPicPr>
        <p:blipFill>
          <a:blip r:embed="rId6">
            <a:alphaModFix/>
          </a:blip>
          <a:stretch>
            <a:fillRect/>
          </a:stretch>
        </p:blipFill>
        <p:spPr>
          <a:xfrm>
            <a:off x="7806150" y="3035758"/>
            <a:ext cx="1337850" cy="845117"/>
          </a:xfrm>
          <a:prstGeom prst="rect">
            <a:avLst/>
          </a:prstGeom>
          <a:noFill/>
          <a:ln cap="flat" cmpd="sng" w="9525">
            <a:solidFill>
              <a:schemeClr val="dk2"/>
            </a:solidFill>
            <a:prstDash val="solid"/>
            <a:round/>
            <a:headEnd len="sm" w="sm" type="none"/>
            <a:tailEnd len="sm" w="sm" type="none"/>
          </a:ln>
        </p:spPr>
      </p:pic>
      <p:cxnSp>
        <p:nvCxnSpPr>
          <p:cNvPr id="204" name="Google Shape;204;p31"/>
          <p:cNvCxnSpPr>
            <a:stCxn id="200" idx="3"/>
            <a:endCxn id="201" idx="1"/>
          </p:cNvCxnSpPr>
          <p:nvPr/>
        </p:nvCxnSpPr>
        <p:spPr>
          <a:xfrm>
            <a:off x="5614949" y="2660250"/>
            <a:ext cx="753300" cy="134700"/>
          </a:xfrm>
          <a:prstGeom prst="straightConnector1">
            <a:avLst/>
          </a:prstGeom>
          <a:noFill/>
          <a:ln cap="flat" cmpd="sng" w="9525">
            <a:solidFill>
              <a:schemeClr val="dk2"/>
            </a:solidFill>
            <a:prstDash val="solid"/>
            <a:round/>
            <a:headEnd len="med" w="med" type="none"/>
            <a:tailEnd len="med" w="med" type="triangle"/>
          </a:ln>
        </p:spPr>
      </p:cxnSp>
      <p:cxnSp>
        <p:nvCxnSpPr>
          <p:cNvPr id="205" name="Google Shape;205;p31"/>
          <p:cNvCxnSpPr>
            <a:endCxn id="202" idx="0"/>
          </p:cNvCxnSpPr>
          <p:nvPr/>
        </p:nvCxnSpPr>
        <p:spPr>
          <a:xfrm flipH="1">
            <a:off x="5171162" y="3305500"/>
            <a:ext cx="1186500" cy="413700"/>
          </a:xfrm>
          <a:prstGeom prst="straightConnector1">
            <a:avLst/>
          </a:prstGeom>
          <a:noFill/>
          <a:ln cap="flat" cmpd="sng" w="9525">
            <a:solidFill>
              <a:schemeClr val="dk2"/>
            </a:solidFill>
            <a:prstDash val="solid"/>
            <a:round/>
            <a:headEnd len="med" w="med" type="none"/>
            <a:tailEnd len="med" w="med" type="triangle"/>
          </a:ln>
        </p:spPr>
      </p:cxnSp>
      <p:cxnSp>
        <p:nvCxnSpPr>
          <p:cNvPr id="206" name="Google Shape;206;p31"/>
          <p:cNvCxnSpPr>
            <a:stCxn id="202" idx="3"/>
            <a:endCxn id="199" idx="1"/>
          </p:cNvCxnSpPr>
          <p:nvPr/>
        </p:nvCxnSpPr>
        <p:spPr>
          <a:xfrm>
            <a:off x="5732474" y="4333275"/>
            <a:ext cx="863400" cy="135600"/>
          </a:xfrm>
          <a:prstGeom prst="straightConnector1">
            <a:avLst/>
          </a:prstGeom>
          <a:noFill/>
          <a:ln cap="flat" cmpd="sng" w="9525">
            <a:solidFill>
              <a:schemeClr val="dk2"/>
            </a:solidFill>
            <a:prstDash val="solid"/>
            <a:round/>
            <a:headEnd len="med" w="med" type="none"/>
            <a:tailEnd len="med" w="med" type="triangle"/>
          </a:ln>
        </p:spPr>
      </p:cxnSp>
      <p:cxnSp>
        <p:nvCxnSpPr>
          <p:cNvPr id="207" name="Google Shape;207;p31"/>
          <p:cNvCxnSpPr>
            <a:stCxn id="199" idx="3"/>
            <a:endCxn id="203" idx="2"/>
          </p:cNvCxnSpPr>
          <p:nvPr/>
        </p:nvCxnSpPr>
        <p:spPr>
          <a:xfrm flipH="1" rot="10800000">
            <a:off x="7933700" y="3880863"/>
            <a:ext cx="541500" cy="588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32"/>
          <p:cNvPicPr preferRelativeResize="0"/>
          <p:nvPr/>
        </p:nvPicPr>
        <p:blipFill>
          <a:blip r:embed="rId3">
            <a:alphaModFix/>
          </a:blip>
          <a:stretch>
            <a:fillRect/>
          </a:stretch>
        </p:blipFill>
        <p:spPr>
          <a:xfrm>
            <a:off x="2247900" y="485775"/>
            <a:ext cx="4648200" cy="41719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33"/>
          <p:cNvPicPr preferRelativeResize="0"/>
          <p:nvPr/>
        </p:nvPicPr>
        <p:blipFill>
          <a:blip r:embed="rId3">
            <a:alphaModFix/>
          </a:blip>
          <a:stretch>
            <a:fillRect/>
          </a:stretch>
        </p:blipFill>
        <p:spPr>
          <a:xfrm>
            <a:off x="2257425" y="485775"/>
            <a:ext cx="4629150" cy="4171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4"/>
          <p:cNvPicPr preferRelativeResize="0"/>
          <p:nvPr/>
        </p:nvPicPr>
        <p:blipFill>
          <a:blip r:embed="rId3">
            <a:alphaModFix/>
          </a:blip>
          <a:stretch>
            <a:fillRect/>
          </a:stretch>
        </p:blipFill>
        <p:spPr>
          <a:xfrm>
            <a:off x="2266950" y="495300"/>
            <a:ext cx="4610100" cy="4152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5"/>
          <p:cNvPicPr preferRelativeResize="0"/>
          <p:nvPr/>
        </p:nvPicPr>
        <p:blipFill>
          <a:blip r:embed="rId3">
            <a:alphaModFix/>
          </a:blip>
          <a:stretch>
            <a:fillRect/>
          </a:stretch>
        </p:blipFill>
        <p:spPr>
          <a:xfrm>
            <a:off x="2257425" y="485775"/>
            <a:ext cx="4629150" cy="4171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36"/>
          <p:cNvPicPr preferRelativeResize="0"/>
          <p:nvPr/>
        </p:nvPicPr>
        <p:blipFill>
          <a:blip r:embed="rId3">
            <a:alphaModFix/>
          </a:blip>
          <a:stretch>
            <a:fillRect/>
          </a:stretch>
        </p:blipFill>
        <p:spPr>
          <a:xfrm>
            <a:off x="2247900" y="485775"/>
            <a:ext cx="4648200" cy="4171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37"/>
          <p:cNvPicPr preferRelativeResize="0"/>
          <p:nvPr/>
        </p:nvPicPr>
        <p:blipFill>
          <a:blip r:embed="rId3">
            <a:alphaModFix/>
          </a:blip>
          <a:stretch>
            <a:fillRect/>
          </a:stretch>
        </p:blipFill>
        <p:spPr>
          <a:xfrm>
            <a:off x="2266950" y="495300"/>
            <a:ext cx="4610100" cy="4152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Usability Testing Script</a:t>
            </a:r>
            <a:endParaRPr/>
          </a:p>
        </p:txBody>
      </p:sp>
      <p:sp>
        <p:nvSpPr>
          <p:cNvPr id="243" name="Google Shape;243;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ja"/>
              <a:t>Scenario </a:t>
            </a:r>
            <a:r>
              <a:rPr lang="ja"/>
              <a:t>Manager: </a:t>
            </a:r>
            <a:endParaRPr/>
          </a:p>
          <a:p>
            <a:pPr indent="0" lvl="0" marL="0" rtl="0" algn="l">
              <a:spcBef>
                <a:spcPts val="1200"/>
              </a:spcBef>
              <a:spcAft>
                <a:spcPts val="0"/>
              </a:spcAft>
              <a:buNone/>
            </a:pPr>
            <a:r>
              <a:rPr lang="ja"/>
              <a:t>You are a store manager of a fast-food chain. When it comes to cleaning out the waste bins, it is a big hassle. Customers often don't follow the rule of segregating wastes and it hard to know if the bins are full and need cleaning.</a:t>
            </a:r>
            <a:endParaRPr/>
          </a:p>
          <a:p>
            <a:pPr indent="-342900" lvl="0" marL="457200" rtl="0" algn="l">
              <a:spcBef>
                <a:spcPts val="1200"/>
              </a:spcBef>
              <a:spcAft>
                <a:spcPts val="0"/>
              </a:spcAft>
              <a:buSzPts val="1800"/>
              <a:buAutoNum type="arabicPeriod"/>
            </a:pPr>
            <a:r>
              <a:rPr lang="ja"/>
              <a:t>During the busy hours, you need to know if the waste bins are overflowing, but you don't have the time to frequently check them.</a:t>
            </a:r>
            <a:endParaRPr/>
          </a:p>
          <a:p>
            <a:pPr indent="-342900" lvl="0" marL="457200" rtl="0" algn="l">
              <a:spcBef>
                <a:spcPts val="0"/>
              </a:spcBef>
              <a:spcAft>
                <a:spcPts val="0"/>
              </a:spcAft>
              <a:buSzPts val="1800"/>
              <a:buAutoNum type="arabicPeriod"/>
            </a:pPr>
            <a:r>
              <a:rPr lang="ja"/>
              <a:t>When cleaning out the waste, a large portion of the wastes are not sorted properly, and the need to be segregated again.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311700" y="499800"/>
            <a:ext cx="6102000" cy="572700"/>
          </a:xfrm>
          <a:prstGeom prst="rect">
            <a:avLst/>
          </a:prstGeom>
        </p:spPr>
        <p:txBody>
          <a:bodyPr anchorCtr="0" anchor="t" bIns="91425" lIns="91425" spcFirstLastPara="1" rIns="91425" wrap="square" tIns="91425">
            <a:normAutofit fontScale="90000"/>
          </a:bodyPr>
          <a:lstStyle/>
          <a:p>
            <a:pPr indent="0" lvl="0" marL="0" marR="0" rtl="0" algn="l">
              <a:lnSpc>
                <a:spcPct val="115000"/>
              </a:lnSpc>
              <a:spcBef>
                <a:spcPts val="0"/>
              </a:spcBef>
              <a:spcAft>
                <a:spcPts val="0"/>
              </a:spcAft>
              <a:buNone/>
            </a:pPr>
            <a:r>
              <a:rPr lang="ja" sz="1800">
                <a:solidFill>
                  <a:schemeClr val="dk2"/>
                </a:solidFill>
              </a:rPr>
              <a:t>Scenario Manager: </a:t>
            </a:r>
            <a:r>
              <a:rPr lang="ja" sz="1800">
                <a:solidFill>
                  <a:schemeClr val="dk2"/>
                </a:solidFill>
              </a:rPr>
              <a:t>Monitor Bin Status &amp; </a:t>
            </a:r>
            <a:r>
              <a:rPr lang="ja" sz="1800">
                <a:solidFill>
                  <a:schemeClr val="dk2"/>
                </a:solidFill>
              </a:rPr>
              <a:t>Resolve a smart bin full or error notification</a:t>
            </a:r>
            <a:endParaRPr sz="1800">
              <a:solidFill>
                <a:schemeClr val="dk2"/>
              </a:solidFill>
            </a:endParaRPr>
          </a:p>
          <a:p>
            <a:pPr indent="0" lvl="0" marL="0" marR="0" rtl="0" algn="l">
              <a:lnSpc>
                <a:spcPct val="115000"/>
              </a:lnSpc>
              <a:spcBef>
                <a:spcPts val="1200"/>
              </a:spcBef>
              <a:spcAft>
                <a:spcPts val="1200"/>
              </a:spcAft>
              <a:buNone/>
            </a:pPr>
            <a:r>
              <a:t/>
            </a:r>
            <a:endParaRPr sz="1800">
              <a:solidFill>
                <a:schemeClr val="dk2"/>
              </a:solidFill>
            </a:endParaRPr>
          </a:p>
        </p:txBody>
      </p:sp>
      <p:pic>
        <p:nvPicPr>
          <p:cNvPr id="249" name="Google Shape;249;p39"/>
          <p:cNvPicPr preferRelativeResize="0"/>
          <p:nvPr/>
        </p:nvPicPr>
        <p:blipFill rotWithShape="1">
          <a:blip r:embed="rId3">
            <a:alphaModFix/>
          </a:blip>
          <a:srcRect b="0" l="2223" r="53667" t="1652"/>
          <a:stretch/>
        </p:blipFill>
        <p:spPr>
          <a:xfrm>
            <a:off x="6455263" y="384082"/>
            <a:ext cx="1122300" cy="2404620"/>
          </a:xfrm>
          <a:prstGeom prst="rect">
            <a:avLst/>
          </a:prstGeom>
          <a:noFill/>
          <a:ln>
            <a:noFill/>
          </a:ln>
        </p:spPr>
      </p:pic>
      <p:sp>
        <p:nvSpPr>
          <p:cNvPr id="250" name="Google Shape;250;p39"/>
          <p:cNvSpPr txBox="1"/>
          <p:nvPr/>
        </p:nvSpPr>
        <p:spPr>
          <a:xfrm>
            <a:off x="311700" y="1327525"/>
            <a:ext cx="4174800" cy="1519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800">
                <a:solidFill>
                  <a:schemeClr val="dk2"/>
                </a:solidFill>
              </a:rPr>
              <a:t>Task 2: </a:t>
            </a:r>
            <a:endParaRPr/>
          </a:p>
          <a:p>
            <a:pPr indent="0" lvl="0" marL="0" rtl="0" algn="l">
              <a:spcBef>
                <a:spcPts val="1200"/>
              </a:spcBef>
              <a:spcAft>
                <a:spcPts val="0"/>
              </a:spcAft>
              <a:buNone/>
            </a:pPr>
            <a:r>
              <a:rPr lang="ja"/>
              <a:t>You want to quickly check which bins in your store are close to overflowing or have</a:t>
            </a:r>
            <a:endParaRPr/>
          </a:p>
          <a:p>
            <a:pPr indent="0" lvl="0" marL="0" rtl="0" algn="l">
              <a:spcBef>
                <a:spcPts val="0"/>
              </a:spcBef>
              <a:spcAft>
                <a:spcPts val="0"/>
              </a:spcAft>
              <a:buNone/>
            </a:pPr>
            <a:r>
              <a:rPr lang="ja"/>
              <a:t>classification issues. How would you do that using the dashboard?”</a:t>
            </a:r>
            <a:endParaRPr/>
          </a:p>
        </p:txBody>
      </p:sp>
      <p:pic>
        <p:nvPicPr>
          <p:cNvPr id="251" name="Google Shape;251;p39"/>
          <p:cNvPicPr preferRelativeResize="0"/>
          <p:nvPr/>
        </p:nvPicPr>
        <p:blipFill rotWithShape="1">
          <a:blip r:embed="rId3">
            <a:alphaModFix/>
          </a:blip>
          <a:srcRect b="3588" l="52102" r="4993" t="1490"/>
          <a:stretch/>
        </p:blipFill>
        <p:spPr>
          <a:xfrm>
            <a:off x="7744725" y="365005"/>
            <a:ext cx="1122300" cy="2385844"/>
          </a:xfrm>
          <a:prstGeom prst="rect">
            <a:avLst/>
          </a:prstGeom>
          <a:noFill/>
          <a:ln>
            <a:noFill/>
          </a:ln>
        </p:spPr>
      </p:pic>
      <p:sp>
        <p:nvSpPr>
          <p:cNvPr id="252" name="Google Shape;252;p39"/>
          <p:cNvSpPr txBox="1"/>
          <p:nvPr/>
        </p:nvSpPr>
        <p:spPr>
          <a:xfrm>
            <a:off x="6353575" y="0"/>
            <a:ext cx="126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1800">
                <a:solidFill>
                  <a:schemeClr val="dk2"/>
                </a:solidFill>
              </a:rPr>
              <a:t>Screen 1</a:t>
            </a:r>
            <a:endParaRPr sz="1800">
              <a:solidFill>
                <a:schemeClr val="dk2"/>
              </a:solidFill>
            </a:endParaRPr>
          </a:p>
        </p:txBody>
      </p:sp>
      <p:sp>
        <p:nvSpPr>
          <p:cNvPr id="253" name="Google Shape;253;p39"/>
          <p:cNvSpPr txBox="1"/>
          <p:nvPr/>
        </p:nvSpPr>
        <p:spPr>
          <a:xfrm>
            <a:off x="7619125" y="0"/>
            <a:ext cx="126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1800">
                <a:solidFill>
                  <a:schemeClr val="dk2"/>
                </a:solidFill>
              </a:rPr>
              <a:t>Screen 2</a:t>
            </a:r>
            <a:endParaRPr sz="1800">
              <a:solidFill>
                <a:schemeClr val="dk2"/>
              </a:solidFill>
            </a:endParaRPr>
          </a:p>
        </p:txBody>
      </p:sp>
      <p:sp>
        <p:nvSpPr>
          <p:cNvPr id="254" name="Google Shape;254;p39"/>
          <p:cNvSpPr txBox="1"/>
          <p:nvPr>
            <p:ph type="title"/>
          </p:nvPr>
        </p:nvSpPr>
        <p:spPr>
          <a:xfrm>
            <a:off x="311700" y="87850"/>
            <a:ext cx="6102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Low-Fidelity Prototype</a:t>
            </a:r>
            <a:endParaRPr/>
          </a:p>
        </p:txBody>
      </p:sp>
      <p:pic>
        <p:nvPicPr>
          <p:cNvPr id="255" name="Google Shape;255;p39"/>
          <p:cNvPicPr preferRelativeResize="0"/>
          <p:nvPr/>
        </p:nvPicPr>
        <p:blipFill rotWithShape="1">
          <a:blip r:embed="rId4">
            <a:alphaModFix/>
          </a:blip>
          <a:srcRect b="0" l="69036" r="0" t="0"/>
          <a:stretch/>
        </p:blipFill>
        <p:spPr>
          <a:xfrm>
            <a:off x="6413725" y="2982225"/>
            <a:ext cx="1262101" cy="2120125"/>
          </a:xfrm>
          <a:prstGeom prst="rect">
            <a:avLst/>
          </a:prstGeom>
          <a:noFill/>
          <a:ln>
            <a:noFill/>
          </a:ln>
        </p:spPr>
      </p:pic>
      <p:grpSp>
        <p:nvGrpSpPr>
          <p:cNvPr id="256" name="Google Shape;256;p39"/>
          <p:cNvGrpSpPr/>
          <p:nvPr/>
        </p:nvGrpSpPr>
        <p:grpSpPr>
          <a:xfrm>
            <a:off x="7775503" y="3044923"/>
            <a:ext cx="1196690" cy="2057419"/>
            <a:chOff x="6124899" y="1297243"/>
            <a:chExt cx="1778935" cy="3440499"/>
          </a:xfrm>
        </p:grpSpPr>
        <p:pic>
          <p:nvPicPr>
            <p:cNvPr id="257" name="Google Shape;257;p39"/>
            <p:cNvPicPr preferRelativeResize="0"/>
            <p:nvPr/>
          </p:nvPicPr>
          <p:blipFill rotWithShape="1">
            <a:blip r:embed="rId4">
              <a:alphaModFix/>
            </a:blip>
            <a:srcRect b="1625" l="2613" r="68084" t="2211"/>
            <a:stretch/>
          </p:blipFill>
          <p:spPr>
            <a:xfrm>
              <a:off x="6124899" y="1297243"/>
              <a:ext cx="1762117" cy="3440499"/>
            </a:xfrm>
            <a:prstGeom prst="rect">
              <a:avLst/>
            </a:prstGeom>
            <a:noFill/>
            <a:ln>
              <a:noFill/>
            </a:ln>
          </p:spPr>
        </p:pic>
        <p:sp>
          <p:nvSpPr>
            <p:cNvPr id="258" name="Google Shape;258;p39"/>
            <p:cNvSpPr txBox="1"/>
            <p:nvPr/>
          </p:nvSpPr>
          <p:spPr>
            <a:xfrm>
              <a:off x="6222034" y="2975966"/>
              <a:ext cx="1681800" cy="489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700">
                  <a:solidFill>
                    <a:srgbClr val="FF0000"/>
                  </a:solidFill>
                </a:rPr>
                <a:t>Red Bin Sorting Issue</a:t>
              </a:r>
              <a:endParaRPr sz="700">
                <a:solidFill>
                  <a:srgbClr val="FF0000"/>
                </a:solidFill>
              </a:endParaRPr>
            </a:p>
          </p:txBody>
        </p:sp>
      </p:grpSp>
      <p:sp>
        <p:nvSpPr>
          <p:cNvPr id="259" name="Google Shape;259;p39"/>
          <p:cNvSpPr txBox="1"/>
          <p:nvPr/>
        </p:nvSpPr>
        <p:spPr>
          <a:xfrm>
            <a:off x="6353575" y="2683825"/>
            <a:ext cx="126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1800">
                <a:solidFill>
                  <a:schemeClr val="dk2"/>
                </a:solidFill>
              </a:rPr>
              <a:t>Screen 3</a:t>
            </a:r>
            <a:endParaRPr sz="1800">
              <a:solidFill>
                <a:schemeClr val="dk2"/>
              </a:solidFill>
            </a:endParaRPr>
          </a:p>
        </p:txBody>
      </p:sp>
      <p:sp>
        <p:nvSpPr>
          <p:cNvPr id="260" name="Google Shape;260;p39"/>
          <p:cNvSpPr txBox="1"/>
          <p:nvPr/>
        </p:nvSpPr>
        <p:spPr>
          <a:xfrm>
            <a:off x="7775463" y="2683825"/>
            <a:ext cx="126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1800">
                <a:solidFill>
                  <a:schemeClr val="dk2"/>
                </a:solidFill>
              </a:rPr>
              <a:t>Screen 4</a:t>
            </a:r>
            <a:endParaRPr sz="1800">
              <a:solidFill>
                <a:schemeClr val="dk2"/>
              </a:solidFill>
            </a:endParaRPr>
          </a:p>
        </p:txBody>
      </p:sp>
      <p:sp>
        <p:nvSpPr>
          <p:cNvPr id="261" name="Google Shape;261;p39"/>
          <p:cNvSpPr txBox="1"/>
          <p:nvPr/>
        </p:nvSpPr>
        <p:spPr>
          <a:xfrm>
            <a:off x="311700" y="3101750"/>
            <a:ext cx="4174800" cy="1519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800">
                <a:solidFill>
                  <a:schemeClr val="dk2"/>
                </a:solidFill>
              </a:rPr>
              <a:t>Task 3:  </a:t>
            </a:r>
            <a:endParaRPr/>
          </a:p>
          <a:p>
            <a:pPr indent="0" lvl="0" marL="0" rtl="0" algn="l">
              <a:spcBef>
                <a:spcPts val="1200"/>
              </a:spcBef>
              <a:spcAft>
                <a:spcPts val="0"/>
              </a:spcAft>
              <a:buNone/>
            </a:pPr>
            <a:r>
              <a:rPr lang="ja"/>
              <a:t>You want to receive a notification when one of your bins has a sorting issue, and resolve the issue promptly at the right time and location. How can you use this prototype?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40" title="Screenshot 2025-04-15 at 8.03.01 PM.png"/>
          <p:cNvPicPr preferRelativeResize="0"/>
          <p:nvPr/>
        </p:nvPicPr>
        <p:blipFill>
          <a:blip r:embed="rId3">
            <a:alphaModFix/>
          </a:blip>
          <a:stretch>
            <a:fillRect/>
          </a:stretch>
        </p:blipFill>
        <p:spPr>
          <a:xfrm>
            <a:off x="3563573" y="416025"/>
            <a:ext cx="2016850" cy="43114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41" title="Screenshot 2025-04-15 at 8.03.35 PM.png"/>
          <p:cNvPicPr preferRelativeResize="0"/>
          <p:nvPr/>
        </p:nvPicPr>
        <p:blipFill>
          <a:blip r:embed="rId3">
            <a:alphaModFix/>
          </a:blip>
          <a:stretch>
            <a:fillRect/>
          </a:stretch>
        </p:blipFill>
        <p:spPr>
          <a:xfrm>
            <a:off x="3525063" y="373937"/>
            <a:ext cx="2093875" cy="43956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42" title="Screenshot 2025-04-15 at 8.04.01 PM.png"/>
          <p:cNvPicPr preferRelativeResize="0"/>
          <p:nvPr/>
        </p:nvPicPr>
        <p:blipFill>
          <a:blip r:embed="rId3">
            <a:alphaModFix/>
          </a:blip>
          <a:stretch>
            <a:fillRect/>
          </a:stretch>
        </p:blipFill>
        <p:spPr>
          <a:xfrm>
            <a:off x="3566088" y="428725"/>
            <a:ext cx="2011825" cy="42860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43" title="Screenshot 2025-04-15 at 8.03.47 PM.png"/>
          <p:cNvPicPr preferRelativeResize="0"/>
          <p:nvPr/>
        </p:nvPicPr>
        <p:blipFill>
          <a:blip r:embed="rId3">
            <a:alphaModFix/>
          </a:blip>
          <a:stretch>
            <a:fillRect/>
          </a:stretch>
        </p:blipFill>
        <p:spPr>
          <a:xfrm>
            <a:off x="3558999" y="406275"/>
            <a:ext cx="2026000" cy="4330950"/>
          </a:xfrm>
          <a:prstGeom prst="rect">
            <a:avLst/>
          </a:prstGeom>
          <a:noFill/>
          <a:ln>
            <a:noFill/>
          </a:ln>
        </p:spPr>
      </p:pic>
      <p:sp>
        <p:nvSpPr>
          <p:cNvPr id="282" name="Google Shape;282;p43"/>
          <p:cNvSpPr txBox="1"/>
          <p:nvPr/>
        </p:nvSpPr>
        <p:spPr>
          <a:xfrm>
            <a:off x="3708900" y="2677825"/>
            <a:ext cx="1726200" cy="36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1100">
                <a:solidFill>
                  <a:srgbClr val="FF0000"/>
                </a:solidFill>
              </a:rPr>
              <a:t>Red Bin Sorting Issue</a:t>
            </a:r>
            <a:endParaRPr sz="1100">
              <a:solidFill>
                <a:srgbClr val="FF0000"/>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Conclusion </a:t>
            </a:r>
            <a:endParaRPr/>
          </a:p>
        </p:txBody>
      </p:sp>
      <p:sp>
        <p:nvSpPr>
          <p:cNvPr id="288" name="Google Shape;288;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b="1" lang="ja" sz="1600">
                <a:solidFill>
                  <a:schemeClr val="dk1"/>
                </a:solidFill>
              </a:rPr>
              <a:t>Reimagining Waste Management with AI</a:t>
            </a:r>
            <a:endParaRPr b="1" sz="1600">
              <a:solidFill>
                <a:schemeClr val="dk1"/>
              </a:solidFill>
            </a:endParaRPr>
          </a:p>
          <a:p>
            <a:pPr indent="-317500" lvl="0" marL="457200" rtl="0" algn="l">
              <a:spcBef>
                <a:spcPts val="1200"/>
              </a:spcBef>
              <a:spcAft>
                <a:spcPts val="0"/>
              </a:spcAft>
              <a:buClr>
                <a:schemeClr val="dk1"/>
              </a:buClr>
              <a:buSzPts val="1400"/>
              <a:buChar char="●"/>
            </a:pPr>
            <a:r>
              <a:rPr lang="ja" sz="1400">
                <a:solidFill>
                  <a:schemeClr val="dk1"/>
                </a:solidFill>
              </a:rPr>
              <a:t>AI-powered bin simplifies waste sorting in restaurants</a:t>
            </a:r>
            <a:endParaRPr sz="1400">
              <a:solidFill>
                <a:schemeClr val="dk1"/>
              </a:solidFill>
            </a:endParaRPr>
          </a:p>
          <a:p>
            <a:pPr indent="-317500" lvl="0" marL="457200" rtl="0" algn="l">
              <a:spcBef>
                <a:spcPts val="0"/>
              </a:spcBef>
              <a:spcAft>
                <a:spcPts val="0"/>
              </a:spcAft>
              <a:buClr>
                <a:schemeClr val="dk1"/>
              </a:buClr>
              <a:buSzPts val="1400"/>
              <a:buChar char="●"/>
            </a:pPr>
            <a:r>
              <a:rPr lang="ja" sz="1400">
                <a:solidFill>
                  <a:schemeClr val="dk1"/>
                </a:solidFill>
              </a:rPr>
              <a:t>Enables remote monitoring and real-time insights</a:t>
            </a:r>
            <a:endParaRPr sz="1400">
              <a:solidFill>
                <a:schemeClr val="dk1"/>
              </a:solidFill>
            </a:endParaRPr>
          </a:p>
          <a:p>
            <a:pPr indent="-317500" lvl="0" marL="457200" rtl="0" algn="l">
              <a:spcBef>
                <a:spcPts val="0"/>
              </a:spcBef>
              <a:spcAft>
                <a:spcPts val="0"/>
              </a:spcAft>
              <a:buClr>
                <a:schemeClr val="dk1"/>
              </a:buClr>
              <a:buSzPts val="1400"/>
              <a:buChar char="●"/>
            </a:pPr>
            <a:r>
              <a:rPr lang="ja" sz="1400">
                <a:solidFill>
                  <a:schemeClr val="dk1"/>
                </a:solidFill>
              </a:rPr>
              <a:t>Reduces errors and supports sustainability goals</a:t>
            </a:r>
            <a:endParaRPr sz="1400">
              <a:solidFill>
                <a:schemeClr val="dk1"/>
              </a:solidFill>
            </a:endParaRPr>
          </a:p>
          <a:p>
            <a:pPr indent="-317500" lvl="0" marL="457200" rtl="0" algn="l">
              <a:spcBef>
                <a:spcPts val="0"/>
              </a:spcBef>
              <a:spcAft>
                <a:spcPts val="0"/>
              </a:spcAft>
              <a:buClr>
                <a:schemeClr val="dk1"/>
              </a:buClr>
              <a:buSzPts val="1400"/>
              <a:buChar char="●"/>
            </a:pPr>
            <a:r>
              <a:rPr lang="ja" sz="1400">
                <a:solidFill>
                  <a:schemeClr val="dk1"/>
                </a:solidFill>
              </a:rPr>
              <a:t>Boosts staff confidence and encourages better habits</a:t>
            </a:r>
            <a:endParaRPr sz="1400">
              <a:solidFill>
                <a:schemeClr val="dk1"/>
              </a:solidFill>
            </a:endParaRPr>
          </a:p>
          <a:p>
            <a:pPr indent="-317500" lvl="0" marL="457200" rtl="0" algn="l">
              <a:spcBef>
                <a:spcPts val="0"/>
              </a:spcBef>
              <a:spcAft>
                <a:spcPts val="0"/>
              </a:spcAft>
              <a:buClr>
                <a:schemeClr val="dk1"/>
              </a:buClr>
              <a:buSzPts val="1400"/>
              <a:buChar char="●"/>
            </a:pPr>
            <a:r>
              <a:rPr lang="ja" sz="1400">
                <a:solidFill>
                  <a:schemeClr val="dk1"/>
                </a:solidFill>
              </a:rPr>
              <a:t>Scalable, user-friendly, and impactful solution</a:t>
            </a:r>
            <a:endParaRPr sz="1400">
              <a:solidFill>
                <a:schemeClr val="dk1"/>
              </a:solidFill>
            </a:endParaRPr>
          </a:p>
          <a:p>
            <a:pPr indent="0" lvl="0" marL="0" rtl="0" algn="l">
              <a:spcBef>
                <a:spcPts val="1200"/>
              </a:spcBef>
              <a:spcAft>
                <a:spcPts val="0"/>
              </a:spcAft>
              <a:buNone/>
            </a:pPr>
            <a:r>
              <a:rPr b="1" lang="ja" sz="1600">
                <a:solidFill>
                  <a:schemeClr val="dk1"/>
                </a:solidFill>
              </a:rPr>
              <a:t>Next Steps:</a:t>
            </a:r>
            <a:endParaRPr b="1" sz="1600">
              <a:solidFill>
                <a:schemeClr val="dk1"/>
              </a:solidFill>
            </a:endParaRPr>
          </a:p>
          <a:p>
            <a:pPr indent="-317500" lvl="0" marL="457200" rtl="0" algn="l">
              <a:spcBef>
                <a:spcPts val="1200"/>
              </a:spcBef>
              <a:spcAft>
                <a:spcPts val="0"/>
              </a:spcAft>
              <a:buClr>
                <a:schemeClr val="dk1"/>
              </a:buClr>
              <a:buSzPts val="1400"/>
              <a:buChar char="●"/>
            </a:pPr>
            <a:r>
              <a:rPr lang="ja" sz="1400">
                <a:solidFill>
                  <a:schemeClr val="dk1"/>
                </a:solidFill>
              </a:rPr>
              <a:t>Enhance user feedback mechanisms</a:t>
            </a:r>
            <a:endParaRPr sz="1400">
              <a:solidFill>
                <a:schemeClr val="dk1"/>
              </a:solidFill>
            </a:endParaRPr>
          </a:p>
          <a:p>
            <a:pPr indent="-317500" lvl="0" marL="457200" rtl="0" algn="l">
              <a:spcBef>
                <a:spcPts val="0"/>
              </a:spcBef>
              <a:spcAft>
                <a:spcPts val="0"/>
              </a:spcAft>
              <a:buClr>
                <a:schemeClr val="dk1"/>
              </a:buClr>
              <a:buSzPts val="1400"/>
              <a:buChar char="●"/>
            </a:pPr>
            <a:r>
              <a:rPr lang="ja" sz="1400">
                <a:solidFill>
                  <a:schemeClr val="dk1"/>
                </a:solidFill>
              </a:rPr>
              <a:t>Pilot in multiple store locations</a:t>
            </a:r>
            <a:endParaRPr sz="1400">
              <a:solidFill>
                <a:schemeClr val="dk1"/>
              </a:solidFill>
            </a:endParaRPr>
          </a:p>
          <a:p>
            <a:pPr indent="-317500" lvl="0" marL="457200" rtl="0" algn="l">
              <a:spcBef>
                <a:spcPts val="0"/>
              </a:spcBef>
              <a:spcAft>
                <a:spcPts val="0"/>
              </a:spcAft>
              <a:buClr>
                <a:schemeClr val="dk1"/>
              </a:buClr>
              <a:buSzPts val="1400"/>
              <a:buChar char="●"/>
            </a:pPr>
            <a:r>
              <a:rPr lang="ja" sz="1400">
                <a:solidFill>
                  <a:schemeClr val="dk1"/>
                </a:solidFill>
              </a:rPr>
              <a:t>Integrate rewards into mobile apps to further drive behavioral change</a:t>
            </a:r>
            <a:endParaRPr sz="14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