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
  </p:notesMasterIdLst>
  <p:sldIdLst>
    <p:sldId id="265" r:id="rId2"/>
    <p:sldId id="266" r:id="rId3"/>
    <p:sldId id="268" r:id="rId4"/>
    <p:sldId id="269" r:id="rId5"/>
    <p:sldId id="270" r:id="rId6"/>
    <p:sldId id="271" r:id="rId7"/>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63"/>
    <p:restoredTop sz="94674"/>
  </p:normalViewPr>
  <p:slideViewPr>
    <p:cSldViewPr snapToGrid="0" snapToObjects="1">
      <p:cViewPr varScale="1">
        <p:scale>
          <a:sx n="85" d="100"/>
          <a:sy n="85" d="100"/>
        </p:scale>
        <p:origin x="324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44C57B-B624-934F-A23D-49C27EB72AA2}" type="datetimeFigureOut">
              <a:rPr lang="en-US" smtClean="0"/>
              <a:t>4/19/22</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774F8-94A6-CD44-88B5-DAB53C814C0D}" type="slidenum">
              <a:rPr lang="en-US" smtClean="0"/>
              <a:t>‹#›</a:t>
            </a:fld>
            <a:endParaRPr lang="en-US"/>
          </a:p>
        </p:txBody>
      </p:sp>
    </p:spTree>
    <p:extLst>
      <p:ext uri="{BB962C8B-B14F-4D97-AF65-F5344CB8AC3E}">
        <p14:creationId xmlns:p14="http://schemas.microsoft.com/office/powerpoint/2010/main" val="3598302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A35A3E-B706-EE4F-965F-E6963DD89539}" type="datetimeFigureOut">
              <a:rPr lang="en-US" smtClean="0"/>
              <a:t>4/19/22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1678419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A35A3E-B706-EE4F-965F-E6963DD89539}" type="datetimeFigureOut">
              <a:rPr lang="en-US" smtClean="0"/>
              <a:t>4/19/22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3649632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A35A3E-B706-EE4F-965F-E6963DD89539}" type="datetimeFigureOut">
              <a:rPr lang="en-US" smtClean="0"/>
              <a:t>4/19/22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1241971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A35A3E-B706-EE4F-965F-E6963DD89539}" type="datetimeFigureOut">
              <a:rPr lang="en-US" smtClean="0"/>
              <a:t>4/19/22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3247369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A35A3E-B706-EE4F-965F-E6963DD89539}" type="datetimeFigureOut">
              <a:rPr lang="en-US" smtClean="0"/>
              <a:t>4/19/22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367522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A35A3E-B706-EE4F-965F-E6963DD89539}" type="datetimeFigureOut">
              <a:rPr lang="en-US" smtClean="0"/>
              <a:t>4/19/22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219944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A35A3E-B706-EE4F-965F-E6963DD89539}" type="datetimeFigureOut">
              <a:rPr lang="en-US" smtClean="0"/>
              <a:t>4/19/22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3158056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01A35A3E-B706-EE4F-965F-E6963DD89539}" type="datetimeFigureOut">
              <a:rPr lang="en-US" smtClean="0"/>
              <a:t>4/19/22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3222058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01A35A3E-B706-EE4F-965F-E6963DD89539}" type="datetimeFigureOut">
              <a:rPr lang="en-US" smtClean="0"/>
              <a:t>4/19/22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230649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A35A3E-B706-EE4F-965F-E6963DD89539}" type="datetimeFigureOut">
              <a:rPr lang="en-US" smtClean="0"/>
              <a:t>4/19/22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3577645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A35A3E-B706-EE4F-965F-E6963DD89539}" type="datetimeFigureOut">
              <a:rPr lang="en-US" smtClean="0"/>
              <a:t>4/19/22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79F8AB-E924-CD42-937D-D541845EA929}" type="slidenum">
              <a:rPr lang="en-US" smtClean="0"/>
              <a:t>‹#›</a:t>
            </a:fld>
            <a:endParaRPr lang="en-US"/>
          </a:p>
        </p:txBody>
      </p:sp>
    </p:spTree>
    <p:extLst>
      <p:ext uri="{BB962C8B-B14F-4D97-AF65-F5344CB8AC3E}">
        <p14:creationId xmlns:p14="http://schemas.microsoft.com/office/powerpoint/2010/main" val="1724686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01A35A3E-B706-EE4F-965F-E6963DD89539}" type="datetimeFigureOut">
              <a:rPr lang="en-US" smtClean="0"/>
              <a:t>4/19/22</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E479F8AB-E924-CD42-937D-D541845EA929}" type="slidenum">
              <a:rPr lang="en-US" smtClean="0"/>
              <a:t>‹#›</a:t>
            </a:fld>
            <a:endParaRPr lang="en-US"/>
          </a:p>
        </p:txBody>
      </p:sp>
    </p:spTree>
    <p:extLst>
      <p:ext uri="{BB962C8B-B14F-4D97-AF65-F5344CB8AC3E}">
        <p14:creationId xmlns:p14="http://schemas.microsoft.com/office/powerpoint/2010/main" val="24878673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966C3-3AD0-E648-AD6B-9D255F63EE7F}"/>
              </a:ext>
            </a:extLst>
          </p:cNvPr>
          <p:cNvSpPr>
            <a:spLocks noGrp="1"/>
          </p:cNvSpPr>
          <p:nvPr>
            <p:ph type="ctrTitle"/>
          </p:nvPr>
        </p:nvSpPr>
        <p:spPr>
          <a:xfrm>
            <a:off x="0" y="3633713"/>
            <a:ext cx="6858000" cy="4659392"/>
          </a:xfrm>
        </p:spPr>
        <p:txBody>
          <a:bodyPr>
            <a:normAutofit fontScale="90000"/>
          </a:bodyPr>
          <a:lstStyle/>
          <a:p>
            <a:r>
              <a:rPr lang="en-US" b="1" dirty="0">
                <a:solidFill>
                  <a:srgbClr val="FF0000"/>
                </a:solidFill>
              </a:rPr>
              <a:t>TEMPLATE</a:t>
            </a:r>
            <a:r>
              <a:rPr lang="en-US" b="1" dirty="0"/>
              <a:t> </a:t>
            </a:r>
            <a:br>
              <a:rPr lang="en-US" dirty="0"/>
            </a:br>
            <a:r>
              <a:rPr lang="en-US" dirty="0"/>
              <a:t>Assignment A5 </a:t>
            </a:r>
            <a:br>
              <a:rPr lang="en-US" dirty="0"/>
            </a:br>
            <a:r>
              <a:rPr lang="en-US" dirty="0"/>
              <a:t>Low-Fidelity Paper Prototype</a:t>
            </a:r>
            <a:br>
              <a:rPr lang="en-US" dirty="0"/>
            </a:br>
            <a:br>
              <a:rPr lang="en-US" dirty="0"/>
            </a:br>
            <a:br>
              <a:rPr lang="en-US" dirty="0"/>
            </a:br>
            <a:br>
              <a:rPr lang="en-US" dirty="0"/>
            </a:br>
            <a:r>
              <a:rPr lang="en-US" sz="2400" dirty="0"/>
              <a:t>Examples: Project </a:t>
            </a:r>
            <a:r>
              <a:rPr lang="en-US" sz="2400" dirty="0" err="1"/>
              <a:t>BearIt</a:t>
            </a:r>
            <a:r>
              <a:rPr lang="en-US" sz="2400" dirty="0"/>
              <a:t>, CSC318 2019F</a:t>
            </a: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r>
              <a:rPr lang="en-US" sz="2400" b="1" u="sng" dirty="0"/>
              <a:t>Table of Contents</a:t>
            </a:r>
            <a:br>
              <a:rPr lang="en-US" sz="2400" dirty="0"/>
            </a:br>
            <a:br>
              <a:rPr lang="en-US" sz="2400" dirty="0"/>
            </a:br>
            <a:br>
              <a:rPr lang="en-US" sz="2400" dirty="0"/>
            </a:br>
            <a:br>
              <a:rPr lang="en-US" sz="2400" dirty="0"/>
            </a:br>
            <a:endParaRPr lang="en-US" dirty="0"/>
          </a:p>
        </p:txBody>
      </p:sp>
      <p:sp>
        <p:nvSpPr>
          <p:cNvPr id="5" name="Slide Number Placeholder 4">
            <a:extLst>
              <a:ext uri="{FF2B5EF4-FFF2-40B4-BE49-F238E27FC236}">
                <a16:creationId xmlns:a16="http://schemas.microsoft.com/office/drawing/2014/main" id="{5C702498-6E61-3044-AC72-4C3F86EE1A78}"/>
              </a:ext>
            </a:extLst>
          </p:cNvPr>
          <p:cNvSpPr>
            <a:spLocks noGrp="1"/>
          </p:cNvSpPr>
          <p:nvPr>
            <p:ph type="sldNum" sz="quarter" idx="12"/>
          </p:nvPr>
        </p:nvSpPr>
        <p:spPr/>
        <p:txBody>
          <a:bodyPr/>
          <a:lstStyle/>
          <a:p>
            <a:fld id="{F710F99B-4302-6646-BD1D-0BAADDE296E1}" type="slidenum">
              <a:rPr lang="en-US" smtClean="0"/>
              <a:t>1</a:t>
            </a:fld>
            <a:endParaRPr lang="en-US"/>
          </a:p>
        </p:txBody>
      </p:sp>
      <p:sp>
        <p:nvSpPr>
          <p:cNvPr id="3" name="TextBox 2">
            <a:extLst>
              <a:ext uri="{FF2B5EF4-FFF2-40B4-BE49-F238E27FC236}">
                <a16:creationId xmlns:a16="http://schemas.microsoft.com/office/drawing/2014/main" id="{94DF67F0-0E7B-9F40-950A-B21EAB2FD8E6}"/>
              </a:ext>
            </a:extLst>
          </p:cNvPr>
          <p:cNvSpPr txBox="1"/>
          <p:nvPr/>
        </p:nvSpPr>
        <p:spPr>
          <a:xfrm>
            <a:off x="1431498" y="6737116"/>
            <a:ext cx="3995004" cy="2031325"/>
          </a:xfrm>
          <a:prstGeom prst="rect">
            <a:avLst/>
          </a:prstGeom>
          <a:noFill/>
        </p:spPr>
        <p:txBody>
          <a:bodyPr wrap="none" rtlCol="0">
            <a:spAutoFit/>
          </a:bodyPr>
          <a:lstStyle/>
          <a:p>
            <a:r>
              <a:rPr lang="en-US" dirty="0"/>
              <a:t>5.1 Key Tasks 			2</a:t>
            </a:r>
            <a:br>
              <a:rPr lang="en-US" dirty="0"/>
            </a:br>
            <a:r>
              <a:rPr lang="en-US" dirty="0"/>
              <a:t>5.2 Usability Testing Script		3</a:t>
            </a:r>
            <a:br>
              <a:rPr lang="en-US" dirty="0"/>
            </a:br>
            <a:r>
              <a:rPr lang="en-US" dirty="0"/>
              <a:t>5.3 Low-Fidelity Paper Prototype	4</a:t>
            </a:r>
            <a:br>
              <a:rPr lang="en-US" dirty="0"/>
            </a:br>
            <a:r>
              <a:rPr lang="en-US" dirty="0"/>
              <a:t>       with Facilitation &amp; Observation </a:t>
            </a:r>
            <a:br>
              <a:rPr lang="en-US" dirty="0"/>
            </a:br>
            <a:r>
              <a:rPr lang="en-US" dirty="0"/>
              <a:t>       notes off-side, outside Slideshow</a:t>
            </a:r>
            <a:br>
              <a:rPr lang="en-US" dirty="0"/>
            </a:br>
            <a:br>
              <a:rPr lang="en-US" dirty="0"/>
            </a:br>
            <a:endParaRPr lang="en-US" dirty="0"/>
          </a:p>
        </p:txBody>
      </p:sp>
      <p:sp>
        <p:nvSpPr>
          <p:cNvPr id="6" name="TextBox 5">
            <a:extLst>
              <a:ext uri="{FF2B5EF4-FFF2-40B4-BE49-F238E27FC236}">
                <a16:creationId xmlns:a16="http://schemas.microsoft.com/office/drawing/2014/main" id="{676CF4CE-5647-CC4B-BAB9-8C90B1F86146}"/>
              </a:ext>
            </a:extLst>
          </p:cNvPr>
          <p:cNvSpPr txBox="1"/>
          <p:nvPr/>
        </p:nvSpPr>
        <p:spPr>
          <a:xfrm rot="19363037">
            <a:off x="1782823" y="5194865"/>
            <a:ext cx="2863541" cy="646331"/>
          </a:xfrm>
          <a:prstGeom prst="rect">
            <a:avLst/>
          </a:prstGeom>
          <a:noFill/>
        </p:spPr>
        <p:txBody>
          <a:bodyPr wrap="none" rtlCol="0">
            <a:spAutoFit/>
          </a:bodyPr>
          <a:lstStyle/>
          <a:p>
            <a:r>
              <a:rPr lang="en-US" sz="3600" b="1" dirty="0">
                <a:solidFill>
                  <a:srgbClr val="FF0000"/>
                </a:solidFill>
              </a:rPr>
              <a:t>SAMPLE ONLY</a:t>
            </a:r>
          </a:p>
        </p:txBody>
      </p:sp>
      <p:pic>
        <p:nvPicPr>
          <p:cNvPr id="4" name="Picture 3">
            <a:extLst>
              <a:ext uri="{FF2B5EF4-FFF2-40B4-BE49-F238E27FC236}">
                <a16:creationId xmlns:a16="http://schemas.microsoft.com/office/drawing/2014/main" id="{0B95DC43-53CB-CD4A-95E8-477B157CB72E}"/>
              </a:ext>
            </a:extLst>
          </p:cNvPr>
          <p:cNvPicPr>
            <a:picLocks noChangeAspect="1"/>
          </p:cNvPicPr>
          <p:nvPr/>
        </p:nvPicPr>
        <p:blipFill>
          <a:blip r:embed="rId2"/>
          <a:stretch>
            <a:fillRect/>
          </a:stretch>
        </p:blipFill>
        <p:spPr>
          <a:xfrm>
            <a:off x="1054100" y="2342377"/>
            <a:ext cx="4749800" cy="1671284"/>
          </a:xfrm>
          <a:prstGeom prst="rect">
            <a:avLst/>
          </a:prstGeom>
        </p:spPr>
      </p:pic>
    </p:spTree>
    <p:extLst>
      <p:ext uri="{BB962C8B-B14F-4D97-AF65-F5344CB8AC3E}">
        <p14:creationId xmlns:p14="http://schemas.microsoft.com/office/powerpoint/2010/main" val="217239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91A81-CA45-B141-8158-857D4E6DEB11}"/>
              </a:ext>
            </a:extLst>
          </p:cNvPr>
          <p:cNvSpPr>
            <a:spLocks noGrp="1"/>
          </p:cNvSpPr>
          <p:nvPr>
            <p:ph type="title"/>
          </p:nvPr>
        </p:nvSpPr>
        <p:spPr/>
        <p:txBody>
          <a:bodyPr/>
          <a:lstStyle/>
          <a:p>
            <a:r>
              <a:rPr lang="en-US" dirty="0"/>
              <a:t>A5.1 Key Tasks</a:t>
            </a:r>
          </a:p>
        </p:txBody>
      </p:sp>
      <p:sp>
        <p:nvSpPr>
          <p:cNvPr id="3" name="Content Placeholder 2">
            <a:extLst>
              <a:ext uri="{FF2B5EF4-FFF2-40B4-BE49-F238E27FC236}">
                <a16:creationId xmlns:a16="http://schemas.microsoft.com/office/drawing/2014/main" id="{ED598962-8F82-554E-A082-E8130860F09B}"/>
              </a:ext>
            </a:extLst>
          </p:cNvPr>
          <p:cNvSpPr>
            <a:spLocks noGrp="1"/>
          </p:cNvSpPr>
          <p:nvPr>
            <p:ph idx="1"/>
          </p:nvPr>
        </p:nvSpPr>
        <p:spPr/>
        <p:txBody>
          <a:bodyPr/>
          <a:lstStyle/>
          <a:p>
            <a:pPr marL="457200" indent="-457200">
              <a:buAutoNum type="arabicPeriod"/>
            </a:pPr>
            <a:r>
              <a:rPr lang="en-US" dirty="0"/>
              <a:t>Create a recurring event</a:t>
            </a:r>
          </a:p>
          <a:p>
            <a:pPr marL="457200" indent="-457200">
              <a:buAutoNum type="arabicPeriod"/>
            </a:pPr>
            <a:r>
              <a:rPr lang="en-US" dirty="0"/>
              <a:t>View saved activities</a:t>
            </a:r>
          </a:p>
          <a:p>
            <a:pPr marL="457200" indent="-457200">
              <a:buAutoNum type="arabicPeriod"/>
            </a:pPr>
            <a:r>
              <a:rPr lang="en-US" dirty="0"/>
              <a:t>Change event </a:t>
            </a:r>
          </a:p>
          <a:p>
            <a:pPr marL="457200" indent="-457200">
              <a:buAutoNum type="arabicPeriod"/>
            </a:pPr>
            <a:r>
              <a:rPr lang="en-US" dirty="0"/>
              <a:t>Delete event</a:t>
            </a:r>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p:txBody>
      </p:sp>
      <p:sp>
        <p:nvSpPr>
          <p:cNvPr id="12" name="Slide Number Placeholder 11">
            <a:extLst>
              <a:ext uri="{FF2B5EF4-FFF2-40B4-BE49-F238E27FC236}">
                <a16:creationId xmlns:a16="http://schemas.microsoft.com/office/drawing/2014/main" id="{A19566B6-A921-1946-B3AF-981274864209}"/>
              </a:ext>
            </a:extLst>
          </p:cNvPr>
          <p:cNvSpPr>
            <a:spLocks noGrp="1"/>
          </p:cNvSpPr>
          <p:nvPr>
            <p:ph type="sldNum" sz="quarter" idx="12"/>
          </p:nvPr>
        </p:nvSpPr>
        <p:spPr/>
        <p:txBody>
          <a:bodyPr/>
          <a:lstStyle/>
          <a:p>
            <a:fld id="{F710F99B-4302-6646-BD1D-0BAADDE296E1}" type="slidenum">
              <a:rPr lang="en-US" smtClean="0"/>
              <a:t>2</a:t>
            </a:fld>
            <a:endParaRPr lang="en-US"/>
          </a:p>
        </p:txBody>
      </p:sp>
      <p:sp>
        <p:nvSpPr>
          <p:cNvPr id="11" name="TextBox 10">
            <a:extLst>
              <a:ext uri="{FF2B5EF4-FFF2-40B4-BE49-F238E27FC236}">
                <a16:creationId xmlns:a16="http://schemas.microsoft.com/office/drawing/2014/main" id="{4A984130-B464-214F-8455-DDA05A89DA78}"/>
              </a:ext>
            </a:extLst>
          </p:cNvPr>
          <p:cNvSpPr txBox="1"/>
          <p:nvPr/>
        </p:nvSpPr>
        <p:spPr>
          <a:xfrm rot="19363037">
            <a:off x="2076738" y="2996238"/>
            <a:ext cx="2863541" cy="646331"/>
          </a:xfrm>
          <a:prstGeom prst="rect">
            <a:avLst/>
          </a:prstGeom>
          <a:noFill/>
        </p:spPr>
        <p:txBody>
          <a:bodyPr wrap="none" rtlCol="0">
            <a:spAutoFit/>
          </a:bodyPr>
          <a:lstStyle/>
          <a:p>
            <a:r>
              <a:rPr lang="en-US" sz="3600" b="1" dirty="0">
                <a:solidFill>
                  <a:srgbClr val="FF0000"/>
                </a:solidFill>
              </a:rPr>
              <a:t>SAMPLE ONLY</a:t>
            </a:r>
          </a:p>
        </p:txBody>
      </p:sp>
    </p:spTree>
    <p:extLst>
      <p:ext uri="{BB962C8B-B14F-4D97-AF65-F5344CB8AC3E}">
        <p14:creationId xmlns:p14="http://schemas.microsoft.com/office/powerpoint/2010/main" val="2231174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BD925-59EF-4045-8BBD-F7049AF179B3}"/>
              </a:ext>
            </a:extLst>
          </p:cNvPr>
          <p:cNvSpPr>
            <a:spLocks noGrp="1"/>
          </p:cNvSpPr>
          <p:nvPr>
            <p:ph type="ctrTitle"/>
          </p:nvPr>
        </p:nvSpPr>
        <p:spPr>
          <a:xfrm>
            <a:off x="0" y="-441176"/>
            <a:ext cx="6858000" cy="1855679"/>
          </a:xfrm>
        </p:spPr>
        <p:txBody>
          <a:bodyPr>
            <a:normAutofit/>
          </a:bodyPr>
          <a:lstStyle/>
          <a:p>
            <a:r>
              <a:rPr lang="en-US" sz="4000" dirty="0"/>
              <a:t>A5.2 Usability Testing Script</a:t>
            </a:r>
            <a:br>
              <a:rPr lang="en-US" sz="4000" dirty="0"/>
            </a:br>
            <a:endParaRPr lang="en-US" sz="4000" dirty="0"/>
          </a:p>
        </p:txBody>
      </p:sp>
      <p:sp>
        <p:nvSpPr>
          <p:cNvPr id="3" name="Subtitle 2">
            <a:extLst>
              <a:ext uri="{FF2B5EF4-FFF2-40B4-BE49-F238E27FC236}">
                <a16:creationId xmlns:a16="http://schemas.microsoft.com/office/drawing/2014/main" id="{59F6F694-EF07-844C-BA3E-246F61F604F3}"/>
              </a:ext>
            </a:extLst>
          </p:cNvPr>
          <p:cNvSpPr>
            <a:spLocks noGrp="1"/>
          </p:cNvSpPr>
          <p:nvPr>
            <p:ph type="subTitle" idx="1"/>
          </p:nvPr>
        </p:nvSpPr>
        <p:spPr>
          <a:xfrm>
            <a:off x="146957" y="1104566"/>
            <a:ext cx="3559628" cy="7788729"/>
          </a:xfrm>
        </p:spPr>
        <p:txBody>
          <a:bodyPr>
            <a:normAutofit fontScale="92500" lnSpcReduction="10000"/>
          </a:bodyPr>
          <a:lstStyle/>
          <a:p>
            <a:pPr algn="l"/>
            <a:r>
              <a:rPr lang="en-CA" b="1" dirty="0"/>
              <a:t>Scenario</a:t>
            </a:r>
            <a:r>
              <a:rPr lang="en-CA" dirty="0"/>
              <a:t>: You are a 3rd year computer science student. You heard from your friends that there is an app which can help you be more motivated and engaged in your long term goals.  You decide to try this app. </a:t>
            </a:r>
            <a:br>
              <a:rPr lang="en-CA" dirty="0"/>
            </a:br>
            <a:br>
              <a:rPr lang="en-CA" dirty="0"/>
            </a:br>
            <a:r>
              <a:rPr lang="en-CA" dirty="0"/>
              <a:t>Can you show me how you would do the following tasks using this app:</a:t>
            </a:r>
          </a:p>
          <a:p>
            <a:pPr algn="l"/>
            <a:endParaRPr lang="en-CA" dirty="0"/>
          </a:p>
          <a:p>
            <a:pPr algn="l"/>
            <a:r>
              <a:rPr lang="en-CA" dirty="0"/>
              <a:t>1. You want to start working out regularly at the Athletic Centre on Wednesdays, from 8-9pm, starting on October 16. How can you set that up using this prototype?</a:t>
            </a:r>
          </a:p>
          <a:p>
            <a:pPr algn="l"/>
            <a:br>
              <a:rPr lang="en-CA" dirty="0"/>
            </a:br>
            <a:r>
              <a:rPr lang="en-CA" dirty="0"/>
              <a:t>2. How can you review the activity that you just added?</a:t>
            </a:r>
          </a:p>
          <a:p>
            <a:pPr algn="l"/>
            <a:br>
              <a:rPr lang="en-CA" dirty="0"/>
            </a:br>
            <a:r>
              <a:rPr lang="en-CA" dirty="0"/>
              <a:t>3. You just remembered that you have a midterm coming up so on October 16th you will need to prepare for the midterm instead of working out. How can you update that in your app? </a:t>
            </a:r>
          </a:p>
          <a:p>
            <a:pPr algn="l"/>
            <a:r>
              <a:rPr lang="en-CA" dirty="0"/>
              <a:t>4. You are happy, because your midterm was canceled! How can you remove the preparation activity from your app. </a:t>
            </a:r>
          </a:p>
          <a:p>
            <a:pPr algn="l"/>
            <a:endParaRPr lang="en-CA" dirty="0"/>
          </a:p>
          <a:p>
            <a:pPr algn="l"/>
            <a:r>
              <a:rPr lang="en-CA" b="1" dirty="0"/>
              <a:t>Please think aloud as you interact with the paper prototype. </a:t>
            </a:r>
            <a:endParaRPr lang="en-CA" dirty="0"/>
          </a:p>
          <a:p>
            <a:pPr algn="l"/>
            <a:endParaRPr lang="en-CA" dirty="0"/>
          </a:p>
          <a:p>
            <a:pPr algn="l"/>
            <a:endParaRPr lang="en-CA" dirty="0"/>
          </a:p>
          <a:p>
            <a:endParaRPr lang="en-US" dirty="0"/>
          </a:p>
        </p:txBody>
      </p:sp>
      <p:sp>
        <p:nvSpPr>
          <p:cNvPr id="4" name="Slide Number Placeholder 3">
            <a:extLst>
              <a:ext uri="{FF2B5EF4-FFF2-40B4-BE49-F238E27FC236}">
                <a16:creationId xmlns:a16="http://schemas.microsoft.com/office/drawing/2014/main" id="{F601A151-2299-DB42-A9BE-7AE02115F289}"/>
              </a:ext>
            </a:extLst>
          </p:cNvPr>
          <p:cNvSpPr>
            <a:spLocks noGrp="1"/>
          </p:cNvSpPr>
          <p:nvPr>
            <p:ph type="sldNum" sz="quarter" idx="12"/>
          </p:nvPr>
        </p:nvSpPr>
        <p:spPr/>
        <p:txBody>
          <a:bodyPr/>
          <a:lstStyle/>
          <a:p>
            <a:fld id="{F710F99B-4302-6646-BD1D-0BAADDE296E1}" type="slidenum">
              <a:rPr lang="en-US" smtClean="0"/>
              <a:t>3</a:t>
            </a:fld>
            <a:endParaRPr lang="en-US"/>
          </a:p>
        </p:txBody>
      </p:sp>
      <p:sp>
        <p:nvSpPr>
          <p:cNvPr id="6" name="Subtitle 2">
            <a:extLst>
              <a:ext uri="{FF2B5EF4-FFF2-40B4-BE49-F238E27FC236}">
                <a16:creationId xmlns:a16="http://schemas.microsoft.com/office/drawing/2014/main" id="{1DB8C871-5F13-6A49-91C8-0B226C2EBB8F}"/>
              </a:ext>
            </a:extLst>
          </p:cNvPr>
          <p:cNvSpPr txBox="1">
            <a:spLocks/>
          </p:cNvSpPr>
          <p:nvPr/>
        </p:nvSpPr>
        <p:spPr>
          <a:xfrm>
            <a:off x="3706585" y="1120240"/>
            <a:ext cx="3151415" cy="830134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80000"/>
              </a:lnSpc>
            </a:pPr>
            <a:r>
              <a:rPr lang="en-CA" sz="1700" dirty="0">
                <a:solidFill>
                  <a:srgbClr val="FF0000"/>
                </a:solidFill>
              </a:rPr>
              <a:t>Note how the Scenario sets up the participant into their role using a high level description and a realistic situation.</a:t>
            </a:r>
            <a:br>
              <a:rPr lang="en-CA" sz="1700" dirty="0">
                <a:solidFill>
                  <a:srgbClr val="FF0000"/>
                </a:solidFill>
              </a:rPr>
            </a:br>
            <a:endParaRPr lang="en-CA" sz="1700" dirty="0">
              <a:solidFill>
                <a:srgbClr val="FF0000"/>
              </a:solidFill>
            </a:endParaRPr>
          </a:p>
          <a:p>
            <a:pPr algn="l">
              <a:lnSpc>
                <a:spcPct val="80000"/>
              </a:lnSpc>
            </a:pPr>
            <a:br>
              <a:rPr lang="en-CA" sz="1700" dirty="0">
                <a:solidFill>
                  <a:srgbClr val="FF0000"/>
                </a:solidFill>
              </a:rPr>
            </a:br>
            <a:r>
              <a:rPr lang="en-CA" sz="1700" dirty="0">
                <a:solidFill>
                  <a:srgbClr val="FF0000"/>
                </a:solidFill>
              </a:rPr>
              <a:t>Note the open ended instruction without too much specific guidance.</a:t>
            </a:r>
          </a:p>
          <a:p>
            <a:pPr algn="l">
              <a:lnSpc>
                <a:spcPct val="80000"/>
              </a:lnSpc>
            </a:pPr>
            <a:endParaRPr lang="en-CA" sz="1700" dirty="0">
              <a:solidFill>
                <a:srgbClr val="FF0000"/>
              </a:solidFill>
            </a:endParaRPr>
          </a:p>
          <a:p>
            <a:pPr algn="l">
              <a:lnSpc>
                <a:spcPct val="80000"/>
              </a:lnSpc>
            </a:pPr>
            <a:r>
              <a:rPr lang="en-CA" sz="1700" dirty="0">
                <a:solidFill>
                  <a:srgbClr val="FF0000"/>
                </a:solidFill>
              </a:rPr>
              <a:t>1. Note how carefully the words are chosen to not bias the participant regarding the interface elements.</a:t>
            </a:r>
          </a:p>
          <a:p>
            <a:pPr algn="l">
              <a:lnSpc>
                <a:spcPct val="80000"/>
              </a:lnSpc>
            </a:pPr>
            <a:br>
              <a:rPr lang="en-CA" sz="1700" dirty="0">
                <a:solidFill>
                  <a:srgbClr val="FF0000"/>
                </a:solidFill>
              </a:rPr>
            </a:br>
            <a:endParaRPr lang="en-CA" sz="1700" dirty="0">
              <a:solidFill>
                <a:srgbClr val="FF0000"/>
              </a:solidFill>
            </a:endParaRPr>
          </a:p>
          <a:p>
            <a:pPr algn="l">
              <a:lnSpc>
                <a:spcPct val="80000"/>
              </a:lnSpc>
            </a:pPr>
            <a:r>
              <a:rPr lang="en-CA" sz="1700" dirty="0">
                <a:solidFill>
                  <a:srgbClr val="FF0000"/>
                </a:solidFill>
              </a:rPr>
              <a:t>2. Note reference to recent activity without using specific UI vocab. Similarly all tasks avoid using any words that appear in the design. </a:t>
            </a:r>
          </a:p>
          <a:p>
            <a:pPr algn="l">
              <a:lnSpc>
                <a:spcPct val="80000"/>
              </a:lnSpc>
            </a:pPr>
            <a:br>
              <a:rPr lang="en-CA" sz="1700" dirty="0">
                <a:solidFill>
                  <a:srgbClr val="FF0000"/>
                </a:solidFill>
              </a:rPr>
            </a:br>
            <a:endParaRPr lang="en-CA" sz="1700" dirty="0">
              <a:solidFill>
                <a:srgbClr val="FF0000"/>
              </a:solidFill>
            </a:endParaRPr>
          </a:p>
          <a:p>
            <a:pPr algn="l">
              <a:lnSpc>
                <a:spcPct val="80000"/>
              </a:lnSpc>
            </a:pPr>
            <a:endParaRPr lang="en-CA" sz="1700" dirty="0">
              <a:solidFill>
                <a:srgbClr val="FF0000"/>
              </a:solidFill>
            </a:endParaRPr>
          </a:p>
          <a:p>
            <a:pPr algn="l">
              <a:lnSpc>
                <a:spcPct val="80000"/>
              </a:lnSpc>
            </a:pPr>
            <a:r>
              <a:rPr lang="en-CA" sz="2000" dirty="0">
                <a:solidFill>
                  <a:srgbClr val="FF0000"/>
                </a:solidFill>
              </a:rPr>
              <a:t>Note the length of the entire test is about 7 minutes. So</a:t>
            </a:r>
            <a:br>
              <a:rPr lang="en-CA" sz="2000" dirty="0">
                <a:solidFill>
                  <a:srgbClr val="FF0000"/>
                </a:solidFill>
              </a:rPr>
            </a:br>
            <a:r>
              <a:rPr lang="en-CA" sz="2000" dirty="0">
                <a:solidFill>
                  <a:srgbClr val="FF0000"/>
                </a:solidFill>
              </a:rPr>
              <a:t>4 simple tasks will suffice.</a:t>
            </a:r>
          </a:p>
          <a:p>
            <a:pPr algn="l">
              <a:lnSpc>
                <a:spcPct val="80000"/>
              </a:lnSpc>
            </a:pPr>
            <a:endParaRPr lang="en-CA" sz="1700" dirty="0">
              <a:solidFill>
                <a:srgbClr val="FF0000"/>
              </a:solidFill>
            </a:endParaRPr>
          </a:p>
          <a:p>
            <a:pPr algn="l">
              <a:lnSpc>
                <a:spcPct val="80000"/>
              </a:lnSpc>
            </a:pPr>
            <a:endParaRPr lang="en-CA" sz="1700" dirty="0">
              <a:solidFill>
                <a:srgbClr val="FF0000"/>
              </a:solidFill>
            </a:endParaRPr>
          </a:p>
          <a:p>
            <a:pPr algn="l">
              <a:lnSpc>
                <a:spcPct val="80000"/>
              </a:lnSpc>
            </a:pPr>
            <a:br>
              <a:rPr lang="en-CA" sz="1700" dirty="0">
                <a:solidFill>
                  <a:srgbClr val="FF0000"/>
                </a:solidFill>
              </a:rPr>
            </a:br>
            <a:r>
              <a:rPr lang="en-CA" sz="1700" dirty="0">
                <a:solidFill>
                  <a:srgbClr val="FF0000"/>
                </a:solidFill>
              </a:rPr>
              <a:t>Note participant may not know to think aloud, nor do this naturally. You may need to remind and probe as they use your paper prototype.</a:t>
            </a:r>
          </a:p>
        </p:txBody>
      </p:sp>
      <p:sp>
        <p:nvSpPr>
          <p:cNvPr id="7" name="TextBox 6">
            <a:extLst>
              <a:ext uri="{FF2B5EF4-FFF2-40B4-BE49-F238E27FC236}">
                <a16:creationId xmlns:a16="http://schemas.microsoft.com/office/drawing/2014/main" id="{BE8C004C-1CFD-8546-82EC-7DFE1BC1CE0F}"/>
              </a:ext>
            </a:extLst>
          </p:cNvPr>
          <p:cNvSpPr txBox="1"/>
          <p:nvPr/>
        </p:nvSpPr>
        <p:spPr>
          <a:xfrm>
            <a:off x="1851222" y="587333"/>
            <a:ext cx="2845312" cy="646331"/>
          </a:xfrm>
          <a:prstGeom prst="rect">
            <a:avLst/>
          </a:prstGeom>
          <a:noFill/>
        </p:spPr>
        <p:txBody>
          <a:bodyPr wrap="square" rtlCol="0">
            <a:spAutoFit/>
          </a:bodyPr>
          <a:lstStyle/>
          <a:p>
            <a:r>
              <a:rPr lang="en-US" sz="3600" b="1" dirty="0">
                <a:solidFill>
                  <a:srgbClr val="FF0000"/>
                </a:solidFill>
              </a:rPr>
              <a:t>SAMPLE ONLY</a:t>
            </a:r>
          </a:p>
        </p:txBody>
      </p:sp>
      <p:pic>
        <p:nvPicPr>
          <p:cNvPr id="5" name="Picture 4">
            <a:extLst>
              <a:ext uri="{FF2B5EF4-FFF2-40B4-BE49-F238E27FC236}">
                <a16:creationId xmlns:a16="http://schemas.microsoft.com/office/drawing/2014/main" id="{80FB1CD1-9547-664C-805C-3B5AFFA533EC}"/>
              </a:ext>
            </a:extLst>
          </p:cNvPr>
          <p:cNvPicPr>
            <a:picLocks noChangeAspect="1"/>
          </p:cNvPicPr>
          <p:nvPr/>
        </p:nvPicPr>
        <p:blipFill>
          <a:blip r:embed="rId2"/>
          <a:stretch>
            <a:fillRect/>
          </a:stretch>
        </p:blipFill>
        <p:spPr>
          <a:xfrm>
            <a:off x="0" y="0"/>
            <a:ext cx="6858000" cy="9144000"/>
          </a:xfrm>
          <a:prstGeom prst="rect">
            <a:avLst/>
          </a:prstGeom>
        </p:spPr>
      </p:pic>
    </p:spTree>
    <p:extLst>
      <p:ext uri="{BB962C8B-B14F-4D97-AF65-F5344CB8AC3E}">
        <p14:creationId xmlns:p14="http://schemas.microsoft.com/office/powerpoint/2010/main" val="944668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AC5EEA-CF42-A740-8CC0-7AE86DCBC439}"/>
              </a:ext>
            </a:extLst>
          </p:cNvPr>
          <p:cNvPicPr>
            <a:picLocks noChangeAspect="1"/>
          </p:cNvPicPr>
          <p:nvPr/>
        </p:nvPicPr>
        <p:blipFill>
          <a:blip r:embed="rId2"/>
          <a:stretch>
            <a:fillRect/>
          </a:stretch>
        </p:blipFill>
        <p:spPr>
          <a:xfrm>
            <a:off x="1943100" y="2378528"/>
            <a:ext cx="2971800" cy="5334000"/>
          </a:xfrm>
          <a:prstGeom prst="rect">
            <a:avLst/>
          </a:prstGeom>
        </p:spPr>
      </p:pic>
      <p:sp>
        <p:nvSpPr>
          <p:cNvPr id="6" name="Rectangle 5">
            <a:extLst>
              <a:ext uri="{FF2B5EF4-FFF2-40B4-BE49-F238E27FC236}">
                <a16:creationId xmlns:a16="http://schemas.microsoft.com/office/drawing/2014/main" id="{B3C3F1BA-2F89-4644-9A37-FD1321B57360}"/>
              </a:ext>
            </a:extLst>
          </p:cNvPr>
          <p:cNvSpPr/>
          <p:nvPr/>
        </p:nvSpPr>
        <p:spPr>
          <a:xfrm>
            <a:off x="627572" y="254191"/>
            <a:ext cx="5893998" cy="1908215"/>
          </a:xfrm>
          <a:prstGeom prst="rect">
            <a:avLst/>
          </a:prstGeom>
        </p:spPr>
        <p:txBody>
          <a:bodyPr wrap="square">
            <a:spAutoFit/>
          </a:bodyPr>
          <a:lstStyle/>
          <a:p>
            <a:r>
              <a:rPr lang="en-CA" sz="2800" b="1" dirty="0"/>
              <a:t>A5.3  Low-Fidelity Paper Prototype</a:t>
            </a:r>
            <a:br>
              <a:rPr lang="en-CA" dirty="0"/>
            </a:br>
            <a:endParaRPr lang="en-CA" dirty="0"/>
          </a:p>
          <a:p>
            <a:r>
              <a:rPr lang="en-CA" dirty="0"/>
              <a:t>Task 1. You want to start exercising regularly at the Athletic Centre on Wednesdays, from 8-9pm, starting on October 16. How can would you set that up using this prototype? </a:t>
            </a:r>
            <a:br>
              <a:rPr lang="en-CA" dirty="0"/>
            </a:br>
            <a:endParaRPr lang="en-CA" dirty="0">
              <a:solidFill>
                <a:srgbClr val="FF0000"/>
              </a:solidFill>
            </a:endParaRPr>
          </a:p>
        </p:txBody>
      </p:sp>
      <p:sp>
        <p:nvSpPr>
          <p:cNvPr id="7" name="TextBox 6">
            <a:extLst>
              <a:ext uri="{FF2B5EF4-FFF2-40B4-BE49-F238E27FC236}">
                <a16:creationId xmlns:a16="http://schemas.microsoft.com/office/drawing/2014/main" id="{C302289A-787A-3146-AA9E-676B5611D952}"/>
              </a:ext>
            </a:extLst>
          </p:cNvPr>
          <p:cNvSpPr txBox="1"/>
          <p:nvPr/>
        </p:nvSpPr>
        <p:spPr>
          <a:xfrm>
            <a:off x="7079206" y="254191"/>
            <a:ext cx="4546737" cy="7571303"/>
          </a:xfrm>
          <a:prstGeom prst="rect">
            <a:avLst/>
          </a:prstGeom>
          <a:noFill/>
        </p:spPr>
        <p:txBody>
          <a:bodyPr wrap="square" rtlCol="0">
            <a:spAutoFit/>
          </a:bodyPr>
          <a:lstStyle/>
          <a:p>
            <a:r>
              <a:rPr lang="en-CA" b="1" dirty="0">
                <a:solidFill>
                  <a:srgbClr val="FF0000"/>
                </a:solidFill>
              </a:rPr>
              <a:t>Note this column of text does not show during the Usability Test Slide Show; but is used for your note taking &amp; record keeping. </a:t>
            </a:r>
            <a:endParaRPr lang="en-US" b="1" dirty="0"/>
          </a:p>
          <a:p>
            <a:endParaRPr lang="en-CA" dirty="0">
              <a:solidFill>
                <a:srgbClr val="FF0000"/>
              </a:solidFill>
            </a:endParaRPr>
          </a:p>
          <a:p>
            <a:r>
              <a:rPr lang="en-CA" dirty="0">
                <a:solidFill>
                  <a:srgbClr val="FF0000"/>
                </a:solidFill>
              </a:rPr>
              <a:t>Note the task instructions are repeated here to reduce participant’s memory load.</a:t>
            </a:r>
            <a:br>
              <a:rPr lang="en-CA" dirty="0">
                <a:solidFill>
                  <a:srgbClr val="FF0000"/>
                </a:solidFill>
              </a:rPr>
            </a:br>
            <a:endParaRPr lang="en-US" b="1" dirty="0"/>
          </a:p>
          <a:p>
            <a:endParaRPr lang="en-US" b="1" dirty="0"/>
          </a:p>
          <a:p>
            <a:r>
              <a:rPr lang="en-US" b="1" dirty="0"/>
              <a:t>EXPECTED USER ACTION</a:t>
            </a:r>
          </a:p>
          <a:p>
            <a:pPr marL="285750" indent="-285750">
              <a:buFontTx/>
              <a:buChar char="-"/>
            </a:pPr>
            <a:r>
              <a:rPr lang="en-US" dirty="0"/>
              <a:t>Click [MANAGE TASKS]</a:t>
            </a:r>
          </a:p>
          <a:p>
            <a:endParaRPr lang="en-US" dirty="0"/>
          </a:p>
          <a:p>
            <a:endParaRPr lang="en-US" dirty="0"/>
          </a:p>
          <a:p>
            <a:endParaRPr lang="en-US" dirty="0"/>
          </a:p>
          <a:p>
            <a:r>
              <a:rPr lang="en-US" b="1" dirty="0"/>
              <a:t>OBSERVED ACTION</a:t>
            </a:r>
          </a:p>
          <a:p>
            <a:endParaRPr lang="en-US" dirty="0"/>
          </a:p>
          <a:p>
            <a:endParaRPr lang="en-US" dirty="0"/>
          </a:p>
          <a:p>
            <a:endParaRPr lang="en-US" dirty="0"/>
          </a:p>
          <a:p>
            <a:endParaRPr lang="en-US" dirty="0"/>
          </a:p>
          <a:p>
            <a:endParaRPr lang="en-US" dirty="0"/>
          </a:p>
          <a:p>
            <a:endParaRPr lang="en-US" dirty="0"/>
          </a:p>
          <a:p>
            <a:r>
              <a:rPr lang="en-US" b="1" dirty="0"/>
              <a:t>USER QUOTES</a:t>
            </a:r>
          </a:p>
          <a:p>
            <a:endParaRPr lang="en-US" b="1" dirty="0"/>
          </a:p>
          <a:p>
            <a:endParaRPr lang="en-US" b="1" dirty="0"/>
          </a:p>
          <a:p>
            <a:endParaRPr lang="en-US" b="1" dirty="0"/>
          </a:p>
          <a:p>
            <a:endParaRPr lang="en-US" b="1" dirty="0"/>
          </a:p>
          <a:p>
            <a:endParaRPr lang="en-US" b="1" dirty="0"/>
          </a:p>
          <a:p>
            <a:r>
              <a:rPr lang="en-US" b="1" dirty="0"/>
              <a:t>DESIGN IMPLICATIONS </a:t>
            </a:r>
            <a:r>
              <a:rPr lang="en-US" b="1" dirty="0">
                <a:solidFill>
                  <a:srgbClr val="FF0000"/>
                </a:solidFill>
              </a:rPr>
              <a:t>for A5b Results</a:t>
            </a:r>
          </a:p>
        </p:txBody>
      </p:sp>
      <p:cxnSp>
        <p:nvCxnSpPr>
          <p:cNvPr id="8" name="Straight Arrow Connector 7">
            <a:extLst>
              <a:ext uri="{FF2B5EF4-FFF2-40B4-BE49-F238E27FC236}">
                <a16:creationId xmlns:a16="http://schemas.microsoft.com/office/drawing/2014/main" id="{789555D3-12C7-E047-9BC6-72CB937FABBA}"/>
              </a:ext>
            </a:extLst>
          </p:cNvPr>
          <p:cNvCxnSpPr>
            <a:cxnSpLocks/>
          </p:cNvCxnSpPr>
          <p:nvPr/>
        </p:nvCxnSpPr>
        <p:spPr>
          <a:xfrm flipH="1" flipV="1">
            <a:off x="6858000" y="1306286"/>
            <a:ext cx="221206" cy="1482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Slide Number Placeholder 10">
            <a:extLst>
              <a:ext uri="{FF2B5EF4-FFF2-40B4-BE49-F238E27FC236}">
                <a16:creationId xmlns:a16="http://schemas.microsoft.com/office/drawing/2014/main" id="{2C131C09-CC96-5E4F-BF33-7D64272F01E6}"/>
              </a:ext>
            </a:extLst>
          </p:cNvPr>
          <p:cNvSpPr>
            <a:spLocks noGrp="1"/>
          </p:cNvSpPr>
          <p:nvPr>
            <p:ph type="sldNum" sz="quarter" idx="12"/>
          </p:nvPr>
        </p:nvSpPr>
        <p:spPr/>
        <p:txBody>
          <a:bodyPr/>
          <a:lstStyle/>
          <a:p>
            <a:fld id="{F710F99B-4302-6646-BD1D-0BAADDE296E1}" type="slidenum">
              <a:rPr lang="en-US" smtClean="0"/>
              <a:t>4</a:t>
            </a:fld>
            <a:endParaRPr lang="en-US"/>
          </a:p>
        </p:txBody>
      </p:sp>
      <p:sp>
        <p:nvSpPr>
          <p:cNvPr id="9" name="TextBox 8">
            <a:extLst>
              <a:ext uri="{FF2B5EF4-FFF2-40B4-BE49-F238E27FC236}">
                <a16:creationId xmlns:a16="http://schemas.microsoft.com/office/drawing/2014/main" id="{C1073F85-6317-4A44-81AC-DB0BDBDDC2B6}"/>
              </a:ext>
            </a:extLst>
          </p:cNvPr>
          <p:cNvSpPr txBox="1"/>
          <p:nvPr/>
        </p:nvSpPr>
        <p:spPr>
          <a:xfrm rot="19600882">
            <a:off x="4192332" y="4316841"/>
            <a:ext cx="2845312" cy="646331"/>
          </a:xfrm>
          <a:prstGeom prst="rect">
            <a:avLst/>
          </a:prstGeom>
          <a:noFill/>
        </p:spPr>
        <p:txBody>
          <a:bodyPr wrap="square" rtlCol="0">
            <a:spAutoFit/>
          </a:bodyPr>
          <a:lstStyle/>
          <a:p>
            <a:r>
              <a:rPr lang="en-US" sz="3600" b="1" dirty="0">
                <a:solidFill>
                  <a:srgbClr val="FF0000"/>
                </a:solidFill>
              </a:rPr>
              <a:t>SAMPLE ONLY</a:t>
            </a:r>
          </a:p>
        </p:txBody>
      </p:sp>
    </p:spTree>
    <p:extLst>
      <p:ext uri="{BB962C8B-B14F-4D97-AF65-F5344CB8AC3E}">
        <p14:creationId xmlns:p14="http://schemas.microsoft.com/office/powerpoint/2010/main" val="103849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081185-D05B-974F-ACD5-CE775F881F11}"/>
              </a:ext>
            </a:extLst>
          </p:cNvPr>
          <p:cNvPicPr>
            <a:picLocks noChangeAspect="1"/>
          </p:cNvPicPr>
          <p:nvPr/>
        </p:nvPicPr>
        <p:blipFill>
          <a:blip r:embed="rId2"/>
          <a:stretch>
            <a:fillRect/>
          </a:stretch>
        </p:blipFill>
        <p:spPr>
          <a:xfrm>
            <a:off x="1846263" y="1774371"/>
            <a:ext cx="2997200" cy="5334000"/>
          </a:xfrm>
          <a:prstGeom prst="rect">
            <a:avLst/>
          </a:prstGeom>
        </p:spPr>
      </p:pic>
      <p:sp>
        <p:nvSpPr>
          <p:cNvPr id="4" name="TextBox 3">
            <a:extLst>
              <a:ext uri="{FF2B5EF4-FFF2-40B4-BE49-F238E27FC236}">
                <a16:creationId xmlns:a16="http://schemas.microsoft.com/office/drawing/2014/main" id="{D0E55427-4C9A-9C4C-92CD-DB4AB1FD2396}"/>
              </a:ext>
            </a:extLst>
          </p:cNvPr>
          <p:cNvSpPr txBox="1"/>
          <p:nvPr/>
        </p:nvSpPr>
        <p:spPr>
          <a:xfrm>
            <a:off x="7144520" y="155644"/>
            <a:ext cx="4382219" cy="7848302"/>
          </a:xfrm>
          <a:prstGeom prst="rect">
            <a:avLst/>
          </a:prstGeom>
          <a:noFill/>
        </p:spPr>
        <p:txBody>
          <a:bodyPr wrap="square" rtlCol="0">
            <a:spAutoFit/>
          </a:bodyPr>
          <a:lstStyle/>
          <a:p>
            <a:r>
              <a:rPr lang="en-CA" b="1" dirty="0">
                <a:solidFill>
                  <a:srgbClr val="FF0000"/>
                </a:solidFill>
              </a:rPr>
              <a:t>Note this column of text does not show during the Usability Test Slide Show; but is used for your note taking &amp; record keeping. </a:t>
            </a:r>
            <a:endParaRPr lang="en-US" b="1" dirty="0"/>
          </a:p>
          <a:p>
            <a:endParaRPr lang="en-US" b="1" dirty="0"/>
          </a:p>
          <a:p>
            <a:endParaRPr lang="en-US" b="1" dirty="0"/>
          </a:p>
          <a:p>
            <a:endParaRPr lang="en-US" b="1" dirty="0"/>
          </a:p>
          <a:p>
            <a:r>
              <a:rPr lang="en-US" b="1" dirty="0"/>
              <a:t>EXPECTED USER ACTION</a:t>
            </a:r>
          </a:p>
          <a:p>
            <a:pPr marL="285750" indent="-285750">
              <a:buFontTx/>
              <a:buChar char="-"/>
            </a:pPr>
            <a:r>
              <a:rPr lang="en-US" dirty="0"/>
              <a:t>Click [October 16]</a:t>
            </a:r>
          </a:p>
          <a:p>
            <a:pPr marL="285750" indent="-285750">
              <a:buFontTx/>
              <a:buChar char="-"/>
            </a:pPr>
            <a:r>
              <a:rPr lang="en-US" dirty="0"/>
              <a:t>Click [ADD +]</a:t>
            </a:r>
          </a:p>
          <a:p>
            <a:endParaRPr lang="en-US" dirty="0"/>
          </a:p>
          <a:p>
            <a:endParaRPr lang="en-US" dirty="0"/>
          </a:p>
          <a:p>
            <a:endParaRPr lang="en-US" dirty="0"/>
          </a:p>
          <a:p>
            <a:r>
              <a:rPr lang="en-US" b="1" dirty="0"/>
              <a:t>OBSERVED ACTION</a:t>
            </a:r>
          </a:p>
          <a:p>
            <a:endParaRPr lang="en-US" dirty="0"/>
          </a:p>
          <a:p>
            <a:endParaRPr lang="en-US" dirty="0"/>
          </a:p>
          <a:p>
            <a:endParaRPr lang="en-US" dirty="0"/>
          </a:p>
          <a:p>
            <a:endParaRPr lang="en-US" dirty="0"/>
          </a:p>
          <a:p>
            <a:endParaRPr lang="en-US" dirty="0"/>
          </a:p>
          <a:p>
            <a:endParaRPr lang="en-US" dirty="0"/>
          </a:p>
          <a:p>
            <a:r>
              <a:rPr lang="en-US" b="1" dirty="0"/>
              <a:t>USER QUOTES</a:t>
            </a:r>
          </a:p>
          <a:p>
            <a:endParaRPr lang="en-US" b="1" dirty="0"/>
          </a:p>
          <a:p>
            <a:endParaRPr lang="en-US" b="1" dirty="0"/>
          </a:p>
          <a:p>
            <a:endParaRPr lang="en-US" b="1" dirty="0"/>
          </a:p>
          <a:p>
            <a:endParaRPr lang="en-US" b="1" dirty="0"/>
          </a:p>
          <a:p>
            <a:endParaRPr lang="en-US" b="1" dirty="0"/>
          </a:p>
          <a:p>
            <a:endParaRPr lang="en-US" b="1" dirty="0"/>
          </a:p>
          <a:p>
            <a:r>
              <a:rPr lang="en-US" b="1" dirty="0"/>
              <a:t>DESIGN IMPLICATIONS </a:t>
            </a:r>
            <a:r>
              <a:rPr lang="en-US" b="1" dirty="0">
                <a:solidFill>
                  <a:srgbClr val="FF0000"/>
                </a:solidFill>
              </a:rPr>
              <a:t>for A5b Results</a:t>
            </a:r>
            <a:endParaRPr lang="en-US" b="1" dirty="0"/>
          </a:p>
        </p:txBody>
      </p:sp>
      <p:sp>
        <p:nvSpPr>
          <p:cNvPr id="6" name="Rectangle 5">
            <a:extLst>
              <a:ext uri="{FF2B5EF4-FFF2-40B4-BE49-F238E27FC236}">
                <a16:creationId xmlns:a16="http://schemas.microsoft.com/office/drawing/2014/main" id="{FABFB648-3348-3C4B-852B-3908D0793117}"/>
              </a:ext>
            </a:extLst>
          </p:cNvPr>
          <p:cNvSpPr/>
          <p:nvPr/>
        </p:nvSpPr>
        <p:spPr>
          <a:xfrm>
            <a:off x="644825" y="357708"/>
            <a:ext cx="5893998" cy="923330"/>
          </a:xfrm>
          <a:prstGeom prst="rect">
            <a:avLst/>
          </a:prstGeom>
        </p:spPr>
        <p:txBody>
          <a:bodyPr wrap="square">
            <a:spAutoFit/>
          </a:bodyPr>
          <a:lstStyle/>
          <a:p>
            <a:r>
              <a:rPr lang="en-CA" dirty="0"/>
              <a:t>Task 1. You want to start exercising regularly at the Athletic Centre on Wednesdays, from 8-9pm, starting on October 16. How can would you set that up using this prototype?</a:t>
            </a:r>
          </a:p>
        </p:txBody>
      </p:sp>
      <p:sp>
        <p:nvSpPr>
          <p:cNvPr id="2" name="Slide Number Placeholder 1">
            <a:extLst>
              <a:ext uri="{FF2B5EF4-FFF2-40B4-BE49-F238E27FC236}">
                <a16:creationId xmlns:a16="http://schemas.microsoft.com/office/drawing/2014/main" id="{7F3751CA-C721-7643-85C5-C0903016A432}"/>
              </a:ext>
            </a:extLst>
          </p:cNvPr>
          <p:cNvSpPr>
            <a:spLocks noGrp="1"/>
          </p:cNvSpPr>
          <p:nvPr>
            <p:ph type="sldNum" sz="quarter" idx="12"/>
          </p:nvPr>
        </p:nvSpPr>
        <p:spPr/>
        <p:txBody>
          <a:bodyPr/>
          <a:lstStyle/>
          <a:p>
            <a:fld id="{F710F99B-4302-6646-BD1D-0BAADDE296E1}" type="slidenum">
              <a:rPr lang="en-US" smtClean="0"/>
              <a:t>5</a:t>
            </a:fld>
            <a:endParaRPr lang="en-US"/>
          </a:p>
        </p:txBody>
      </p:sp>
      <p:sp>
        <p:nvSpPr>
          <p:cNvPr id="5" name="Oval 4">
            <a:hlinkClick r:id="" action="ppaction://hlinkshowjump?jump=previousslide"/>
            <a:extLst>
              <a:ext uri="{FF2B5EF4-FFF2-40B4-BE49-F238E27FC236}">
                <a16:creationId xmlns:a16="http://schemas.microsoft.com/office/drawing/2014/main" id="{3D37ACAC-84B7-8344-8057-30F3A2CFD002}"/>
              </a:ext>
            </a:extLst>
          </p:cNvPr>
          <p:cNvSpPr/>
          <p:nvPr/>
        </p:nvSpPr>
        <p:spPr>
          <a:xfrm>
            <a:off x="2057400" y="6319157"/>
            <a:ext cx="636814" cy="604157"/>
          </a:xfrm>
          <a:prstGeom prst="ellipse">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 action="ppaction://hlinkshowjump?jump=nextslide"/>
            <a:extLst>
              <a:ext uri="{FF2B5EF4-FFF2-40B4-BE49-F238E27FC236}">
                <a16:creationId xmlns:a16="http://schemas.microsoft.com/office/drawing/2014/main" id="{88DF59C5-7C0A-464E-9E09-2AD1F203EE50}"/>
              </a:ext>
            </a:extLst>
          </p:cNvPr>
          <p:cNvSpPr/>
          <p:nvPr/>
        </p:nvSpPr>
        <p:spPr>
          <a:xfrm>
            <a:off x="3907971" y="6319156"/>
            <a:ext cx="636814" cy="604157"/>
          </a:xfrm>
          <a:prstGeom prst="ellipse">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D9C54C5-810A-AD42-8847-30A24D2CAC2C}"/>
              </a:ext>
            </a:extLst>
          </p:cNvPr>
          <p:cNvSpPr txBox="1"/>
          <p:nvPr/>
        </p:nvSpPr>
        <p:spPr>
          <a:xfrm rot="19600882">
            <a:off x="4192332" y="4316841"/>
            <a:ext cx="2845312" cy="646331"/>
          </a:xfrm>
          <a:prstGeom prst="rect">
            <a:avLst/>
          </a:prstGeom>
          <a:noFill/>
        </p:spPr>
        <p:txBody>
          <a:bodyPr wrap="square" rtlCol="0">
            <a:spAutoFit/>
          </a:bodyPr>
          <a:lstStyle/>
          <a:p>
            <a:r>
              <a:rPr lang="en-US" sz="3600" b="1" dirty="0">
                <a:solidFill>
                  <a:srgbClr val="FF0000"/>
                </a:solidFill>
              </a:rPr>
              <a:t>SAMPLE ONLY</a:t>
            </a:r>
          </a:p>
        </p:txBody>
      </p:sp>
    </p:spTree>
    <p:extLst>
      <p:ext uri="{BB962C8B-B14F-4D97-AF65-F5344CB8AC3E}">
        <p14:creationId xmlns:p14="http://schemas.microsoft.com/office/powerpoint/2010/main" val="1131106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D29641-C5C3-794E-8D25-B25F8756F66A}"/>
              </a:ext>
            </a:extLst>
          </p:cNvPr>
          <p:cNvPicPr>
            <a:picLocks noChangeAspect="1"/>
          </p:cNvPicPr>
          <p:nvPr/>
        </p:nvPicPr>
        <p:blipFill>
          <a:blip r:embed="rId2"/>
          <a:stretch>
            <a:fillRect/>
          </a:stretch>
        </p:blipFill>
        <p:spPr>
          <a:xfrm>
            <a:off x="1943100" y="1911350"/>
            <a:ext cx="2971800" cy="5321300"/>
          </a:xfrm>
          <a:prstGeom prst="rect">
            <a:avLst/>
          </a:prstGeom>
        </p:spPr>
      </p:pic>
      <p:sp>
        <p:nvSpPr>
          <p:cNvPr id="4" name="Rectangle 3">
            <a:extLst>
              <a:ext uri="{FF2B5EF4-FFF2-40B4-BE49-F238E27FC236}">
                <a16:creationId xmlns:a16="http://schemas.microsoft.com/office/drawing/2014/main" id="{0259A6E5-7912-CD46-A0E4-69460C8E6677}"/>
              </a:ext>
            </a:extLst>
          </p:cNvPr>
          <p:cNvSpPr/>
          <p:nvPr/>
        </p:nvSpPr>
        <p:spPr>
          <a:xfrm>
            <a:off x="644825" y="357708"/>
            <a:ext cx="5893998" cy="923330"/>
          </a:xfrm>
          <a:prstGeom prst="rect">
            <a:avLst/>
          </a:prstGeom>
        </p:spPr>
        <p:txBody>
          <a:bodyPr wrap="square">
            <a:spAutoFit/>
          </a:bodyPr>
          <a:lstStyle/>
          <a:p>
            <a:r>
              <a:rPr lang="en-CA" dirty="0"/>
              <a:t>Task 1. You want to start exercising regularly at the Athletic Centre on Wednesdays, from 8-9pm, starting on October 16. How can would you set that up using this prototype?</a:t>
            </a:r>
          </a:p>
        </p:txBody>
      </p:sp>
      <p:sp>
        <p:nvSpPr>
          <p:cNvPr id="5" name="TextBox 4">
            <a:extLst>
              <a:ext uri="{FF2B5EF4-FFF2-40B4-BE49-F238E27FC236}">
                <a16:creationId xmlns:a16="http://schemas.microsoft.com/office/drawing/2014/main" id="{ED69CA38-413B-2540-B75B-4C56DE3912CE}"/>
              </a:ext>
            </a:extLst>
          </p:cNvPr>
          <p:cNvSpPr txBox="1"/>
          <p:nvPr/>
        </p:nvSpPr>
        <p:spPr>
          <a:xfrm>
            <a:off x="7197202" y="148947"/>
            <a:ext cx="4382219" cy="8679299"/>
          </a:xfrm>
          <a:prstGeom prst="rect">
            <a:avLst/>
          </a:prstGeom>
          <a:noFill/>
        </p:spPr>
        <p:txBody>
          <a:bodyPr wrap="square" rtlCol="0">
            <a:spAutoFit/>
          </a:bodyPr>
          <a:lstStyle/>
          <a:p>
            <a:r>
              <a:rPr lang="en-CA" b="1" dirty="0">
                <a:solidFill>
                  <a:srgbClr val="FF0000"/>
                </a:solidFill>
              </a:rPr>
              <a:t>Note this column of text does not show during the Usability Test Slide Show; but is used for your note taking &amp; record keeping. </a:t>
            </a:r>
            <a:endParaRPr lang="en-US" b="1" dirty="0"/>
          </a:p>
          <a:p>
            <a:endParaRPr lang="en-US" b="1" dirty="0"/>
          </a:p>
          <a:p>
            <a:r>
              <a:rPr lang="en-US" b="1" dirty="0"/>
              <a:t>EXPECTED USER ACTION</a:t>
            </a:r>
          </a:p>
          <a:p>
            <a:pPr marL="285750" indent="-285750">
              <a:buFontTx/>
              <a:buChar char="-"/>
            </a:pPr>
            <a:r>
              <a:rPr lang="en-US" dirty="0"/>
              <a:t>Type FROM [20:00]</a:t>
            </a:r>
          </a:p>
          <a:p>
            <a:pPr marL="285750" indent="-285750">
              <a:buFontTx/>
              <a:buChar char="-"/>
            </a:pPr>
            <a:r>
              <a:rPr lang="en-US" dirty="0"/>
              <a:t>Type TO [21:00]</a:t>
            </a:r>
          </a:p>
          <a:p>
            <a:pPr marL="285750" indent="-285750">
              <a:buFontTx/>
              <a:buChar char="-"/>
            </a:pPr>
            <a:r>
              <a:rPr lang="en-US" dirty="0"/>
              <a:t>Type LOCATION [Athletic Centre]</a:t>
            </a:r>
          </a:p>
          <a:p>
            <a:pPr marL="285750" indent="-285750">
              <a:buFontTx/>
              <a:buChar char="-"/>
            </a:pPr>
            <a:r>
              <a:rPr lang="en-US" dirty="0"/>
              <a:t>Check [EXERCISE]</a:t>
            </a:r>
          </a:p>
          <a:p>
            <a:pPr marL="285750" indent="-285750">
              <a:buFontTx/>
              <a:buChar char="-"/>
            </a:pPr>
            <a:r>
              <a:rPr lang="en-US" dirty="0"/>
              <a:t>Check [Weekly]</a:t>
            </a:r>
          </a:p>
          <a:p>
            <a:pPr marL="285750" indent="-285750">
              <a:buFontTx/>
              <a:buChar char="-"/>
            </a:pPr>
            <a:r>
              <a:rPr lang="en-US" dirty="0"/>
              <a:t>Check [Alarm (optional)]</a:t>
            </a:r>
          </a:p>
          <a:p>
            <a:pPr marL="285750" indent="-285750">
              <a:buFontTx/>
              <a:buChar char="-"/>
            </a:pPr>
            <a:r>
              <a:rPr lang="en-US" dirty="0"/>
              <a:t>Click [CHECK MARK]</a:t>
            </a:r>
            <a:br>
              <a:rPr lang="en-US" dirty="0"/>
            </a:br>
            <a:r>
              <a:rPr lang="en-US" dirty="0">
                <a:solidFill>
                  <a:srgbClr val="FF0000"/>
                </a:solidFill>
              </a:rPr>
              <a:t>NOTE it’s good practice to ask users</a:t>
            </a:r>
            <a:br>
              <a:rPr lang="en-US" dirty="0">
                <a:solidFill>
                  <a:srgbClr val="FF0000"/>
                </a:solidFill>
              </a:rPr>
            </a:br>
            <a:r>
              <a:rPr lang="en-US" dirty="0">
                <a:solidFill>
                  <a:srgbClr val="FF0000"/>
                </a:solidFill>
              </a:rPr>
              <a:t>“What do you expect to happen next?”</a:t>
            </a:r>
          </a:p>
          <a:p>
            <a:endParaRPr lang="en-US" dirty="0"/>
          </a:p>
          <a:p>
            <a:endParaRPr lang="en-US" dirty="0"/>
          </a:p>
          <a:p>
            <a:r>
              <a:rPr lang="en-US" b="1" dirty="0"/>
              <a:t>OBSERVED ACTION</a:t>
            </a:r>
          </a:p>
          <a:p>
            <a:endParaRPr lang="en-US" dirty="0"/>
          </a:p>
          <a:p>
            <a:endParaRPr lang="en-US" dirty="0"/>
          </a:p>
          <a:p>
            <a:endParaRPr lang="en-US" dirty="0"/>
          </a:p>
          <a:p>
            <a:r>
              <a:rPr lang="en-US" b="1" dirty="0"/>
              <a:t>USER QUOTES</a:t>
            </a:r>
          </a:p>
          <a:p>
            <a:endParaRPr lang="en-US" b="1" dirty="0"/>
          </a:p>
          <a:p>
            <a:endParaRPr lang="en-US" b="1" dirty="0"/>
          </a:p>
          <a:p>
            <a:endParaRPr lang="en-US" b="1" dirty="0"/>
          </a:p>
          <a:p>
            <a:r>
              <a:rPr lang="en-US" b="1" dirty="0"/>
              <a:t>DESIGN IMPLICATIONS </a:t>
            </a:r>
            <a:r>
              <a:rPr lang="en-US" b="1" dirty="0">
                <a:solidFill>
                  <a:srgbClr val="FF0000"/>
                </a:solidFill>
              </a:rPr>
              <a:t>for A5b Results</a:t>
            </a:r>
          </a:p>
          <a:p>
            <a:endParaRPr lang="en-US" b="1" dirty="0">
              <a:solidFill>
                <a:srgbClr val="FF0000"/>
              </a:solidFill>
            </a:endParaRPr>
          </a:p>
          <a:p>
            <a:endParaRPr lang="en-US" b="1" dirty="0">
              <a:solidFill>
                <a:srgbClr val="FF0000"/>
              </a:solidFill>
            </a:endParaRPr>
          </a:p>
          <a:p>
            <a:endParaRPr lang="en-US" b="1" dirty="0">
              <a:solidFill>
                <a:srgbClr val="FF0000"/>
              </a:solidFill>
            </a:endParaRPr>
          </a:p>
          <a:p>
            <a:r>
              <a:rPr lang="en-US" b="1" dirty="0">
                <a:solidFill>
                  <a:srgbClr val="FF0000"/>
                </a:solidFill>
              </a:rPr>
              <a:t>[NEXT] </a:t>
            </a:r>
            <a:r>
              <a:rPr lang="en-US" dirty="0"/>
              <a:t>button is an </a:t>
            </a:r>
            <a:r>
              <a:rPr lang="en-US" b="1" dirty="0"/>
              <a:t>Action Button </a:t>
            </a:r>
            <a:r>
              <a:rPr lang="en-US" dirty="0"/>
              <a:t>you can program in </a:t>
            </a:r>
            <a:r>
              <a:rPr lang="en-US" dirty="0" err="1"/>
              <a:t>Powerpoint</a:t>
            </a:r>
            <a:r>
              <a:rPr lang="en-US" dirty="0"/>
              <a:t> for navigation.</a:t>
            </a:r>
          </a:p>
        </p:txBody>
      </p:sp>
      <p:sp>
        <p:nvSpPr>
          <p:cNvPr id="2" name="Slide Number Placeholder 1">
            <a:extLst>
              <a:ext uri="{FF2B5EF4-FFF2-40B4-BE49-F238E27FC236}">
                <a16:creationId xmlns:a16="http://schemas.microsoft.com/office/drawing/2014/main" id="{BA036C9B-9B17-4F47-B7BA-0B7CF9A9D213}"/>
              </a:ext>
            </a:extLst>
          </p:cNvPr>
          <p:cNvSpPr>
            <a:spLocks noGrp="1"/>
          </p:cNvSpPr>
          <p:nvPr>
            <p:ph type="sldNum" sz="quarter" idx="12"/>
          </p:nvPr>
        </p:nvSpPr>
        <p:spPr/>
        <p:txBody>
          <a:bodyPr/>
          <a:lstStyle/>
          <a:p>
            <a:fld id="{F710F99B-4302-6646-BD1D-0BAADDE296E1}" type="slidenum">
              <a:rPr lang="en-US" smtClean="0"/>
              <a:t>6</a:t>
            </a:fld>
            <a:endParaRPr lang="en-US"/>
          </a:p>
        </p:txBody>
      </p:sp>
      <p:sp>
        <p:nvSpPr>
          <p:cNvPr id="6" name="Action Button: Custom 5">
            <a:hlinkClick r:id="rId3" action="ppaction://hlinksldjump" highlightClick="1"/>
            <a:extLst>
              <a:ext uri="{FF2B5EF4-FFF2-40B4-BE49-F238E27FC236}">
                <a16:creationId xmlns:a16="http://schemas.microsoft.com/office/drawing/2014/main" id="{E40E7B50-3300-7C4E-944D-6D60B49F74A8}"/>
              </a:ext>
            </a:extLst>
          </p:cNvPr>
          <p:cNvSpPr/>
          <p:nvPr/>
        </p:nvSpPr>
        <p:spPr>
          <a:xfrm>
            <a:off x="3837214" y="7805057"/>
            <a:ext cx="1714500" cy="469191"/>
          </a:xfrm>
          <a:prstGeom prst="actionButtonBlan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65000"/>
                  </a:schemeClr>
                </a:solidFill>
              </a:rPr>
              <a:t>NEXT</a:t>
            </a:r>
          </a:p>
        </p:txBody>
      </p:sp>
      <p:sp>
        <p:nvSpPr>
          <p:cNvPr id="7" name="Oval 6">
            <a:hlinkClick r:id="" action="ppaction://hlinkshowjump?jump=previousslide"/>
            <a:extLst>
              <a:ext uri="{FF2B5EF4-FFF2-40B4-BE49-F238E27FC236}">
                <a16:creationId xmlns:a16="http://schemas.microsoft.com/office/drawing/2014/main" id="{13B66F87-9DC2-C14C-967B-E284D2FB7CA3}"/>
              </a:ext>
            </a:extLst>
          </p:cNvPr>
          <p:cNvSpPr/>
          <p:nvPr/>
        </p:nvSpPr>
        <p:spPr>
          <a:xfrm>
            <a:off x="2204358" y="6433460"/>
            <a:ext cx="636814" cy="604157"/>
          </a:xfrm>
          <a:prstGeom prst="ellipse">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CB4EB30-C7F8-8440-A391-3FD3A98FCB2F}"/>
              </a:ext>
            </a:extLst>
          </p:cNvPr>
          <p:cNvSpPr txBox="1"/>
          <p:nvPr/>
        </p:nvSpPr>
        <p:spPr>
          <a:xfrm rot="19600882">
            <a:off x="4192332" y="4316841"/>
            <a:ext cx="2845312" cy="646331"/>
          </a:xfrm>
          <a:prstGeom prst="rect">
            <a:avLst/>
          </a:prstGeom>
          <a:noFill/>
        </p:spPr>
        <p:txBody>
          <a:bodyPr wrap="square" rtlCol="0">
            <a:spAutoFit/>
          </a:bodyPr>
          <a:lstStyle/>
          <a:p>
            <a:r>
              <a:rPr lang="en-US" sz="3600" b="1" dirty="0">
                <a:solidFill>
                  <a:srgbClr val="FF0000"/>
                </a:solidFill>
              </a:rPr>
              <a:t>SAMPLE ONLY</a:t>
            </a:r>
          </a:p>
        </p:txBody>
      </p:sp>
    </p:spTree>
    <p:extLst>
      <p:ext uri="{BB962C8B-B14F-4D97-AF65-F5344CB8AC3E}">
        <p14:creationId xmlns:p14="http://schemas.microsoft.com/office/powerpoint/2010/main" val="367681210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1354</TotalTime>
  <Words>743</Words>
  <Application>Microsoft Macintosh PowerPoint</Application>
  <PresentationFormat>On-screen Show (4:3)</PresentationFormat>
  <Paragraphs>121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1_Office Theme</vt:lpstr>
      <vt:lpstr>TEMPLATE  Assignment A5  Low-Fidelity Paper Prototype    Examples: Project BearIt, CSC318 2019F        Table of Contents    </vt:lpstr>
      <vt:lpstr>A5.1 Key Tasks</vt:lpstr>
      <vt:lpstr>A5.2 Usability Testing Script </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A5a Paper Prototype Usability Testing</dc:title>
  <dc:creator>ilona posner</dc:creator>
  <cp:lastModifiedBy>Mohammadreza Moslemi</cp:lastModifiedBy>
  <cp:revision>29</cp:revision>
  <cp:lastPrinted>2020-09-22T01:17:55Z</cp:lastPrinted>
  <dcterms:created xsi:type="dcterms:W3CDTF">2020-06-02T03:45:19Z</dcterms:created>
  <dcterms:modified xsi:type="dcterms:W3CDTF">2022-04-19T17:56:56Z</dcterms:modified>
</cp:coreProperties>
</file>