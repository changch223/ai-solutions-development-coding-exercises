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78" r:id="rId2"/>
  </p:sldMasterIdLst>
  <p:notesMasterIdLst>
    <p:notesMasterId r:id="rId47"/>
  </p:notesMasterIdLst>
  <p:sldIdLst>
    <p:sldId id="316" r:id="rId3"/>
    <p:sldId id="1384" r:id="rId4"/>
    <p:sldId id="1433" r:id="rId5"/>
    <p:sldId id="1487" r:id="rId6"/>
    <p:sldId id="1490" r:id="rId7"/>
    <p:sldId id="1452" r:id="rId8"/>
    <p:sldId id="1465" r:id="rId9"/>
    <p:sldId id="1466" r:id="rId10"/>
    <p:sldId id="1467" r:id="rId11"/>
    <p:sldId id="1399" r:id="rId12"/>
    <p:sldId id="1496" r:id="rId13"/>
    <p:sldId id="1400" r:id="rId14"/>
    <p:sldId id="1401" r:id="rId15"/>
    <p:sldId id="1468" r:id="rId16"/>
    <p:sldId id="1469" r:id="rId17"/>
    <p:sldId id="1228" r:id="rId18"/>
    <p:sldId id="1470" r:id="rId19"/>
    <p:sldId id="1471" r:id="rId20"/>
    <p:sldId id="1472" r:id="rId21"/>
    <p:sldId id="1434" r:id="rId22"/>
    <p:sldId id="1491" r:id="rId23"/>
    <p:sldId id="1242" r:id="rId24"/>
    <p:sldId id="1495" r:id="rId25"/>
    <p:sldId id="1430" r:id="rId26"/>
    <p:sldId id="1425" r:id="rId27"/>
    <p:sldId id="1283" r:id="rId28"/>
    <p:sldId id="1436" r:id="rId29"/>
    <p:sldId id="1324" r:id="rId30"/>
    <p:sldId id="1438" r:id="rId31"/>
    <p:sldId id="1439" r:id="rId32"/>
    <p:sldId id="1440" r:id="rId33"/>
    <p:sldId id="1441" r:id="rId34"/>
    <p:sldId id="1442" r:id="rId35"/>
    <p:sldId id="1492" r:id="rId36"/>
    <p:sldId id="1286" r:id="rId37"/>
    <p:sldId id="1435" r:id="rId38"/>
    <p:sldId id="1447" r:id="rId39"/>
    <p:sldId id="1450" r:id="rId40"/>
    <p:sldId id="1405" r:id="rId41"/>
    <p:sldId id="1406" r:id="rId42"/>
    <p:sldId id="1494" r:id="rId43"/>
    <p:sldId id="1478" r:id="rId44"/>
    <p:sldId id="1481" r:id="rId45"/>
    <p:sldId id="148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esChoice Inc" initials="SI"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536A"/>
    <a:srgbClr val="89C542"/>
    <a:srgbClr val="74B8CB"/>
    <a:srgbClr val="E5F2FA"/>
    <a:srgbClr val="D8B0AE"/>
    <a:srgbClr val="1C8ECF"/>
    <a:srgbClr val="1C88AF"/>
    <a:srgbClr val="238BB2"/>
    <a:srgbClr val="F8A92A"/>
    <a:srgbClr val="9ACA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9" autoAdjust="0"/>
    <p:restoredTop sz="94624"/>
  </p:normalViewPr>
  <p:slideViewPr>
    <p:cSldViewPr snapToGrid="0">
      <p:cViewPr varScale="1">
        <p:scale>
          <a:sx n="102" d="100"/>
          <a:sy n="102" d="100"/>
        </p:scale>
        <p:origin x="600" y="176"/>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5" d="100"/>
          <a:sy n="85" d="100"/>
        </p:scale>
        <p:origin x="24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7DE4F-EBBC-4283-93B5-F8DCE9B8BCEE}" type="datetimeFigureOut">
              <a:rPr lang="en-US" smtClean="0"/>
              <a:t>8/8/24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B0B70-2B7E-433D-AFDC-F809ACBE3646}" type="slidenum">
              <a:rPr lang="en-US" smtClean="0"/>
              <a:t>‹#›</a:t>
            </a:fld>
            <a:endParaRPr lang="en-US"/>
          </a:p>
        </p:txBody>
      </p:sp>
    </p:spTree>
    <p:extLst>
      <p:ext uri="{BB962C8B-B14F-4D97-AF65-F5344CB8AC3E}">
        <p14:creationId xmlns:p14="http://schemas.microsoft.com/office/powerpoint/2010/main" val="200283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93761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149208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652987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654669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462790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454827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16280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41023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588394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33B0B70-2B7E-433D-AFDC-F809ACBE3646}" type="slidenum">
              <a:rPr lang="en-US" smtClean="0"/>
              <a:t>44</a:t>
            </a:fld>
            <a:endParaRPr lang="en-US"/>
          </a:p>
        </p:txBody>
      </p:sp>
    </p:spTree>
    <p:extLst>
      <p:ext uri="{BB962C8B-B14F-4D97-AF65-F5344CB8AC3E}">
        <p14:creationId xmlns:p14="http://schemas.microsoft.com/office/powerpoint/2010/main" val="1331125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D6552E5-5BAD-BC41-AAFD-213B825E4C46}" type="datetimeFigureOut">
              <a:rPr lang="en-US" smtClean="0"/>
              <a:t>8/8/24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206246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8/8/24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341663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552E5-5BAD-BC41-AAFD-213B825E4C46}" type="datetimeFigureOut">
              <a:rPr lang="en-US" smtClean="0"/>
              <a:t>8/8/24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2118067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6552E5-5BAD-BC41-AAFD-213B825E4C46}" type="datetimeFigureOut">
              <a:rPr lang="en-US" smtClean="0"/>
              <a:t>8/8/24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167809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6552E5-5BAD-BC41-AAFD-213B825E4C46}" type="datetimeFigureOut">
              <a:rPr lang="en-US" smtClean="0"/>
              <a:t>8/8/24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83250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6552E5-5BAD-BC41-AAFD-213B825E4C46}" type="datetimeFigureOut">
              <a:rPr lang="en-US" smtClean="0"/>
              <a:t>8/8/24</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97582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6552E5-5BAD-BC41-AAFD-213B825E4C46}" type="datetimeFigureOut">
              <a:rPr lang="en-US" smtClean="0"/>
              <a:t>8/8/24</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367910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6552E5-5BAD-BC41-AAFD-213B825E4C46}" type="datetimeFigureOut">
              <a:rPr lang="en-US" smtClean="0"/>
              <a:t>8/8/24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873429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6552E5-5BAD-BC41-AAFD-213B825E4C46}" type="datetimeFigureOut">
              <a:rPr lang="en-US" smtClean="0"/>
              <a:t>8/8/24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1679450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8/8/24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2741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6552E5-5BAD-BC41-AAFD-213B825E4C46}" type="datetimeFigureOut">
              <a:rPr lang="en-US" smtClean="0"/>
              <a:t>8/8/24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AC02AE7-29E2-1C4D-A897-820801CC4691}" type="slidenum">
              <a:rPr lang="en-US" smtClean="0"/>
              <a:t>‹#›</a:t>
            </a:fld>
            <a:endParaRPr lang="en-US"/>
          </a:p>
        </p:txBody>
      </p:sp>
    </p:spTree>
    <p:extLst>
      <p:ext uri="{BB962C8B-B14F-4D97-AF65-F5344CB8AC3E}">
        <p14:creationId xmlns:p14="http://schemas.microsoft.com/office/powerpoint/2010/main" val="972225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solidFill>
                <a:prstClr val="white"/>
              </a:solidFill>
            </a:endParaRPr>
          </a:p>
        </p:txBody>
      </p:sp>
      <p:sp>
        <p:nvSpPr>
          <p:cNvPr id="9" name="Slide Number Placeholder 8"/>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solidFill>
                <a:prstClr val="white"/>
              </a:solidFill>
            </a:endParaRPr>
          </a:p>
        </p:txBody>
      </p:sp>
      <p:sp>
        <p:nvSpPr>
          <p:cNvPr id="5" name="Slide Number Placeholder 4"/>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solidFill>
                <a:prstClr val="white"/>
              </a:solidFill>
            </a:endParaRPr>
          </a:p>
        </p:txBody>
      </p:sp>
      <p:sp>
        <p:nvSpPr>
          <p:cNvPr id="4" name="Slide Number Placeholder 3"/>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solidFill>
                <a:prstClr val="white"/>
              </a:solidFill>
            </a:endParaRPr>
          </a:p>
        </p:txBody>
      </p:sp>
      <p:sp>
        <p:nvSpPr>
          <p:cNvPr id="7" name="Slide Number Placeholder 6"/>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06EFA79E-D63B-49E3-825C-1CADDB72B0D1}" type="slidenum">
              <a:rPr lang="en-US" smtClean="0">
                <a:solidFill>
                  <a:prstClr val="white"/>
                </a:solidFill>
              </a:rPr>
              <a:pPr/>
              <a:t>‹#›</a:t>
            </a:fld>
            <a:endParaRPr lang="en-US">
              <a:solidFill>
                <a:prstClr val="white"/>
              </a:solidFill>
            </a:endParaRPr>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a_1Column_DarkGray">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5741" y="554272"/>
            <a:ext cx="11474881" cy="543475"/>
          </a:xfrm>
        </p:spPr>
        <p:txBody>
          <a:bodyPr/>
          <a:lstStyle>
            <a:lvl1pPr algn="ctr">
              <a:defRPr>
                <a:solidFill>
                  <a:schemeClr val="bg1"/>
                </a:solidFill>
              </a:defRPr>
            </a:lvl1pPr>
          </a:lstStyle>
          <a:p>
            <a:r>
              <a:rPr lang="en-US" dirty="0"/>
              <a:t>INSERT MAIN TITLE AT 36PT MIN 30PT</a:t>
            </a:r>
            <a:endParaRPr lang="en-AU" dirty="0"/>
          </a:p>
        </p:txBody>
      </p:sp>
      <p:sp>
        <p:nvSpPr>
          <p:cNvPr id="5" name="Text Placeholder 4"/>
          <p:cNvSpPr>
            <a:spLocks noGrp="1"/>
          </p:cNvSpPr>
          <p:nvPr>
            <p:ph type="body" sz="quarter" idx="12" hasCustomPrompt="1"/>
          </p:nvPr>
        </p:nvSpPr>
        <p:spPr>
          <a:xfrm>
            <a:off x="355741" y="1098297"/>
            <a:ext cx="11474881" cy="430887"/>
          </a:xfrm>
        </p:spPr>
        <p:txBody>
          <a:bodyPr>
            <a:spAutoFit/>
          </a:bodyPr>
          <a:lstStyle>
            <a:lvl1pPr algn="ctr">
              <a:lnSpc>
                <a:spcPct val="100000"/>
              </a:lnSpc>
              <a:spcBef>
                <a:spcPts val="0"/>
              </a:spcBef>
              <a:defRPr sz="2200">
                <a:solidFill>
                  <a:schemeClr val="bg1"/>
                </a:solidFill>
                <a:latin typeface="Arial Black" panose="020B0A04020102020204" pitchFamily="34" charset="0"/>
              </a:defRPr>
            </a:lvl1pPr>
          </a:lstStyle>
          <a:p>
            <a:r>
              <a:rPr lang="en-US" dirty="0"/>
              <a:t>Insert sub-title here at 22pt, min 18pt</a:t>
            </a:r>
          </a:p>
        </p:txBody>
      </p:sp>
      <p:sp>
        <p:nvSpPr>
          <p:cNvPr id="7" name="Slide Number Placeholder 6"/>
          <p:cNvSpPr>
            <a:spLocks noGrp="1"/>
          </p:cNvSpPr>
          <p:nvPr>
            <p:ph type="sldNum" sz="quarter" idx="32"/>
          </p:nvPr>
        </p:nvSpPr>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a:p>
        </p:txBody>
      </p:sp>
      <p:sp>
        <p:nvSpPr>
          <p:cNvPr id="9" name="Content Placeholder 7"/>
          <p:cNvSpPr>
            <a:spLocks noGrp="1"/>
          </p:cNvSpPr>
          <p:nvPr>
            <p:ph sz="quarter" idx="11" hasCustomPrompt="1"/>
          </p:nvPr>
        </p:nvSpPr>
        <p:spPr>
          <a:xfrm>
            <a:off x="355739" y="1774415"/>
            <a:ext cx="7526940" cy="4175033"/>
          </a:xfrm>
        </p:spPr>
        <p:txBody>
          <a:bodyPr/>
          <a:lstStyle>
            <a:lvl1pPr>
              <a:lnSpc>
                <a:spcPct val="110000"/>
              </a:lnSpc>
              <a:spcBef>
                <a:spcPts val="1200"/>
              </a:spcBef>
              <a:defRPr sz="2000">
                <a:solidFill>
                  <a:schemeClr val="bg1"/>
                </a:solidFill>
                <a:latin typeface="Arial" panose="020B0604020202020204" pitchFamily="34" charset="0"/>
                <a:ea typeface="Roboto" panose="02000000000000000000" pitchFamily="2" charset="0"/>
              </a:defRPr>
            </a:lvl1pPr>
            <a:lvl2pPr>
              <a:lnSpc>
                <a:spcPct val="110000"/>
              </a:lnSpc>
              <a:spcBef>
                <a:spcPts val="1200"/>
              </a:spcBef>
              <a:defRPr sz="2000" baseline="0">
                <a:solidFill>
                  <a:schemeClr val="bg1"/>
                </a:solidFill>
                <a:latin typeface="Arial" panose="020B0604020202020204" pitchFamily="34" charset="0"/>
                <a:ea typeface="Roboto" panose="02000000000000000000" pitchFamily="2" charset="0"/>
              </a:defRPr>
            </a:lvl2pPr>
            <a:lvl3pPr>
              <a:lnSpc>
                <a:spcPct val="110000"/>
              </a:lnSpc>
              <a:spcBef>
                <a:spcPts val="1200"/>
              </a:spcBef>
              <a:defRPr sz="2000">
                <a:solidFill>
                  <a:schemeClr val="bg1"/>
                </a:solidFill>
                <a:latin typeface="Arial" panose="020B0604020202020204" pitchFamily="34" charset="0"/>
                <a:ea typeface="Roboto" panose="02000000000000000000" pitchFamily="2" charset="0"/>
              </a:defRPr>
            </a:lvl3pPr>
            <a:lvl4pPr>
              <a:lnSpc>
                <a:spcPct val="110000"/>
              </a:lnSpc>
              <a:spcBef>
                <a:spcPts val="800"/>
              </a:spcBef>
              <a:defRPr>
                <a:latin typeface="Arial" panose="020B0604020202020204" pitchFamily="34" charset="0"/>
                <a:ea typeface="Roboto" panose="02000000000000000000" pitchFamily="2" charset="0"/>
              </a:defRPr>
            </a:lvl4pPr>
            <a:lvl5pPr>
              <a:lnSpc>
                <a:spcPct val="110000"/>
              </a:lnSpc>
              <a:spcBef>
                <a:spcPts val="800"/>
              </a:spcBef>
              <a:defRPr>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Apita imentemqui te sunte cuptia sam cus dem qui deni dictiis dit qui sitae et as sant incitatet, as aut eost, nonsend?</a:t>
            </a:r>
          </a:p>
          <a:p>
            <a:pPr lvl="1"/>
            <a:r>
              <a:rPr lang="pt-BR" dirty="0"/>
              <a:t>As se eni dolestotate con raerum es ini officiis eos reseque peles aut que perferepudi odit perror mo blaborrum et reium as sum.</a:t>
            </a:r>
          </a:p>
          <a:p>
            <a:pPr lvl="2"/>
            <a:r>
              <a:rPr lang="pt-BR" dirty="0"/>
              <a:t>Nimi, qui restis sinihilla verum quatis estrum aut aute nonestr</a:t>
            </a:r>
          </a:p>
          <a:p>
            <a:pPr lvl="2"/>
            <a:r>
              <a:rPr lang="pt-BR" dirty="0"/>
              <a:t>Pudae dolores sedita qui con nempos inullitae esciet que</a:t>
            </a:r>
          </a:p>
        </p:txBody>
      </p:sp>
    </p:spTree>
    <p:extLst>
      <p:ext uri="{BB962C8B-B14F-4D97-AF65-F5344CB8AC3E}">
        <p14:creationId xmlns:p14="http://schemas.microsoft.com/office/powerpoint/2010/main" val="163533942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a_2Columns_White">
    <p:bg>
      <p:bgPr>
        <a:solidFill>
          <a:schemeClr val="bg1"/>
        </a:solidFill>
        <a:effectLst/>
      </p:bgPr>
    </p:bg>
    <p:spTree>
      <p:nvGrpSpPr>
        <p:cNvPr id="1" name=""/>
        <p:cNvGrpSpPr/>
        <p:nvPr/>
      </p:nvGrpSpPr>
      <p:grpSpPr>
        <a:xfrm>
          <a:off x="0" y="0"/>
          <a:ext cx="0" cy="0"/>
          <a:chOff x="0" y="0"/>
          <a:chExt cx="0" cy="0"/>
        </a:xfrm>
      </p:grpSpPr>
      <p:sp>
        <p:nvSpPr>
          <p:cNvPr id="8" name="Content Placeholder 7"/>
          <p:cNvSpPr>
            <a:spLocks noGrp="1"/>
          </p:cNvSpPr>
          <p:nvPr>
            <p:ph sz="quarter" idx="11" hasCustomPrompt="1"/>
          </p:nvPr>
        </p:nvSpPr>
        <p:spPr>
          <a:xfrm>
            <a:off x="355739" y="1774415"/>
            <a:ext cx="7526940" cy="4175033"/>
          </a:xfrm>
        </p:spPr>
        <p:txBody>
          <a:bodyPr/>
          <a:lstStyle>
            <a:lvl1pPr>
              <a:lnSpc>
                <a:spcPct val="110000"/>
              </a:lnSpc>
              <a:spcBef>
                <a:spcPts val="1200"/>
              </a:spcBef>
              <a:defRPr sz="2000">
                <a:solidFill>
                  <a:schemeClr val="tx1"/>
                </a:solidFill>
                <a:latin typeface="Arial" panose="020B0604020202020204" pitchFamily="34" charset="0"/>
                <a:ea typeface="Roboto" panose="02000000000000000000" pitchFamily="2" charset="0"/>
              </a:defRPr>
            </a:lvl1pPr>
            <a:lvl2pPr>
              <a:lnSpc>
                <a:spcPct val="110000"/>
              </a:lnSpc>
              <a:spcBef>
                <a:spcPts val="1200"/>
              </a:spcBef>
              <a:defRPr sz="2000">
                <a:solidFill>
                  <a:schemeClr val="tx1"/>
                </a:solidFill>
                <a:latin typeface="Arial" panose="020B0604020202020204" pitchFamily="34" charset="0"/>
                <a:ea typeface="Roboto" panose="02000000000000000000" pitchFamily="2" charset="0"/>
              </a:defRPr>
            </a:lvl2pPr>
            <a:lvl3pPr>
              <a:lnSpc>
                <a:spcPct val="110000"/>
              </a:lnSpc>
              <a:spcBef>
                <a:spcPts val="1200"/>
              </a:spcBef>
              <a:defRPr sz="2000">
                <a:solidFill>
                  <a:schemeClr val="tx1"/>
                </a:solidFill>
                <a:latin typeface="Arial" panose="020B0604020202020204" pitchFamily="34" charset="0"/>
                <a:ea typeface="Roboto" panose="02000000000000000000" pitchFamily="2" charset="0"/>
              </a:defRPr>
            </a:lvl3pPr>
            <a:lvl4pPr>
              <a:lnSpc>
                <a:spcPct val="110000"/>
              </a:lnSpc>
              <a:spcBef>
                <a:spcPts val="800"/>
              </a:spcBef>
              <a:defRPr>
                <a:solidFill>
                  <a:schemeClr val="tx1"/>
                </a:solidFill>
                <a:latin typeface="Arial" panose="020B0604020202020204" pitchFamily="34" charset="0"/>
                <a:ea typeface="Roboto" panose="02000000000000000000" pitchFamily="2" charset="0"/>
              </a:defRPr>
            </a:lvl4pPr>
            <a:lvl5pPr>
              <a:lnSpc>
                <a:spcPct val="110000"/>
              </a:lnSpc>
              <a:spcBef>
                <a:spcPts val="800"/>
              </a:spcBef>
              <a:defRPr>
                <a:solidFill>
                  <a:schemeClr val="tx1"/>
                </a:solidFill>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Apita imentemqui te sunte cuptia sam cus dem qui deni dictiis dit qui sitae et as sant incitatet, as aut eost, nonsend?</a:t>
            </a:r>
          </a:p>
          <a:p>
            <a:pPr lvl="1"/>
            <a:r>
              <a:rPr lang="pt-BR" dirty="0"/>
              <a:t>As se eni dolestotate con raerum es ini officiis eos reseque peles aut que perferepudi odit perror mo blaborrum et reium as sum.</a:t>
            </a:r>
          </a:p>
          <a:p>
            <a:pPr lvl="2"/>
            <a:r>
              <a:rPr lang="pt-BR" dirty="0"/>
              <a:t>Nimi, qui restis sinihilla verum quatis estrum aut aute nonestr</a:t>
            </a:r>
          </a:p>
          <a:p>
            <a:pPr lvl="2"/>
            <a:r>
              <a:rPr lang="pt-BR" dirty="0"/>
              <a:t>Pudae dolores sedita qui con nempos inullitae esciet que</a:t>
            </a:r>
          </a:p>
        </p:txBody>
      </p:sp>
      <p:sp>
        <p:nvSpPr>
          <p:cNvPr id="12" name="Title 1"/>
          <p:cNvSpPr>
            <a:spLocks noGrp="1"/>
          </p:cNvSpPr>
          <p:nvPr>
            <p:ph type="title" hasCustomPrompt="1"/>
          </p:nvPr>
        </p:nvSpPr>
        <p:spPr>
          <a:xfrm>
            <a:off x="355741" y="554272"/>
            <a:ext cx="11474881" cy="543475"/>
          </a:xfrm>
        </p:spPr>
        <p:txBody>
          <a:bodyPr/>
          <a:lstStyle>
            <a:lvl1pPr algn="ctr">
              <a:defRPr>
                <a:solidFill>
                  <a:schemeClr val="tx1"/>
                </a:solidFill>
              </a:defRPr>
            </a:lvl1pPr>
          </a:lstStyle>
          <a:p>
            <a:r>
              <a:rPr lang="en-US" dirty="0"/>
              <a:t>INSERT MAIN TITLE AT 36PT MIN 30PT</a:t>
            </a:r>
            <a:endParaRPr lang="en-AU" dirty="0"/>
          </a:p>
        </p:txBody>
      </p:sp>
      <p:sp>
        <p:nvSpPr>
          <p:cNvPr id="13" name="Text Placeholder 4"/>
          <p:cNvSpPr>
            <a:spLocks noGrp="1"/>
          </p:cNvSpPr>
          <p:nvPr>
            <p:ph type="body" sz="quarter" idx="12" hasCustomPrompt="1"/>
          </p:nvPr>
        </p:nvSpPr>
        <p:spPr>
          <a:xfrm>
            <a:off x="355741" y="1128768"/>
            <a:ext cx="11474881" cy="407894"/>
          </a:xfrm>
        </p:spPr>
        <p:txBody>
          <a:bodyPr/>
          <a:lstStyle>
            <a:lvl1pPr algn="ctr">
              <a:lnSpc>
                <a:spcPct val="100000"/>
              </a:lnSpc>
              <a:spcBef>
                <a:spcPts val="0"/>
              </a:spcBef>
              <a:defRPr sz="2200">
                <a:solidFill>
                  <a:schemeClr val="tx2"/>
                </a:solidFill>
                <a:latin typeface="Arial Black" panose="020B0A04020102020204" pitchFamily="34" charset="0"/>
              </a:defRPr>
            </a:lvl1pPr>
          </a:lstStyle>
          <a:p>
            <a:r>
              <a:rPr lang="en-US" dirty="0"/>
              <a:t>Insert sub-title here at 22pt, min 18pt</a:t>
            </a:r>
          </a:p>
        </p:txBody>
      </p:sp>
      <p:sp>
        <p:nvSpPr>
          <p:cNvPr id="14" name="Content Placeholder 7"/>
          <p:cNvSpPr>
            <a:spLocks noGrp="1"/>
          </p:cNvSpPr>
          <p:nvPr>
            <p:ph sz="quarter" idx="33" hasCustomPrompt="1"/>
          </p:nvPr>
        </p:nvSpPr>
        <p:spPr>
          <a:xfrm>
            <a:off x="8192319" y="1774415"/>
            <a:ext cx="3619414" cy="4175033"/>
          </a:xfrm>
        </p:spPr>
        <p:txBody>
          <a:bodyPr/>
          <a:lstStyle>
            <a:lvl1pPr marL="0" indent="0">
              <a:lnSpc>
                <a:spcPct val="110000"/>
              </a:lnSpc>
              <a:spcBef>
                <a:spcPts val="1200"/>
              </a:spcBef>
              <a:buFont typeface="Arial" panose="020B0604020202020204" pitchFamily="34" charset="0"/>
              <a:buNone/>
              <a:defRPr sz="2000">
                <a:solidFill>
                  <a:schemeClr val="tx1"/>
                </a:solidFill>
                <a:latin typeface="Arial" panose="020B0604020202020204" pitchFamily="34" charset="0"/>
                <a:ea typeface="Roboto" panose="02000000000000000000" pitchFamily="2" charset="0"/>
              </a:defRPr>
            </a:lvl1pPr>
            <a:lvl2pPr marL="0" indent="0">
              <a:lnSpc>
                <a:spcPct val="110000"/>
              </a:lnSpc>
              <a:spcBef>
                <a:spcPts val="1200"/>
              </a:spcBef>
              <a:buNone/>
              <a:defRPr sz="2000">
                <a:solidFill>
                  <a:schemeClr val="tx1"/>
                </a:solidFill>
                <a:latin typeface="Arial" panose="020B0604020202020204" pitchFamily="34" charset="0"/>
                <a:ea typeface="Roboto" panose="02000000000000000000" pitchFamily="2" charset="0"/>
              </a:defRPr>
            </a:lvl2pPr>
            <a:lvl3pPr>
              <a:lnSpc>
                <a:spcPct val="110000"/>
              </a:lnSpc>
              <a:spcBef>
                <a:spcPts val="1000"/>
              </a:spcBef>
              <a:defRPr sz="2000">
                <a:solidFill>
                  <a:schemeClr val="tx1"/>
                </a:solidFill>
                <a:latin typeface="Arial" panose="020B0604020202020204" pitchFamily="34" charset="0"/>
                <a:ea typeface="Roboto" panose="02000000000000000000" pitchFamily="2" charset="0"/>
              </a:defRPr>
            </a:lvl3pPr>
            <a:lvl4pPr>
              <a:lnSpc>
                <a:spcPct val="110000"/>
              </a:lnSpc>
              <a:spcBef>
                <a:spcPts val="800"/>
              </a:spcBef>
              <a:defRPr>
                <a:solidFill>
                  <a:schemeClr val="tx1"/>
                </a:solidFill>
                <a:latin typeface="Arial" panose="020B0604020202020204" pitchFamily="34" charset="0"/>
                <a:ea typeface="Roboto" panose="02000000000000000000" pitchFamily="2" charset="0"/>
              </a:defRPr>
            </a:lvl4pPr>
            <a:lvl5pPr>
              <a:lnSpc>
                <a:spcPct val="110000"/>
              </a:lnSpc>
              <a:spcBef>
                <a:spcPts val="800"/>
              </a:spcBef>
              <a:defRPr>
                <a:solidFill>
                  <a:schemeClr val="tx1"/>
                </a:solidFill>
                <a:latin typeface="Arial" panose="020B0604020202020204" pitchFamily="34" charset="0"/>
                <a:ea typeface="Roboto" panose="02000000000000000000" pitchFamily="2" charset="0"/>
              </a:defRPr>
            </a:lvl5pPr>
          </a:lstStyle>
          <a:p>
            <a:r>
              <a:rPr lang="en-US" dirty="0"/>
              <a:t>Minimum font size 14pt and line spacing of at least Multiple 1.1</a:t>
            </a:r>
          </a:p>
          <a:p>
            <a:pPr lvl="1"/>
            <a:r>
              <a:rPr lang="pt-BR" dirty="0"/>
              <a:t>Qui deni dictiis dit qui sitae et as sant incitatet, vendios dolore prest, as aut eost, nonsend?</a:t>
            </a:r>
          </a:p>
          <a:p>
            <a:pPr lvl="1"/>
            <a:r>
              <a:rPr lang="pt-BR" dirty="0"/>
              <a:t>As se eni dolestotate con reseque peles aut que.</a:t>
            </a:r>
          </a:p>
        </p:txBody>
      </p:sp>
      <p:sp>
        <p:nvSpPr>
          <p:cNvPr id="9" name="Slide Number Placeholder 4"/>
          <p:cNvSpPr>
            <a:spLocks noGrp="1"/>
          </p:cNvSpPr>
          <p:nvPr>
            <p:ph type="sldNum" sz="quarter" idx="4"/>
          </p:nvPr>
        </p:nvSpPr>
        <p:spPr>
          <a:xfrm flipH="1">
            <a:off x="11617001" y="6537474"/>
            <a:ext cx="216084" cy="161888"/>
          </a:xfrm>
          <a:prstGeom prst="rect">
            <a:avLst/>
          </a:prstGeom>
        </p:spPr>
        <p:txBody>
          <a:bodyPr vert="horz" wrap="square" lIns="0" tIns="60944" rIns="0" bIns="60944" numCol="1" anchor="ctr" anchorCtr="0" compatLnSpc="1">
            <a:prstTxWarp prst="textNoShape">
              <a:avLst/>
            </a:prstTxWarp>
            <a:noAutofit/>
          </a:bodyPr>
          <a:lstStyle>
            <a:lvl1pPr algn="r">
              <a:defRPr sz="800">
                <a:solidFill>
                  <a:schemeClr val="tx1">
                    <a:alpha val="50000"/>
                  </a:schemeClr>
                </a:solidFill>
                <a:latin typeface="+mn-lt"/>
                <a:ea typeface="Roboto Light" panose="02000000000000000000" pitchFamily="2" charset="0"/>
                <a:cs typeface="Gotham Medium" pitchFamily="2" charset="0"/>
              </a:defRPr>
            </a:lvl1pPr>
          </a:lstStyle>
          <a:p>
            <a:pPr>
              <a:defRPr/>
            </a:pPr>
            <a:fld id="{90CBDC3A-D49F-4631-A8C7-55D59B33E5FA}" type="slidenum">
              <a:rPr lang="en-US" smtClean="0"/>
              <a:pPr>
                <a:defRPr/>
              </a:pPr>
              <a:t>‹#›</a:t>
            </a:fld>
            <a:endParaRPr lang="en-US"/>
          </a:p>
        </p:txBody>
      </p:sp>
    </p:spTree>
    <p:extLst>
      <p:ext uri="{BB962C8B-B14F-4D97-AF65-F5344CB8AC3E}">
        <p14:creationId xmlns:p14="http://schemas.microsoft.com/office/powerpoint/2010/main" val="177772411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6552E5-5BAD-BC41-AAFD-213B825E4C46}" type="datetimeFigureOut">
              <a:rPr lang="en-US" smtClean="0"/>
              <a:t>8/8/24</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C02AE7-29E2-1C4D-A897-820801CC4691}" type="slidenum">
              <a:rPr lang="en-US" smtClean="0"/>
              <a:t>‹#›</a:t>
            </a:fld>
            <a:endParaRPr lang="en-US"/>
          </a:p>
        </p:txBody>
      </p:sp>
    </p:spTree>
    <p:extLst>
      <p:ext uri="{BB962C8B-B14F-4D97-AF65-F5344CB8AC3E}">
        <p14:creationId xmlns:p14="http://schemas.microsoft.com/office/powerpoint/2010/main" val="6402836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5" cstate="email">
            <a:alphaModFix amt="85000"/>
            <a:extLst>
              <a:ext uri="{28A0092B-C50C-407E-A947-70E740481C1C}">
                <a14:useLocalDpi xmlns:a14="http://schemas.microsoft.com/office/drawing/2010/main"/>
              </a:ext>
            </a:extLst>
          </a:blip>
          <a:stretch>
            <a:fillRect/>
          </a:stretch>
        </p:blipFill>
        <p:spPr>
          <a:xfrm>
            <a:off x="-25400" y="-1"/>
            <a:ext cx="12217400" cy="6890203"/>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solidFill>
                <a:prstClr val="white"/>
              </a:solidFill>
            </a:endParaRPr>
          </a:p>
        </p:txBody>
      </p:sp>
      <p:sp>
        <p:nvSpPr>
          <p:cNvPr id="6" name="Slide Number Placeholder 5"/>
          <p:cNvSpPr>
            <a:spLocks noGrp="1"/>
          </p:cNvSpPr>
          <p:nvPr>
            <p:ph type="sldNum" sz="quarter" idx="4"/>
          </p:nvPr>
        </p:nvSpPr>
        <p:spPr>
          <a:xfrm>
            <a:off x="11715750" y="6525078"/>
            <a:ext cx="445540" cy="365125"/>
          </a:xfrm>
          <a:prstGeom prst="rect">
            <a:avLst/>
          </a:prstGeom>
        </p:spPr>
        <p:txBody>
          <a:bodyPr vert="horz" lIns="91440" tIns="45720" rIns="91440" bIns="45720" rtlCol="0" anchor="ctr"/>
          <a:lstStyle>
            <a:lvl1pPr algn="r">
              <a:defRPr sz="1200">
                <a:solidFill>
                  <a:schemeClr val="bg1"/>
                </a:solidFill>
              </a:defRPr>
            </a:lvl1pPr>
          </a:lstStyle>
          <a:p>
            <a:fld id="{06EFA79E-D63B-49E3-825C-1CADDB72B0D1}" type="slidenum">
              <a:rPr lang="en-US" smtClean="0">
                <a:solidFill>
                  <a:prstClr val="white"/>
                </a:solidFill>
              </a:rPr>
              <a:pPr/>
              <a:t>‹#›</a:t>
            </a:fld>
            <a:endParaRPr lang="en-US">
              <a:solidFill>
                <a:prstClr val="white"/>
              </a:solidFill>
            </a:endParaRPr>
          </a:p>
        </p:txBody>
      </p:sp>
      <p:sp>
        <p:nvSpPr>
          <p:cNvPr id="9" name="TextBox 8"/>
          <p:cNvSpPr txBox="1"/>
          <p:nvPr userDrawn="1"/>
        </p:nvSpPr>
        <p:spPr>
          <a:xfrm>
            <a:off x="-1" y="6564397"/>
            <a:ext cx="3692769" cy="276999"/>
          </a:xfrm>
          <a:prstGeom prst="rect">
            <a:avLst/>
          </a:prstGeom>
          <a:noFill/>
        </p:spPr>
        <p:txBody>
          <a:bodyPr wrap="square" rtlCol="0">
            <a:spAutoFit/>
          </a:bodyPr>
          <a:lstStyle/>
          <a:p>
            <a:r>
              <a:rPr lang="en-US" sz="1200" dirty="0">
                <a:solidFill>
                  <a:prstClr val="white"/>
                </a:solidFill>
              </a:rPr>
              <a:t>Confidential: Copyright Dr. Cindy Gordon 2024/2025</a:t>
            </a:r>
          </a:p>
        </p:txBody>
      </p:sp>
    </p:spTree>
    <p:extLst>
      <p:ext uri="{BB962C8B-B14F-4D97-AF65-F5344CB8AC3E}">
        <p14:creationId xmlns:p14="http://schemas.microsoft.com/office/powerpoint/2010/main" val="194715193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3" r:id="rId12"/>
    <p:sldLayoutId id="2147483694" r:id="rId13"/>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n8df6MQzQoc" TargetMode="External"/><Relationship Id="rId2" Type="http://schemas.openxmlformats.org/officeDocument/2006/relationships/image" Target="../media/image3.tiff"/><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3.tiff"/><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hyperlink" Target="https://www.youtube.com/watch?v=PXZanRQf3HM&amp;feature=emb_logo" TargetMode="Externa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image" Target="../media/image3.tiff"/><Relationship Id="rId3" Type="http://schemas.openxmlformats.org/officeDocument/2006/relationships/hyperlink" Target="https://eugdpr.org/" TargetMode="External"/><Relationship Id="rId7" Type="http://schemas.openxmlformats.org/officeDocument/2006/relationships/image" Target="../media/image8.tiff"/><Relationship Id="rId2" Type="http://schemas.openxmlformats.org/officeDocument/2006/relationships/hyperlink" Target="https://gdpr.eu/" TargetMode="External"/><Relationship Id="rId1" Type="http://schemas.openxmlformats.org/officeDocument/2006/relationships/slideLayout" Target="../slideLayouts/slideLayout24.xml"/><Relationship Id="rId6" Type="http://schemas.openxmlformats.org/officeDocument/2006/relationships/image" Target="../media/image7.tiff"/><Relationship Id="rId5" Type="http://schemas.openxmlformats.org/officeDocument/2006/relationships/hyperlink" Target="https://gdpr.eu/checklist/" TargetMode="External"/><Relationship Id="rId4" Type="http://schemas.openxmlformats.org/officeDocument/2006/relationships/hyperlink" Target="https://gdpr.eu/tag/gdpr/"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hyperlink" Target="https://www.youtube.com/watch?v=j6wwBqfSk-o" TargetMode="Externa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8" Type="http://schemas.openxmlformats.org/officeDocument/2006/relationships/image" Target="../media/image8.tiff"/><Relationship Id="rId3" Type="http://schemas.openxmlformats.org/officeDocument/2006/relationships/hyperlink" Target="https://gdpr.eu/checklist/" TargetMode="External"/><Relationship Id="rId7" Type="http://schemas.openxmlformats.org/officeDocument/2006/relationships/hyperlink" Target="https://www.youtube.com/watch?v=Assdm6fIHlE" TargetMode="External"/><Relationship Id="rId2" Type="http://schemas.openxmlformats.org/officeDocument/2006/relationships/hyperlink" Target="https://gdpr.eu/tag/gdpr/" TargetMode="External"/><Relationship Id="rId1" Type="http://schemas.openxmlformats.org/officeDocument/2006/relationships/slideLayout" Target="../slideLayouts/slideLayout24.xml"/><Relationship Id="rId6" Type="http://schemas.openxmlformats.org/officeDocument/2006/relationships/hyperlink" Target="https://www.youtube.com/watch?v=acijNEErf-c" TargetMode="External"/><Relationship Id="rId5" Type="http://schemas.openxmlformats.org/officeDocument/2006/relationships/hyperlink" Target="https://www.youtube.com/watch?v=nG9RJLhDTXc" TargetMode="External"/><Relationship Id="rId4" Type="http://schemas.openxmlformats.org/officeDocument/2006/relationships/hyperlink" Target="https://www.youtube.com/watch?v=j6wwBqfSk-o" TargetMode="External"/><Relationship Id="rId9" Type="http://schemas.openxmlformats.org/officeDocument/2006/relationships/image" Target="../media/image3.tiff"/></Relationships>
</file>

<file path=ppt/slides/_rels/slide26.xml.rels><?xml version="1.0" encoding="UTF-8" standalone="yes"?>
<Relationships xmlns="http://schemas.openxmlformats.org/package/2006/relationships"><Relationship Id="rId2" Type="http://schemas.openxmlformats.org/officeDocument/2006/relationships/hyperlink" Target="https://www.theverge.com/2018/1/3/16844842/ai-computer-vision-trick-adversarial-patches-google" TargetMode="Externa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9.tiff"/><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hyperlink" Target="https://www.ansa.it/emiliaromagna/notizie/2021/01/02/rider-cgilalgoritmo-discrimina-sentenza-tribunale-bologna_cc14c299-2c6b-411b-b677-496549ee3af1.html" TargetMode="External"/><Relationship Id="rId2" Type="http://schemas.openxmlformats.org/officeDocument/2006/relationships/hyperlink" Target="https://www.ilfattoquotidiano.it/in-edicola/articoli/2021/01/02/rider-lalgoritmo-discrimina-chi-si-ammala-e-chi-sciopera/6053273/" TargetMode="External"/><Relationship Id="rId1" Type="http://schemas.openxmlformats.org/officeDocument/2006/relationships/slideLayout" Target="../slideLayouts/slideLayout18.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hyperlink" Target="http://www.cgil.it/rider-cgil-sentenza-tribunale-bologna-e-svolta-epocale-algoritmo-discrimina-chi-si-ammala-e-chi-scioper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gUc5oN_ffRo" TargetMode="External"/><Relationship Id="rId2" Type="http://schemas.openxmlformats.org/officeDocument/2006/relationships/hyperlink" Target="https://www.youtube.com/watch?v=gWmRkYsLzB4" TargetMode="External"/><Relationship Id="rId1" Type="http://schemas.openxmlformats.org/officeDocument/2006/relationships/slideLayout" Target="../slideLayouts/slideLayout24.xml"/><Relationship Id="rId4" Type="http://schemas.openxmlformats.org/officeDocument/2006/relationships/image" Target="../media/image3.tiff"/></Relationships>
</file>

<file path=ppt/slides/_rels/slide4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hyperlink" Target="mailto:cindy@saleschoice.com" TargetMode="Externa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1A5CA6-07EF-A24B-AF74-61A72629FDC1}"/>
              </a:ext>
            </a:extLst>
          </p:cNvPr>
          <p:cNvPicPr>
            <a:picLocks noChangeAspect="1"/>
          </p:cNvPicPr>
          <p:nvPr/>
        </p:nvPicPr>
        <p:blipFill>
          <a:blip r:embed="rId2">
            <a:alphaModFix amt="35000"/>
          </a:blip>
          <a:stretch>
            <a:fillRect/>
          </a:stretch>
        </p:blipFill>
        <p:spPr>
          <a:xfrm>
            <a:off x="0" y="0"/>
            <a:ext cx="12209074" cy="6858000"/>
          </a:xfrm>
          <a:prstGeom prst="rect">
            <a:avLst/>
          </a:prstGeom>
        </p:spPr>
      </p:pic>
      <p:sp>
        <p:nvSpPr>
          <p:cNvPr id="2" name="TextBox 1">
            <a:extLst>
              <a:ext uri="{FF2B5EF4-FFF2-40B4-BE49-F238E27FC236}">
                <a16:creationId xmlns:a16="http://schemas.microsoft.com/office/drawing/2014/main" id="{2C4C4C3A-B6F4-8E46-9A3E-2A1E2128E137}"/>
              </a:ext>
            </a:extLst>
          </p:cNvPr>
          <p:cNvSpPr txBox="1"/>
          <p:nvPr/>
        </p:nvSpPr>
        <p:spPr>
          <a:xfrm>
            <a:off x="371061" y="1105287"/>
            <a:ext cx="11635409" cy="4647426"/>
          </a:xfrm>
          <a:prstGeom prst="rect">
            <a:avLst/>
          </a:prstGeom>
          <a:noFill/>
        </p:spPr>
        <p:txBody>
          <a:bodyPr wrap="square" rtlCol="0">
            <a:spAutoFit/>
          </a:bodyPr>
          <a:lstStyle/>
          <a:p>
            <a:pPr algn="ctr"/>
            <a:r>
              <a:rPr lang="en-US" sz="4800" b="1" dirty="0">
                <a:solidFill>
                  <a:schemeClr val="bg1"/>
                </a:solidFill>
              </a:rPr>
              <a:t>ETHICS AND LAW FOR DATA SCIENCE </a:t>
            </a:r>
          </a:p>
          <a:p>
            <a:pPr algn="ctr"/>
            <a:endParaRPr lang="en-US" sz="4000" b="1" dirty="0">
              <a:solidFill>
                <a:srgbClr val="89C542"/>
              </a:solidFill>
            </a:endParaRPr>
          </a:p>
          <a:p>
            <a:pPr algn="ctr"/>
            <a:r>
              <a:rPr lang="en-US" sz="4000" b="1" dirty="0">
                <a:solidFill>
                  <a:srgbClr val="89C542"/>
                </a:solidFill>
              </a:rPr>
              <a:t>WEEK TWO – 2nd LECTURE</a:t>
            </a:r>
          </a:p>
          <a:p>
            <a:pPr algn="ctr"/>
            <a:endParaRPr lang="en-US" sz="2000" b="1" dirty="0">
              <a:solidFill>
                <a:schemeClr val="bg1"/>
              </a:solidFill>
            </a:endParaRPr>
          </a:p>
          <a:p>
            <a:pPr algn="ctr"/>
            <a:r>
              <a:rPr lang="en-US" sz="2000" b="1" dirty="0">
                <a:solidFill>
                  <a:schemeClr val="bg1"/>
                </a:solidFill>
              </a:rPr>
              <a:t>Adjunct Professor: George Brown College – AI Program 2024</a:t>
            </a:r>
          </a:p>
          <a:p>
            <a:pPr algn="ctr"/>
            <a:r>
              <a:rPr lang="en-US" sz="2000" b="1" dirty="0">
                <a:solidFill>
                  <a:schemeClr val="bg1"/>
                </a:solidFill>
              </a:rPr>
              <a:t>Dr. Cindy Gordon, CEO, SalesChoice</a:t>
            </a:r>
          </a:p>
          <a:p>
            <a:pPr algn="ctr"/>
            <a:r>
              <a:rPr lang="en-US" sz="2000" b="1" dirty="0" err="1">
                <a:solidFill>
                  <a:schemeClr val="bg1"/>
                </a:solidFill>
              </a:rPr>
              <a:t>www.saleschoice.com</a:t>
            </a:r>
            <a:endParaRPr lang="en-US" sz="2000" b="1" dirty="0">
              <a:solidFill>
                <a:schemeClr val="bg1"/>
              </a:solidFill>
            </a:endParaRPr>
          </a:p>
          <a:p>
            <a:pPr algn="ctr"/>
            <a:r>
              <a:rPr lang="en-US" sz="2000" b="1" dirty="0">
                <a:solidFill>
                  <a:schemeClr val="bg1"/>
                </a:solidFill>
              </a:rPr>
              <a:t>Cell: (416-230-6538)</a:t>
            </a:r>
          </a:p>
          <a:p>
            <a:pPr algn="ctr"/>
            <a:r>
              <a:rPr lang="en-US" sz="2000" b="1" dirty="0">
                <a:solidFill>
                  <a:schemeClr val="bg1"/>
                </a:solidFill>
              </a:rPr>
              <a:t>Email: </a:t>
            </a:r>
            <a:r>
              <a:rPr lang="en-US" sz="2000" b="1" dirty="0" err="1">
                <a:solidFill>
                  <a:schemeClr val="bg1"/>
                </a:solidFill>
              </a:rPr>
              <a:t>cindy@saleschoice.com</a:t>
            </a:r>
            <a:endParaRPr lang="en-US" sz="2000" b="1" dirty="0">
              <a:solidFill>
                <a:schemeClr val="bg1"/>
              </a:solidFill>
            </a:endParaRPr>
          </a:p>
        </p:txBody>
      </p:sp>
    </p:spTree>
    <p:extLst>
      <p:ext uri="{BB962C8B-B14F-4D97-AF65-F5344CB8AC3E}">
        <p14:creationId xmlns:p14="http://schemas.microsoft.com/office/powerpoint/2010/main" val="156460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4017B-6270-9748-94EC-883BFE7EDEC4}"/>
              </a:ext>
            </a:extLst>
          </p:cNvPr>
          <p:cNvSpPr txBox="1"/>
          <p:nvPr/>
        </p:nvSpPr>
        <p:spPr>
          <a:xfrm>
            <a:off x="1125307" y="104800"/>
            <a:ext cx="10178716" cy="738664"/>
          </a:xfrm>
          <a:prstGeom prst="rect">
            <a:avLst/>
          </a:prstGeom>
          <a:noFill/>
        </p:spPr>
        <p:txBody>
          <a:bodyPr wrap="square" rtlCol="0">
            <a:spAutoFit/>
          </a:bodyPr>
          <a:lstStyle/>
          <a:p>
            <a:pPr algn="ctr"/>
            <a:r>
              <a:rPr lang="en-US" sz="4200">
                <a:solidFill>
                  <a:prstClr val="white"/>
                </a:solidFill>
                <a:latin typeface="Perpetua Titling MT Light" charset="0"/>
              </a:rPr>
              <a:t>COURSE OUTLINE</a:t>
            </a:r>
          </a:p>
        </p:txBody>
      </p:sp>
      <p:sp>
        <p:nvSpPr>
          <p:cNvPr id="3" name="Rectangle 2">
            <a:extLst>
              <a:ext uri="{FF2B5EF4-FFF2-40B4-BE49-F238E27FC236}">
                <a16:creationId xmlns:a16="http://schemas.microsoft.com/office/drawing/2014/main" id="{B64A46E3-DAC9-B043-ABD8-AD2C42E7BBE4}"/>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graphicFrame>
        <p:nvGraphicFramePr>
          <p:cNvPr id="5" name="Table 4">
            <a:extLst>
              <a:ext uri="{FF2B5EF4-FFF2-40B4-BE49-F238E27FC236}">
                <a16:creationId xmlns:a16="http://schemas.microsoft.com/office/drawing/2014/main" id="{7D85C3D4-3EAB-FD43-A7E6-427170E91879}"/>
              </a:ext>
            </a:extLst>
          </p:cNvPr>
          <p:cNvGraphicFramePr>
            <a:graphicFrameLocks noGrp="1"/>
          </p:cNvGraphicFramePr>
          <p:nvPr>
            <p:extLst>
              <p:ext uri="{D42A27DB-BD31-4B8C-83A1-F6EECF244321}">
                <p14:modId xmlns:p14="http://schemas.microsoft.com/office/powerpoint/2010/main" val="332987246"/>
              </p:ext>
            </p:extLst>
          </p:nvPr>
        </p:nvGraphicFramePr>
        <p:xfrm>
          <a:off x="734891" y="1536409"/>
          <a:ext cx="10959548" cy="3322320"/>
        </p:xfrm>
        <a:graphic>
          <a:graphicData uri="http://schemas.openxmlformats.org/drawingml/2006/table">
            <a:tbl>
              <a:tblPr firstRow="1" bandRow="1">
                <a:tableStyleId>{93296810-A885-4BE3-A3E7-6D5BEEA58F35}</a:tableStyleId>
              </a:tblPr>
              <a:tblGrid>
                <a:gridCol w="1034690">
                  <a:extLst>
                    <a:ext uri="{9D8B030D-6E8A-4147-A177-3AD203B41FA5}">
                      <a16:colId xmlns:a16="http://schemas.microsoft.com/office/drawing/2014/main" val="2222382522"/>
                    </a:ext>
                  </a:extLst>
                </a:gridCol>
                <a:gridCol w="9924858">
                  <a:extLst>
                    <a:ext uri="{9D8B030D-6E8A-4147-A177-3AD203B41FA5}">
                      <a16:colId xmlns:a16="http://schemas.microsoft.com/office/drawing/2014/main" val="3121213591"/>
                    </a:ext>
                  </a:extLst>
                </a:gridCol>
              </a:tblGrid>
              <a:tr h="0">
                <a:tc>
                  <a:txBody>
                    <a:bodyPr/>
                    <a:lstStyle/>
                    <a:p>
                      <a:r>
                        <a:rPr lang="en-US" sz="2200" b="1">
                          <a:solidFill>
                            <a:srgbClr val="FFFF00"/>
                          </a:solidFill>
                        </a:rPr>
                        <a:t>WEEK </a:t>
                      </a:r>
                    </a:p>
                  </a:txBody>
                  <a:tcPr>
                    <a:solidFill>
                      <a:schemeClr val="tx1"/>
                    </a:solidFill>
                  </a:tcPr>
                </a:tc>
                <a:tc>
                  <a:txBody>
                    <a:bodyPr/>
                    <a:lstStyle/>
                    <a:p>
                      <a:r>
                        <a:rPr lang="en-US" sz="2200" b="1">
                          <a:solidFill>
                            <a:srgbClr val="FFFF00"/>
                          </a:solidFill>
                        </a:rPr>
                        <a:t>CONTENT</a:t>
                      </a:r>
                    </a:p>
                  </a:txBody>
                  <a:tcPr>
                    <a:solidFill>
                      <a:schemeClr val="tx1"/>
                    </a:solidFill>
                  </a:tcPr>
                </a:tc>
                <a:extLst>
                  <a:ext uri="{0D108BD9-81ED-4DB2-BD59-A6C34878D82A}">
                    <a16:rowId xmlns:a16="http://schemas.microsoft.com/office/drawing/2014/main" val="420609992"/>
                  </a:ext>
                </a:extLst>
              </a:tr>
              <a:tr h="370840">
                <a:tc>
                  <a:txBody>
                    <a:bodyPr/>
                    <a:lstStyle/>
                    <a:p>
                      <a:r>
                        <a:rPr lang="en-US" sz="2200" b="1">
                          <a:solidFill>
                            <a:schemeClr val="bg1"/>
                          </a:solidFill>
                        </a:rPr>
                        <a:t>1</a:t>
                      </a:r>
                    </a:p>
                  </a:txBody>
                  <a:tcPr>
                    <a:solidFill>
                      <a:schemeClr val="tx1"/>
                    </a:solidFill>
                  </a:tcPr>
                </a:tc>
                <a:tc>
                  <a:txBody>
                    <a:bodyPr/>
                    <a:lstStyle/>
                    <a:p>
                      <a:r>
                        <a:rPr lang="en-US" sz="2200" b="1">
                          <a:solidFill>
                            <a:schemeClr val="bg1"/>
                          </a:solidFill>
                        </a:rPr>
                        <a:t>What is AI, Market Dynamics, Ethics in Data and AI, General Introduction to the Structure of Legal and Policy Frameworks</a:t>
                      </a:r>
                    </a:p>
                  </a:txBody>
                  <a:tcPr>
                    <a:solidFill>
                      <a:schemeClr val="tx1"/>
                    </a:solidFill>
                  </a:tcPr>
                </a:tc>
                <a:extLst>
                  <a:ext uri="{0D108BD9-81ED-4DB2-BD59-A6C34878D82A}">
                    <a16:rowId xmlns:a16="http://schemas.microsoft.com/office/drawing/2014/main" val="3088676143"/>
                  </a:ext>
                </a:extLst>
              </a:tr>
              <a:tr h="370840">
                <a:tc>
                  <a:txBody>
                    <a:bodyPr/>
                    <a:lstStyle/>
                    <a:p>
                      <a:r>
                        <a:rPr lang="en-US" sz="2200" b="1">
                          <a:solidFill>
                            <a:schemeClr val="bg1"/>
                          </a:solidFill>
                        </a:rPr>
                        <a:t>1</a:t>
                      </a:r>
                    </a:p>
                  </a:txBody>
                  <a:tcPr>
                    <a:solidFill>
                      <a:schemeClr val="tx1"/>
                    </a:solidFill>
                  </a:tcPr>
                </a:tc>
                <a:tc>
                  <a:txBody>
                    <a:bodyPr/>
                    <a:lstStyle/>
                    <a:p>
                      <a:r>
                        <a:rPr lang="en-US" sz="2200" b="1">
                          <a:solidFill>
                            <a:schemeClr val="bg1"/>
                          </a:solidFill>
                        </a:rPr>
                        <a:t>AI in the Judicial System and access to Justice, Individual Assignments Given</a:t>
                      </a:r>
                    </a:p>
                  </a:txBody>
                  <a:tcPr>
                    <a:solidFill>
                      <a:schemeClr val="tx1"/>
                    </a:solidFill>
                  </a:tcPr>
                </a:tc>
                <a:extLst>
                  <a:ext uri="{0D108BD9-81ED-4DB2-BD59-A6C34878D82A}">
                    <a16:rowId xmlns:a16="http://schemas.microsoft.com/office/drawing/2014/main" val="2095605370"/>
                  </a:ext>
                </a:extLst>
              </a:tr>
              <a:tr h="370840">
                <a:tc>
                  <a:txBody>
                    <a:bodyPr/>
                    <a:lstStyle/>
                    <a:p>
                      <a:r>
                        <a:rPr lang="en-US" sz="2200" b="1">
                          <a:solidFill>
                            <a:schemeClr val="bg1"/>
                          </a:solidFill>
                        </a:rPr>
                        <a:t>2</a:t>
                      </a:r>
                    </a:p>
                  </a:txBody>
                  <a:tcPr>
                    <a:solidFill>
                      <a:schemeClr val="tx1"/>
                    </a:solidFill>
                  </a:tcPr>
                </a:tc>
                <a:tc>
                  <a:txBody>
                    <a:bodyPr/>
                    <a:lstStyle/>
                    <a:p>
                      <a:r>
                        <a:rPr lang="en-US" sz="2200" b="1">
                          <a:solidFill>
                            <a:schemeClr val="bg1"/>
                          </a:solidFill>
                        </a:rPr>
                        <a:t>Introduction to Law and Regulation of Data and AI, Introduction to Data Privacy</a:t>
                      </a:r>
                    </a:p>
                  </a:txBody>
                  <a:tcPr>
                    <a:solidFill>
                      <a:schemeClr val="tx1"/>
                    </a:solidFill>
                  </a:tcPr>
                </a:tc>
                <a:extLst>
                  <a:ext uri="{0D108BD9-81ED-4DB2-BD59-A6C34878D82A}">
                    <a16:rowId xmlns:a16="http://schemas.microsoft.com/office/drawing/2014/main" val="1412973756"/>
                  </a:ext>
                </a:extLst>
              </a:tr>
              <a:tr h="370840">
                <a:tc>
                  <a:txBody>
                    <a:bodyPr/>
                    <a:lstStyle/>
                    <a:p>
                      <a:r>
                        <a:rPr lang="en-US" sz="2200" b="1">
                          <a:solidFill>
                            <a:schemeClr val="bg1"/>
                          </a:solidFill>
                        </a:rPr>
                        <a:t>2</a:t>
                      </a:r>
                    </a:p>
                  </a:txBody>
                  <a:tcPr>
                    <a:solidFill>
                      <a:schemeClr val="tx1"/>
                    </a:solidFill>
                  </a:tcPr>
                </a:tc>
                <a:tc>
                  <a:txBody>
                    <a:bodyPr/>
                    <a:lstStyle/>
                    <a:p>
                      <a:r>
                        <a:rPr lang="en-US" sz="2200" b="1">
                          <a:solidFill>
                            <a:srgbClr val="FFFF00"/>
                          </a:solidFill>
                        </a:rPr>
                        <a:t>Overview of International Perspectives, Ethical Cases and Legal Implications</a:t>
                      </a:r>
                    </a:p>
                  </a:txBody>
                  <a:tcPr>
                    <a:solidFill>
                      <a:schemeClr val="tx1"/>
                    </a:solidFill>
                  </a:tcPr>
                </a:tc>
                <a:extLst>
                  <a:ext uri="{0D108BD9-81ED-4DB2-BD59-A6C34878D82A}">
                    <a16:rowId xmlns:a16="http://schemas.microsoft.com/office/drawing/2014/main" val="3568695117"/>
                  </a:ext>
                </a:extLst>
              </a:tr>
              <a:tr h="370840">
                <a:tc>
                  <a:txBody>
                    <a:bodyPr/>
                    <a:lstStyle/>
                    <a:p>
                      <a:r>
                        <a:rPr lang="en-US" sz="2200" b="1">
                          <a:solidFill>
                            <a:schemeClr val="bg1"/>
                          </a:solidFill>
                        </a:rPr>
                        <a:t>3</a:t>
                      </a:r>
                    </a:p>
                  </a:txBody>
                  <a:tcPr>
                    <a:solidFill>
                      <a:schemeClr val="tx1"/>
                    </a:solidFill>
                  </a:tcPr>
                </a:tc>
                <a:tc>
                  <a:txBody>
                    <a:bodyPr/>
                    <a:lstStyle/>
                    <a:p>
                      <a:r>
                        <a:rPr lang="en-US" sz="2200" b="1">
                          <a:solidFill>
                            <a:schemeClr val="bg1"/>
                          </a:solidFill>
                        </a:rPr>
                        <a:t>Case Studies on AI &amp; Ethics, AI and Robot Rights</a:t>
                      </a:r>
                    </a:p>
                  </a:txBody>
                  <a:tcPr>
                    <a:solidFill>
                      <a:schemeClr val="tx1"/>
                    </a:solidFill>
                  </a:tcPr>
                </a:tc>
                <a:extLst>
                  <a:ext uri="{0D108BD9-81ED-4DB2-BD59-A6C34878D82A}">
                    <a16:rowId xmlns:a16="http://schemas.microsoft.com/office/drawing/2014/main" val="3692743940"/>
                  </a:ext>
                </a:extLst>
              </a:tr>
              <a:tr h="370840">
                <a:tc>
                  <a:txBody>
                    <a:bodyPr/>
                    <a:lstStyle/>
                    <a:p>
                      <a:r>
                        <a:rPr lang="en-US" sz="2200" b="1">
                          <a:solidFill>
                            <a:schemeClr val="bg1"/>
                          </a:solidFill>
                        </a:rPr>
                        <a:t>3</a:t>
                      </a:r>
                    </a:p>
                  </a:txBody>
                  <a:tcPr>
                    <a:solidFill>
                      <a:schemeClr val="tx1"/>
                    </a:solidFill>
                  </a:tcPr>
                </a:tc>
                <a:tc>
                  <a:txBody>
                    <a:bodyPr/>
                    <a:lstStyle/>
                    <a:p>
                      <a:r>
                        <a:rPr lang="en-US" sz="2200" b="1">
                          <a:solidFill>
                            <a:schemeClr val="bg1"/>
                          </a:solidFill>
                        </a:rPr>
                        <a:t>Project Due</a:t>
                      </a:r>
                    </a:p>
                  </a:txBody>
                  <a:tcPr>
                    <a:solidFill>
                      <a:schemeClr val="tx1"/>
                    </a:solidFill>
                  </a:tcPr>
                </a:tc>
                <a:extLst>
                  <a:ext uri="{0D108BD9-81ED-4DB2-BD59-A6C34878D82A}">
                    <a16:rowId xmlns:a16="http://schemas.microsoft.com/office/drawing/2014/main" val="1540668616"/>
                  </a:ext>
                </a:extLst>
              </a:tr>
            </a:tbl>
          </a:graphicData>
        </a:graphic>
      </p:graphicFrame>
      <p:sp>
        <p:nvSpPr>
          <p:cNvPr id="6" name="Slide Number Placeholder 4">
            <a:extLst>
              <a:ext uri="{FF2B5EF4-FFF2-40B4-BE49-F238E27FC236}">
                <a16:creationId xmlns:a16="http://schemas.microsoft.com/office/drawing/2014/main" id="{7F31F43B-878A-E04C-A89F-A71D538BF671}"/>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a:t>
            </a:fld>
            <a:endParaRPr lang="en-US" sz="1400">
              <a:solidFill>
                <a:schemeClr val="bg1"/>
              </a:solidFill>
            </a:endParaRPr>
          </a:p>
        </p:txBody>
      </p:sp>
    </p:spTree>
    <p:extLst>
      <p:ext uri="{BB962C8B-B14F-4D97-AF65-F5344CB8AC3E}">
        <p14:creationId xmlns:p14="http://schemas.microsoft.com/office/powerpoint/2010/main" val="201808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667A2-E6A2-A647-9330-588496865266}"/>
              </a:ext>
            </a:extLst>
          </p:cNvPr>
          <p:cNvSpPr txBox="1"/>
          <p:nvPr/>
        </p:nvSpPr>
        <p:spPr>
          <a:xfrm>
            <a:off x="584029" y="94022"/>
            <a:ext cx="11158935" cy="738664"/>
          </a:xfrm>
          <a:prstGeom prst="rect">
            <a:avLst/>
          </a:prstGeom>
          <a:noFill/>
        </p:spPr>
        <p:txBody>
          <a:bodyPr wrap="square" rtlCol="0">
            <a:spAutoFit/>
          </a:bodyPr>
          <a:lstStyle/>
          <a:p>
            <a:pPr algn="ctr"/>
            <a:r>
              <a:rPr lang="en-US" sz="4200">
                <a:solidFill>
                  <a:prstClr val="white"/>
                </a:solidFill>
                <a:latin typeface="Perpetua Titling MT Light" charset="0"/>
              </a:rPr>
              <a:t>WEEK TWO –OUTLINE OVERVIEW</a:t>
            </a:r>
          </a:p>
        </p:txBody>
      </p:sp>
      <p:sp>
        <p:nvSpPr>
          <p:cNvPr id="3" name="TextBox 2">
            <a:extLst>
              <a:ext uri="{FF2B5EF4-FFF2-40B4-BE49-F238E27FC236}">
                <a16:creationId xmlns:a16="http://schemas.microsoft.com/office/drawing/2014/main" id="{93B68377-9ADD-1249-A7F7-0B2FB85E2E6B}"/>
              </a:ext>
            </a:extLst>
          </p:cNvPr>
          <p:cNvSpPr txBox="1"/>
          <p:nvPr/>
        </p:nvSpPr>
        <p:spPr>
          <a:xfrm>
            <a:off x="842210" y="1653006"/>
            <a:ext cx="11044989" cy="1477328"/>
          </a:xfrm>
          <a:prstGeom prst="rect">
            <a:avLst/>
          </a:prstGeom>
          <a:noFill/>
        </p:spPr>
        <p:txBody>
          <a:bodyPr wrap="square" rtlCol="0">
            <a:spAutoFit/>
          </a:bodyPr>
          <a:lstStyle/>
          <a:p>
            <a:pPr marL="457200" lvl="0" indent="-457200">
              <a:buFont typeface="Arial" panose="020B0604020202020204" pitchFamily="34" charset="0"/>
              <a:buChar char="•"/>
            </a:pPr>
            <a:r>
              <a:rPr lang="en-US" sz="3000" b="1">
                <a:solidFill>
                  <a:schemeClr val="bg1"/>
                </a:solidFill>
              </a:rPr>
              <a:t>Section 1.0 </a:t>
            </a:r>
            <a:r>
              <a:rPr lang="en-US" sz="3000">
                <a:solidFill>
                  <a:schemeClr val="bg1"/>
                </a:solidFill>
              </a:rPr>
              <a:t>– Overview of Accountability and Explainability</a:t>
            </a:r>
          </a:p>
          <a:p>
            <a:pPr marL="457200" lvl="0" indent="-457200">
              <a:buFont typeface="Arial" panose="020B0604020202020204" pitchFamily="34" charset="0"/>
              <a:buChar char="•"/>
            </a:pPr>
            <a:r>
              <a:rPr lang="en-US" sz="3000" b="1">
                <a:solidFill>
                  <a:schemeClr val="bg1"/>
                </a:solidFill>
              </a:rPr>
              <a:t>Section 2.0 </a:t>
            </a:r>
            <a:r>
              <a:rPr lang="en-US" sz="3000">
                <a:solidFill>
                  <a:schemeClr val="bg1"/>
                </a:solidFill>
              </a:rPr>
              <a:t>- International Perspectives of AI</a:t>
            </a:r>
          </a:p>
          <a:p>
            <a:pPr marL="457200" lvl="0" indent="-457200">
              <a:buFont typeface="Arial" panose="020B0604020202020204" pitchFamily="34" charset="0"/>
              <a:buChar char="•"/>
            </a:pPr>
            <a:r>
              <a:rPr lang="en-US" sz="3000" b="1">
                <a:solidFill>
                  <a:schemeClr val="bg1"/>
                </a:solidFill>
              </a:rPr>
              <a:t>Section 3.0 </a:t>
            </a:r>
            <a:r>
              <a:rPr lang="en-US" sz="3000">
                <a:solidFill>
                  <a:schemeClr val="bg1"/>
                </a:solidFill>
              </a:rPr>
              <a:t>– Caselets of AI and Discussion</a:t>
            </a:r>
          </a:p>
        </p:txBody>
      </p:sp>
      <p:sp>
        <p:nvSpPr>
          <p:cNvPr id="4" name="Rectangle 3">
            <a:extLst>
              <a:ext uri="{FF2B5EF4-FFF2-40B4-BE49-F238E27FC236}">
                <a16:creationId xmlns:a16="http://schemas.microsoft.com/office/drawing/2014/main" id="{06AF6494-92BD-C246-961F-EF2A43049FF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5" name="Picture 4">
            <a:extLst>
              <a:ext uri="{FF2B5EF4-FFF2-40B4-BE49-F238E27FC236}">
                <a16:creationId xmlns:a16="http://schemas.microsoft.com/office/drawing/2014/main" id="{3E75F57A-9238-774D-A5D8-32FF9532B2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8594" y="4661485"/>
            <a:ext cx="1284705" cy="1284705"/>
          </a:xfrm>
          <a:prstGeom prst="rect">
            <a:avLst/>
          </a:prstGeom>
        </p:spPr>
      </p:pic>
      <p:sp>
        <p:nvSpPr>
          <p:cNvPr id="6" name="TextBox 5">
            <a:extLst>
              <a:ext uri="{FF2B5EF4-FFF2-40B4-BE49-F238E27FC236}">
                <a16:creationId xmlns:a16="http://schemas.microsoft.com/office/drawing/2014/main" id="{CB5CB417-2CD7-B145-8B31-710A8E0E5FF0}"/>
              </a:ext>
            </a:extLst>
          </p:cNvPr>
          <p:cNvSpPr txBox="1"/>
          <p:nvPr/>
        </p:nvSpPr>
        <p:spPr>
          <a:xfrm>
            <a:off x="2461795" y="5022860"/>
            <a:ext cx="9321800" cy="923330"/>
          </a:xfrm>
          <a:prstGeom prst="rect">
            <a:avLst/>
          </a:prstGeom>
          <a:noFill/>
        </p:spPr>
        <p:txBody>
          <a:bodyPr wrap="square" rtlCol="0">
            <a:spAutoFit/>
          </a:bodyPr>
          <a:lstStyle/>
          <a:p>
            <a:r>
              <a:rPr lang="en-US">
                <a:solidFill>
                  <a:schemeClr val="bg1"/>
                </a:solidFill>
              </a:rPr>
              <a:t>= NOTE: Every time you see this learning image, there is an exercise, either in a group or self – learning mode. Some of these may be  optional , while others are recommended, or mandatory. Read closely the instructions, and we recommend you complete all the learning sources provided.</a:t>
            </a:r>
          </a:p>
        </p:txBody>
      </p:sp>
      <p:sp>
        <p:nvSpPr>
          <p:cNvPr id="7" name="Slide Number Placeholder 4">
            <a:extLst>
              <a:ext uri="{FF2B5EF4-FFF2-40B4-BE49-F238E27FC236}">
                <a16:creationId xmlns:a16="http://schemas.microsoft.com/office/drawing/2014/main" id="{E3BC915A-19D2-E64C-A1D9-CDAE86F61B3E}"/>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a:t>
            </a:fld>
            <a:endParaRPr lang="en-US" sz="1400">
              <a:solidFill>
                <a:schemeClr val="bg1"/>
              </a:solidFill>
            </a:endParaRPr>
          </a:p>
        </p:txBody>
      </p:sp>
    </p:spTree>
    <p:extLst>
      <p:ext uri="{BB962C8B-B14F-4D97-AF65-F5344CB8AC3E}">
        <p14:creationId xmlns:p14="http://schemas.microsoft.com/office/powerpoint/2010/main" val="359778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8" y="359809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3" y="2157413"/>
            <a:ext cx="11358563" cy="1568556"/>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a:solidFill>
                  <a:prstClr val="white"/>
                </a:solidFill>
                <a:latin typeface="Perpetua Titling MT Light" charset="0"/>
                <a:ea typeface="Perpetua Titling MT Light" charset="0"/>
                <a:cs typeface="Perpetua Titling MT Light" charset="0"/>
              </a:rPr>
              <a:t>Section 1.0 : </a:t>
            </a:r>
          </a:p>
          <a:p>
            <a:pPr algn="ctr"/>
            <a:r>
              <a:rPr lang="en-US" sz="3600" b="0">
                <a:solidFill>
                  <a:prstClr val="white"/>
                </a:solidFill>
                <a:latin typeface="Perpetua Titling MT Light" charset="0"/>
                <a:ea typeface="Perpetua Titling MT Light" charset="0"/>
                <a:cs typeface="Perpetua Titling MT Light" charset="0"/>
              </a:rPr>
              <a:t>AI ETHICS: Accountability, Explainability…</a:t>
            </a:r>
            <a:endParaRPr lang="en-US" sz="3600" b="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1746763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DFFF7-1605-3347-8B59-929EA60BC71F}"/>
              </a:ext>
            </a:extLst>
          </p:cNvPr>
          <p:cNvSpPr/>
          <p:nvPr/>
        </p:nvSpPr>
        <p:spPr>
          <a:xfrm>
            <a:off x="1179011" y="5832419"/>
            <a:ext cx="11518232" cy="646331"/>
          </a:xfrm>
          <a:prstGeom prst="rect">
            <a:avLst/>
          </a:prstGeom>
        </p:spPr>
        <p:txBody>
          <a:bodyPr wrap="square">
            <a:spAutoFit/>
          </a:bodyPr>
          <a:lstStyle/>
          <a:p>
            <a:r>
              <a:rPr lang="en-CA" sz="1200" b="1" i="1">
                <a:solidFill>
                  <a:schemeClr val="bg1"/>
                </a:solidFill>
              </a:rPr>
              <a:t>RECOMMENDED READING: </a:t>
            </a:r>
          </a:p>
          <a:p>
            <a:r>
              <a:rPr lang="en-CA" sz="1200" i="1">
                <a:solidFill>
                  <a:schemeClr val="bg1"/>
                </a:solidFill>
              </a:rPr>
              <a:t>The Artificial Intelligence of the Ethics of Artificial Intelligence: An Introductory Overview for Law and Regulation Joanna J. Bryson July 28, 2019 Length: 34 Pages</a:t>
            </a:r>
          </a:p>
          <a:p>
            <a:r>
              <a:rPr lang="en-CA" sz="1200" b="1">
                <a:solidFill>
                  <a:schemeClr val="bg1"/>
                </a:solidFill>
              </a:rPr>
              <a:t>Source: </a:t>
            </a:r>
            <a:r>
              <a:rPr lang="en-CA" sz="1200">
                <a:solidFill>
                  <a:schemeClr val="bg1"/>
                </a:solidFill>
              </a:rPr>
              <a:t>http://www.cs.bath.ac.uk/~jjb/ftp/Bryson19AIforLawofAI.pdf</a:t>
            </a:r>
            <a:endParaRPr lang="en-US" sz="1200">
              <a:solidFill>
                <a:schemeClr val="bg1"/>
              </a:solidFill>
            </a:endParaRPr>
          </a:p>
        </p:txBody>
      </p:sp>
      <p:sp>
        <p:nvSpPr>
          <p:cNvPr id="3" name="TextBox 2">
            <a:extLst>
              <a:ext uri="{FF2B5EF4-FFF2-40B4-BE49-F238E27FC236}">
                <a16:creationId xmlns:a16="http://schemas.microsoft.com/office/drawing/2014/main" id="{606F711A-9FA7-BE4D-80C3-643E3C66A334}"/>
              </a:ext>
            </a:extLst>
          </p:cNvPr>
          <p:cNvSpPr txBox="1"/>
          <p:nvPr/>
        </p:nvSpPr>
        <p:spPr>
          <a:xfrm>
            <a:off x="748410" y="1058787"/>
            <a:ext cx="11185358" cy="4524315"/>
          </a:xfrm>
          <a:prstGeom prst="rect">
            <a:avLst/>
          </a:prstGeom>
          <a:noFill/>
        </p:spPr>
        <p:txBody>
          <a:bodyPr wrap="square" rtlCol="0">
            <a:spAutoFit/>
          </a:bodyPr>
          <a:lstStyle/>
          <a:p>
            <a:pPr marL="342900" indent="-342900">
              <a:buFont typeface="Arial" panose="020B0604020202020204" pitchFamily="34" charset="0"/>
              <a:buChar char="•"/>
            </a:pPr>
            <a:r>
              <a:rPr lang="en-CA" sz="2400" b="1">
                <a:solidFill>
                  <a:srgbClr val="FFFF00"/>
                </a:solidFill>
              </a:rPr>
              <a:t>Law has been invented by—we might even say ‘coevolved with’—our societies to hold humans accountable, thus only humans can be held accountable with it. </a:t>
            </a:r>
          </a:p>
          <a:p>
            <a:pPr marL="342900" indent="-342900">
              <a:buFont typeface="Arial" panose="020B0604020202020204" pitchFamily="34" charset="0"/>
              <a:buChar char="•"/>
            </a:pPr>
            <a:r>
              <a:rPr lang="en-CA" sz="2400">
                <a:solidFill>
                  <a:schemeClr val="bg1"/>
                </a:solidFill>
              </a:rPr>
              <a:t>Even the extension of legal personality to corporations only works to the extent that real humans who have real control over those corporations suffer if the corporation does wrong. </a:t>
            </a:r>
          </a:p>
          <a:p>
            <a:pPr marL="342900" indent="-342900">
              <a:buFont typeface="Arial" panose="020B0604020202020204" pitchFamily="34" charset="0"/>
              <a:buChar char="•"/>
            </a:pPr>
            <a:r>
              <a:rPr lang="en-CA" sz="2400">
                <a:solidFill>
                  <a:schemeClr val="bg1"/>
                </a:solidFill>
              </a:rPr>
              <a:t>The overextension of legal personhood to corporations that are designed to fail is called making a ‘shell company’. </a:t>
            </a:r>
          </a:p>
          <a:p>
            <a:pPr marL="342900" indent="-342900">
              <a:buFont typeface="Arial" panose="020B0604020202020204" pitchFamily="34" charset="0"/>
              <a:buChar char="•"/>
            </a:pPr>
            <a:r>
              <a:rPr lang="en-CA" sz="2400">
                <a:solidFill>
                  <a:schemeClr val="bg1"/>
                </a:solidFill>
              </a:rPr>
              <a:t>Similarly, if you build an AI system and allow it to operate autonomously, it is essential that the person who chooses to allow the system to operate autonomously is the one who will go to jail, be fined, etc. if the AI system transgresses the law. </a:t>
            </a:r>
          </a:p>
          <a:p>
            <a:pPr marL="342900" indent="-342900">
              <a:buFont typeface="Arial" panose="020B0604020202020204" pitchFamily="34" charset="0"/>
              <a:buChar char="•"/>
            </a:pPr>
            <a:r>
              <a:rPr lang="en-CA" sz="2400" b="1">
                <a:solidFill>
                  <a:srgbClr val="FFFF00"/>
                </a:solidFill>
              </a:rPr>
              <a:t>There is no way to make </a:t>
            </a:r>
            <a:r>
              <a:rPr lang="en-CA" sz="2500" b="1">
                <a:solidFill>
                  <a:srgbClr val="FFFF00"/>
                </a:solidFill>
              </a:rPr>
              <a:t>the</a:t>
            </a:r>
            <a:r>
              <a:rPr lang="en-CA" sz="2400" b="1">
                <a:solidFill>
                  <a:srgbClr val="FFFF00"/>
                </a:solidFill>
              </a:rPr>
              <a:t> AI system itself accountable. AI being itself held accountable would be the ultimate shell company</a:t>
            </a:r>
            <a:endParaRPr lang="en-US" sz="2400" b="1">
              <a:solidFill>
                <a:srgbClr val="FFFF00"/>
              </a:solidFill>
            </a:endParaRPr>
          </a:p>
        </p:txBody>
      </p:sp>
      <p:sp>
        <p:nvSpPr>
          <p:cNvPr id="4" name="Title 2">
            <a:extLst>
              <a:ext uri="{FF2B5EF4-FFF2-40B4-BE49-F238E27FC236}">
                <a16:creationId xmlns:a16="http://schemas.microsoft.com/office/drawing/2014/main" id="{BEAF8A94-0259-984B-83AA-3D8DAAE2D5D5}"/>
              </a:ext>
            </a:extLst>
          </p:cNvPr>
          <p:cNvSpPr txBox="1">
            <a:spLocks/>
          </p:cNvSpPr>
          <p:nvPr/>
        </p:nvSpPr>
        <p:spPr>
          <a:xfrm>
            <a:off x="2382076" y="177829"/>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prstClr val="white"/>
                </a:solidFill>
                <a:latin typeface="Perpetua Titling MT Light" charset="0"/>
              </a:rPr>
              <a:t>AI LAW : ACCOUNTABILITY</a:t>
            </a:r>
          </a:p>
        </p:txBody>
      </p:sp>
      <p:sp>
        <p:nvSpPr>
          <p:cNvPr id="5" name="Rectangle 4">
            <a:extLst>
              <a:ext uri="{FF2B5EF4-FFF2-40B4-BE49-F238E27FC236}">
                <a16:creationId xmlns:a16="http://schemas.microsoft.com/office/drawing/2014/main" id="{0E05A609-A4DC-FF42-9599-29CF973B9CEF}"/>
              </a:ext>
            </a:extLst>
          </p:cNvPr>
          <p:cNvSpPr/>
          <p:nvPr/>
        </p:nvSpPr>
        <p:spPr bwMode="auto">
          <a:xfrm>
            <a:off x="5744052" y="763751"/>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Slide Number Placeholder 4">
            <a:extLst>
              <a:ext uri="{FF2B5EF4-FFF2-40B4-BE49-F238E27FC236}">
                <a16:creationId xmlns:a16="http://schemas.microsoft.com/office/drawing/2014/main" id="{0CD9EA28-553E-3F42-AE9A-B29F1B92F2CB}"/>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5</a:t>
            </a:fld>
            <a:endParaRPr lang="en-US" sz="1400">
              <a:solidFill>
                <a:schemeClr val="bg1"/>
              </a:solidFill>
            </a:endParaRPr>
          </a:p>
        </p:txBody>
      </p:sp>
    </p:spTree>
    <p:extLst>
      <p:ext uri="{BB962C8B-B14F-4D97-AF65-F5344CB8AC3E}">
        <p14:creationId xmlns:p14="http://schemas.microsoft.com/office/powerpoint/2010/main" val="3852648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6</a:t>
            </a:fld>
            <a:endParaRPr lang="en-US"/>
          </a:p>
        </p:txBody>
      </p:sp>
      <p:sp>
        <p:nvSpPr>
          <p:cNvPr id="8" name="TextBox 7"/>
          <p:cNvSpPr txBox="1"/>
          <p:nvPr/>
        </p:nvSpPr>
        <p:spPr>
          <a:xfrm>
            <a:off x="819090" y="1536197"/>
            <a:ext cx="3110233" cy="2600683"/>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DATA BIAS</a:t>
            </a:r>
            <a:r>
              <a:rPr lang="en-US" sz="3600">
                <a:solidFill>
                  <a:schemeClr val="accent2"/>
                </a:solidFill>
                <a:latin typeface="+mj-lt"/>
              </a:rPr>
              <a:t>: </a:t>
            </a:r>
            <a:r>
              <a:rPr lang="en-US" sz="2000">
                <a:solidFill>
                  <a:srgbClr val="FFFF00"/>
                </a:solidFill>
                <a:latin typeface="+mj-lt"/>
              </a:rPr>
              <a:t>ENSURE INCLUSION &amp; DIVERSITY</a:t>
            </a:r>
            <a:br>
              <a:rPr lang="en-US">
                <a:solidFill>
                  <a:schemeClr val="bg1"/>
                </a:solidFill>
                <a:latin typeface="+mj-lt"/>
              </a:rPr>
            </a:br>
            <a:r>
              <a:rPr lang="en-US">
                <a:solidFill>
                  <a:schemeClr val="bg1"/>
                </a:solidFill>
                <a:latin typeface="+mj-lt"/>
              </a:rPr>
              <a:t>AI relies on large amounts of data that may or may not reflect the population it seeks to serve.</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9" name="TextBox 8"/>
          <p:cNvSpPr txBox="1"/>
          <p:nvPr/>
        </p:nvSpPr>
        <p:spPr>
          <a:xfrm>
            <a:off x="252663" y="4391307"/>
            <a:ext cx="4332225"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ACCOUNTABILITY: </a:t>
            </a:r>
          </a:p>
          <a:p>
            <a:pPr defTabSz="913851">
              <a:defRPr/>
            </a:pPr>
            <a:r>
              <a:rPr lang="en-US" sz="2000" b="1">
                <a:solidFill>
                  <a:srgbClr val="FFFF00"/>
                </a:solidFill>
                <a:latin typeface="+mj-lt"/>
              </a:rPr>
              <a:t>WHO’S ON FIRST?</a:t>
            </a:r>
          </a:p>
          <a:p>
            <a:pPr defTabSz="913851">
              <a:defRPr/>
            </a:pPr>
            <a:r>
              <a:rPr lang="en-US">
                <a:solidFill>
                  <a:schemeClr val="bg1"/>
                </a:solidFill>
                <a:latin typeface="+mj-lt"/>
              </a:rPr>
              <a:t>With machines learning over time, and charting their own course to outcomes, who is accountable for their errors?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11" name="TextBox 10"/>
          <p:cNvSpPr txBox="1"/>
          <p:nvPr/>
        </p:nvSpPr>
        <p:spPr>
          <a:xfrm>
            <a:off x="7836992" y="1563795"/>
            <a:ext cx="4110366" cy="2569905"/>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r>
              <a:rPr lang="en-US" sz="3600">
                <a:solidFill>
                  <a:srgbClr val="89C542"/>
                </a:solidFill>
                <a:latin typeface="+mj-lt"/>
              </a:rPr>
              <a:t> </a:t>
            </a:r>
            <a:r>
              <a:rPr lang="en-US" sz="2000">
                <a:solidFill>
                  <a:srgbClr val="FFFF00"/>
                </a:solidFill>
                <a:latin typeface="+mj-lt"/>
              </a:rPr>
              <a:t>SAY WHAT?</a:t>
            </a:r>
          </a:p>
          <a:p>
            <a:pPr defTabSz="913851">
              <a:defRPr/>
            </a:pPr>
            <a:r>
              <a:rPr lang="en-US">
                <a:solidFill>
                  <a:schemeClr val="bg1"/>
                </a:solidFill>
                <a:latin typeface="+mj-lt"/>
              </a:rPr>
              <a:t>The deeper the AI, the more it struggles to explain itself.  Certain use cases require an understanding of the rationale for recommendations and decisions.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12" name="TextBox 11"/>
          <p:cNvSpPr txBox="1"/>
          <p:nvPr/>
        </p:nvSpPr>
        <p:spPr>
          <a:xfrm>
            <a:off x="8036164" y="4504717"/>
            <a:ext cx="3911194"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PRIVACY:</a:t>
            </a:r>
            <a:r>
              <a:rPr lang="en-US" sz="2000" b="1">
                <a:solidFill>
                  <a:srgbClr val="FF0000"/>
                </a:solidFill>
                <a:latin typeface="+mj-lt"/>
              </a:rPr>
              <a:t> </a:t>
            </a:r>
          </a:p>
          <a:p>
            <a:pPr defTabSz="913851">
              <a:defRPr/>
            </a:pPr>
            <a:r>
              <a:rPr lang="en-US" sz="2000" b="1">
                <a:solidFill>
                  <a:srgbClr val="FFFF00"/>
                </a:solidFill>
                <a:latin typeface="+mj-lt"/>
              </a:rPr>
              <a:t>TRUST AND TRANSPARENCY</a:t>
            </a:r>
          </a:p>
          <a:p>
            <a:pPr defTabSz="913851">
              <a:defRPr/>
            </a:pPr>
            <a:r>
              <a:rPr lang="en-US">
                <a:solidFill>
                  <a:schemeClr val="bg1"/>
                </a:solidFill>
                <a:latin typeface="+mj-lt"/>
              </a:rPr>
              <a:t>AI threatens to erode our trust in traditional privacy tactics and do things with our data that we didn’t consent to.</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599">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905160" y="3713150"/>
            <a:ext cx="1987984" cy="661690"/>
          </a:xfrm>
          <a:prstGeom prst="rect">
            <a:avLst/>
          </a:prstGeom>
          <a:noFill/>
        </p:spPr>
        <p:txBody>
          <a:bodyPr wrap="square" lIns="0" tIns="0" rIns="0" bIns="45691" rtlCol="0">
            <a:spAutoFit/>
          </a:bodyPr>
          <a:lstStyle/>
          <a:p>
            <a:pPr algn="ctr" defTabSz="913851">
              <a:lnSpc>
                <a:spcPts val="2399"/>
              </a:lnSpc>
              <a:defRPr/>
            </a:pPr>
            <a:r>
              <a:rPr lang="en-US" b="1">
                <a:latin typeface="+mj-lt"/>
              </a:rPr>
              <a:t>TRUSTED AI</a:t>
            </a:r>
          </a:p>
          <a:p>
            <a:pPr algn="ctr" defTabSz="913851">
              <a:lnSpc>
                <a:spcPts val="2399"/>
              </a:lnSpc>
              <a:defRPr/>
            </a:pPr>
            <a:r>
              <a:rPr lang="en-US" b="1">
                <a:latin typeface="+mj-lt"/>
              </a:rPr>
              <a:t>AI FOR GOOD</a:t>
            </a:r>
          </a:p>
        </p:txBody>
      </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6</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0" name="TextBox 19">
            <a:extLst>
              <a:ext uri="{FF2B5EF4-FFF2-40B4-BE49-F238E27FC236}">
                <a16:creationId xmlns:a16="http://schemas.microsoft.com/office/drawing/2014/main" id="{1B53C6FC-3492-F24A-8621-A6E825838302}"/>
              </a:ext>
            </a:extLst>
          </p:cNvPr>
          <p:cNvSpPr txBox="1"/>
          <p:nvPr/>
        </p:nvSpPr>
        <p:spPr>
          <a:xfrm>
            <a:off x="160137" y="4248605"/>
            <a:ext cx="4584888" cy="2352915"/>
          </a:xfrm>
          <a:prstGeom prst="rect">
            <a:avLst/>
          </a:prstGeom>
          <a:noFill/>
          <a:ln w="38100">
            <a:solidFill>
              <a:srgbClr val="FF0000"/>
            </a:solidFill>
          </a:ln>
        </p:spPr>
        <p:txBody>
          <a:bodyPr wrap="square" rtlCol="0">
            <a:spAutoFit/>
          </a:bodyPr>
          <a:lstStyle/>
          <a:p>
            <a:endParaRPr lang="en-US"/>
          </a:p>
        </p:txBody>
      </p:sp>
    </p:spTree>
    <p:extLst>
      <p:ext uri="{BB962C8B-B14F-4D97-AF65-F5344CB8AC3E}">
        <p14:creationId xmlns:p14="http://schemas.microsoft.com/office/powerpoint/2010/main" val="1702353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7</a:t>
            </a:fld>
            <a:endParaRPr lang="en-US"/>
          </a:p>
        </p:txBody>
      </p:sp>
      <p:sp>
        <p:nvSpPr>
          <p:cNvPr id="9" name="TextBox 8"/>
          <p:cNvSpPr txBox="1"/>
          <p:nvPr/>
        </p:nvSpPr>
        <p:spPr>
          <a:xfrm>
            <a:off x="221886" y="2449468"/>
            <a:ext cx="4332225"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ACCOUNTABILITY: </a:t>
            </a:r>
          </a:p>
          <a:p>
            <a:pPr defTabSz="913851">
              <a:defRPr/>
            </a:pPr>
            <a:r>
              <a:rPr lang="en-US" sz="2000">
                <a:solidFill>
                  <a:srgbClr val="89C542"/>
                </a:solidFill>
                <a:latin typeface="+mj-lt"/>
              </a:rPr>
              <a:t>WHO’S ON FIRST?</a:t>
            </a:r>
          </a:p>
          <a:p>
            <a:pPr defTabSz="913851">
              <a:defRPr/>
            </a:pPr>
            <a:r>
              <a:rPr lang="en-US">
                <a:solidFill>
                  <a:schemeClr val="bg1"/>
                </a:solidFill>
                <a:latin typeface="+mj-lt"/>
              </a:rPr>
              <a:t>With machines learning over time, and charting their own course to outcomes, who is accountable for their errors?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7</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0" name="TextBox 19">
            <a:extLst>
              <a:ext uri="{FF2B5EF4-FFF2-40B4-BE49-F238E27FC236}">
                <a16:creationId xmlns:a16="http://schemas.microsoft.com/office/drawing/2014/main" id="{1B53C6FC-3492-F24A-8621-A6E825838302}"/>
              </a:ext>
            </a:extLst>
          </p:cNvPr>
          <p:cNvSpPr txBox="1"/>
          <p:nvPr/>
        </p:nvSpPr>
        <p:spPr>
          <a:xfrm>
            <a:off x="95554" y="2240809"/>
            <a:ext cx="4584888" cy="2352915"/>
          </a:xfrm>
          <a:prstGeom prst="rect">
            <a:avLst/>
          </a:prstGeom>
          <a:noFill/>
          <a:ln w="38100">
            <a:solidFill>
              <a:srgbClr val="FF0000"/>
            </a:solidFill>
          </a:ln>
        </p:spPr>
        <p:txBody>
          <a:bodyPr wrap="square" rtlCol="0">
            <a:spAutoFit/>
          </a:bodyPr>
          <a:lstStyle/>
          <a:p>
            <a:endParaRPr lang="en-US"/>
          </a:p>
        </p:txBody>
      </p:sp>
      <p:sp>
        <p:nvSpPr>
          <p:cNvPr id="6" name="TextBox 5">
            <a:extLst>
              <a:ext uri="{FF2B5EF4-FFF2-40B4-BE49-F238E27FC236}">
                <a16:creationId xmlns:a16="http://schemas.microsoft.com/office/drawing/2014/main" id="{6B94B89F-4A9C-C148-B3D3-0CB918BC3772}"/>
              </a:ext>
            </a:extLst>
          </p:cNvPr>
          <p:cNvSpPr txBox="1"/>
          <p:nvPr/>
        </p:nvSpPr>
        <p:spPr>
          <a:xfrm>
            <a:off x="5069068" y="1355754"/>
            <a:ext cx="6118553" cy="4893647"/>
          </a:xfrm>
          <a:prstGeom prst="rect">
            <a:avLst/>
          </a:prstGeom>
          <a:noFill/>
        </p:spPr>
        <p:txBody>
          <a:bodyPr wrap="square" rtlCol="0">
            <a:spAutoFit/>
          </a:bodyPr>
          <a:lstStyle/>
          <a:p>
            <a:r>
              <a:rPr lang="en-US" sz="2400" b="1">
                <a:solidFill>
                  <a:schemeClr val="accent6"/>
                </a:solidFill>
              </a:rPr>
              <a:t>AI Designers and developers are responsible for considering AI Design, development, decision processes and outcomes.</a:t>
            </a:r>
          </a:p>
          <a:p>
            <a:endParaRPr lang="en-US" sz="2400">
              <a:solidFill>
                <a:schemeClr val="bg1"/>
              </a:solidFill>
            </a:endParaRPr>
          </a:p>
          <a:p>
            <a:pPr marL="342900" indent="-342900">
              <a:buFont typeface="Arial" panose="020B0604020202020204" pitchFamily="34" charset="0"/>
              <a:buChar char="•"/>
            </a:pPr>
            <a:r>
              <a:rPr lang="en-US" sz="2400">
                <a:solidFill>
                  <a:schemeClr val="bg1"/>
                </a:solidFill>
              </a:rPr>
              <a:t>Make company policies clear and accessible to design and development teams so no one is confused about their responsibility or accountability </a:t>
            </a:r>
          </a:p>
          <a:p>
            <a:pPr marL="342900" indent="-342900">
              <a:buFont typeface="Arial" panose="020B0604020202020204" pitchFamily="34" charset="0"/>
              <a:buChar char="•"/>
            </a:pPr>
            <a:r>
              <a:rPr lang="en-US" sz="2400">
                <a:solidFill>
                  <a:schemeClr val="bg1"/>
                </a:solidFill>
              </a:rPr>
              <a:t>Keep detailed records of your design processes and decision making</a:t>
            </a:r>
          </a:p>
          <a:p>
            <a:pPr marL="342900" indent="-342900">
              <a:buFont typeface="Arial" panose="020B0604020202020204" pitchFamily="34" charset="0"/>
              <a:buChar char="•"/>
            </a:pPr>
            <a:r>
              <a:rPr lang="en-US" sz="2400">
                <a:solidFill>
                  <a:schemeClr val="bg1"/>
                </a:solidFill>
              </a:rPr>
              <a:t>Understand national and international laws that you AI may have to work within. </a:t>
            </a:r>
          </a:p>
          <a:p>
            <a:pPr marL="342900" indent="-342900">
              <a:buFont typeface="Arial" panose="020B0604020202020204" pitchFamily="34" charset="0"/>
              <a:buChar char="•"/>
            </a:pPr>
            <a:endParaRPr lang="en-US" sz="2400">
              <a:solidFill>
                <a:schemeClr val="bg1"/>
              </a:solidFill>
            </a:endParaRPr>
          </a:p>
        </p:txBody>
      </p:sp>
    </p:spTree>
    <p:extLst>
      <p:ext uri="{BB962C8B-B14F-4D97-AF65-F5344CB8AC3E}">
        <p14:creationId xmlns:p14="http://schemas.microsoft.com/office/powerpoint/2010/main" val="3463647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8</a:t>
            </a:fld>
            <a:endParaRPr lang="en-US"/>
          </a:p>
        </p:txBody>
      </p:sp>
      <p:sp>
        <p:nvSpPr>
          <p:cNvPr id="9" name="TextBox 8"/>
          <p:cNvSpPr txBox="1"/>
          <p:nvPr/>
        </p:nvSpPr>
        <p:spPr>
          <a:xfrm>
            <a:off x="221886" y="2449468"/>
            <a:ext cx="4332225"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ACCOUNTABILITY: </a:t>
            </a:r>
          </a:p>
          <a:p>
            <a:pPr defTabSz="913851">
              <a:defRPr/>
            </a:pPr>
            <a:r>
              <a:rPr lang="en-US" sz="2000">
                <a:solidFill>
                  <a:srgbClr val="89C542"/>
                </a:solidFill>
                <a:latin typeface="+mj-lt"/>
              </a:rPr>
              <a:t>WHO’S ON FIRST?</a:t>
            </a:r>
          </a:p>
          <a:p>
            <a:pPr defTabSz="913851">
              <a:defRPr/>
            </a:pPr>
            <a:r>
              <a:rPr lang="en-US">
                <a:solidFill>
                  <a:schemeClr val="bg1"/>
                </a:solidFill>
                <a:latin typeface="+mj-lt"/>
              </a:rPr>
              <a:t>With machines learning over time, and charting their own course to outcomes, who is accountable for their errors?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8</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0" name="TextBox 19">
            <a:extLst>
              <a:ext uri="{FF2B5EF4-FFF2-40B4-BE49-F238E27FC236}">
                <a16:creationId xmlns:a16="http://schemas.microsoft.com/office/drawing/2014/main" id="{1B53C6FC-3492-F24A-8621-A6E825838302}"/>
              </a:ext>
            </a:extLst>
          </p:cNvPr>
          <p:cNvSpPr txBox="1"/>
          <p:nvPr/>
        </p:nvSpPr>
        <p:spPr>
          <a:xfrm>
            <a:off x="95554" y="2240809"/>
            <a:ext cx="4584888" cy="2352915"/>
          </a:xfrm>
          <a:prstGeom prst="rect">
            <a:avLst/>
          </a:prstGeom>
          <a:noFill/>
          <a:ln w="38100">
            <a:solidFill>
              <a:srgbClr val="FF0000"/>
            </a:solidFill>
          </a:ln>
        </p:spPr>
        <p:txBody>
          <a:bodyPr wrap="square" rtlCol="0">
            <a:spAutoFit/>
          </a:bodyPr>
          <a:lstStyle/>
          <a:p>
            <a:endParaRPr lang="en-US"/>
          </a:p>
        </p:txBody>
      </p:sp>
      <p:sp>
        <p:nvSpPr>
          <p:cNvPr id="6" name="TextBox 5">
            <a:extLst>
              <a:ext uri="{FF2B5EF4-FFF2-40B4-BE49-F238E27FC236}">
                <a16:creationId xmlns:a16="http://schemas.microsoft.com/office/drawing/2014/main" id="{6B94B89F-4A9C-C148-B3D3-0CB918BC3772}"/>
              </a:ext>
            </a:extLst>
          </p:cNvPr>
          <p:cNvSpPr txBox="1"/>
          <p:nvPr/>
        </p:nvSpPr>
        <p:spPr>
          <a:xfrm>
            <a:off x="5069068" y="1181071"/>
            <a:ext cx="6646682" cy="5693866"/>
          </a:xfrm>
          <a:prstGeom prst="rect">
            <a:avLst/>
          </a:prstGeom>
          <a:noFill/>
        </p:spPr>
        <p:txBody>
          <a:bodyPr wrap="square" rtlCol="0">
            <a:spAutoFit/>
          </a:bodyPr>
          <a:lstStyle/>
          <a:p>
            <a:r>
              <a:rPr lang="en-US" sz="2800" b="1">
                <a:solidFill>
                  <a:schemeClr val="accent6"/>
                </a:solidFill>
              </a:rPr>
              <a:t>Consider:</a:t>
            </a:r>
          </a:p>
          <a:p>
            <a:endParaRPr lang="en-US" sz="2800">
              <a:solidFill>
                <a:schemeClr val="bg1"/>
              </a:solidFill>
            </a:endParaRPr>
          </a:p>
          <a:p>
            <a:pPr marL="342900" indent="-342900">
              <a:buFont typeface="Arial" panose="020B0604020202020204" pitchFamily="34" charset="0"/>
              <a:buChar char="•"/>
            </a:pPr>
            <a:r>
              <a:rPr lang="en-US" sz="2800">
                <a:solidFill>
                  <a:schemeClr val="bg1"/>
                </a:solidFill>
              </a:rPr>
              <a:t>Ensure you understand the inner workings of your AI, even if you are not personally developing or monitoring the algorithm</a:t>
            </a:r>
          </a:p>
          <a:p>
            <a:pPr marL="342900" indent="-342900">
              <a:buFont typeface="Arial" panose="020B0604020202020204" pitchFamily="34" charset="0"/>
              <a:buChar char="•"/>
            </a:pPr>
            <a:endParaRPr lang="en-US" sz="2800">
              <a:solidFill>
                <a:schemeClr val="bg1"/>
              </a:solidFill>
            </a:endParaRPr>
          </a:p>
          <a:p>
            <a:pPr marL="342900" indent="-342900">
              <a:buFont typeface="Arial" panose="020B0604020202020204" pitchFamily="34" charset="0"/>
              <a:buChar char="•"/>
            </a:pPr>
            <a:r>
              <a:rPr lang="en-US" sz="2800">
                <a:solidFill>
                  <a:schemeClr val="bg1"/>
                </a:solidFill>
              </a:rPr>
              <a:t>Curiosity advances ethics</a:t>
            </a:r>
          </a:p>
          <a:p>
            <a:pPr marL="342900" indent="-342900">
              <a:buFont typeface="Arial" panose="020B0604020202020204" pitchFamily="34" charset="0"/>
              <a:buChar char="•"/>
            </a:pPr>
            <a:endParaRPr lang="en-US" sz="2800">
              <a:solidFill>
                <a:schemeClr val="bg1"/>
              </a:solidFill>
            </a:endParaRPr>
          </a:p>
          <a:p>
            <a:pPr marL="342900" indent="-342900">
              <a:buFont typeface="Arial" panose="020B0604020202020204" pitchFamily="34" charset="0"/>
              <a:buChar char="•"/>
            </a:pPr>
            <a:r>
              <a:rPr lang="en-US" sz="2800">
                <a:solidFill>
                  <a:schemeClr val="bg1"/>
                </a:solidFill>
              </a:rPr>
              <a:t>Refer to secondary research by sociologists, linguist's, behaviorists, and other professional to understand ethical issues in a holistic context.</a:t>
            </a:r>
          </a:p>
          <a:p>
            <a:pPr marL="342900" indent="-342900">
              <a:buFont typeface="Arial" panose="020B0604020202020204" pitchFamily="34" charset="0"/>
              <a:buChar char="•"/>
            </a:pPr>
            <a:endParaRPr lang="en-US" sz="2800">
              <a:solidFill>
                <a:schemeClr val="bg1"/>
              </a:solidFill>
            </a:endParaRPr>
          </a:p>
        </p:txBody>
      </p:sp>
    </p:spTree>
    <p:extLst>
      <p:ext uri="{BB962C8B-B14F-4D97-AF65-F5344CB8AC3E}">
        <p14:creationId xmlns:p14="http://schemas.microsoft.com/office/powerpoint/2010/main" val="62460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9</a:t>
            </a:fld>
            <a:endParaRPr lang="en-US"/>
          </a:p>
        </p:txBody>
      </p:sp>
      <p:sp>
        <p:nvSpPr>
          <p:cNvPr id="9" name="TextBox 8"/>
          <p:cNvSpPr txBox="1"/>
          <p:nvPr/>
        </p:nvSpPr>
        <p:spPr>
          <a:xfrm>
            <a:off x="221886" y="2449468"/>
            <a:ext cx="4332225"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ACCOUNTABILITY: </a:t>
            </a:r>
          </a:p>
          <a:p>
            <a:pPr defTabSz="913851">
              <a:defRPr/>
            </a:pPr>
            <a:r>
              <a:rPr lang="en-US" sz="2000">
                <a:solidFill>
                  <a:srgbClr val="89C542"/>
                </a:solidFill>
                <a:latin typeface="+mj-lt"/>
              </a:rPr>
              <a:t>WHO’S ON FIRST?</a:t>
            </a:r>
          </a:p>
          <a:p>
            <a:pPr defTabSz="913851">
              <a:defRPr/>
            </a:pPr>
            <a:r>
              <a:rPr lang="en-US">
                <a:solidFill>
                  <a:schemeClr val="bg1"/>
                </a:solidFill>
                <a:latin typeface="+mj-lt"/>
              </a:rPr>
              <a:t>With machines learning over time, and charting their own course to outcomes, who is accountable for their errors?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9</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0" name="TextBox 19">
            <a:extLst>
              <a:ext uri="{FF2B5EF4-FFF2-40B4-BE49-F238E27FC236}">
                <a16:creationId xmlns:a16="http://schemas.microsoft.com/office/drawing/2014/main" id="{1B53C6FC-3492-F24A-8621-A6E825838302}"/>
              </a:ext>
            </a:extLst>
          </p:cNvPr>
          <p:cNvSpPr txBox="1"/>
          <p:nvPr/>
        </p:nvSpPr>
        <p:spPr>
          <a:xfrm>
            <a:off x="95554" y="2240809"/>
            <a:ext cx="4584888" cy="2352915"/>
          </a:xfrm>
          <a:prstGeom prst="rect">
            <a:avLst/>
          </a:prstGeom>
          <a:noFill/>
          <a:ln w="38100">
            <a:solidFill>
              <a:srgbClr val="FF0000"/>
            </a:solidFill>
          </a:ln>
        </p:spPr>
        <p:txBody>
          <a:bodyPr wrap="square" rtlCol="0">
            <a:spAutoFit/>
          </a:bodyPr>
          <a:lstStyle/>
          <a:p>
            <a:endParaRPr lang="en-US"/>
          </a:p>
        </p:txBody>
      </p:sp>
      <p:sp>
        <p:nvSpPr>
          <p:cNvPr id="6" name="TextBox 5">
            <a:extLst>
              <a:ext uri="{FF2B5EF4-FFF2-40B4-BE49-F238E27FC236}">
                <a16:creationId xmlns:a16="http://schemas.microsoft.com/office/drawing/2014/main" id="{6B94B89F-4A9C-C148-B3D3-0CB918BC3772}"/>
              </a:ext>
            </a:extLst>
          </p:cNvPr>
          <p:cNvSpPr txBox="1"/>
          <p:nvPr/>
        </p:nvSpPr>
        <p:spPr>
          <a:xfrm>
            <a:off x="4881960" y="1190706"/>
            <a:ext cx="7085566" cy="4955203"/>
          </a:xfrm>
          <a:prstGeom prst="rect">
            <a:avLst/>
          </a:prstGeom>
          <a:noFill/>
        </p:spPr>
        <p:txBody>
          <a:bodyPr wrap="square" rtlCol="0">
            <a:spAutoFit/>
          </a:bodyPr>
          <a:lstStyle/>
          <a:p>
            <a:r>
              <a:rPr lang="en-US" sz="2800" b="1">
                <a:solidFill>
                  <a:schemeClr val="accent6"/>
                </a:solidFill>
              </a:rPr>
              <a:t>Questions to Ask your Team</a:t>
            </a:r>
          </a:p>
          <a:p>
            <a:endParaRPr lang="en-US" sz="2800">
              <a:solidFill>
                <a:schemeClr val="bg1"/>
              </a:solidFill>
            </a:endParaRPr>
          </a:p>
          <a:p>
            <a:pPr marL="342900" indent="-342900">
              <a:buFont typeface="Arial" panose="020B0604020202020204" pitchFamily="34" charset="0"/>
              <a:buChar char="•"/>
            </a:pPr>
            <a:r>
              <a:rPr lang="en-US" sz="2600">
                <a:solidFill>
                  <a:schemeClr val="bg1"/>
                </a:solidFill>
              </a:rPr>
              <a:t>How does accountability change according to the levels of user influence over an AI system?</a:t>
            </a:r>
          </a:p>
          <a:p>
            <a:pPr marL="342900" indent="-342900">
              <a:buFont typeface="Arial" panose="020B0604020202020204" pitchFamily="34" charset="0"/>
              <a:buChar char="•"/>
            </a:pPr>
            <a:r>
              <a:rPr lang="en-US" sz="2600">
                <a:solidFill>
                  <a:schemeClr val="bg1"/>
                </a:solidFill>
              </a:rPr>
              <a:t>Is the AI to be embedded in a human decision making process, it is making decisions on its own, or is it a hybrid?</a:t>
            </a:r>
          </a:p>
          <a:p>
            <a:pPr marL="342900" indent="-342900">
              <a:buFont typeface="Arial" panose="020B0604020202020204" pitchFamily="34" charset="0"/>
              <a:buChar char="•"/>
            </a:pPr>
            <a:r>
              <a:rPr lang="en-US" sz="2600">
                <a:solidFill>
                  <a:schemeClr val="bg1"/>
                </a:solidFill>
              </a:rPr>
              <a:t>How will your team keep records of your process?</a:t>
            </a:r>
          </a:p>
          <a:p>
            <a:pPr marL="342900" indent="-342900">
              <a:buFont typeface="Arial" panose="020B0604020202020204" pitchFamily="34" charset="0"/>
              <a:buChar char="•"/>
            </a:pPr>
            <a:r>
              <a:rPr lang="en-US" sz="2600">
                <a:solidFill>
                  <a:schemeClr val="bg1"/>
                </a:solidFill>
              </a:rPr>
              <a:t>How do you keep track of ethical design choices and considerations after the launch of the AI?</a:t>
            </a:r>
          </a:p>
          <a:p>
            <a:pPr marL="342900" indent="-342900">
              <a:buFont typeface="Arial" panose="020B0604020202020204" pitchFamily="34" charset="0"/>
              <a:buChar char="•"/>
            </a:pPr>
            <a:r>
              <a:rPr lang="en-US" sz="2600">
                <a:solidFill>
                  <a:schemeClr val="bg1"/>
                </a:solidFill>
              </a:rPr>
              <a:t>Will others new to the effort be able to understand the records?</a:t>
            </a:r>
          </a:p>
        </p:txBody>
      </p:sp>
    </p:spTree>
    <p:extLst>
      <p:ext uri="{BB962C8B-B14F-4D97-AF65-F5344CB8AC3E}">
        <p14:creationId xmlns:p14="http://schemas.microsoft.com/office/powerpoint/2010/main" val="817881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7E8CCA-7A32-474F-B735-12BC64781739}"/>
              </a:ext>
            </a:extLst>
          </p:cNvPr>
          <p:cNvSpPr>
            <a:spLocks noGrp="1"/>
          </p:cNvSpPr>
          <p:nvPr>
            <p:ph type="title"/>
          </p:nvPr>
        </p:nvSpPr>
        <p:spPr>
          <a:xfrm>
            <a:off x="355741" y="194679"/>
            <a:ext cx="11474881" cy="543475"/>
          </a:xfrm>
        </p:spPr>
        <p:txBody>
          <a:bodyPr>
            <a:noAutofit/>
          </a:bodyPr>
          <a:lstStyle/>
          <a:p>
            <a:r>
              <a:rPr lang="en-US">
                <a:solidFill>
                  <a:prstClr val="white"/>
                </a:solidFill>
                <a:latin typeface="Perpetua Titling MT Light" charset="0"/>
              </a:rPr>
              <a:t>ACCOUNTABILITY – BAD ACTORS</a:t>
            </a:r>
          </a:p>
        </p:txBody>
      </p:sp>
      <p:sp>
        <p:nvSpPr>
          <p:cNvPr id="6" name="Rectangle 5">
            <a:extLst>
              <a:ext uri="{FF2B5EF4-FFF2-40B4-BE49-F238E27FC236}">
                <a16:creationId xmlns:a16="http://schemas.microsoft.com/office/drawing/2014/main" id="{2ACB353E-D9B0-2042-94C6-1A624B24E25F}"/>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7" name="TextBox 6">
            <a:extLst>
              <a:ext uri="{FF2B5EF4-FFF2-40B4-BE49-F238E27FC236}">
                <a16:creationId xmlns:a16="http://schemas.microsoft.com/office/drawing/2014/main" id="{802F37E0-4366-8947-BD70-C7304C6570D4}"/>
              </a:ext>
            </a:extLst>
          </p:cNvPr>
          <p:cNvSpPr txBox="1"/>
          <p:nvPr/>
        </p:nvSpPr>
        <p:spPr>
          <a:xfrm>
            <a:off x="613611" y="1154624"/>
            <a:ext cx="11364637" cy="5016758"/>
          </a:xfrm>
          <a:prstGeom prst="rect">
            <a:avLst/>
          </a:prstGeom>
          <a:noFill/>
        </p:spPr>
        <p:txBody>
          <a:bodyPr wrap="square" rtlCol="0">
            <a:spAutoFit/>
          </a:bodyPr>
          <a:lstStyle/>
          <a:p>
            <a:r>
              <a:rPr lang="en-CA" sz="2800" b="1">
                <a:solidFill>
                  <a:srgbClr val="FFFF00"/>
                </a:solidFill>
              </a:rPr>
              <a:t>As AI becomes more powerful across our society, it will also become more dangerous as a weapon. </a:t>
            </a:r>
          </a:p>
          <a:p>
            <a:pPr marL="285750" indent="-285750">
              <a:buFont typeface="Arial" panose="020B0604020202020204" pitchFamily="34" charset="0"/>
              <a:buChar char="•"/>
            </a:pPr>
            <a:r>
              <a:rPr lang="en-CA" sz="2400">
                <a:solidFill>
                  <a:schemeClr val="bg1"/>
                </a:solidFill>
              </a:rPr>
              <a:t>It’s possible to imagine a scary scenario where a bad actor takes over the AI model that controls a city’s water supply, power grid, or traffic signals. </a:t>
            </a:r>
          </a:p>
          <a:p>
            <a:pPr marL="285750" indent="-285750">
              <a:buFont typeface="Arial" panose="020B0604020202020204" pitchFamily="34" charset="0"/>
              <a:buChar char="•"/>
            </a:pPr>
            <a:r>
              <a:rPr lang="en-CA" sz="2400">
                <a:solidFill>
                  <a:schemeClr val="bg1"/>
                </a:solidFill>
              </a:rPr>
              <a:t>More scary is the militarisation of AI, where robots learn to fight and drones can fly themselves into combat.</a:t>
            </a:r>
          </a:p>
          <a:p>
            <a:pPr marL="285750" indent="-285750">
              <a:buFont typeface="Arial" panose="020B0604020202020204" pitchFamily="34" charset="0"/>
              <a:buChar char="•"/>
            </a:pPr>
            <a:r>
              <a:rPr lang="en-CA" sz="2400">
                <a:solidFill>
                  <a:schemeClr val="bg1"/>
                </a:solidFill>
              </a:rPr>
              <a:t>Cybersecurity will become more important than ever. Controlling access to the power of AI is a huge challenge and a difficult tightrope to walk. </a:t>
            </a:r>
          </a:p>
          <a:p>
            <a:pPr marL="285750" indent="-285750">
              <a:buFont typeface="Arial" panose="020B0604020202020204" pitchFamily="34" charset="0"/>
              <a:buChar char="•"/>
            </a:pPr>
            <a:r>
              <a:rPr lang="en-CA" sz="2400">
                <a:solidFill>
                  <a:schemeClr val="bg1"/>
                </a:solidFill>
              </a:rPr>
              <a:t>We shouldn’t centralise the benefits of AI, but we also don’t want the dangers of AI to spread. </a:t>
            </a:r>
          </a:p>
          <a:p>
            <a:pPr marL="285750" indent="-285750">
              <a:buFont typeface="Arial" panose="020B0604020202020204" pitchFamily="34" charset="0"/>
              <a:buChar char="•"/>
            </a:pPr>
            <a:r>
              <a:rPr lang="en-CA" sz="2400">
                <a:solidFill>
                  <a:schemeClr val="bg1"/>
                </a:solidFill>
              </a:rPr>
              <a:t>This becomes especially challenging in the coming years as AI becomes more intelligent and faster than our brains by an order of magnitude.</a:t>
            </a:r>
          </a:p>
          <a:p>
            <a:pPr marL="285750" indent="-285750">
              <a:buFont typeface="Arial" panose="020B0604020202020204" pitchFamily="34" charset="0"/>
              <a:buChar char="•"/>
            </a:pPr>
            <a:endParaRPr lang="en-US" sz="2400">
              <a:solidFill>
                <a:schemeClr val="bg1"/>
              </a:solidFill>
            </a:endParaRPr>
          </a:p>
        </p:txBody>
      </p:sp>
      <p:sp>
        <p:nvSpPr>
          <p:cNvPr id="5" name="Slide Number Placeholder 4">
            <a:extLst>
              <a:ext uri="{FF2B5EF4-FFF2-40B4-BE49-F238E27FC236}">
                <a16:creationId xmlns:a16="http://schemas.microsoft.com/office/drawing/2014/main" id="{1B739BAC-5A0B-944B-BF12-5419E5E2B976}"/>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10</a:t>
            </a:fld>
            <a:endParaRPr lang="en-US" sz="1400">
              <a:solidFill>
                <a:schemeClr val="bg1"/>
              </a:solidFill>
            </a:endParaRPr>
          </a:p>
        </p:txBody>
      </p:sp>
    </p:spTree>
    <p:extLst>
      <p:ext uri="{BB962C8B-B14F-4D97-AF65-F5344CB8AC3E}">
        <p14:creationId xmlns:p14="http://schemas.microsoft.com/office/powerpoint/2010/main" val="541511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463639" y="1363261"/>
            <a:ext cx="11128897" cy="4175033"/>
          </a:xfrm>
        </p:spPr>
        <p:txBody>
          <a:bodyPr>
            <a:noAutofit/>
          </a:bodyPr>
          <a:lstStyle/>
          <a:p>
            <a:pPr marL="0" indent="0" fontAlgn="base">
              <a:buNone/>
            </a:pPr>
            <a:r>
              <a:rPr lang="en-CA" sz="2400" b="1" u="sng" dirty="0">
                <a:solidFill>
                  <a:srgbClr val="FFFF00"/>
                </a:solidFill>
                <a:latin typeface="+mn-lt"/>
                <a:ea typeface="+mn-ea"/>
              </a:rPr>
              <a:t>INSTRUCTIONS:</a:t>
            </a:r>
            <a:endParaRPr lang="en-CA" sz="2400" dirty="0">
              <a:solidFill>
                <a:srgbClr val="FFFF00"/>
              </a:solidFill>
              <a:latin typeface="+mn-lt"/>
              <a:ea typeface="+mn-ea"/>
            </a:endParaRPr>
          </a:p>
          <a:p>
            <a:pPr marL="0" indent="0" fontAlgn="base">
              <a:buNone/>
            </a:pPr>
            <a:r>
              <a:rPr lang="en-CA" sz="2400" b="1" dirty="0">
                <a:solidFill>
                  <a:schemeClr val="bg1"/>
                </a:solidFill>
                <a:latin typeface="+mn-lt"/>
                <a:ea typeface="+mn-ea"/>
              </a:rPr>
              <a:t>Watch the 2 videos and answer the questions</a:t>
            </a:r>
          </a:p>
          <a:p>
            <a:pPr marL="0" indent="0" fontAlgn="base">
              <a:buNone/>
            </a:pPr>
            <a:r>
              <a:rPr lang="en-CA" sz="2400" b="1" dirty="0">
                <a:solidFill>
                  <a:schemeClr val="bg1"/>
                </a:solidFill>
                <a:latin typeface="+mn-lt"/>
                <a:ea typeface="+mn-ea"/>
              </a:rPr>
              <a:t>AI ETHICS: Good Bad and The Ugly (Fujitsu Video) +</a:t>
            </a:r>
          </a:p>
          <a:p>
            <a:pPr marL="0" indent="0" fontAlgn="base">
              <a:buNone/>
            </a:pPr>
            <a:r>
              <a:rPr lang="en-CA" sz="2800" b="1" dirty="0">
                <a:solidFill>
                  <a:srgbClr val="FFFF00"/>
                </a:solidFill>
                <a:latin typeface="+mn-lt"/>
                <a:ea typeface="+mn-ea"/>
              </a:rPr>
              <a:t>AI and the Humanities  : Ethics in AI</a:t>
            </a: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a:xfrm>
            <a:off x="463639" y="569177"/>
            <a:ext cx="11474881" cy="543475"/>
          </a:xfrm>
        </p:spPr>
        <p:txBody>
          <a:bodyPr>
            <a:noAutofit/>
          </a:bodyPr>
          <a:lstStyle/>
          <a:p>
            <a:r>
              <a:rPr lang="en-US" b="1" dirty="0">
                <a:solidFill>
                  <a:srgbClr val="FFFF00"/>
                </a:solidFill>
              </a:rPr>
              <a:t>LAB EXERCISE 16 </a:t>
            </a:r>
            <a:br>
              <a:rPr lang="en-US" dirty="0">
                <a:solidFill>
                  <a:schemeClr val="bg1"/>
                </a:solidFill>
              </a:rPr>
            </a:br>
            <a:r>
              <a:rPr lang="en-US" dirty="0">
                <a:solidFill>
                  <a:schemeClr val="bg1"/>
                </a:solidFill>
              </a:rPr>
              <a:t>AI ETHICS: AI Perspectives from Experts </a:t>
            </a:r>
            <a:endParaRPr lang="en-US" dirty="0"/>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11</a:t>
            </a:fld>
            <a:endParaRPr lang="en-US" sz="140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52176" y="134503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8" name="Picture 7">
            <a:extLst>
              <a:ext uri="{FF2B5EF4-FFF2-40B4-BE49-F238E27FC236}">
                <a16:creationId xmlns:a16="http://schemas.microsoft.com/office/drawing/2014/main" id="{DA689722-1EA8-EB4F-AFEB-8870D3C132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8476" y="303663"/>
            <a:ext cx="794084" cy="794084"/>
          </a:xfrm>
          <a:prstGeom prst="rect">
            <a:avLst/>
          </a:prstGeom>
        </p:spPr>
      </p:pic>
      <p:sp>
        <p:nvSpPr>
          <p:cNvPr id="9" name="TextBox 8">
            <a:extLst>
              <a:ext uri="{FF2B5EF4-FFF2-40B4-BE49-F238E27FC236}">
                <a16:creationId xmlns:a16="http://schemas.microsoft.com/office/drawing/2014/main" id="{85CEBD8C-06BD-9140-970E-AD5473CB95A7}"/>
              </a:ext>
            </a:extLst>
          </p:cNvPr>
          <p:cNvSpPr txBox="1"/>
          <p:nvPr/>
        </p:nvSpPr>
        <p:spPr>
          <a:xfrm>
            <a:off x="524945" y="3517158"/>
            <a:ext cx="5124268" cy="2862322"/>
          </a:xfrm>
          <a:prstGeom prst="rect">
            <a:avLst/>
          </a:prstGeom>
          <a:noFill/>
        </p:spPr>
        <p:txBody>
          <a:bodyPr wrap="square" rtlCol="0">
            <a:spAutoFit/>
          </a:bodyPr>
          <a:lstStyle/>
          <a:p>
            <a:r>
              <a:rPr lang="en-US" sz="2000" b="1" dirty="0">
                <a:solidFill>
                  <a:schemeClr val="bg1"/>
                </a:solidFill>
              </a:rPr>
              <a:t>Sources YouTube</a:t>
            </a:r>
          </a:p>
          <a:p>
            <a:br>
              <a:rPr lang="en-US" sz="2000" b="1" dirty="0">
                <a:solidFill>
                  <a:schemeClr val="bg1"/>
                </a:solidFill>
              </a:rPr>
            </a:br>
            <a:r>
              <a:rPr lang="en-US" sz="2000" b="1" dirty="0">
                <a:solidFill>
                  <a:schemeClr val="bg1"/>
                </a:solidFill>
              </a:rPr>
              <a:t>Video 1:</a:t>
            </a:r>
          </a:p>
          <a:p>
            <a:r>
              <a:rPr lang="en-US" sz="2000" dirty="0">
                <a:solidFill>
                  <a:schemeClr val="bg1"/>
                </a:solidFill>
                <a:hlinkClick r:id="rId3">
                  <a:extLst>
                    <a:ext uri="{A12FA001-AC4F-418D-AE19-62706E023703}">
                      <ahyp:hlinkClr xmlns:ahyp="http://schemas.microsoft.com/office/drawing/2018/hyperlinkcolor" val="tx"/>
                    </a:ext>
                  </a:extLst>
                </a:hlinkClick>
              </a:rPr>
              <a:t>https://www.youtube.com/watch?v=n8df6MQzQoc</a:t>
            </a:r>
            <a:endParaRPr lang="en-US" sz="2000" dirty="0">
              <a:solidFill>
                <a:schemeClr val="bg1"/>
              </a:solidFill>
            </a:endParaRPr>
          </a:p>
          <a:p>
            <a:r>
              <a:rPr lang="en-US" sz="2000" dirty="0">
                <a:solidFill>
                  <a:schemeClr val="bg1"/>
                </a:solidFill>
              </a:rPr>
              <a:t>Video 2: </a:t>
            </a:r>
          </a:p>
          <a:p>
            <a:r>
              <a:rPr lang="en-US" sz="2000" dirty="0">
                <a:solidFill>
                  <a:schemeClr val="bg1"/>
                </a:solidFill>
              </a:rPr>
              <a:t>https://</a:t>
            </a:r>
            <a:r>
              <a:rPr lang="en-US" sz="2000" dirty="0" err="1">
                <a:solidFill>
                  <a:schemeClr val="bg1"/>
                </a:solidFill>
              </a:rPr>
              <a:t>www.youtube.com</a:t>
            </a:r>
            <a:r>
              <a:rPr lang="en-US" sz="2000" dirty="0">
                <a:solidFill>
                  <a:schemeClr val="bg1"/>
                </a:solidFill>
              </a:rPr>
              <a:t>/</a:t>
            </a:r>
            <a:r>
              <a:rPr lang="en-US" sz="2000" dirty="0" err="1">
                <a:solidFill>
                  <a:schemeClr val="bg1"/>
                </a:solidFill>
              </a:rPr>
              <a:t>watch?v</a:t>
            </a:r>
            <a:r>
              <a:rPr lang="en-US" sz="2000" dirty="0">
                <a:solidFill>
                  <a:schemeClr val="bg1"/>
                </a:solidFill>
              </a:rPr>
              <a:t>=AmxTki3VxHo</a:t>
            </a:r>
          </a:p>
          <a:p>
            <a:endParaRPr lang="en-US" sz="2000" dirty="0">
              <a:solidFill>
                <a:schemeClr val="bg1"/>
              </a:solidFill>
            </a:endParaRPr>
          </a:p>
        </p:txBody>
      </p:sp>
      <p:sp>
        <p:nvSpPr>
          <p:cNvPr id="4" name="TextBox 3">
            <a:extLst>
              <a:ext uri="{FF2B5EF4-FFF2-40B4-BE49-F238E27FC236}">
                <a16:creationId xmlns:a16="http://schemas.microsoft.com/office/drawing/2014/main" id="{BD37BD6E-2FDA-8548-82B2-0E1ABA26D422}"/>
              </a:ext>
            </a:extLst>
          </p:cNvPr>
          <p:cNvSpPr txBox="1"/>
          <p:nvPr/>
        </p:nvSpPr>
        <p:spPr>
          <a:xfrm>
            <a:off x="6252464" y="3209381"/>
            <a:ext cx="5939536" cy="3477875"/>
          </a:xfrm>
          <a:prstGeom prst="rect">
            <a:avLst/>
          </a:prstGeom>
          <a:noFill/>
        </p:spPr>
        <p:txBody>
          <a:bodyPr wrap="square" rtlCol="0">
            <a:spAutoFit/>
          </a:bodyPr>
          <a:lstStyle/>
          <a:p>
            <a:r>
              <a:rPr lang="en-US" sz="2000" b="1" u="sng" dirty="0">
                <a:solidFill>
                  <a:srgbClr val="FFFF00"/>
                </a:solidFill>
              </a:rPr>
              <a:t>DISCUSSION:</a:t>
            </a:r>
          </a:p>
          <a:p>
            <a:r>
              <a:rPr lang="en-US" sz="2000" dirty="0">
                <a:solidFill>
                  <a:schemeClr val="bg1"/>
                </a:solidFill>
              </a:rPr>
              <a:t>What are the perspectives that you learned from these senior experts (risks and where are we going with AI)?</a:t>
            </a:r>
          </a:p>
          <a:p>
            <a:endParaRPr lang="en-US" sz="2000" dirty="0">
              <a:solidFill>
                <a:schemeClr val="bg1"/>
              </a:solidFill>
            </a:endParaRPr>
          </a:p>
          <a:p>
            <a:r>
              <a:rPr lang="en-US" sz="2000" b="1" u="sng" dirty="0">
                <a:solidFill>
                  <a:srgbClr val="FFFF00"/>
                </a:solidFill>
              </a:rPr>
              <a:t>LEARNING OUTCOME:</a:t>
            </a:r>
            <a:endParaRPr lang="en-US" sz="2000" b="1" dirty="0">
              <a:solidFill>
                <a:schemeClr val="bg1"/>
              </a:solidFill>
            </a:endParaRPr>
          </a:p>
          <a:p>
            <a:pPr marL="342900" indent="-342900">
              <a:buFont typeface="Arial" panose="020B0604020202020204" pitchFamily="34" charset="0"/>
              <a:buChar char="•"/>
            </a:pPr>
            <a:r>
              <a:rPr lang="en-US" sz="2000" b="1" dirty="0">
                <a:solidFill>
                  <a:schemeClr val="bg1"/>
                </a:solidFill>
              </a:rPr>
              <a:t>Appreciating AI is pervasive and Ethics must be embedded is all of products from the design stage and </a:t>
            </a:r>
          </a:p>
          <a:p>
            <a:pPr marL="342900" indent="-342900">
              <a:buFont typeface="Arial" panose="020B0604020202020204" pitchFamily="34" charset="0"/>
              <a:buChar char="•"/>
            </a:pPr>
            <a:r>
              <a:rPr lang="en-US" sz="2000" b="1" dirty="0">
                <a:solidFill>
                  <a:schemeClr val="bg1"/>
                </a:solidFill>
              </a:rPr>
              <a:t>Appreciation of AI governance and ethical guidelines</a:t>
            </a:r>
          </a:p>
          <a:p>
            <a:endParaRPr lang="en-US" sz="2000" b="1" u="sng" dirty="0">
              <a:solidFill>
                <a:srgbClr val="FFFF00"/>
              </a:solidFill>
            </a:endParaRPr>
          </a:p>
        </p:txBody>
      </p:sp>
    </p:spTree>
    <p:extLst>
      <p:ext uri="{BB962C8B-B14F-4D97-AF65-F5344CB8AC3E}">
        <p14:creationId xmlns:p14="http://schemas.microsoft.com/office/powerpoint/2010/main" val="864486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528732" y="1815467"/>
            <a:ext cx="11128897" cy="4175033"/>
          </a:xfrm>
        </p:spPr>
        <p:txBody>
          <a:bodyPr>
            <a:noAutofit/>
          </a:bodyPr>
          <a:lstStyle/>
          <a:p>
            <a:pPr marL="0" indent="0" fontAlgn="base">
              <a:buNone/>
            </a:pPr>
            <a:r>
              <a:rPr lang="en-CA" sz="2400" b="1" u="sng">
                <a:solidFill>
                  <a:srgbClr val="FFFF00"/>
                </a:solidFill>
                <a:latin typeface="+mn-lt"/>
                <a:ea typeface="+mn-ea"/>
              </a:rPr>
              <a:t>INSTRUCTIONS:</a:t>
            </a:r>
            <a:endParaRPr lang="en-CA" sz="2400">
              <a:solidFill>
                <a:srgbClr val="FFFF00"/>
              </a:solidFill>
              <a:latin typeface="+mn-lt"/>
              <a:ea typeface="+mn-ea"/>
            </a:endParaRPr>
          </a:p>
          <a:p>
            <a:pPr marL="0" indent="0" fontAlgn="base">
              <a:buNone/>
            </a:pPr>
            <a:r>
              <a:rPr lang="en-CA" sz="2400" b="1">
                <a:solidFill>
                  <a:schemeClr val="bg1"/>
                </a:solidFill>
                <a:latin typeface="+mn-lt"/>
                <a:ea typeface="+mn-ea"/>
              </a:rPr>
              <a:t>Watch the video Drones of the Future are Here.</a:t>
            </a: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a:xfrm>
            <a:off x="463639" y="569177"/>
            <a:ext cx="11474881" cy="543475"/>
          </a:xfrm>
        </p:spPr>
        <p:txBody>
          <a:bodyPr>
            <a:noAutofit/>
          </a:bodyPr>
          <a:lstStyle/>
          <a:p>
            <a:r>
              <a:rPr lang="en-US" b="1">
                <a:solidFill>
                  <a:srgbClr val="FFFF00"/>
                </a:solidFill>
              </a:rPr>
              <a:t>LAB EXERCISE 17  </a:t>
            </a:r>
            <a:br>
              <a:rPr lang="en-US">
                <a:solidFill>
                  <a:schemeClr val="bg1"/>
                </a:solidFill>
              </a:rPr>
            </a:br>
            <a:r>
              <a:rPr lang="en-US">
                <a:solidFill>
                  <a:schemeClr val="bg1"/>
                </a:solidFill>
              </a:rPr>
              <a:t>AI ETHICS: BAD ACTORS</a:t>
            </a:r>
            <a:endParaRPr lang="en-US"/>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12</a:t>
            </a:fld>
            <a:endParaRPr lang="en-US" sz="140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52176" y="134503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8" name="Picture 7">
            <a:extLst>
              <a:ext uri="{FF2B5EF4-FFF2-40B4-BE49-F238E27FC236}">
                <a16:creationId xmlns:a16="http://schemas.microsoft.com/office/drawing/2014/main" id="{DA689722-1EA8-EB4F-AFEB-8870D3C132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8476" y="303663"/>
            <a:ext cx="794084" cy="794084"/>
          </a:xfrm>
          <a:prstGeom prst="rect">
            <a:avLst/>
          </a:prstGeom>
        </p:spPr>
      </p:pic>
      <p:sp>
        <p:nvSpPr>
          <p:cNvPr id="9" name="TextBox 8">
            <a:extLst>
              <a:ext uri="{FF2B5EF4-FFF2-40B4-BE49-F238E27FC236}">
                <a16:creationId xmlns:a16="http://schemas.microsoft.com/office/drawing/2014/main" id="{85CEBD8C-06BD-9140-970E-AD5473CB95A7}"/>
              </a:ext>
            </a:extLst>
          </p:cNvPr>
          <p:cNvSpPr txBox="1"/>
          <p:nvPr/>
        </p:nvSpPr>
        <p:spPr>
          <a:xfrm>
            <a:off x="528732" y="3025951"/>
            <a:ext cx="4355432" cy="2769989"/>
          </a:xfrm>
          <a:prstGeom prst="rect">
            <a:avLst/>
          </a:prstGeom>
          <a:noFill/>
        </p:spPr>
        <p:txBody>
          <a:bodyPr wrap="square" rtlCol="0">
            <a:spAutoFit/>
          </a:bodyPr>
          <a:lstStyle/>
          <a:p>
            <a:r>
              <a:rPr lang="en-US" sz="2200" b="1" dirty="0">
                <a:solidFill>
                  <a:schemeClr val="bg1"/>
                </a:solidFill>
              </a:rPr>
              <a:t>Source: YouTube</a:t>
            </a:r>
          </a:p>
          <a:p>
            <a:r>
              <a:rPr lang="en-US" sz="2200" dirty="0">
                <a:solidFill>
                  <a:schemeClr val="bg1"/>
                </a:solidFill>
              </a:rPr>
              <a:t>Drones of The Future Are Here: AI, Autonomous Weapons. AI Risks – Bad Actors Produced by The University of Berkeley, Stuart Russell, Professor Computing Science</a:t>
            </a:r>
            <a:endParaRPr lang="en-US" sz="1400" dirty="0">
              <a:solidFill>
                <a:schemeClr val="bg1"/>
              </a:solidFill>
            </a:endParaRPr>
          </a:p>
          <a:p>
            <a:r>
              <a:rPr lang="en-US" sz="1400" dirty="0">
                <a:solidFill>
                  <a:schemeClr val="bg1"/>
                </a:solidFill>
              </a:rPr>
              <a:t> </a:t>
            </a:r>
          </a:p>
          <a:p>
            <a:r>
              <a:rPr lang="en-US" sz="1400" dirty="0">
                <a:solidFill>
                  <a:schemeClr val="bg1"/>
                </a:solidFill>
              </a:rPr>
              <a:t>https://</a:t>
            </a:r>
            <a:r>
              <a:rPr lang="en-US" sz="1400" dirty="0" err="1">
                <a:solidFill>
                  <a:schemeClr val="bg1"/>
                </a:solidFill>
              </a:rPr>
              <a:t>www.youtube.com</a:t>
            </a:r>
            <a:r>
              <a:rPr lang="en-US" sz="1400" dirty="0">
                <a:solidFill>
                  <a:schemeClr val="bg1"/>
                </a:solidFill>
              </a:rPr>
              <a:t>/</a:t>
            </a:r>
            <a:r>
              <a:rPr lang="en-US" sz="1400" dirty="0" err="1">
                <a:solidFill>
                  <a:schemeClr val="bg1"/>
                </a:solidFill>
              </a:rPr>
              <a:t>watch?v</a:t>
            </a:r>
            <a:r>
              <a:rPr lang="en-US" sz="1400" dirty="0">
                <a:solidFill>
                  <a:schemeClr val="bg1"/>
                </a:solidFill>
              </a:rPr>
              <a:t>=u3n38GAVXGA&amp;feature=</a:t>
            </a:r>
            <a:r>
              <a:rPr lang="en-US" sz="1400" dirty="0" err="1">
                <a:solidFill>
                  <a:schemeClr val="bg1"/>
                </a:solidFill>
              </a:rPr>
              <a:t>emb_logo</a:t>
            </a:r>
            <a:endParaRPr lang="en-US" sz="1400" dirty="0">
              <a:solidFill>
                <a:schemeClr val="bg1"/>
              </a:solidFill>
            </a:endParaRPr>
          </a:p>
        </p:txBody>
      </p:sp>
      <p:pic>
        <p:nvPicPr>
          <p:cNvPr id="10" name="Picture 9">
            <a:extLst>
              <a:ext uri="{FF2B5EF4-FFF2-40B4-BE49-F238E27FC236}">
                <a16:creationId xmlns:a16="http://schemas.microsoft.com/office/drawing/2014/main" id="{16AA8BED-CD42-094A-8DAF-540451D5EAF9}"/>
              </a:ext>
            </a:extLst>
          </p:cNvPr>
          <p:cNvPicPr>
            <a:picLocks noChangeAspect="1"/>
          </p:cNvPicPr>
          <p:nvPr/>
        </p:nvPicPr>
        <p:blipFill>
          <a:blip r:embed="rId3"/>
          <a:stretch>
            <a:fillRect/>
          </a:stretch>
        </p:blipFill>
        <p:spPr>
          <a:xfrm>
            <a:off x="7473281" y="1921051"/>
            <a:ext cx="3670300" cy="2209800"/>
          </a:xfrm>
          <a:prstGeom prst="rect">
            <a:avLst/>
          </a:prstGeom>
        </p:spPr>
      </p:pic>
      <p:sp>
        <p:nvSpPr>
          <p:cNvPr id="4" name="TextBox 3">
            <a:extLst>
              <a:ext uri="{FF2B5EF4-FFF2-40B4-BE49-F238E27FC236}">
                <a16:creationId xmlns:a16="http://schemas.microsoft.com/office/drawing/2014/main" id="{BD37BD6E-2FDA-8548-82B2-0E1ABA26D422}"/>
              </a:ext>
            </a:extLst>
          </p:cNvPr>
          <p:cNvSpPr txBox="1"/>
          <p:nvPr/>
        </p:nvSpPr>
        <p:spPr>
          <a:xfrm>
            <a:off x="5204045" y="4446546"/>
            <a:ext cx="5939536" cy="2246769"/>
          </a:xfrm>
          <a:prstGeom prst="rect">
            <a:avLst/>
          </a:prstGeom>
          <a:noFill/>
        </p:spPr>
        <p:txBody>
          <a:bodyPr wrap="square" rtlCol="0">
            <a:spAutoFit/>
          </a:bodyPr>
          <a:lstStyle/>
          <a:p>
            <a:r>
              <a:rPr lang="en-US" sz="2000" b="1" u="sng">
                <a:solidFill>
                  <a:srgbClr val="FFFF00"/>
                </a:solidFill>
              </a:rPr>
              <a:t>DISCUSSION:</a:t>
            </a:r>
          </a:p>
          <a:p>
            <a:r>
              <a:rPr lang="en-US" sz="2000">
                <a:solidFill>
                  <a:schemeClr val="bg1"/>
                </a:solidFill>
              </a:rPr>
              <a:t>What do you see the ethical risks are of Drones that are Weapons?</a:t>
            </a:r>
          </a:p>
          <a:p>
            <a:endParaRPr lang="en-US" sz="2000">
              <a:solidFill>
                <a:schemeClr val="bg1"/>
              </a:solidFill>
            </a:endParaRPr>
          </a:p>
          <a:p>
            <a:r>
              <a:rPr lang="en-US" sz="2000" b="1" u="sng">
                <a:solidFill>
                  <a:srgbClr val="FFFF00"/>
                </a:solidFill>
              </a:rPr>
              <a:t>LEARNING OUTCOME: </a:t>
            </a:r>
          </a:p>
          <a:p>
            <a:r>
              <a:rPr lang="en-US" sz="2000">
                <a:solidFill>
                  <a:schemeClr val="bg1"/>
                </a:solidFill>
              </a:rPr>
              <a:t>Ethical Bad Actor Example in Military Appreciated and Understood</a:t>
            </a:r>
          </a:p>
        </p:txBody>
      </p:sp>
    </p:spTree>
    <p:extLst>
      <p:ext uri="{BB962C8B-B14F-4D97-AF65-F5344CB8AC3E}">
        <p14:creationId xmlns:p14="http://schemas.microsoft.com/office/powerpoint/2010/main" val="2898877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A3E898-9F85-F74E-AC78-498B7E50102F}"/>
              </a:ext>
            </a:extLst>
          </p:cNvPr>
          <p:cNvSpPr>
            <a:spLocks noGrp="1"/>
          </p:cNvSpPr>
          <p:nvPr>
            <p:ph sz="quarter" idx="11"/>
          </p:nvPr>
        </p:nvSpPr>
        <p:spPr>
          <a:xfrm>
            <a:off x="636630" y="1583808"/>
            <a:ext cx="11128897" cy="4175033"/>
          </a:xfrm>
        </p:spPr>
        <p:txBody>
          <a:bodyPr>
            <a:noAutofit/>
          </a:bodyPr>
          <a:lstStyle/>
          <a:p>
            <a:pPr marL="0" indent="0" fontAlgn="base">
              <a:buNone/>
            </a:pPr>
            <a:r>
              <a:rPr lang="en-CA" sz="2400" b="1" u="sng">
                <a:solidFill>
                  <a:srgbClr val="FFFF00"/>
                </a:solidFill>
                <a:latin typeface="Garamond" panose="02020404030301010803" pitchFamily="18" charset="0"/>
                <a:ea typeface="+mn-ea"/>
              </a:rPr>
              <a:t>ADDITIONAL LEARNING RECOMMENDED</a:t>
            </a:r>
          </a:p>
          <a:p>
            <a:pPr marL="0" indent="0" fontAlgn="base">
              <a:buNone/>
            </a:pPr>
            <a:r>
              <a:rPr lang="en-CA" sz="2400" b="1" u="sng">
                <a:solidFill>
                  <a:schemeClr val="bg1"/>
                </a:solidFill>
                <a:latin typeface="Garamond" panose="02020404030301010803" pitchFamily="18" charset="0"/>
                <a:ea typeface="+mn-ea"/>
              </a:rPr>
              <a:t>AI in Military &amp; AI Ethical Risks (2019) produced by Stanford University on The Ethics of Technological Development (1 hour Video)</a:t>
            </a:r>
          </a:p>
          <a:p>
            <a:pPr marL="0" indent="0">
              <a:buNone/>
            </a:pPr>
            <a:r>
              <a:rPr lang="en-CA" sz="2400">
                <a:solidFill>
                  <a:schemeClr val="bg1"/>
                </a:solidFill>
                <a:latin typeface="Garamond" panose="02020404030301010803" pitchFamily="18" charset="0"/>
              </a:rPr>
              <a:t>Speakers: Courtney Bowman (Privacy and Civil Liberties Team Lead, Palantir), Avril Haines (Former White House Deputy National Security Advisor; Former Deputy Director, CIA), and Mike Kaul (CEO in Residence, Defense Innovation Unit Experimental) join the Stanford teaching team, Rob Reich, Mehran Sahami, Jeremy Weinstein, and Hilary Cohen, to examine issues of artificial intelligence for military purposes and national security. They discuss collaboration between the US Government and the technology sector, AI governance and its geopolitical context, and the ethics of autonomous weapons.</a:t>
            </a:r>
          </a:p>
          <a:p>
            <a:r>
              <a:rPr lang="en-CA" sz="2400" b="1">
                <a:solidFill>
                  <a:schemeClr val="bg1"/>
                </a:solidFill>
                <a:latin typeface="Garamond" panose="02020404030301010803" pitchFamily="18" charset="0"/>
              </a:rPr>
              <a:t>Source: YouTube: </a:t>
            </a:r>
            <a:r>
              <a:rPr lang="en-CA" sz="2400">
                <a:solidFill>
                  <a:schemeClr val="bg1"/>
                </a:solidFill>
                <a:latin typeface="Garamond" panose="02020404030301010803" pitchFamily="18" charset="0"/>
              </a:rPr>
              <a:t>https://www.youtube.com/watch?v=WfS9PoxJCDA</a:t>
            </a:r>
            <a:br>
              <a:rPr lang="en-CA" sz="2400">
                <a:solidFill>
                  <a:schemeClr val="bg1"/>
                </a:solidFill>
                <a:latin typeface="Garamond" panose="02020404030301010803" pitchFamily="18" charset="0"/>
              </a:rPr>
            </a:br>
            <a:endParaRPr lang="en-CA" sz="2400">
              <a:solidFill>
                <a:schemeClr val="bg1"/>
              </a:solidFill>
              <a:latin typeface="Garamond" panose="02020404030301010803" pitchFamily="18" charset="0"/>
            </a:endParaRPr>
          </a:p>
          <a:p>
            <a:pPr marL="0" indent="0" fontAlgn="base">
              <a:buNone/>
            </a:pPr>
            <a:endParaRPr lang="en-CA" sz="2400">
              <a:solidFill>
                <a:schemeClr val="bg1"/>
              </a:solidFill>
              <a:latin typeface="Garamond" panose="02020404030301010803" pitchFamily="18" charset="0"/>
              <a:ea typeface="+mn-ea"/>
            </a:endParaRPr>
          </a:p>
        </p:txBody>
      </p:sp>
      <p:sp>
        <p:nvSpPr>
          <p:cNvPr id="3" name="Title 2">
            <a:extLst>
              <a:ext uri="{FF2B5EF4-FFF2-40B4-BE49-F238E27FC236}">
                <a16:creationId xmlns:a16="http://schemas.microsoft.com/office/drawing/2014/main" id="{BFBB4D0F-021C-4442-B10A-8579677F9B65}"/>
              </a:ext>
            </a:extLst>
          </p:cNvPr>
          <p:cNvSpPr>
            <a:spLocks noGrp="1"/>
          </p:cNvSpPr>
          <p:nvPr>
            <p:ph type="title"/>
          </p:nvPr>
        </p:nvSpPr>
        <p:spPr>
          <a:xfrm>
            <a:off x="463639" y="569177"/>
            <a:ext cx="11474881" cy="543475"/>
          </a:xfrm>
        </p:spPr>
        <p:txBody>
          <a:bodyPr>
            <a:noAutofit/>
          </a:bodyPr>
          <a:lstStyle/>
          <a:p>
            <a:r>
              <a:rPr lang="en-US" b="1">
                <a:solidFill>
                  <a:srgbClr val="FFFF00"/>
                </a:solidFill>
              </a:rPr>
              <a:t>LAB EXERCISE 17 (Cont)</a:t>
            </a:r>
            <a:br>
              <a:rPr lang="en-US">
                <a:solidFill>
                  <a:schemeClr val="bg1"/>
                </a:solidFill>
              </a:rPr>
            </a:br>
            <a:r>
              <a:rPr lang="en-US">
                <a:solidFill>
                  <a:schemeClr val="bg1"/>
                </a:solidFill>
              </a:rPr>
              <a:t>AI ETHICS: BAD ACTORS</a:t>
            </a:r>
            <a:endParaRPr lang="en-US"/>
          </a:p>
        </p:txBody>
      </p:sp>
      <p:sp>
        <p:nvSpPr>
          <p:cNvPr id="6" name="Slide Number Placeholder 4">
            <a:extLst>
              <a:ext uri="{FF2B5EF4-FFF2-40B4-BE49-F238E27FC236}">
                <a16:creationId xmlns:a16="http://schemas.microsoft.com/office/drawing/2014/main" id="{00FA4F63-FC8C-9946-B822-AC6CC03071D3}"/>
              </a:ext>
            </a:extLst>
          </p:cNvPr>
          <p:cNvSpPr txBox="1">
            <a:spLocks/>
          </p:cNvSpPr>
          <p:nvPr/>
        </p:nvSpPr>
        <p:spPr>
          <a:xfrm>
            <a:off x="11715750" y="6264167"/>
            <a:ext cx="445540" cy="59383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13</a:t>
            </a:fld>
            <a:endParaRPr lang="en-US" sz="1400">
              <a:solidFill>
                <a:schemeClr val="bg1"/>
              </a:solidFill>
            </a:endParaRPr>
          </a:p>
        </p:txBody>
      </p:sp>
      <p:sp>
        <p:nvSpPr>
          <p:cNvPr id="7" name="Rectangle 6">
            <a:extLst>
              <a:ext uri="{FF2B5EF4-FFF2-40B4-BE49-F238E27FC236}">
                <a16:creationId xmlns:a16="http://schemas.microsoft.com/office/drawing/2014/main" id="{E4BD0A72-C36C-0D41-8099-281EA502ED52}"/>
              </a:ext>
            </a:extLst>
          </p:cNvPr>
          <p:cNvSpPr/>
          <p:nvPr/>
        </p:nvSpPr>
        <p:spPr bwMode="auto">
          <a:xfrm>
            <a:off x="5052176" y="1345037"/>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8" name="Picture 7">
            <a:extLst>
              <a:ext uri="{FF2B5EF4-FFF2-40B4-BE49-F238E27FC236}">
                <a16:creationId xmlns:a16="http://schemas.microsoft.com/office/drawing/2014/main" id="{DA689722-1EA8-EB4F-AFEB-8870D3C132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8476" y="303663"/>
            <a:ext cx="794084" cy="794084"/>
          </a:xfrm>
          <a:prstGeom prst="rect">
            <a:avLst/>
          </a:prstGeom>
        </p:spPr>
      </p:pic>
    </p:spTree>
    <p:extLst>
      <p:ext uri="{BB962C8B-B14F-4D97-AF65-F5344CB8AC3E}">
        <p14:creationId xmlns:p14="http://schemas.microsoft.com/office/powerpoint/2010/main" val="2101803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14</a:t>
            </a:fld>
            <a:endParaRPr lang="en-US"/>
          </a:p>
        </p:txBody>
      </p:sp>
      <p:sp>
        <p:nvSpPr>
          <p:cNvPr id="8" name="TextBox 7"/>
          <p:cNvSpPr txBox="1"/>
          <p:nvPr/>
        </p:nvSpPr>
        <p:spPr>
          <a:xfrm>
            <a:off x="819090" y="1536197"/>
            <a:ext cx="3110233" cy="2600683"/>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DATA BIAS</a:t>
            </a:r>
            <a:r>
              <a:rPr lang="en-US" sz="3600">
                <a:solidFill>
                  <a:schemeClr val="accent2"/>
                </a:solidFill>
                <a:latin typeface="+mj-lt"/>
              </a:rPr>
              <a:t>: </a:t>
            </a:r>
            <a:r>
              <a:rPr lang="en-US" sz="2000">
                <a:solidFill>
                  <a:srgbClr val="89C542"/>
                </a:solidFill>
                <a:latin typeface="+mj-lt"/>
              </a:rPr>
              <a:t>ENSURE INCLUSION &amp; DIVERSITY</a:t>
            </a:r>
            <a:br>
              <a:rPr lang="en-US">
                <a:solidFill>
                  <a:schemeClr val="bg1"/>
                </a:solidFill>
                <a:latin typeface="+mj-lt"/>
              </a:rPr>
            </a:br>
            <a:r>
              <a:rPr lang="en-US">
                <a:solidFill>
                  <a:schemeClr val="bg1"/>
                </a:solidFill>
                <a:latin typeface="+mj-lt"/>
              </a:rPr>
              <a:t>AI relies on large amounts of data that may or may not reflect the population it seeks to serve.</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9" name="TextBox 8"/>
          <p:cNvSpPr txBox="1"/>
          <p:nvPr/>
        </p:nvSpPr>
        <p:spPr>
          <a:xfrm>
            <a:off x="252663" y="4391307"/>
            <a:ext cx="4332225"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ACCOUNTABILITY: </a:t>
            </a:r>
          </a:p>
          <a:p>
            <a:pPr defTabSz="913851">
              <a:defRPr/>
            </a:pPr>
            <a:r>
              <a:rPr lang="en-US" sz="2000">
                <a:solidFill>
                  <a:srgbClr val="89C542"/>
                </a:solidFill>
                <a:latin typeface="+mj-lt"/>
              </a:rPr>
              <a:t>WHO’S ON FIRST?</a:t>
            </a:r>
          </a:p>
          <a:p>
            <a:pPr defTabSz="913851">
              <a:defRPr/>
            </a:pPr>
            <a:r>
              <a:rPr lang="en-US">
                <a:solidFill>
                  <a:schemeClr val="bg1"/>
                </a:solidFill>
                <a:latin typeface="+mj-lt"/>
              </a:rPr>
              <a:t>With machines learning over time, and charting their own course to outcomes, who is accountable for their errors?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11" name="TextBox 10"/>
          <p:cNvSpPr txBox="1"/>
          <p:nvPr/>
        </p:nvSpPr>
        <p:spPr>
          <a:xfrm>
            <a:off x="7836992" y="1563795"/>
            <a:ext cx="4110366" cy="2569905"/>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r>
              <a:rPr lang="en-US" sz="3600">
                <a:solidFill>
                  <a:srgbClr val="89C542"/>
                </a:solidFill>
                <a:latin typeface="+mj-lt"/>
              </a:rPr>
              <a:t> </a:t>
            </a:r>
            <a:r>
              <a:rPr lang="en-US" sz="2000">
                <a:solidFill>
                  <a:srgbClr val="89C542"/>
                </a:solidFill>
                <a:latin typeface="+mj-lt"/>
              </a:rPr>
              <a:t>SAY WHAT?</a:t>
            </a:r>
          </a:p>
          <a:p>
            <a:pPr defTabSz="913851">
              <a:defRPr/>
            </a:pPr>
            <a:r>
              <a:rPr lang="en-US">
                <a:solidFill>
                  <a:schemeClr val="bg1"/>
                </a:solidFill>
                <a:latin typeface="+mj-lt"/>
              </a:rPr>
              <a:t>The deeper the AI, the more it struggles to explain itself.  Certain use cases require an understanding of the rationale for recommendations and decisions.</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sp>
        <p:nvSpPr>
          <p:cNvPr id="12" name="TextBox 11"/>
          <p:cNvSpPr txBox="1"/>
          <p:nvPr/>
        </p:nvSpPr>
        <p:spPr>
          <a:xfrm>
            <a:off x="8036164" y="4504717"/>
            <a:ext cx="3911194" cy="2292906"/>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PRIVACY:</a:t>
            </a:r>
            <a:r>
              <a:rPr lang="en-US" sz="2000" b="1">
                <a:solidFill>
                  <a:srgbClr val="FF0000"/>
                </a:solidFill>
                <a:latin typeface="+mj-lt"/>
              </a:rPr>
              <a:t> </a:t>
            </a:r>
          </a:p>
          <a:p>
            <a:pPr defTabSz="913851">
              <a:defRPr/>
            </a:pPr>
            <a:r>
              <a:rPr lang="en-US" sz="2000" b="1">
                <a:solidFill>
                  <a:schemeClr val="accent6"/>
                </a:solidFill>
                <a:latin typeface="+mj-lt"/>
              </a:rPr>
              <a:t>TRUST AND TRANSPARENCY</a:t>
            </a:r>
          </a:p>
          <a:p>
            <a:pPr defTabSz="913851">
              <a:defRPr/>
            </a:pPr>
            <a:r>
              <a:rPr lang="en-US">
                <a:solidFill>
                  <a:schemeClr val="bg1"/>
                </a:solidFill>
                <a:latin typeface="+mj-lt"/>
              </a:rPr>
              <a:t>AI threatens to erode our trust in traditional privacy tactics and do things with our data that we didn’t consent to.</a:t>
            </a:r>
          </a:p>
          <a:p>
            <a:pPr defTabSz="913851">
              <a:defRPr/>
            </a:pPr>
            <a:endParaRPr lang="en-US">
              <a:solidFill>
                <a:schemeClr val="bg1"/>
              </a:solidFill>
              <a:latin typeface="+mj-lt"/>
            </a:endParaRPr>
          </a:p>
          <a:p>
            <a:pPr defTabSz="913851">
              <a:defRPr/>
            </a:pPr>
            <a:endParaRPr lang="en-US">
              <a:solidFill>
                <a:schemeClr val="bg1"/>
              </a:solidFill>
              <a:latin typeface="+mj-lt"/>
            </a:endParaRPr>
          </a:p>
        </p:txBody>
      </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599">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905160" y="3713150"/>
            <a:ext cx="1987984" cy="661690"/>
          </a:xfrm>
          <a:prstGeom prst="rect">
            <a:avLst/>
          </a:prstGeom>
          <a:noFill/>
        </p:spPr>
        <p:txBody>
          <a:bodyPr wrap="square" lIns="0" tIns="0" rIns="0" bIns="45691" rtlCol="0">
            <a:spAutoFit/>
          </a:bodyPr>
          <a:lstStyle/>
          <a:p>
            <a:pPr algn="ctr" defTabSz="913851">
              <a:lnSpc>
                <a:spcPts val="2399"/>
              </a:lnSpc>
              <a:defRPr/>
            </a:pPr>
            <a:r>
              <a:rPr lang="en-US" b="1">
                <a:latin typeface="+mj-lt"/>
              </a:rPr>
              <a:t>TRUSTED AI</a:t>
            </a:r>
          </a:p>
          <a:p>
            <a:pPr algn="ctr" defTabSz="913851">
              <a:lnSpc>
                <a:spcPts val="2399"/>
              </a:lnSpc>
              <a:defRPr/>
            </a:pPr>
            <a:r>
              <a:rPr lang="en-US" b="1">
                <a:latin typeface="+mj-lt"/>
              </a:rPr>
              <a:t>AI FOR GOOD</a:t>
            </a:r>
          </a:p>
        </p:txBody>
      </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14</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0" name="TextBox 19">
            <a:extLst>
              <a:ext uri="{FF2B5EF4-FFF2-40B4-BE49-F238E27FC236}">
                <a16:creationId xmlns:a16="http://schemas.microsoft.com/office/drawing/2014/main" id="{1B53C6FC-3492-F24A-8621-A6E825838302}"/>
              </a:ext>
            </a:extLst>
          </p:cNvPr>
          <p:cNvSpPr txBox="1"/>
          <p:nvPr/>
        </p:nvSpPr>
        <p:spPr>
          <a:xfrm>
            <a:off x="7518397" y="1412150"/>
            <a:ext cx="4584888" cy="2352915"/>
          </a:xfrm>
          <a:prstGeom prst="rect">
            <a:avLst/>
          </a:prstGeom>
          <a:noFill/>
          <a:ln w="38100">
            <a:solidFill>
              <a:srgbClr val="FF0000"/>
            </a:solidFill>
          </a:ln>
        </p:spPr>
        <p:txBody>
          <a:bodyPr wrap="square" rtlCol="0">
            <a:spAutoFit/>
          </a:bodyPr>
          <a:lstStyle/>
          <a:p>
            <a:endParaRPr lang="en-US"/>
          </a:p>
        </p:txBody>
      </p:sp>
    </p:spTree>
    <p:extLst>
      <p:ext uri="{BB962C8B-B14F-4D97-AF65-F5344CB8AC3E}">
        <p14:creationId xmlns:p14="http://schemas.microsoft.com/office/powerpoint/2010/main" val="4267069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15</a:t>
            </a:fld>
            <a:endParaRPr lang="en-US"/>
          </a:p>
        </p:txBody>
      </p:sp>
      <p:sp>
        <p:nvSpPr>
          <p:cNvPr id="9" name="TextBox 8"/>
          <p:cNvSpPr txBox="1"/>
          <p:nvPr/>
        </p:nvSpPr>
        <p:spPr>
          <a:xfrm>
            <a:off x="221886" y="2449468"/>
            <a:ext cx="4332225" cy="3031570"/>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p>
          <a:p>
            <a:pPr defTabSz="913851">
              <a:defRPr/>
            </a:pPr>
            <a:r>
              <a:rPr lang="en-US" sz="2000">
                <a:solidFill>
                  <a:srgbClr val="89C542"/>
                </a:solidFill>
              </a:rPr>
              <a:t>SAY WHAT?</a:t>
            </a:r>
          </a:p>
          <a:p>
            <a:pPr defTabSz="913851">
              <a:defRPr/>
            </a:pPr>
            <a:r>
              <a:rPr lang="en-US" sz="2000">
                <a:solidFill>
                  <a:schemeClr val="bg1"/>
                </a:solidFill>
              </a:rPr>
              <a:t>The deeper the AI, the more it struggles to explain itself.  Certain use cases require an understanding of the rationale for recommendations and decisions.</a:t>
            </a:r>
          </a:p>
          <a:p>
            <a:pPr defTabSz="913851">
              <a:defRPr/>
            </a:pPr>
            <a:r>
              <a:rPr lang="en-US" sz="2000" b="1">
                <a:solidFill>
                  <a:srgbClr val="FF0000"/>
                </a:solidFill>
                <a:latin typeface="+mj-lt"/>
              </a:rPr>
              <a:t> </a:t>
            </a:r>
          </a:p>
          <a:p>
            <a:pPr defTabSz="913851">
              <a:defRPr/>
            </a:pPr>
            <a:endParaRPr lang="en-US" sz="2000">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15</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TextBox 5">
            <a:extLst>
              <a:ext uri="{FF2B5EF4-FFF2-40B4-BE49-F238E27FC236}">
                <a16:creationId xmlns:a16="http://schemas.microsoft.com/office/drawing/2014/main" id="{6B94B89F-4A9C-C148-B3D3-0CB918BC3772}"/>
              </a:ext>
            </a:extLst>
          </p:cNvPr>
          <p:cNvSpPr txBox="1"/>
          <p:nvPr/>
        </p:nvSpPr>
        <p:spPr>
          <a:xfrm>
            <a:off x="4848727" y="1613091"/>
            <a:ext cx="6531400" cy="3293209"/>
          </a:xfrm>
          <a:prstGeom prst="rect">
            <a:avLst/>
          </a:prstGeom>
          <a:noFill/>
        </p:spPr>
        <p:txBody>
          <a:bodyPr wrap="square" rtlCol="0">
            <a:spAutoFit/>
          </a:bodyPr>
          <a:lstStyle/>
          <a:p>
            <a:r>
              <a:rPr lang="en-US" sz="2600" b="1">
                <a:solidFill>
                  <a:srgbClr val="FFFF00"/>
                </a:solidFill>
              </a:rPr>
              <a:t>AI should be designed for humans to easily perceive, detect and understand its decision making processes.</a:t>
            </a:r>
          </a:p>
          <a:p>
            <a:endParaRPr lang="en-US" sz="2600">
              <a:solidFill>
                <a:schemeClr val="bg1"/>
              </a:solidFill>
            </a:endParaRPr>
          </a:p>
          <a:p>
            <a:pPr marL="342900" indent="-342900">
              <a:buFont typeface="Arial" panose="020B0604020202020204" pitchFamily="34" charset="0"/>
              <a:buChar char="•"/>
            </a:pPr>
            <a:r>
              <a:rPr lang="en-US" sz="2600">
                <a:solidFill>
                  <a:schemeClr val="bg1"/>
                </a:solidFill>
              </a:rPr>
              <a:t>As AI increases in capabilities and achieves a greater range of impact, its decision making process should be explainable in terms people can understand.</a:t>
            </a:r>
          </a:p>
        </p:txBody>
      </p:sp>
    </p:spTree>
    <p:extLst>
      <p:ext uri="{BB962C8B-B14F-4D97-AF65-F5344CB8AC3E}">
        <p14:creationId xmlns:p14="http://schemas.microsoft.com/office/powerpoint/2010/main" val="3934308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355741" y="194679"/>
            <a:ext cx="11474881" cy="543475"/>
          </a:xfrm>
        </p:spPr>
        <p:txBody>
          <a:bodyPr>
            <a:normAutofit fontScale="90000"/>
          </a:bodyPr>
          <a:lstStyle/>
          <a:p>
            <a:r>
              <a:rPr lang="en-US">
                <a:solidFill>
                  <a:prstClr val="white"/>
                </a:solidFill>
                <a:latin typeface="Perpetua Titling MT Light" charset="0"/>
              </a:rPr>
              <a:t>EXPLAINABILITY</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7" name="TextBox 6">
            <a:extLst>
              <a:ext uri="{FF2B5EF4-FFF2-40B4-BE49-F238E27FC236}">
                <a16:creationId xmlns:a16="http://schemas.microsoft.com/office/drawing/2014/main" id="{1D0FE2ED-D4F5-FA49-BD2E-F6432A31BDDA}"/>
              </a:ext>
            </a:extLst>
          </p:cNvPr>
          <p:cNvSpPr txBox="1"/>
          <p:nvPr/>
        </p:nvSpPr>
        <p:spPr>
          <a:xfrm>
            <a:off x="609770" y="897902"/>
            <a:ext cx="11026524" cy="584775"/>
          </a:xfrm>
          <a:prstGeom prst="rect">
            <a:avLst/>
          </a:prstGeom>
          <a:noFill/>
        </p:spPr>
        <p:txBody>
          <a:bodyPr wrap="square" rtlCol="0">
            <a:spAutoFit/>
          </a:bodyPr>
          <a:lstStyle/>
          <a:p>
            <a:pPr algn="ctr"/>
            <a:r>
              <a:rPr lang="en-US" sz="3200" b="1">
                <a:solidFill>
                  <a:srgbClr val="FFFF00"/>
                </a:solidFill>
              </a:rPr>
              <a:t>TRANSPARENT AI VS BLACK BOX AI</a:t>
            </a:r>
          </a:p>
        </p:txBody>
      </p:sp>
      <p:sp>
        <p:nvSpPr>
          <p:cNvPr id="9" name="TextBox 8">
            <a:extLst>
              <a:ext uri="{FF2B5EF4-FFF2-40B4-BE49-F238E27FC236}">
                <a16:creationId xmlns:a16="http://schemas.microsoft.com/office/drawing/2014/main" id="{97404680-8B80-7B45-8B65-FE8856C46EFA}"/>
              </a:ext>
            </a:extLst>
          </p:cNvPr>
          <p:cNvSpPr txBox="1"/>
          <p:nvPr/>
        </p:nvSpPr>
        <p:spPr>
          <a:xfrm>
            <a:off x="752555" y="1637863"/>
            <a:ext cx="10681252" cy="3108543"/>
          </a:xfrm>
          <a:prstGeom prst="rect">
            <a:avLst/>
          </a:prstGeom>
          <a:noFill/>
        </p:spPr>
        <p:txBody>
          <a:bodyPr wrap="square" rtlCol="0">
            <a:spAutoFit/>
          </a:bodyPr>
          <a:lstStyle/>
          <a:p>
            <a:r>
              <a:rPr lang="en-CA" sz="2800">
                <a:solidFill>
                  <a:schemeClr val="accent6"/>
                </a:solidFill>
              </a:rPr>
              <a:t>DARPA describes </a:t>
            </a:r>
            <a:r>
              <a:rPr lang="en-CA" sz="2800" b="1">
                <a:solidFill>
                  <a:schemeClr val="accent6"/>
                </a:solidFill>
              </a:rPr>
              <a:t>AI explainability</a:t>
            </a:r>
            <a:r>
              <a:rPr lang="en-CA" sz="2800">
                <a:solidFill>
                  <a:schemeClr val="accent6"/>
                </a:solidFill>
              </a:rPr>
              <a:t> in three parts which include: </a:t>
            </a:r>
          </a:p>
          <a:p>
            <a:endParaRPr lang="en-CA" sz="2800">
              <a:solidFill>
                <a:schemeClr val="bg1"/>
              </a:solidFill>
            </a:endParaRPr>
          </a:p>
          <a:p>
            <a:pPr marL="457200" indent="-457200">
              <a:buClr>
                <a:schemeClr val="accent6"/>
              </a:buClr>
              <a:buFont typeface="Wingdings" pitchFamily="2" charset="2"/>
              <a:buChar char="Ø"/>
            </a:pPr>
            <a:r>
              <a:rPr lang="en-CA" sz="2800">
                <a:solidFill>
                  <a:schemeClr val="bg1"/>
                </a:solidFill>
              </a:rPr>
              <a:t>prediction accuracy which means models will explain how conclusions are reached to improve future decision making, </a:t>
            </a:r>
          </a:p>
          <a:p>
            <a:pPr marL="457200" indent="-457200">
              <a:buClr>
                <a:schemeClr val="accent6"/>
              </a:buClr>
              <a:buFont typeface="Wingdings" pitchFamily="2" charset="2"/>
              <a:buChar char="Ø"/>
            </a:pPr>
            <a:r>
              <a:rPr lang="en-CA" sz="2800">
                <a:solidFill>
                  <a:schemeClr val="bg1"/>
                </a:solidFill>
              </a:rPr>
              <a:t>decision understanding and trust from human users and operators, </a:t>
            </a:r>
          </a:p>
          <a:p>
            <a:pPr marL="457200" indent="-457200">
              <a:buClr>
                <a:schemeClr val="accent6"/>
              </a:buClr>
              <a:buFont typeface="Wingdings" pitchFamily="2" charset="2"/>
              <a:buChar char="Ø"/>
            </a:pPr>
            <a:r>
              <a:rPr lang="en-CA" sz="2800">
                <a:solidFill>
                  <a:schemeClr val="bg1"/>
                </a:solidFill>
              </a:rPr>
              <a:t>as well as inspection and traceability of actions undertaken by the </a:t>
            </a:r>
            <a:r>
              <a:rPr lang="en-CA" sz="2800" b="1">
                <a:solidFill>
                  <a:schemeClr val="bg1"/>
                </a:solidFill>
              </a:rPr>
              <a:t>AI</a:t>
            </a:r>
            <a:r>
              <a:rPr lang="en-CA" sz="2800">
                <a:solidFill>
                  <a:schemeClr val="bg1"/>
                </a:solidFill>
              </a:rPr>
              <a:t> ... July 23, 2019</a:t>
            </a:r>
            <a:endParaRPr lang="en-US" sz="2800">
              <a:solidFill>
                <a:schemeClr val="bg1"/>
              </a:solidFill>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16</a:t>
            </a:fld>
            <a:endParaRPr lang="en-US" sz="1400">
              <a:solidFill>
                <a:schemeClr val="bg1"/>
              </a:solidFill>
            </a:endParaRPr>
          </a:p>
        </p:txBody>
      </p:sp>
      <p:sp>
        <p:nvSpPr>
          <p:cNvPr id="2" name="TextBox 1">
            <a:extLst>
              <a:ext uri="{FF2B5EF4-FFF2-40B4-BE49-F238E27FC236}">
                <a16:creationId xmlns:a16="http://schemas.microsoft.com/office/drawing/2014/main" id="{9DDA983A-EB95-5643-94DF-DDDB669CDD9E}"/>
              </a:ext>
            </a:extLst>
          </p:cNvPr>
          <p:cNvSpPr txBox="1"/>
          <p:nvPr/>
        </p:nvSpPr>
        <p:spPr>
          <a:xfrm>
            <a:off x="752556" y="5055752"/>
            <a:ext cx="10681252" cy="1323439"/>
          </a:xfrm>
          <a:prstGeom prst="rect">
            <a:avLst/>
          </a:prstGeom>
          <a:solidFill>
            <a:schemeClr val="accent6"/>
          </a:solidFill>
        </p:spPr>
        <p:txBody>
          <a:bodyPr wrap="square" rtlCol="0">
            <a:spAutoFit/>
          </a:bodyPr>
          <a:lstStyle/>
          <a:p>
            <a:pPr algn="ctr"/>
            <a:r>
              <a:rPr lang="en-US" sz="2000">
                <a:solidFill>
                  <a:schemeClr val="bg1"/>
                </a:solidFill>
              </a:rPr>
              <a:t>Key is reviewing the AI Models frequently to keep evaluating the strength of the model but also to ensure it is still relevant, as business keeps changing and new insights determined that may not be in the datasets – </a:t>
            </a:r>
          </a:p>
          <a:p>
            <a:pPr algn="ctr"/>
            <a:r>
              <a:rPr lang="en-US" sz="2000" b="1">
                <a:solidFill>
                  <a:schemeClr val="bg1"/>
                </a:solidFill>
              </a:rPr>
              <a:t>So Humans Must be Alert – Always and be Critical Thinkers.</a:t>
            </a:r>
          </a:p>
        </p:txBody>
      </p:sp>
    </p:spTree>
    <p:extLst>
      <p:ext uri="{BB962C8B-B14F-4D97-AF65-F5344CB8AC3E}">
        <p14:creationId xmlns:p14="http://schemas.microsoft.com/office/powerpoint/2010/main" val="1172241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17</a:t>
            </a:fld>
            <a:endParaRPr lang="en-US"/>
          </a:p>
        </p:txBody>
      </p:sp>
      <p:sp>
        <p:nvSpPr>
          <p:cNvPr id="9" name="TextBox 8"/>
          <p:cNvSpPr txBox="1"/>
          <p:nvPr/>
        </p:nvSpPr>
        <p:spPr>
          <a:xfrm>
            <a:off x="221886" y="2449468"/>
            <a:ext cx="4332225" cy="3031570"/>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p>
          <a:p>
            <a:pPr defTabSz="913851">
              <a:defRPr/>
            </a:pPr>
            <a:r>
              <a:rPr lang="en-US" sz="2000">
                <a:solidFill>
                  <a:srgbClr val="89C542"/>
                </a:solidFill>
              </a:rPr>
              <a:t>SAY WHAT?</a:t>
            </a:r>
          </a:p>
          <a:p>
            <a:pPr defTabSz="913851">
              <a:defRPr/>
            </a:pPr>
            <a:r>
              <a:rPr lang="en-US" sz="2000">
                <a:solidFill>
                  <a:schemeClr val="bg1"/>
                </a:solidFill>
              </a:rPr>
              <a:t>The deeper the AI, the more it struggles to explain itself.  Certain use cases require an understanding of the rationale for recommendations and decisions.</a:t>
            </a:r>
          </a:p>
          <a:p>
            <a:pPr defTabSz="913851">
              <a:defRPr/>
            </a:pPr>
            <a:r>
              <a:rPr lang="en-US" sz="2000" b="1">
                <a:solidFill>
                  <a:srgbClr val="FF0000"/>
                </a:solidFill>
                <a:latin typeface="+mj-lt"/>
              </a:rPr>
              <a:t> </a:t>
            </a:r>
          </a:p>
          <a:p>
            <a:pPr defTabSz="913851">
              <a:defRPr/>
            </a:pPr>
            <a:endParaRPr lang="en-US" sz="2000">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17</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TextBox 5">
            <a:extLst>
              <a:ext uri="{FF2B5EF4-FFF2-40B4-BE49-F238E27FC236}">
                <a16:creationId xmlns:a16="http://schemas.microsoft.com/office/drawing/2014/main" id="{6B94B89F-4A9C-C148-B3D3-0CB918BC3772}"/>
              </a:ext>
            </a:extLst>
          </p:cNvPr>
          <p:cNvSpPr txBox="1"/>
          <p:nvPr/>
        </p:nvSpPr>
        <p:spPr>
          <a:xfrm>
            <a:off x="4848727" y="1396523"/>
            <a:ext cx="6531400" cy="4893647"/>
          </a:xfrm>
          <a:prstGeom prst="rect">
            <a:avLst/>
          </a:prstGeom>
          <a:noFill/>
        </p:spPr>
        <p:txBody>
          <a:bodyPr wrap="square" rtlCol="0">
            <a:spAutoFit/>
          </a:bodyPr>
          <a:lstStyle/>
          <a:p>
            <a:r>
              <a:rPr lang="en-US" sz="2600" b="1">
                <a:solidFill>
                  <a:srgbClr val="FFFF00"/>
                </a:solidFill>
              </a:rPr>
              <a:t>Actions to Take:</a:t>
            </a:r>
          </a:p>
          <a:p>
            <a:endParaRPr lang="en-US" sz="2600">
              <a:solidFill>
                <a:schemeClr val="bg1"/>
              </a:solidFill>
            </a:endParaRPr>
          </a:p>
          <a:p>
            <a:pPr marL="342900" indent="-342900">
              <a:buFont typeface="Arial" panose="020B0604020202020204" pitchFamily="34" charset="0"/>
              <a:buChar char="•"/>
            </a:pPr>
            <a:r>
              <a:rPr lang="en-US" sz="2600">
                <a:solidFill>
                  <a:schemeClr val="bg1"/>
                </a:solidFill>
              </a:rPr>
              <a:t>Allow for questions in the design process.</a:t>
            </a:r>
          </a:p>
          <a:p>
            <a:pPr marL="342900" indent="-342900">
              <a:buFont typeface="Arial" panose="020B0604020202020204" pitchFamily="34" charset="0"/>
              <a:buChar char="•"/>
            </a:pPr>
            <a:r>
              <a:rPr lang="en-US" sz="2600">
                <a:solidFill>
                  <a:schemeClr val="bg1"/>
                </a:solidFill>
              </a:rPr>
              <a:t>Ask why an AI is doing what it is doing on an ongoing basis</a:t>
            </a:r>
          </a:p>
          <a:p>
            <a:pPr marL="342900" indent="-342900">
              <a:buFont typeface="Arial" panose="020B0604020202020204" pitchFamily="34" charset="0"/>
              <a:buChar char="•"/>
            </a:pPr>
            <a:r>
              <a:rPr lang="en-US" sz="2600">
                <a:solidFill>
                  <a:schemeClr val="bg1"/>
                </a:solidFill>
              </a:rPr>
              <a:t>Everyone needs to understand the design assumptions of the AI and be aligned to ethical principles</a:t>
            </a:r>
          </a:p>
          <a:p>
            <a:pPr marL="342900" indent="-342900">
              <a:buFont typeface="Arial" panose="020B0604020202020204" pitchFamily="34" charset="0"/>
              <a:buChar char="•"/>
            </a:pPr>
            <a:r>
              <a:rPr lang="en-US" sz="2600">
                <a:solidFill>
                  <a:schemeClr val="bg1"/>
                </a:solidFill>
              </a:rPr>
              <a:t>Decision making processes must be reviewable, especially if the AI is working with sensitive data, like : personal identifiable information, protected health information, etc.</a:t>
            </a:r>
          </a:p>
        </p:txBody>
      </p:sp>
    </p:spTree>
    <p:extLst>
      <p:ext uri="{BB962C8B-B14F-4D97-AF65-F5344CB8AC3E}">
        <p14:creationId xmlns:p14="http://schemas.microsoft.com/office/powerpoint/2010/main" val="2822125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18</a:t>
            </a:fld>
            <a:endParaRPr lang="en-US"/>
          </a:p>
        </p:txBody>
      </p:sp>
      <p:sp>
        <p:nvSpPr>
          <p:cNvPr id="9" name="TextBox 8"/>
          <p:cNvSpPr txBox="1"/>
          <p:nvPr/>
        </p:nvSpPr>
        <p:spPr>
          <a:xfrm>
            <a:off x="221886" y="2449468"/>
            <a:ext cx="4332225" cy="3031570"/>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p>
          <a:p>
            <a:pPr defTabSz="913851">
              <a:defRPr/>
            </a:pPr>
            <a:r>
              <a:rPr lang="en-US" sz="2000">
                <a:solidFill>
                  <a:srgbClr val="89C542"/>
                </a:solidFill>
              </a:rPr>
              <a:t>SAY WHAT?</a:t>
            </a:r>
          </a:p>
          <a:p>
            <a:pPr defTabSz="913851">
              <a:defRPr/>
            </a:pPr>
            <a:r>
              <a:rPr lang="en-US" sz="2000">
                <a:solidFill>
                  <a:schemeClr val="bg1"/>
                </a:solidFill>
              </a:rPr>
              <a:t>The deeper the AI, the more it struggles to explain itself.  Certain use cases require an understanding of the rationale for recommendations and decisions.</a:t>
            </a:r>
          </a:p>
          <a:p>
            <a:pPr defTabSz="913851">
              <a:defRPr/>
            </a:pPr>
            <a:r>
              <a:rPr lang="en-US" sz="2000" b="1">
                <a:solidFill>
                  <a:srgbClr val="FF0000"/>
                </a:solidFill>
                <a:latin typeface="+mj-lt"/>
              </a:rPr>
              <a:t> </a:t>
            </a:r>
          </a:p>
          <a:p>
            <a:pPr defTabSz="913851">
              <a:defRPr/>
            </a:pPr>
            <a:endParaRPr lang="en-US" sz="2000">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18</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TextBox 5">
            <a:extLst>
              <a:ext uri="{FF2B5EF4-FFF2-40B4-BE49-F238E27FC236}">
                <a16:creationId xmlns:a16="http://schemas.microsoft.com/office/drawing/2014/main" id="{6B94B89F-4A9C-C148-B3D3-0CB918BC3772}"/>
              </a:ext>
            </a:extLst>
          </p:cNvPr>
          <p:cNvSpPr txBox="1"/>
          <p:nvPr/>
        </p:nvSpPr>
        <p:spPr>
          <a:xfrm>
            <a:off x="4860757" y="1563628"/>
            <a:ext cx="6839979" cy="3693319"/>
          </a:xfrm>
          <a:prstGeom prst="rect">
            <a:avLst/>
          </a:prstGeom>
          <a:noFill/>
        </p:spPr>
        <p:txBody>
          <a:bodyPr wrap="square" rtlCol="0">
            <a:spAutoFit/>
          </a:bodyPr>
          <a:lstStyle/>
          <a:p>
            <a:r>
              <a:rPr lang="en-US" sz="2600" b="1">
                <a:solidFill>
                  <a:srgbClr val="FFFF00"/>
                </a:solidFill>
              </a:rPr>
              <a:t>Considerations</a:t>
            </a:r>
          </a:p>
          <a:p>
            <a:pPr marL="457200" indent="-457200">
              <a:buFont typeface="Arial" panose="020B0604020202020204" pitchFamily="34" charset="0"/>
              <a:buChar char="•"/>
            </a:pPr>
            <a:r>
              <a:rPr lang="en-US" sz="2600">
                <a:solidFill>
                  <a:schemeClr val="bg1"/>
                </a:solidFill>
              </a:rPr>
              <a:t>Explainability is needed to build public confidence and trust to promote safer practices and facilitate broader societal adoption</a:t>
            </a:r>
          </a:p>
          <a:p>
            <a:pPr marL="457200" indent="-457200">
              <a:buFont typeface="Arial" panose="020B0604020202020204" pitchFamily="34" charset="0"/>
              <a:buChar char="•"/>
            </a:pPr>
            <a:r>
              <a:rPr lang="en-US" sz="2600">
                <a:solidFill>
                  <a:schemeClr val="bg1"/>
                </a:solidFill>
              </a:rPr>
              <a:t>Ensure an AI system’s level of transparency is clear</a:t>
            </a:r>
          </a:p>
          <a:p>
            <a:pPr marL="457200" indent="-457200">
              <a:buFont typeface="Arial" panose="020B0604020202020204" pitchFamily="34" charset="0"/>
              <a:buChar char="•"/>
            </a:pPr>
            <a:r>
              <a:rPr lang="en-US" sz="2600">
                <a:solidFill>
                  <a:schemeClr val="bg1"/>
                </a:solidFill>
              </a:rPr>
              <a:t>Users should stay generally informed on an AI’s intent so confidence of the solutions value and that it will not cause harm.</a:t>
            </a:r>
          </a:p>
        </p:txBody>
      </p:sp>
    </p:spTree>
    <p:extLst>
      <p:ext uri="{BB962C8B-B14F-4D97-AF65-F5344CB8AC3E}">
        <p14:creationId xmlns:p14="http://schemas.microsoft.com/office/powerpoint/2010/main" val="96717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AI ETHICS LEGAL Risk Zones</a:t>
            </a:r>
          </a:p>
        </p:txBody>
      </p:sp>
      <p:sp>
        <p:nvSpPr>
          <p:cNvPr id="5" name="Slide Number Placeholder 4"/>
          <p:cNvSpPr>
            <a:spLocks noGrp="1"/>
          </p:cNvSpPr>
          <p:nvPr>
            <p:ph type="sldNum" sz="quarter" idx="4"/>
          </p:nvPr>
        </p:nvSpPr>
        <p:spPr>
          <a:xfrm flipH="1">
            <a:off x="11484653" y="5984021"/>
            <a:ext cx="216084" cy="161888"/>
          </a:xfrm>
        </p:spPr>
        <p:txBody>
          <a:bodyPr/>
          <a:lstStyle/>
          <a:p>
            <a:fld id="{4F9AC08D-23A9-440E-BCB9-AA1E9877CC38}" type="slidenum">
              <a:rPr lang="en-US" smtClean="0"/>
              <a:pPr/>
              <a:t>19</a:t>
            </a:fld>
            <a:endParaRPr lang="en-US"/>
          </a:p>
        </p:txBody>
      </p:sp>
      <p:sp>
        <p:nvSpPr>
          <p:cNvPr id="9" name="TextBox 8"/>
          <p:cNvSpPr txBox="1"/>
          <p:nvPr/>
        </p:nvSpPr>
        <p:spPr>
          <a:xfrm>
            <a:off x="221886" y="2449468"/>
            <a:ext cx="4332225" cy="3031570"/>
          </a:xfrm>
          <a:prstGeom prst="rect">
            <a:avLst/>
          </a:prstGeom>
          <a:noFill/>
        </p:spPr>
        <p:txBody>
          <a:bodyPr wrap="square" lIns="0" tIns="0" rIns="0" bIns="45691" rtlCol="0">
            <a:spAutoFit/>
          </a:bodyPr>
          <a:lstStyle/>
          <a:p>
            <a:pPr defTabSz="913851">
              <a:defRPr/>
            </a:pPr>
            <a:r>
              <a:rPr lang="en-US" sz="3600" b="1">
                <a:solidFill>
                  <a:srgbClr val="FF0000"/>
                </a:solidFill>
                <a:latin typeface="+mj-lt"/>
              </a:rPr>
              <a:t>EXPLAINABILITY</a:t>
            </a:r>
          </a:p>
          <a:p>
            <a:pPr defTabSz="913851">
              <a:defRPr/>
            </a:pPr>
            <a:r>
              <a:rPr lang="en-US" sz="2000">
                <a:solidFill>
                  <a:srgbClr val="89C542"/>
                </a:solidFill>
              </a:rPr>
              <a:t>SAY WHAT?</a:t>
            </a:r>
          </a:p>
          <a:p>
            <a:pPr defTabSz="913851">
              <a:defRPr/>
            </a:pPr>
            <a:r>
              <a:rPr lang="en-US" sz="2000">
                <a:solidFill>
                  <a:schemeClr val="bg1"/>
                </a:solidFill>
              </a:rPr>
              <a:t>The deeper the AI, the more it struggles to explain itself.  Certain use cases require an understanding of the rationale for recommendations and decisions.</a:t>
            </a:r>
          </a:p>
          <a:p>
            <a:pPr defTabSz="913851">
              <a:defRPr/>
            </a:pPr>
            <a:r>
              <a:rPr lang="en-US" sz="2000" b="1">
                <a:solidFill>
                  <a:srgbClr val="FF0000"/>
                </a:solidFill>
                <a:latin typeface="+mj-lt"/>
              </a:rPr>
              <a:t> </a:t>
            </a:r>
          </a:p>
          <a:p>
            <a:pPr defTabSz="913851">
              <a:defRPr/>
            </a:pPr>
            <a:endParaRPr lang="en-US" sz="2000">
              <a:solidFill>
                <a:schemeClr val="bg1"/>
              </a:solidFill>
              <a:latin typeface="+mj-lt"/>
            </a:endParaRPr>
          </a:p>
          <a:p>
            <a:pPr defTabSz="913851">
              <a:defRPr/>
            </a:pPr>
            <a:endParaRPr lang="en-US">
              <a:solidFill>
                <a:schemeClr val="bg1"/>
              </a:solidFill>
              <a:latin typeface="+mj-lt"/>
            </a:endParaRPr>
          </a:p>
        </p:txBody>
      </p:sp>
      <p:grpSp>
        <p:nvGrpSpPr>
          <p:cNvPr id="4" name="Group 3">
            <a:extLst>
              <a:ext uri="{FF2B5EF4-FFF2-40B4-BE49-F238E27FC236}">
                <a16:creationId xmlns:a16="http://schemas.microsoft.com/office/drawing/2014/main" id="{5AB960C1-BF7A-2241-AE02-6098C2F5A1BE}"/>
              </a:ext>
            </a:extLst>
          </p:cNvPr>
          <p:cNvGrpSpPr/>
          <p:nvPr/>
        </p:nvGrpSpPr>
        <p:grpSpPr>
          <a:xfrm>
            <a:off x="221886" y="170393"/>
            <a:ext cx="1653860" cy="2021306"/>
            <a:chOff x="4584889" y="1617026"/>
            <a:chExt cx="2796003" cy="3675363"/>
          </a:xfrm>
        </p:grpSpPr>
        <p:grpSp>
          <p:nvGrpSpPr>
            <p:cNvPr id="29" name="Group 28"/>
            <p:cNvGrpSpPr/>
            <p:nvPr/>
          </p:nvGrpSpPr>
          <p:grpSpPr>
            <a:xfrm flipV="1">
              <a:off x="4925573" y="3933667"/>
              <a:ext cx="2409789" cy="1358722"/>
              <a:chOff x="5102832" y="2169695"/>
              <a:chExt cx="2411289" cy="1299410"/>
            </a:xfrm>
          </p:grpSpPr>
          <p:cxnSp>
            <p:nvCxnSpPr>
              <p:cNvPr id="30" name="Straight Connector 29"/>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971103" y="1617026"/>
              <a:ext cx="2409789" cy="1298601"/>
              <a:chOff x="5102832" y="2169695"/>
              <a:chExt cx="2411289" cy="1299410"/>
            </a:xfrm>
          </p:grpSpPr>
          <p:cxnSp>
            <p:nvCxnSpPr>
              <p:cNvPr id="25" name="Straight Connector 24"/>
              <p:cNvCxnSpPr/>
              <p:nvPr/>
            </p:nvCxnSpPr>
            <p:spPr>
              <a:xfrm rot="-2700000">
                <a:off x="6214711"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3620000">
                <a:off x="4453127" y="2819400"/>
                <a:ext cx="1299410" cy="0"/>
              </a:xfrm>
              <a:prstGeom prst="line">
                <a:avLst/>
              </a:prstGeom>
              <a:ln w="76200">
                <a:solidFill>
                  <a:srgbClr val="89C542"/>
                </a:solidFill>
                <a:tailEnd type="ova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a:xfrm>
              <a:off x="4584889" y="2045885"/>
              <a:ext cx="2613237" cy="2613237"/>
            </a:xfrm>
            <a:prstGeom prst="ellipse">
              <a:avLst/>
            </a:prstGeom>
            <a:solidFill>
              <a:schemeClr val="bg1"/>
            </a:solidFill>
            <a:ln w="76200">
              <a:solidFill>
                <a:srgbClr val="89C5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1">
                <a:defRPr/>
              </a:pPr>
              <a:endParaRPr lang="en-US" sz="1200">
                <a:solidFill>
                  <a:prstClr val="white"/>
                </a:solidFill>
                <a:latin typeface="Arial"/>
              </a:endParaRPr>
            </a:p>
          </p:txBody>
        </p:sp>
        <p:pic>
          <p:nvPicPr>
            <p:cNvPr id="16" name="Picture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25573" y="1993783"/>
              <a:ext cx="1887782" cy="1887782"/>
            </a:xfrm>
            <a:prstGeom prst="rect">
              <a:avLst/>
            </a:prstGeom>
            <a:ln>
              <a:noFill/>
            </a:ln>
          </p:spPr>
        </p:pic>
        <p:sp>
          <p:nvSpPr>
            <p:cNvPr id="17" name="TextBox 16"/>
            <p:cNvSpPr txBox="1"/>
            <p:nvPr/>
          </p:nvSpPr>
          <p:spPr>
            <a:xfrm>
              <a:off x="4897515" y="3014567"/>
              <a:ext cx="1987984" cy="1454474"/>
            </a:xfrm>
            <a:prstGeom prst="rect">
              <a:avLst/>
            </a:prstGeom>
            <a:noFill/>
          </p:spPr>
          <p:txBody>
            <a:bodyPr wrap="square" lIns="0" tIns="0" rIns="0" bIns="45691" rtlCol="0">
              <a:spAutoFit/>
            </a:bodyPr>
            <a:lstStyle/>
            <a:p>
              <a:pPr algn="ctr" defTabSz="913851">
                <a:lnSpc>
                  <a:spcPts val="2399"/>
                </a:lnSpc>
                <a:defRPr/>
              </a:pPr>
              <a:r>
                <a:rPr lang="en-US" sz="1200" b="1">
                  <a:latin typeface="+mj-lt"/>
                </a:rPr>
                <a:t>TRUSTED AI</a:t>
              </a:r>
            </a:p>
            <a:p>
              <a:pPr algn="ctr" defTabSz="913851">
                <a:lnSpc>
                  <a:spcPts val="2399"/>
                </a:lnSpc>
                <a:defRPr/>
              </a:pPr>
              <a:r>
                <a:rPr lang="en-US" sz="1200" b="1">
                  <a:latin typeface="+mj-lt"/>
                </a:rPr>
                <a:t>AI FOR GOOD</a:t>
              </a:r>
            </a:p>
          </p:txBody>
        </p:sp>
      </p:grpSp>
      <p:sp>
        <p:nvSpPr>
          <p:cNvPr id="18" name="Slide Number Placeholder 4">
            <a:extLst>
              <a:ext uri="{FF2B5EF4-FFF2-40B4-BE49-F238E27FC236}">
                <a16:creationId xmlns:a16="http://schemas.microsoft.com/office/drawing/2014/main" id="{22968E33-A64C-5C49-8688-F0299E8B512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19</a:t>
            </a:fld>
            <a:endParaRPr lang="en-US" sz="1400">
              <a:solidFill>
                <a:schemeClr val="bg1"/>
              </a:solidFill>
            </a:endParaRPr>
          </a:p>
        </p:txBody>
      </p:sp>
      <p:sp>
        <p:nvSpPr>
          <p:cNvPr id="19" name="Rectangle 18">
            <a:extLst>
              <a:ext uri="{FF2B5EF4-FFF2-40B4-BE49-F238E27FC236}">
                <a16:creationId xmlns:a16="http://schemas.microsoft.com/office/drawing/2014/main" id="{C7FC69E1-D4A6-9648-94C0-9C6255590CE3}"/>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TextBox 5">
            <a:extLst>
              <a:ext uri="{FF2B5EF4-FFF2-40B4-BE49-F238E27FC236}">
                <a16:creationId xmlns:a16="http://schemas.microsoft.com/office/drawing/2014/main" id="{6B94B89F-4A9C-C148-B3D3-0CB918BC3772}"/>
              </a:ext>
            </a:extLst>
          </p:cNvPr>
          <p:cNvSpPr txBox="1"/>
          <p:nvPr/>
        </p:nvSpPr>
        <p:spPr>
          <a:xfrm>
            <a:off x="4860757" y="1563628"/>
            <a:ext cx="6839979" cy="3693319"/>
          </a:xfrm>
          <a:prstGeom prst="rect">
            <a:avLst/>
          </a:prstGeom>
          <a:noFill/>
        </p:spPr>
        <p:txBody>
          <a:bodyPr wrap="square" rtlCol="0">
            <a:spAutoFit/>
          </a:bodyPr>
          <a:lstStyle/>
          <a:p>
            <a:r>
              <a:rPr lang="en-US" sz="2600" b="1">
                <a:solidFill>
                  <a:srgbClr val="FFFF00"/>
                </a:solidFill>
              </a:rPr>
              <a:t>Questions to ask in your AI Solution Teams</a:t>
            </a:r>
          </a:p>
          <a:p>
            <a:pPr marL="457200" indent="-457200">
              <a:buFont typeface="Arial" panose="020B0604020202020204" pitchFamily="34" charset="0"/>
              <a:buChar char="•"/>
            </a:pPr>
            <a:r>
              <a:rPr lang="en-US" sz="2600">
                <a:solidFill>
                  <a:schemeClr val="bg1"/>
                </a:solidFill>
              </a:rPr>
              <a:t>How do we build explainability into our work experience without detracting from the user experience?</a:t>
            </a:r>
          </a:p>
          <a:p>
            <a:pPr marL="457200" indent="-457200">
              <a:buFont typeface="Arial" panose="020B0604020202020204" pitchFamily="34" charset="0"/>
              <a:buChar char="•"/>
            </a:pPr>
            <a:r>
              <a:rPr lang="en-US" sz="2600">
                <a:solidFill>
                  <a:schemeClr val="bg1"/>
                </a:solidFill>
              </a:rPr>
              <a:t>What aspects of our AI system require explainability to users?</a:t>
            </a:r>
          </a:p>
          <a:p>
            <a:pPr marL="457200" indent="-457200">
              <a:buFont typeface="Arial" panose="020B0604020202020204" pitchFamily="34" charset="0"/>
              <a:buChar char="•"/>
            </a:pPr>
            <a:r>
              <a:rPr lang="en-US" sz="2600">
                <a:solidFill>
                  <a:schemeClr val="bg1"/>
                </a:solidFill>
              </a:rPr>
              <a:t>How do certain processes of pieces of information needs to be hidden from users for security or IP reasons?</a:t>
            </a:r>
          </a:p>
        </p:txBody>
      </p:sp>
    </p:spTree>
    <p:extLst>
      <p:ext uri="{BB962C8B-B14F-4D97-AF65-F5344CB8AC3E}">
        <p14:creationId xmlns:p14="http://schemas.microsoft.com/office/powerpoint/2010/main" val="1987187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6" y="4175614"/>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1" y="2299847"/>
            <a:ext cx="11358563" cy="1568556"/>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a:solidFill>
                  <a:prstClr val="white"/>
                </a:solidFill>
                <a:latin typeface="Perpetua Titling MT Light" charset="0"/>
                <a:ea typeface="Perpetua Titling MT Light" charset="0"/>
                <a:cs typeface="Perpetua Titling MT Light" charset="0"/>
              </a:rPr>
              <a:t>Section 2.0 : </a:t>
            </a:r>
          </a:p>
          <a:p>
            <a:pPr algn="ctr"/>
            <a:r>
              <a:rPr lang="en-US" sz="3600" b="0">
                <a:solidFill>
                  <a:prstClr val="white"/>
                </a:solidFill>
                <a:latin typeface="Perpetua Titling MT Light" charset="0"/>
                <a:ea typeface="Perpetua Titling MT Light" charset="0"/>
                <a:cs typeface="Perpetua Titling MT Light" charset="0"/>
              </a:rPr>
              <a:t>AI ETHICS AND LAW: </a:t>
            </a:r>
          </a:p>
          <a:p>
            <a:pPr algn="ctr"/>
            <a:r>
              <a:rPr lang="en-US" sz="3600" b="0">
                <a:solidFill>
                  <a:prstClr val="white"/>
                </a:solidFill>
                <a:latin typeface="Perpetua Titling MT Light" charset="0"/>
                <a:ea typeface="Perpetua Titling MT Light" charset="0"/>
                <a:cs typeface="Perpetua Titling MT Light" charset="0"/>
              </a:rPr>
              <a:t>INTERNATIONAL PERSPECTIVE</a:t>
            </a:r>
            <a:endParaRPr lang="en-US" sz="3600" b="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3794832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D11714-3174-0E4D-AF45-E35A5973468E}"/>
              </a:ext>
            </a:extLst>
          </p:cNvPr>
          <p:cNvSpPr/>
          <p:nvPr/>
        </p:nvSpPr>
        <p:spPr>
          <a:xfrm>
            <a:off x="998620" y="109972"/>
            <a:ext cx="9986211" cy="1938992"/>
          </a:xfrm>
          <a:prstGeom prst="rect">
            <a:avLst/>
          </a:prstGeom>
        </p:spPr>
        <p:txBody>
          <a:bodyPr wrap="square">
            <a:spAutoFit/>
          </a:bodyPr>
          <a:lstStyle/>
          <a:p>
            <a:pPr algn="ctr"/>
            <a:r>
              <a:rPr lang="en-US" sz="4400" b="1">
                <a:solidFill>
                  <a:srgbClr val="FFFF00"/>
                </a:solidFill>
                <a:latin typeface="Perpetua Titling MT Light" charset="0"/>
                <a:ea typeface="+mj-ea"/>
                <a:cs typeface="+mj-cs"/>
              </a:rPr>
              <a:t>LAB EXERCISE 18  </a:t>
            </a:r>
          </a:p>
          <a:p>
            <a:pPr algn="ctr"/>
            <a:r>
              <a:rPr lang="en-US" sz="4400" b="1">
                <a:solidFill>
                  <a:srgbClr val="FFFF00"/>
                </a:solidFill>
                <a:latin typeface="Perpetua Titling MT Light" charset="0"/>
                <a:ea typeface="+mj-ea"/>
                <a:cs typeface="+mj-cs"/>
              </a:rPr>
              <a:t>UNESCO VIDEO  </a:t>
            </a:r>
          </a:p>
          <a:p>
            <a:pPr algn="ctr"/>
            <a:r>
              <a:rPr lang="en-US" sz="3200">
                <a:solidFill>
                  <a:schemeClr val="bg1"/>
                </a:solidFill>
              </a:rPr>
              <a:t>Lack of International Law Alignment on how to Govern AI</a:t>
            </a:r>
            <a:endParaRPr lang="en-US" sz="3200"/>
          </a:p>
        </p:txBody>
      </p:sp>
      <p:sp>
        <p:nvSpPr>
          <p:cNvPr id="4" name="TextBox 3">
            <a:extLst>
              <a:ext uri="{FF2B5EF4-FFF2-40B4-BE49-F238E27FC236}">
                <a16:creationId xmlns:a16="http://schemas.microsoft.com/office/drawing/2014/main" id="{C31BDDBE-B441-1544-A749-E015CEEEA538}"/>
              </a:ext>
            </a:extLst>
          </p:cNvPr>
          <p:cNvSpPr txBox="1"/>
          <p:nvPr/>
        </p:nvSpPr>
        <p:spPr>
          <a:xfrm>
            <a:off x="553451" y="1965120"/>
            <a:ext cx="10876548" cy="4524315"/>
          </a:xfrm>
          <a:prstGeom prst="rect">
            <a:avLst/>
          </a:prstGeom>
          <a:noFill/>
        </p:spPr>
        <p:txBody>
          <a:bodyPr wrap="square" rtlCol="0">
            <a:spAutoFit/>
          </a:bodyPr>
          <a:lstStyle/>
          <a:p>
            <a:r>
              <a:rPr lang="en-US" b="1" dirty="0">
                <a:solidFill>
                  <a:srgbClr val="FFFF00"/>
                </a:solidFill>
              </a:rPr>
              <a:t>Instructions</a:t>
            </a:r>
          </a:p>
          <a:p>
            <a:r>
              <a:rPr lang="en-US" dirty="0">
                <a:solidFill>
                  <a:schemeClr val="bg1"/>
                </a:solidFill>
              </a:rPr>
              <a:t>Listen to the Video from Gabriela Ramos, Assistant Director General for Social and Huna Sciences for </a:t>
            </a:r>
            <a:r>
              <a:rPr lang="en-US" dirty="0" err="1">
                <a:solidFill>
                  <a:schemeClr val="bg1"/>
                </a:solidFill>
              </a:rPr>
              <a:t>Unesco</a:t>
            </a:r>
            <a:r>
              <a:rPr lang="en-US" dirty="0">
                <a:solidFill>
                  <a:schemeClr val="bg1"/>
                </a:solidFill>
              </a:rPr>
              <a:t> discuss How to Build the Rule of Law in the Digital World and its importance of working together internationally. </a:t>
            </a:r>
          </a:p>
          <a:p>
            <a:endParaRPr lang="en-US" b="1" dirty="0">
              <a:solidFill>
                <a:schemeClr val="bg1"/>
              </a:solidFill>
            </a:endParaRPr>
          </a:p>
          <a:p>
            <a:r>
              <a:rPr lang="en-US" b="1" dirty="0">
                <a:solidFill>
                  <a:schemeClr val="bg1"/>
                </a:solidFill>
              </a:rPr>
              <a:t>Source: YouTube:</a:t>
            </a:r>
          </a:p>
          <a:p>
            <a:r>
              <a:rPr lang="en-US" dirty="0">
                <a:solidFill>
                  <a:schemeClr val="bg1"/>
                </a:solidFill>
                <a:hlinkClick r:id="rId2">
                  <a:extLst>
                    <a:ext uri="{A12FA001-AC4F-418D-AE19-62706E023703}">
                      <ahyp:hlinkClr xmlns:ahyp="http://schemas.microsoft.com/office/drawing/2018/hyperlinkcolor" val="tx"/>
                    </a:ext>
                  </a:extLst>
                </a:hlinkClick>
              </a:rPr>
              <a:t>https://www.youtube.com/watch?v=PXZanRQf3HM&amp;feature=emb_logo</a:t>
            </a:r>
            <a:endParaRPr lang="en-US" dirty="0">
              <a:solidFill>
                <a:schemeClr val="bg1"/>
              </a:solidFill>
            </a:endParaRPr>
          </a:p>
          <a:p>
            <a:endParaRPr lang="en-US" dirty="0">
              <a:solidFill>
                <a:srgbClr val="FFFF00"/>
              </a:solidFill>
            </a:endParaRPr>
          </a:p>
          <a:p>
            <a:r>
              <a:rPr lang="en-US" b="1" dirty="0">
                <a:solidFill>
                  <a:srgbClr val="FFFF00"/>
                </a:solidFill>
              </a:rPr>
              <a:t>Questions:</a:t>
            </a:r>
          </a:p>
          <a:p>
            <a:pPr marL="342900" indent="-342900">
              <a:buAutoNum type="arabicPeriod"/>
            </a:pPr>
            <a:r>
              <a:rPr lang="en-US" dirty="0">
                <a:solidFill>
                  <a:schemeClr val="bg1"/>
                </a:solidFill>
              </a:rPr>
              <a:t>How challenging will it be to align international unity on developing regulatory legal frameworks to govern Responsible AI developments?</a:t>
            </a:r>
          </a:p>
          <a:p>
            <a:pPr marL="342900" indent="-342900">
              <a:buAutoNum type="arabicPeriod"/>
            </a:pPr>
            <a:r>
              <a:rPr lang="en-US" dirty="0">
                <a:solidFill>
                  <a:schemeClr val="bg1"/>
                </a:solidFill>
              </a:rPr>
              <a:t>Given the gaps, what can technical software development leaders to to practice ethical AI and demonstrate leadership responsibility?</a:t>
            </a:r>
          </a:p>
          <a:p>
            <a:endParaRPr lang="en-US" dirty="0">
              <a:solidFill>
                <a:schemeClr val="bg1"/>
              </a:solidFill>
            </a:endParaRPr>
          </a:p>
          <a:p>
            <a:r>
              <a:rPr lang="en-US" b="1" dirty="0">
                <a:solidFill>
                  <a:srgbClr val="FFFF00"/>
                </a:solidFill>
              </a:rPr>
              <a:t>Learning Outcome: </a:t>
            </a:r>
            <a:r>
              <a:rPr lang="en-US" dirty="0">
                <a:solidFill>
                  <a:schemeClr val="bg1"/>
                </a:solidFill>
              </a:rPr>
              <a:t>Understand that there remains much more work to do to align international legal frameworks </a:t>
            </a:r>
            <a:r>
              <a:rPr lang="en-US" dirty="0" err="1">
                <a:solidFill>
                  <a:schemeClr val="bg1"/>
                </a:solidFill>
              </a:rPr>
              <a:t>reg</a:t>
            </a:r>
            <a:r>
              <a:rPr lang="en-US" dirty="0">
                <a:solidFill>
                  <a:schemeClr val="bg1"/>
                </a:solidFill>
              </a:rPr>
              <a:t>: AI and develop stronger regulatory operating practices globally</a:t>
            </a:r>
          </a:p>
          <a:p>
            <a:endParaRPr lang="en-US" b="1" dirty="0">
              <a:solidFill>
                <a:schemeClr val="bg1"/>
              </a:solidFill>
            </a:endParaRPr>
          </a:p>
        </p:txBody>
      </p:sp>
      <p:sp>
        <p:nvSpPr>
          <p:cNvPr id="5" name="Slide Number Placeholder 4">
            <a:extLst>
              <a:ext uri="{FF2B5EF4-FFF2-40B4-BE49-F238E27FC236}">
                <a16:creationId xmlns:a16="http://schemas.microsoft.com/office/drawing/2014/main" id="{03325398-748C-BA4D-A3A4-011AD14A0100}"/>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21</a:t>
            </a:fld>
            <a:endParaRPr lang="en-US" sz="1400">
              <a:solidFill>
                <a:schemeClr val="bg1"/>
              </a:solidFill>
            </a:endParaRPr>
          </a:p>
        </p:txBody>
      </p:sp>
      <p:pic>
        <p:nvPicPr>
          <p:cNvPr id="7" name="Picture 6">
            <a:extLst>
              <a:ext uri="{FF2B5EF4-FFF2-40B4-BE49-F238E27FC236}">
                <a16:creationId xmlns:a16="http://schemas.microsoft.com/office/drawing/2014/main" id="{0A50584C-BBA8-FC49-8060-7AB4BF23E38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854" y="170393"/>
            <a:ext cx="794084" cy="794084"/>
          </a:xfrm>
          <a:prstGeom prst="rect">
            <a:avLst/>
          </a:prstGeom>
        </p:spPr>
      </p:pic>
    </p:spTree>
    <p:extLst>
      <p:ext uri="{BB962C8B-B14F-4D97-AF65-F5344CB8AC3E}">
        <p14:creationId xmlns:p14="http://schemas.microsoft.com/office/powerpoint/2010/main" val="2295235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355741" y="194679"/>
            <a:ext cx="11474881" cy="543475"/>
          </a:xfrm>
        </p:spPr>
        <p:txBody>
          <a:bodyPr>
            <a:noAutofit/>
          </a:bodyPr>
          <a:lstStyle/>
          <a:p>
            <a:r>
              <a:rPr lang="en-US">
                <a:solidFill>
                  <a:prstClr val="white"/>
                </a:solidFill>
                <a:latin typeface="Perpetua Titling MT Light" charset="0"/>
              </a:rPr>
              <a:t>EUROPE DATA PRIVACY PROTECTION</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22</a:t>
            </a:fld>
            <a:endParaRPr lang="en-US" sz="1400">
              <a:solidFill>
                <a:schemeClr val="bg1"/>
              </a:solidFill>
            </a:endParaRPr>
          </a:p>
        </p:txBody>
      </p:sp>
      <p:sp>
        <p:nvSpPr>
          <p:cNvPr id="2" name="TextBox 1">
            <a:extLst>
              <a:ext uri="{FF2B5EF4-FFF2-40B4-BE49-F238E27FC236}">
                <a16:creationId xmlns:a16="http://schemas.microsoft.com/office/drawing/2014/main" id="{608AD3C5-E2FF-9448-B800-1D3EEC5C62F2}"/>
              </a:ext>
            </a:extLst>
          </p:cNvPr>
          <p:cNvSpPr txBox="1"/>
          <p:nvPr/>
        </p:nvSpPr>
        <p:spPr>
          <a:xfrm>
            <a:off x="5101389" y="1114106"/>
            <a:ext cx="6614361" cy="6155531"/>
          </a:xfrm>
          <a:prstGeom prst="rect">
            <a:avLst/>
          </a:prstGeom>
          <a:noFill/>
        </p:spPr>
        <p:txBody>
          <a:bodyPr wrap="square" rtlCol="0">
            <a:spAutoFit/>
          </a:bodyPr>
          <a:lstStyle/>
          <a:p>
            <a:pPr marL="342900" indent="-342900">
              <a:buClr>
                <a:schemeClr val="accent6"/>
              </a:buClr>
              <a:buFont typeface="Wingdings" pitchFamily="2" charset="2"/>
              <a:buChar char="Ø"/>
            </a:pPr>
            <a:r>
              <a:rPr lang="en-CA" sz="2100" b="1">
                <a:solidFill>
                  <a:srgbClr val="FFFF00"/>
                </a:solidFill>
              </a:rPr>
              <a:t>The </a:t>
            </a:r>
            <a:r>
              <a:rPr lang="en-CA" sz="2100" b="1" u="sng">
                <a:solidFill>
                  <a:srgbClr val="FFFF00"/>
                </a:solidFill>
                <a:hlinkClick r:id="rId2">
                  <a:extLst>
                    <a:ext uri="{A12FA001-AC4F-418D-AE19-62706E023703}">
                      <ahyp:hlinkClr xmlns:ahyp="http://schemas.microsoft.com/office/drawing/2018/hyperlinkcolor" val="tx"/>
                    </a:ext>
                  </a:extLst>
                </a:hlinkClick>
              </a:rPr>
              <a:t>General Data Protection Regulation (GDPR)</a:t>
            </a:r>
            <a:r>
              <a:rPr lang="en-CA" sz="2100" b="1">
                <a:solidFill>
                  <a:srgbClr val="FFFF00"/>
                </a:solidFill>
              </a:rPr>
              <a:t> is the toughest privacy and security law in the world. </a:t>
            </a:r>
          </a:p>
          <a:p>
            <a:pPr marL="342900" indent="-342900">
              <a:buClr>
                <a:schemeClr val="accent6"/>
              </a:buClr>
              <a:buFont typeface="Wingdings" pitchFamily="2" charset="2"/>
              <a:buChar char="Ø"/>
            </a:pPr>
            <a:r>
              <a:rPr lang="en-CA" sz="2100" b="1">
                <a:solidFill>
                  <a:schemeClr val="bg1"/>
                </a:solidFill>
              </a:rPr>
              <a:t>Europe’s General Data Protection Regulation (</a:t>
            </a:r>
            <a:r>
              <a:rPr lang="en-CA" sz="2100" b="1" u="sng">
                <a:solidFill>
                  <a:schemeClr val="bg1"/>
                </a:solidFill>
                <a:hlinkClick r:id="rId3">
                  <a:extLst>
                    <a:ext uri="{A12FA001-AC4F-418D-AE19-62706E023703}">
                      <ahyp:hlinkClr xmlns:ahyp="http://schemas.microsoft.com/office/drawing/2018/hyperlinkcolor" val="tx"/>
                    </a:ext>
                  </a:extLst>
                </a:hlinkClick>
              </a:rPr>
              <a:t>GDPR</a:t>
            </a:r>
            <a:r>
              <a:rPr lang="en-CA" sz="2100" b="1">
                <a:solidFill>
                  <a:schemeClr val="bg1"/>
                </a:solidFill>
              </a:rPr>
              <a:t>)</a:t>
            </a:r>
            <a:r>
              <a:rPr lang="en-CA" sz="2100">
                <a:solidFill>
                  <a:schemeClr val="bg1"/>
                </a:solidFill>
              </a:rPr>
              <a:t>, the sweeping privacy legislation was the first </a:t>
            </a:r>
            <a:r>
              <a:rPr lang="en-CA" sz="2100" b="1">
                <a:solidFill>
                  <a:schemeClr val="bg1"/>
                </a:solidFill>
              </a:rPr>
              <a:t>large-scale effort to offer consumers more legal protections.</a:t>
            </a:r>
            <a:endParaRPr lang="en-CA" sz="2100">
              <a:solidFill>
                <a:schemeClr val="bg1"/>
              </a:solidFill>
            </a:endParaRPr>
          </a:p>
          <a:p>
            <a:pPr marL="342900" indent="-342900">
              <a:buClr>
                <a:schemeClr val="accent6"/>
              </a:buClr>
              <a:buFont typeface="Wingdings" pitchFamily="2" charset="2"/>
              <a:buChar char="Ø"/>
            </a:pPr>
            <a:r>
              <a:rPr lang="en-CA" sz="2100">
                <a:solidFill>
                  <a:schemeClr val="bg1"/>
                </a:solidFill>
              </a:rPr>
              <a:t>Though it was drafted and passed by the European Union (EU), it imposes obligations onto organizations anywhere, so long as they target or collect data related to people in the EU. </a:t>
            </a:r>
          </a:p>
          <a:p>
            <a:pPr marL="342900" indent="-342900">
              <a:buClr>
                <a:schemeClr val="accent6"/>
              </a:buClr>
              <a:buFont typeface="Wingdings" pitchFamily="2" charset="2"/>
              <a:buChar char="Ø"/>
            </a:pPr>
            <a:r>
              <a:rPr lang="en-CA" sz="2100">
                <a:solidFill>
                  <a:schemeClr val="bg1"/>
                </a:solidFill>
              </a:rPr>
              <a:t>The regulation was put into effect on May 25, 2018. </a:t>
            </a:r>
          </a:p>
          <a:p>
            <a:pPr marL="342900" indent="-342900">
              <a:buClr>
                <a:schemeClr val="accent6"/>
              </a:buClr>
              <a:buFont typeface="Wingdings" pitchFamily="2" charset="2"/>
              <a:buChar char="Ø"/>
            </a:pPr>
            <a:r>
              <a:rPr lang="en-CA" sz="2100">
                <a:solidFill>
                  <a:schemeClr val="bg1"/>
                </a:solidFill>
              </a:rPr>
              <a:t>The GDPR will levy harsh fines against those who violate its privacy and security standards, with penalties reaching into the tens of millions of euros. </a:t>
            </a:r>
          </a:p>
          <a:p>
            <a:pPr>
              <a:buClr>
                <a:schemeClr val="accent6"/>
              </a:buClr>
            </a:pPr>
            <a:r>
              <a:rPr lang="en-CA" sz="2000" b="1">
                <a:solidFill>
                  <a:schemeClr val="bg1"/>
                </a:solidFill>
              </a:rPr>
              <a:t>	Sources: </a:t>
            </a:r>
          </a:p>
          <a:p>
            <a:pPr>
              <a:buClr>
                <a:schemeClr val="accent6"/>
              </a:buClr>
            </a:pPr>
            <a:r>
              <a:rPr lang="en-CA" sz="2000" b="1">
                <a:solidFill>
                  <a:schemeClr val="bg1"/>
                </a:solidFill>
              </a:rPr>
              <a:t>	Legal Details </a:t>
            </a:r>
            <a:r>
              <a:rPr lang="en-CA" sz="2000">
                <a:solidFill>
                  <a:schemeClr val="bg1"/>
                </a:solidFill>
                <a:hlinkClick r:id="rId4">
                  <a:extLst>
                    <a:ext uri="{A12FA001-AC4F-418D-AE19-62706E023703}">
                      <ahyp:hlinkClr xmlns:ahyp="http://schemas.microsoft.com/office/drawing/2018/hyperlinkcolor" val="tx"/>
                    </a:ext>
                  </a:extLst>
                </a:hlinkClick>
              </a:rPr>
              <a:t>https://gdpr.eu/tag/gdpr/</a:t>
            </a:r>
            <a:r>
              <a:rPr lang="en-CA" sz="2000" b="1">
                <a:solidFill>
                  <a:schemeClr val="bg1"/>
                </a:solidFill>
              </a:rPr>
              <a:t> </a:t>
            </a:r>
          </a:p>
          <a:p>
            <a:pPr>
              <a:buClr>
                <a:schemeClr val="accent6"/>
              </a:buClr>
            </a:pPr>
            <a:r>
              <a:rPr lang="en-CA" sz="2000" b="1">
                <a:solidFill>
                  <a:schemeClr val="bg1"/>
                </a:solidFill>
              </a:rPr>
              <a:t>	Checklist for Compliance </a:t>
            </a:r>
            <a:r>
              <a:rPr lang="en-CA" sz="2000">
                <a:solidFill>
                  <a:schemeClr val="bg1"/>
                </a:solidFill>
                <a:hlinkClick r:id="rId5">
                  <a:extLst>
                    <a:ext uri="{A12FA001-AC4F-418D-AE19-62706E023703}">
                      <ahyp:hlinkClr xmlns:ahyp="http://schemas.microsoft.com/office/drawing/2018/hyperlinkcolor" val="tx"/>
                    </a:ext>
                  </a:extLst>
                </a:hlinkClick>
              </a:rPr>
              <a:t>https://gdpr.eu/checklist/</a:t>
            </a:r>
            <a:endParaRPr lang="en-CA" sz="2000" b="1">
              <a:solidFill>
                <a:schemeClr val="bg1"/>
              </a:solidFill>
            </a:endParaRPr>
          </a:p>
          <a:p>
            <a:pPr marL="342900" indent="-342900">
              <a:buClr>
                <a:schemeClr val="accent6"/>
              </a:buClr>
              <a:buFont typeface="Wingdings" pitchFamily="2" charset="2"/>
              <a:buChar char="Ø"/>
            </a:pPr>
            <a:endParaRPr lang="en-CA" sz="2000">
              <a:solidFill>
                <a:schemeClr val="bg1"/>
              </a:solidFill>
            </a:endParaRPr>
          </a:p>
          <a:p>
            <a:pPr>
              <a:buClr>
                <a:schemeClr val="accent6"/>
              </a:buClr>
            </a:pPr>
            <a:r>
              <a:rPr lang="en-CA" sz="2000">
                <a:solidFill>
                  <a:schemeClr val="bg1"/>
                </a:solidFill>
              </a:rPr>
              <a:t> </a:t>
            </a:r>
          </a:p>
        </p:txBody>
      </p:sp>
      <p:pic>
        <p:nvPicPr>
          <p:cNvPr id="4" name="Picture 3">
            <a:extLst>
              <a:ext uri="{FF2B5EF4-FFF2-40B4-BE49-F238E27FC236}">
                <a16:creationId xmlns:a16="http://schemas.microsoft.com/office/drawing/2014/main" id="{8690ABF1-DE24-B14D-B8DA-B31E97B471BB}"/>
              </a:ext>
            </a:extLst>
          </p:cNvPr>
          <p:cNvPicPr>
            <a:picLocks noChangeAspect="1"/>
          </p:cNvPicPr>
          <p:nvPr/>
        </p:nvPicPr>
        <p:blipFill>
          <a:blip r:embed="rId6"/>
          <a:stretch>
            <a:fillRect/>
          </a:stretch>
        </p:blipFill>
        <p:spPr>
          <a:xfrm>
            <a:off x="366932" y="3578273"/>
            <a:ext cx="4566030" cy="2283015"/>
          </a:xfrm>
          <a:prstGeom prst="rect">
            <a:avLst/>
          </a:prstGeom>
          <a:ln w="76200">
            <a:solidFill>
              <a:schemeClr val="bg1"/>
            </a:solidFill>
          </a:ln>
        </p:spPr>
      </p:pic>
      <p:pic>
        <p:nvPicPr>
          <p:cNvPr id="5" name="Picture 4">
            <a:extLst>
              <a:ext uri="{FF2B5EF4-FFF2-40B4-BE49-F238E27FC236}">
                <a16:creationId xmlns:a16="http://schemas.microsoft.com/office/drawing/2014/main" id="{8AF2F38C-7FC4-5748-865F-289877251C96}"/>
              </a:ext>
            </a:extLst>
          </p:cNvPr>
          <p:cNvPicPr>
            <a:picLocks noChangeAspect="1"/>
          </p:cNvPicPr>
          <p:nvPr/>
        </p:nvPicPr>
        <p:blipFill>
          <a:blip r:embed="rId7"/>
          <a:stretch>
            <a:fillRect/>
          </a:stretch>
        </p:blipFill>
        <p:spPr>
          <a:xfrm>
            <a:off x="366932" y="1254173"/>
            <a:ext cx="4566030" cy="2324100"/>
          </a:xfrm>
          <a:prstGeom prst="rect">
            <a:avLst/>
          </a:prstGeom>
          <a:ln w="76200">
            <a:solidFill>
              <a:schemeClr val="bg1"/>
            </a:solidFill>
          </a:ln>
        </p:spPr>
      </p:pic>
      <p:pic>
        <p:nvPicPr>
          <p:cNvPr id="10" name="Picture 9">
            <a:extLst>
              <a:ext uri="{FF2B5EF4-FFF2-40B4-BE49-F238E27FC236}">
                <a16:creationId xmlns:a16="http://schemas.microsoft.com/office/drawing/2014/main" id="{3AEABE7D-6A19-B34D-9B44-5635562880EF}"/>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169053" y="5712733"/>
            <a:ext cx="794084" cy="794084"/>
          </a:xfrm>
          <a:prstGeom prst="rect">
            <a:avLst/>
          </a:prstGeom>
        </p:spPr>
      </p:pic>
    </p:spTree>
    <p:extLst>
      <p:ext uri="{BB962C8B-B14F-4D97-AF65-F5344CB8AC3E}">
        <p14:creationId xmlns:p14="http://schemas.microsoft.com/office/powerpoint/2010/main" val="1240071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901978-D038-6C40-A9EB-6FE4EAF685E3}"/>
              </a:ext>
            </a:extLst>
          </p:cNvPr>
          <p:cNvSpPr>
            <a:spLocks noGrp="1"/>
          </p:cNvSpPr>
          <p:nvPr>
            <p:ph sz="quarter" idx="11"/>
          </p:nvPr>
        </p:nvSpPr>
        <p:spPr>
          <a:xfrm>
            <a:off x="355738" y="1774415"/>
            <a:ext cx="11360011" cy="4175033"/>
          </a:xfrm>
        </p:spPr>
        <p:txBody>
          <a:bodyPr>
            <a:normAutofit fontScale="92500" lnSpcReduction="10000"/>
          </a:bodyPr>
          <a:lstStyle/>
          <a:p>
            <a:pPr marL="0" indent="0">
              <a:buNone/>
            </a:pPr>
            <a:r>
              <a:rPr lang="en-US" sz="2600" b="1" dirty="0">
                <a:solidFill>
                  <a:srgbClr val="FFFF00"/>
                </a:solidFill>
                <a:latin typeface="+mn-lt"/>
                <a:ea typeface="+mn-ea"/>
              </a:rPr>
              <a:t>Instructions:</a:t>
            </a:r>
            <a:br>
              <a:rPr lang="en-US" sz="2600" dirty="0">
                <a:solidFill>
                  <a:schemeClr val="bg1"/>
                </a:solidFill>
                <a:latin typeface="+mn-lt"/>
                <a:ea typeface="+mn-ea"/>
              </a:rPr>
            </a:br>
            <a:r>
              <a:rPr lang="en-US" sz="2600" dirty="0">
                <a:solidFill>
                  <a:schemeClr val="bg1"/>
                </a:solidFill>
                <a:latin typeface="+mn-lt"/>
                <a:ea typeface="+mn-ea"/>
              </a:rPr>
              <a:t>Watch the video introducing what is GDPR?</a:t>
            </a:r>
          </a:p>
          <a:p>
            <a:pPr marL="0" indent="0">
              <a:buNone/>
            </a:pPr>
            <a:r>
              <a:rPr lang="en-US" sz="2600" b="1" dirty="0">
                <a:solidFill>
                  <a:srgbClr val="FFFF00"/>
                </a:solidFill>
                <a:latin typeface="+mn-lt"/>
                <a:ea typeface="+mn-ea"/>
              </a:rPr>
              <a:t>Sources: </a:t>
            </a:r>
            <a:r>
              <a:rPr lang="en-US" sz="2600" b="1" dirty="0">
                <a:solidFill>
                  <a:schemeClr val="bg1"/>
                </a:solidFill>
                <a:latin typeface="+mn-lt"/>
                <a:ea typeface="+mn-ea"/>
              </a:rPr>
              <a:t>YouTube:</a:t>
            </a:r>
          </a:p>
          <a:p>
            <a:pPr marL="0" indent="0">
              <a:buNone/>
            </a:pPr>
            <a:r>
              <a:rPr lang="en-US" sz="2600" dirty="0">
                <a:solidFill>
                  <a:schemeClr val="bg1"/>
                </a:solidFill>
                <a:latin typeface="+mn-lt"/>
                <a:ea typeface="+mn-ea"/>
                <a:hlinkClick r:id="rId2">
                  <a:extLst>
                    <a:ext uri="{A12FA001-AC4F-418D-AE19-62706E023703}">
                      <ahyp:hlinkClr xmlns:ahyp="http://schemas.microsoft.com/office/drawing/2018/hyperlinkcolor" val="tx"/>
                    </a:ext>
                  </a:extLst>
                </a:hlinkClick>
              </a:rPr>
              <a:t>https://www.youtube.com/watch?v=j6wwBqfSk-o</a:t>
            </a:r>
            <a:endParaRPr lang="en-US" sz="2600" dirty="0">
              <a:solidFill>
                <a:schemeClr val="bg1"/>
              </a:solidFill>
              <a:latin typeface="+mn-lt"/>
              <a:ea typeface="+mn-ea"/>
            </a:endParaRPr>
          </a:p>
          <a:p>
            <a:pPr marL="0" indent="0">
              <a:buNone/>
            </a:pPr>
            <a:r>
              <a:rPr lang="en-US" sz="2600" dirty="0">
                <a:solidFill>
                  <a:schemeClr val="bg1"/>
                </a:solidFill>
                <a:latin typeface="+mn-lt"/>
                <a:ea typeface="+mn-ea"/>
              </a:rPr>
              <a:t>https://</a:t>
            </a:r>
            <a:r>
              <a:rPr lang="en-US" sz="2600" dirty="0" err="1">
                <a:solidFill>
                  <a:schemeClr val="bg1"/>
                </a:solidFill>
                <a:latin typeface="+mn-lt"/>
                <a:ea typeface="+mn-ea"/>
              </a:rPr>
              <a:t>www.youtube.com</a:t>
            </a:r>
            <a:r>
              <a:rPr lang="en-US" sz="2600" dirty="0">
                <a:solidFill>
                  <a:schemeClr val="bg1"/>
                </a:solidFill>
                <a:latin typeface="+mn-lt"/>
                <a:ea typeface="+mn-ea"/>
              </a:rPr>
              <a:t>/</a:t>
            </a:r>
            <a:r>
              <a:rPr lang="en-US" sz="2600" dirty="0" err="1">
                <a:solidFill>
                  <a:schemeClr val="bg1"/>
                </a:solidFill>
                <a:latin typeface="+mn-lt"/>
                <a:ea typeface="+mn-ea"/>
              </a:rPr>
              <a:t>watch?v</a:t>
            </a:r>
            <a:r>
              <a:rPr lang="en-US" sz="2600" dirty="0">
                <a:solidFill>
                  <a:schemeClr val="bg1"/>
                </a:solidFill>
                <a:latin typeface="+mn-lt"/>
                <a:ea typeface="+mn-ea"/>
              </a:rPr>
              <a:t>=I-</a:t>
            </a:r>
            <a:r>
              <a:rPr lang="en-US" sz="2600">
                <a:solidFill>
                  <a:schemeClr val="bg1"/>
                </a:solidFill>
                <a:latin typeface="+mn-lt"/>
                <a:ea typeface="+mn-ea"/>
              </a:rPr>
              <a:t>VuonciKWk</a:t>
            </a:r>
            <a:endParaRPr lang="en-US" sz="2600" dirty="0">
              <a:solidFill>
                <a:schemeClr val="bg1"/>
              </a:solidFill>
              <a:latin typeface="+mn-lt"/>
              <a:ea typeface="+mn-ea"/>
            </a:endParaRPr>
          </a:p>
          <a:p>
            <a:pPr marL="0" indent="0">
              <a:buNone/>
            </a:pPr>
            <a:r>
              <a:rPr lang="en-US" sz="2600" b="1" dirty="0">
                <a:solidFill>
                  <a:srgbClr val="FFFF00"/>
                </a:solidFill>
                <a:latin typeface="+mn-lt"/>
                <a:ea typeface="+mn-ea"/>
              </a:rPr>
              <a:t>Learning Outcome: </a:t>
            </a:r>
          </a:p>
          <a:p>
            <a:pPr marL="0" indent="0">
              <a:buNone/>
            </a:pPr>
            <a:r>
              <a:rPr lang="en-US" sz="2600" dirty="0">
                <a:solidFill>
                  <a:schemeClr val="bg1"/>
                </a:solidFill>
                <a:latin typeface="+mn-lt"/>
                <a:ea typeface="+mn-ea"/>
              </a:rPr>
              <a:t>An appreciation that GDPR regulations will impact all Canadian Companies if doing business with any European country, many USA companies will also not do business with Canadian companies without GDPR compliance on data privacy.</a:t>
            </a:r>
          </a:p>
        </p:txBody>
      </p:sp>
      <p:sp>
        <p:nvSpPr>
          <p:cNvPr id="6" name="Rectangle 5">
            <a:extLst>
              <a:ext uri="{FF2B5EF4-FFF2-40B4-BE49-F238E27FC236}">
                <a16:creationId xmlns:a16="http://schemas.microsoft.com/office/drawing/2014/main" id="{89C63581-4919-814F-8AE3-BC1DB81DF960}"/>
              </a:ext>
            </a:extLst>
          </p:cNvPr>
          <p:cNvSpPr/>
          <p:nvPr/>
        </p:nvSpPr>
        <p:spPr>
          <a:xfrm>
            <a:off x="2057400" y="84221"/>
            <a:ext cx="6785810" cy="1446550"/>
          </a:xfrm>
          <a:prstGeom prst="rect">
            <a:avLst/>
          </a:prstGeom>
        </p:spPr>
        <p:txBody>
          <a:bodyPr wrap="square">
            <a:spAutoFit/>
          </a:bodyPr>
          <a:lstStyle/>
          <a:p>
            <a:pPr algn="ctr"/>
            <a:r>
              <a:rPr lang="en-US" sz="4400" b="1">
                <a:solidFill>
                  <a:srgbClr val="FFFF00"/>
                </a:solidFill>
                <a:latin typeface="Perpetua Titling MT Light" charset="0"/>
              </a:rPr>
              <a:t>LAB EXERCISE 19  </a:t>
            </a:r>
          </a:p>
          <a:p>
            <a:pPr algn="ctr"/>
            <a:r>
              <a:rPr lang="en-US" sz="4400" b="1">
                <a:solidFill>
                  <a:srgbClr val="FFFF00"/>
                </a:solidFill>
                <a:latin typeface="Perpetua Titling MT Light" charset="0"/>
              </a:rPr>
              <a:t>GDPR VIDEO  </a:t>
            </a:r>
          </a:p>
        </p:txBody>
      </p:sp>
      <p:sp>
        <p:nvSpPr>
          <p:cNvPr id="7" name="Slide Number Placeholder 4">
            <a:extLst>
              <a:ext uri="{FF2B5EF4-FFF2-40B4-BE49-F238E27FC236}">
                <a16:creationId xmlns:a16="http://schemas.microsoft.com/office/drawing/2014/main" id="{C89B8D56-CFAF-DE4F-8254-B594454AE1B1}"/>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23</a:t>
            </a:fld>
            <a:endParaRPr lang="en-US" sz="1400">
              <a:solidFill>
                <a:schemeClr val="bg1"/>
              </a:solidFill>
            </a:endParaRPr>
          </a:p>
        </p:txBody>
      </p:sp>
      <p:pic>
        <p:nvPicPr>
          <p:cNvPr id="8" name="Picture 7">
            <a:extLst>
              <a:ext uri="{FF2B5EF4-FFF2-40B4-BE49-F238E27FC236}">
                <a16:creationId xmlns:a16="http://schemas.microsoft.com/office/drawing/2014/main" id="{C923B667-5864-C749-8E8D-347EBCEC15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854" y="170393"/>
            <a:ext cx="794084" cy="794084"/>
          </a:xfrm>
          <a:prstGeom prst="rect">
            <a:avLst/>
          </a:prstGeom>
        </p:spPr>
      </p:pic>
    </p:spTree>
    <p:extLst>
      <p:ext uri="{BB962C8B-B14F-4D97-AF65-F5344CB8AC3E}">
        <p14:creationId xmlns:p14="http://schemas.microsoft.com/office/powerpoint/2010/main" val="3911105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41B83B-E0A9-954B-9DA7-55CBA8B55254}"/>
              </a:ext>
            </a:extLst>
          </p:cNvPr>
          <p:cNvSpPr>
            <a:spLocks noGrp="1"/>
          </p:cNvSpPr>
          <p:nvPr>
            <p:ph sz="quarter" idx="11"/>
          </p:nvPr>
        </p:nvSpPr>
        <p:spPr>
          <a:xfrm>
            <a:off x="616208" y="1034715"/>
            <a:ext cx="10953945" cy="4265027"/>
          </a:xfrm>
        </p:spPr>
        <p:txBody>
          <a:bodyPr>
            <a:noAutofit/>
          </a:bodyPr>
          <a:lstStyle/>
          <a:p>
            <a:pPr marL="0" indent="0">
              <a:buNone/>
            </a:pPr>
            <a:r>
              <a:rPr lang="en-CA" sz="2400" b="1">
                <a:solidFill>
                  <a:srgbClr val="FFFF00"/>
                </a:solidFill>
                <a:latin typeface="Garamond" panose="02020404030301010803" pitchFamily="18" charset="0"/>
              </a:rPr>
              <a:t>The EU General Data Protection Regulation (GDPR), for instance, contains provisions, aimed at providing effective legal safeguards for data-subjects, including rights of transparency, of explanation and of contestation, for fully-automated decisions that process personal data. </a:t>
            </a:r>
            <a:r>
              <a:rPr lang="en-CA" sz="2300" b="1">
                <a:solidFill>
                  <a:schemeClr val="bg1"/>
                </a:solidFill>
                <a:latin typeface="Garamond" panose="02020404030301010803" pitchFamily="18" charset="0"/>
              </a:rPr>
              <a:t> </a:t>
            </a:r>
          </a:p>
          <a:p>
            <a:pPr lvl="1"/>
            <a:r>
              <a:rPr lang="en-CA" sz="2300">
                <a:solidFill>
                  <a:schemeClr val="bg1"/>
                </a:solidFill>
                <a:latin typeface="Garamond" panose="02020404030301010803" pitchFamily="18" charset="0"/>
              </a:rPr>
              <a:t>Its principles of data minimisation and purpose specification can also be expected to mitigate some of the risks of misuse of personal data in the development and use of AI systems.</a:t>
            </a:r>
          </a:p>
          <a:p>
            <a:pPr lvl="1"/>
            <a:r>
              <a:rPr lang="en-CA" sz="2300">
                <a:solidFill>
                  <a:schemeClr val="bg1"/>
                </a:solidFill>
                <a:latin typeface="Garamond" panose="02020404030301010803" pitchFamily="18" charset="0"/>
              </a:rPr>
              <a:t>While still in its early days, GDPR shows that governments can enforce legal restraints on digital innovation, rather than relying on industry volunteerism and self-regulation. </a:t>
            </a:r>
          </a:p>
          <a:p>
            <a:pPr lvl="1"/>
            <a:r>
              <a:rPr lang="en-CA" sz="2300">
                <a:solidFill>
                  <a:schemeClr val="bg1"/>
                </a:solidFill>
                <a:latin typeface="Garamond" panose="02020404030301010803" pitchFamily="18" charset="0"/>
              </a:rPr>
              <a:t>It proves that the public interest can be defended without scaring off digital innovators. </a:t>
            </a:r>
          </a:p>
          <a:p>
            <a:pPr lvl="1"/>
            <a:r>
              <a:rPr lang="en-CA" sz="2300">
                <a:solidFill>
                  <a:schemeClr val="bg1"/>
                </a:solidFill>
                <a:latin typeface="Garamond" panose="02020404030301010803" pitchFamily="18" charset="0"/>
              </a:rPr>
              <a:t>And as it becomes tested through complaints, investigation and enforcement, its scope will be clarified and evolved.</a:t>
            </a:r>
          </a:p>
          <a:p>
            <a:endParaRPr lang="en-US" sz="2300">
              <a:solidFill>
                <a:schemeClr val="bg1"/>
              </a:solidFill>
              <a:latin typeface="Garamond" panose="02020404030301010803" pitchFamily="18" charset="0"/>
            </a:endParaRPr>
          </a:p>
        </p:txBody>
      </p:sp>
      <p:sp>
        <p:nvSpPr>
          <p:cNvPr id="6" name="Title 2">
            <a:extLst>
              <a:ext uri="{FF2B5EF4-FFF2-40B4-BE49-F238E27FC236}">
                <a16:creationId xmlns:a16="http://schemas.microsoft.com/office/drawing/2014/main" id="{8EA4C3F2-71A3-1446-8DC7-847F458D457C}"/>
              </a:ext>
            </a:extLst>
          </p:cNvPr>
          <p:cNvSpPr txBox="1">
            <a:spLocks/>
          </p:cNvSpPr>
          <p:nvPr/>
        </p:nvSpPr>
        <p:spPr>
          <a:xfrm>
            <a:off x="355741" y="194679"/>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latin typeface="Perpetua Titling MT Light" charset="0"/>
              </a:rPr>
              <a:t>THE IMPORTANCE OF LAW</a:t>
            </a:r>
          </a:p>
        </p:txBody>
      </p:sp>
      <p:sp>
        <p:nvSpPr>
          <p:cNvPr id="7" name="Rectangle 6">
            <a:extLst>
              <a:ext uri="{FF2B5EF4-FFF2-40B4-BE49-F238E27FC236}">
                <a16:creationId xmlns:a16="http://schemas.microsoft.com/office/drawing/2014/main" id="{419A2359-DB8E-3946-A271-D9C9623F7E58}"/>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5" name="Slide Number Placeholder 4">
            <a:extLst>
              <a:ext uri="{FF2B5EF4-FFF2-40B4-BE49-F238E27FC236}">
                <a16:creationId xmlns:a16="http://schemas.microsoft.com/office/drawing/2014/main" id="{7FF3FEF7-03AB-B24D-8D41-05E8FC9F5CBE}"/>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24</a:t>
            </a:fld>
            <a:endParaRPr lang="en-US" sz="1400">
              <a:solidFill>
                <a:schemeClr val="bg1"/>
              </a:solidFill>
            </a:endParaRPr>
          </a:p>
        </p:txBody>
      </p:sp>
    </p:spTree>
    <p:extLst>
      <p:ext uri="{BB962C8B-B14F-4D97-AF65-F5344CB8AC3E}">
        <p14:creationId xmlns:p14="http://schemas.microsoft.com/office/powerpoint/2010/main" val="1255517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355741" y="194679"/>
            <a:ext cx="11474881" cy="543475"/>
          </a:xfrm>
        </p:spPr>
        <p:txBody>
          <a:bodyPr>
            <a:noAutofit/>
          </a:bodyPr>
          <a:lstStyle/>
          <a:p>
            <a:r>
              <a:rPr lang="en-US">
                <a:solidFill>
                  <a:prstClr val="white"/>
                </a:solidFill>
                <a:latin typeface="Perpetua Titling MT Light" charset="0"/>
              </a:rPr>
              <a:t>GDPR LEARNING MATERIALS</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25</a:t>
            </a:fld>
            <a:endParaRPr lang="en-US" sz="1400">
              <a:solidFill>
                <a:schemeClr val="bg1"/>
              </a:solidFill>
            </a:endParaRPr>
          </a:p>
        </p:txBody>
      </p:sp>
      <p:sp>
        <p:nvSpPr>
          <p:cNvPr id="2" name="TextBox 1">
            <a:extLst>
              <a:ext uri="{FF2B5EF4-FFF2-40B4-BE49-F238E27FC236}">
                <a16:creationId xmlns:a16="http://schemas.microsoft.com/office/drawing/2014/main" id="{608AD3C5-E2FF-9448-B800-1D3EEC5C62F2}"/>
              </a:ext>
            </a:extLst>
          </p:cNvPr>
          <p:cNvSpPr txBox="1"/>
          <p:nvPr/>
        </p:nvSpPr>
        <p:spPr>
          <a:xfrm>
            <a:off x="5101389" y="1114106"/>
            <a:ext cx="6614361" cy="5324535"/>
          </a:xfrm>
          <a:prstGeom prst="rect">
            <a:avLst/>
          </a:prstGeom>
          <a:noFill/>
        </p:spPr>
        <p:txBody>
          <a:bodyPr wrap="square" rtlCol="0">
            <a:spAutoFit/>
          </a:bodyPr>
          <a:lstStyle/>
          <a:p>
            <a:pPr>
              <a:buClr>
                <a:schemeClr val="accent6"/>
              </a:buClr>
            </a:pPr>
            <a:r>
              <a:rPr lang="en-CA" sz="2000" b="1">
                <a:solidFill>
                  <a:schemeClr val="bg1"/>
                </a:solidFill>
              </a:rPr>
              <a:t>	Legal Details </a:t>
            </a:r>
            <a:r>
              <a:rPr lang="en-CA" sz="2000">
                <a:solidFill>
                  <a:schemeClr val="bg1"/>
                </a:solidFill>
                <a:hlinkClick r:id="rId2">
                  <a:extLst>
                    <a:ext uri="{A12FA001-AC4F-418D-AE19-62706E023703}">
                      <ahyp:hlinkClr xmlns:ahyp="http://schemas.microsoft.com/office/drawing/2018/hyperlinkcolor" val="tx"/>
                    </a:ext>
                  </a:extLst>
                </a:hlinkClick>
              </a:rPr>
              <a:t>https://gdpr.eu/tag/gdpr/</a:t>
            </a:r>
            <a:r>
              <a:rPr lang="en-CA" sz="2000" b="1">
                <a:solidFill>
                  <a:schemeClr val="bg1"/>
                </a:solidFill>
              </a:rPr>
              <a:t> </a:t>
            </a:r>
          </a:p>
          <a:p>
            <a:pPr>
              <a:buClr>
                <a:schemeClr val="accent6"/>
              </a:buClr>
            </a:pPr>
            <a:r>
              <a:rPr lang="en-CA" sz="2000" b="1">
                <a:solidFill>
                  <a:schemeClr val="bg1"/>
                </a:solidFill>
              </a:rPr>
              <a:t>	Checklist for Compliance </a:t>
            </a:r>
            <a:r>
              <a:rPr lang="en-CA" sz="2000">
                <a:solidFill>
                  <a:schemeClr val="bg1"/>
                </a:solidFill>
                <a:hlinkClick r:id="rId3">
                  <a:extLst>
                    <a:ext uri="{A12FA001-AC4F-418D-AE19-62706E023703}">
                      <ahyp:hlinkClr xmlns:ahyp="http://schemas.microsoft.com/office/drawing/2018/hyperlinkcolor" val="tx"/>
                    </a:ext>
                  </a:extLst>
                </a:hlinkClick>
              </a:rPr>
              <a:t>https://gdpr.eu/checklist/</a:t>
            </a:r>
            <a:endParaRPr lang="en-CA" sz="2000">
              <a:solidFill>
                <a:schemeClr val="bg1"/>
              </a:solidFill>
            </a:endParaRPr>
          </a:p>
          <a:p>
            <a:pPr>
              <a:buClr>
                <a:schemeClr val="accent6"/>
              </a:buClr>
            </a:pPr>
            <a:endParaRPr lang="en-CA" sz="2000" b="1">
              <a:solidFill>
                <a:schemeClr val="bg1"/>
              </a:solidFill>
            </a:endParaRPr>
          </a:p>
          <a:p>
            <a:pPr>
              <a:buClr>
                <a:schemeClr val="accent6"/>
              </a:buClr>
            </a:pPr>
            <a:r>
              <a:rPr lang="en-CA" sz="2000" b="1">
                <a:solidFill>
                  <a:schemeClr val="bg1"/>
                </a:solidFill>
              </a:rPr>
              <a:t>GDPR What is it and How Might it Effect You? You Tube – Wall Street Journal Video</a:t>
            </a:r>
          </a:p>
          <a:p>
            <a:pPr>
              <a:buClr>
                <a:schemeClr val="accent6"/>
              </a:buClr>
            </a:pPr>
            <a:r>
              <a:rPr lang="en-CA" sz="2000" b="1">
                <a:solidFill>
                  <a:schemeClr val="bg1"/>
                </a:solidFill>
                <a:hlinkClick r:id="rId4">
                  <a:extLst>
                    <a:ext uri="{A12FA001-AC4F-418D-AE19-62706E023703}">
                      <ahyp:hlinkClr xmlns:ahyp="http://schemas.microsoft.com/office/drawing/2018/hyperlinkcolor" val="tx"/>
                    </a:ext>
                  </a:extLst>
                </a:hlinkClick>
              </a:rPr>
              <a:t>https://www.youtube.com/watch?v=j6wwBqfSk-o</a:t>
            </a:r>
            <a:endParaRPr lang="en-CA" sz="2000" b="1">
              <a:solidFill>
                <a:schemeClr val="bg1"/>
              </a:solidFill>
            </a:endParaRPr>
          </a:p>
          <a:p>
            <a:pPr>
              <a:buClr>
                <a:schemeClr val="accent6"/>
              </a:buClr>
            </a:pPr>
            <a:r>
              <a:rPr lang="en-CA" sz="2000" b="1">
                <a:solidFill>
                  <a:schemeClr val="bg1"/>
                </a:solidFill>
              </a:rPr>
              <a:t>GDPR – Explained Simply </a:t>
            </a:r>
          </a:p>
          <a:p>
            <a:pPr>
              <a:buClr>
                <a:schemeClr val="accent6"/>
              </a:buClr>
            </a:pPr>
            <a:r>
              <a:rPr lang="en-CA" sz="2000" b="1">
                <a:solidFill>
                  <a:schemeClr val="bg1"/>
                </a:solidFill>
                <a:hlinkClick r:id="rId5">
                  <a:extLst>
                    <a:ext uri="{A12FA001-AC4F-418D-AE19-62706E023703}">
                      <ahyp:hlinkClr xmlns:ahyp="http://schemas.microsoft.com/office/drawing/2018/hyperlinkcolor" val="tx"/>
                    </a:ext>
                  </a:extLst>
                </a:hlinkClick>
              </a:rPr>
              <a:t>https://www.youtube.com/watch?v=nG9RJLhDTXc</a:t>
            </a:r>
            <a:endParaRPr lang="en-CA" sz="2000" b="1">
              <a:solidFill>
                <a:schemeClr val="bg1"/>
              </a:solidFill>
            </a:endParaRPr>
          </a:p>
          <a:p>
            <a:pPr>
              <a:buClr>
                <a:schemeClr val="accent6"/>
              </a:buClr>
            </a:pPr>
            <a:r>
              <a:rPr lang="en-CA" sz="2000" b="1">
                <a:solidFill>
                  <a:schemeClr val="bg1"/>
                </a:solidFill>
              </a:rPr>
              <a:t>GDPR Expained – Channel 4 UK News</a:t>
            </a:r>
          </a:p>
          <a:p>
            <a:pPr>
              <a:buClr>
                <a:schemeClr val="accent6"/>
              </a:buClr>
            </a:pPr>
            <a:r>
              <a:rPr lang="en-CA" sz="2000" b="1">
                <a:solidFill>
                  <a:schemeClr val="bg1"/>
                </a:solidFill>
                <a:hlinkClick r:id="rId6">
                  <a:extLst>
                    <a:ext uri="{A12FA001-AC4F-418D-AE19-62706E023703}">
                      <ahyp:hlinkClr xmlns:ahyp="http://schemas.microsoft.com/office/drawing/2018/hyperlinkcolor" val="tx"/>
                    </a:ext>
                  </a:extLst>
                </a:hlinkClick>
              </a:rPr>
              <a:t>https://www.youtube.com/watch?v=acijNEErf-c</a:t>
            </a:r>
            <a:endParaRPr lang="en-CA" sz="2000" b="1">
              <a:solidFill>
                <a:schemeClr val="bg1"/>
              </a:solidFill>
            </a:endParaRPr>
          </a:p>
          <a:p>
            <a:pPr>
              <a:buClr>
                <a:schemeClr val="accent6"/>
              </a:buClr>
            </a:pPr>
            <a:r>
              <a:rPr lang="en-CA" sz="2000" b="1">
                <a:solidFill>
                  <a:schemeClr val="bg1"/>
                </a:solidFill>
              </a:rPr>
              <a:t>GDPR Explained Even More</a:t>
            </a:r>
          </a:p>
          <a:p>
            <a:pPr>
              <a:buClr>
                <a:schemeClr val="accent6"/>
              </a:buClr>
            </a:pPr>
            <a:r>
              <a:rPr lang="en-CA" sz="2000" b="1">
                <a:solidFill>
                  <a:schemeClr val="bg1"/>
                </a:solidFill>
                <a:hlinkClick r:id="rId7"/>
              </a:rPr>
              <a:t>https://www.youtube.com/watch?v=Assdm6fIHlE</a:t>
            </a:r>
            <a:endParaRPr lang="en-CA" sz="2000" b="1">
              <a:solidFill>
                <a:schemeClr val="bg1"/>
              </a:solidFill>
            </a:endParaRPr>
          </a:p>
          <a:p>
            <a:pPr>
              <a:buClr>
                <a:schemeClr val="accent6"/>
              </a:buClr>
            </a:pPr>
            <a:r>
              <a:rPr lang="en-CA" sz="2000" b="1">
                <a:solidFill>
                  <a:schemeClr val="bg1"/>
                </a:solidFill>
              </a:rPr>
              <a:t>GDPR for Dummies</a:t>
            </a:r>
          </a:p>
          <a:p>
            <a:pPr>
              <a:buClr>
                <a:schemeClr val="accent6"/>
              </a:buClr>
            </a:pPr>
            <a:r>
              <a:rPr lang="en-CA" sz="2000" b="1">
                <a:solidFill>
                  <a:schemeClr val="bg1"/>
                </a:solidFill>
              </a:rPr>
              <a:t>https://www.youtube.com/watch?v=38VoV3fAAEI</a:t>
            </a:r>
          </a:p>
          <a:p>
            <a:pPr>
              <a:buClr>
                <a:schemeClr val="accent6"/>
              </a:buClr>
            </a:pPr>
            <a:endParaRPr lang="en-CA" sz="2000" b="1">
              <a:solidFill>
                <a:schemeClr val="bg1"/>
              </a:solidFill>
            </a:endParaRPr>
          </a:p>
          <a:p>
            <a:pPr marL="342900" indent="-342900">
              <a:buClr>
                <a:schemeClr val="accent6"/>
              </a:buClr>
              <a:buFont typeface="Wingdings" pitchFamily="2" charset="2"/>
              <a:buChar char="Ø"/>
            </a:pPr>
            <a:endParaRPr lang="en-CA" sz="2000">
              <a:solidFill>
                <a:schemeClr val="bg1"/>
              </a:solidFill>
            </a:endParaRPr>
          </a:p>
          <a:p>
            <a:pPr>
              <a:buClr>
                <a:schemeClr val="accent6"/>
              </a:buClr>
            </a:pPr>
            <a:r>
              <a:rPr lang="en-CA" sz="2000">
                <a:solidFill>
                  <a:schemeClr val="bg1"/>
                </a:solidFill>
              </a:rPr>
              <a:t> </a:t>
            </a:r>
          </a:p>
        </p:txBody>
      </p:sp>
      <p:pic>
        <p:nvPicPr>
          <p:cNvPr id="5" name="Picture 4">
            <a:extLst>
              <a:ext uri="{FF2B5EF4-FFF2-40B4-BE49-F238E27FC236}">
                <a16:creationId xmlns:a16="http://schemas.microsoft.com/office/drawing/2014/main" id="{8AF2F38C-7FC4-5748-865F-289877251C96}"/>
              </a:ext>
            </a:extLst>
          </p:cNvPr>
          <p:cNvPicPr>
            <a:picLocks noChangeAspect="1"/>
          </p:cNvPicPr>
          <p:nvPr/>
        </p:nvPicPr>
        <p:blipFill>
          <a:blip r:embed="rId8"/>
          <a:stretch>
            <a:fillRect/>
          </a:stretch>
        </p:blipFill>
        <p:spPr>
          <a:xfrm>
            <a:off x="366932" y="1254173"/>
            <a:ext cx="4566030" cy="2324100"/>
          </a:xfrm>
          <a:prstGeom prst="rect">
            <a:avLst/>
          </a:prstGeom>
          <a:ln w="76200">
            <a:solidFill>
              <a:schemeClr val="bg1"/>
            </a:solidFill>
          </a:ln>
        </p:spPr>
      </p:pic>
      <p:pic>
        <p:nvPicPr>
          <p:cNvPr id="10" name="Picture 9">
            <a:extLst>
              <a:ext uri="{FF2B5EF4-FFF2-40B4-BE49-F238E27FC236}">
                <a16:creationId xmlns:a16="http://schemas.microsoft.com/office/drawing/2014/main" id="{3AEABE7D-6A19-B34D-9B44-5635562880EF}"/>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169053" y="1114106"/>
            <a:ext cx="794084" cy="794084"/>
          </a:xfrm>
          <a:prstGeom prst="rect">
            <a:avLst/>
          </a:prstGeom>
        </p:spPr>
      </p:pic>
    </p:spTree>
    <p:extLst>
      <p:ext uri="{BB962C8B-B14F-4D97-AF65-F5344CB8AC3E}">
        <p14:creationId xmlns:p14="http://schemas.microsoft.com/office/powerpoint/2010/main" val="2862990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93E21-BEF1-1B48-9357-AE52C2A39A17}"/>
              </a:ext>
            </a:extLst>
          </p:cNvPr>
          <p:cNvSpPr/>
          <p:nvPr/>
        </p:nvSpPr>
        <p:spPr>
          <a:xfrm>
            <a:off x="606394" y="798170"/>
            <a:ext cx="11352995" cy="5632311"/>
          </a:xfrm>
          <a:prstGeom prst="rect">
            <a:avLst/>
          </a:prstGeom>
        </p:spPr>
        <p:txBody>
          <a:bodyPr wrap="square">
            <a:spAutoFit/>
          </a:bodyPr>
          <a:lstStyle/>
          <a:p>
            <a:r>
              <a:rPr lang="en-CA" sz="2000" b="1" dirty="0">
                <a:solidFill>
                  <a:srgbClr val="FFFF00"/>
                </a:solidFill>
              </a:rPr>
              <a:t>The EC Ethics Guidelines for Trustworthy AI </a:t>
            </a:r>
            <a:r>
              <a:rPr lang="en-CA" sz="2000" dirty="0">
                <a:solidFill>
                  <a:schemeClr val="bg1"/>
                </a:solidFill>
              </a:rPr>
              <a:t>includes seven key tenants form an excellent set of guard rails for developing AI approaches, methods and new ways of working. </a:t>
            </a:r>
            <a:br>
              <a:rPr lang="en-CA" sz="2000" dirty="0">
                <a:solidFill>
                  <a:schemeClr val="bg1"/>
                </a:solidFill>
              </a:rPr>
            </a:br>
            <a:r>
              <a:rPr lang="en-CA" sz="2000" b="1" dirty="0">
                <a:solidFill>
                  <a:srgbClr val="FFFF00"/>
                </a:solidFill>
              </a:rPr>
              <a:t>1.Human agency and oversight </a:t>
            </a:r>
            <a:r>
              <a:rPr lang="en-CA" sz="2000" dirty="0">
                <a:solidFill>
                  <a:schemeClr val="bg1"/>
                </a:solidFill>
              </a:rPr>
              <a:t>— AI should not trample on human autonomy. People should not be manipulated or coerced by AI systems, and humans should be able to intervene or oversee every decision that the software makes.</a:t>
            </a:r>
          </a:p>
          <a:p>
            <a:r>
              <a:rPr lang="en-CA" sz="2000" b="1" dirty="0">
                <a:solidFill>
                  <a:srgbClr val="FFFF00"/>
                </a:solidFill>
              </a:rPr>
              <a:t>2.Technical robustness and safety </a:t>
            </a:r>
            <a:r>
              <a:rPr lang="en-CA" sz="2000" dirty="0">
                <a:solidFill>
                  <a:schemeClr val="bg1"/>
                </a:solidFill>
              </a:rPr>
              <a:t>— AI should be secure and accurate. It shouldn’t be easily compromised by external attacks (such as </a:t>
            </a:r>
            <a:r>
              <a:rPr lang="en-CA" sz="2000" dirty="0">
                <a:solidFill>
                  <a:schemeClr val="bg1"/>
                </a:solidFill>
                <a:hlinkClick r:id="rId2">
                  <a:extLst>
                    <a:ext uri="{A12FA001-AC4F-418D-AE19-62706E023703}">
                      <ahyp:hlinkClr xmlns:ahyp="http://schemas.microsoft.com/office/drawing/2018/hyperlinkcolor" val="tx"/>
                    </a:ext>
                  </a:extLst>
                </a:hlinkClick>
              </a:rPr>
              <a:t>adversarial examples</a:t>
            </a:r>
            <a:r>
              <a:rPr lang="en-CA" sz="2000" dirty="0">
                <a:solidFill>
                  <a:schemeClr val="bg1"/>
                </a:solidFill>
              </a:rPr>
              <a:t>), and it should be reasonably reliable.</a:t>
            </a:r>
          </a:p>
          <a:p>
            <a:r>
              <a:rPr lang="en-CA" sz="2000" b="1" dirty="0">
                <a:solidFill>
                  <a:srgbClr val="FFFF00"/>
                </a:solidFill>
              </a:rPr>
              <a:t>3. Privacy and data governance </a:t>
            </a:r>
            <a:r>
              <a:rPr lang="en-CA" sz="2000" dirty="0">
                <a:solidFill>
                  <a:schemeClr val="bg1"/>
                </a:solidFill>
              </a:rPr>
              <a:t>— Personal data collected by AI systems should be secure and private. It shouldn’t be accessible to just anyone, and it shouldn’t be easily stolen.</a:t>
            </a:r>
          </a:p>
          <a:p>
            <a:r>
              <a:rPr lang="en-CA" sz="2000" b="1" dirty="0">
                <a:solidFill>
                  <a:srgbClr val="FFFF00"/>
                </a:solidFill>
              </a:rPr>
              <a:t>4.Transparency </a:t>
            </a:r>
            <a:r>
              <a:rPr lang="en-CA" sz="2000" dirty="0">
                <a:solidFill>
                  <a:schemeClr val="bg1"/>
                </a:solidFill>
              </a:rPr>
              <a:t>— Data and algorithms used to create an AI system should be accessible, and the decisions made by the software should be “understood and traced by human beings.” In other words, operators should be able to explain the decisions their AI systems make.</a:t>
            </a:r>
          </a:p>
          <a:p>
            <a:r>
              <a:rPr lang="en-CA" sz="2000" b="1" dirty="0">
                <a:solidFill>
                  <a:srgbClr val="FFFF00"/>
                </a:solidFill>
              </a:rPr>
              <a:t>5. Diversity, Non-discrimination, and Fairness </a:t>
            </a:r>
            <a:r>
              <a:rPr lang="en-CA" sz="2000" dirty="0">
                <a:solidFill>
                  <a:schemeClr val="bg1"/>
                </a:solidFill>
              </a:rPr>
              <a:t>— Services provided by AI should be available to all, regardless of age, gender, race, or other characteristics. Similarly, systems should not be biased along these lines.</a:t>
            </a:r>
          </a:p>
          <a:p>
            <a:r>
              <a:rPr lang="en-CA" sz="2000" b="1" dirty="0">
                <a:solidFill>
                  <a:schemeClr val="bg1"/>
                </a:solidFill>
              </a:rPr>
              <a:t>6</a:t>
            </a:r>
            <a:r>
              <a:rPr lang="en-CA" sz="2000" b="1" dirty="0">
                <a:solidFill>
                  <a:srgbClr val="FFFF00"/>
                </a:solidFill>
              </a:rPr>
              <a:t>.Environmental and Societal Well-Being </a:t>
            </a:r>
            <a:r>
              <a:rPr lang="en-CA" sz="2000" dirty="0">
                <a:solidFill>
                  <a:schemeClr val="bg1"/>
                </a:solidFill>
              </a:rPr>
              <a:t>— AI systems should be sustainable (i.e., they should be ecologically responsible) and “enhance positive social change”</a:t>
            </a:r>
          </a:p>
          <a:p>
            <a:r>
              <a:rPr lang="en-CA" sz="2000" b="1" dirty="0">
                <a:solidFill>
                  <a:srgbClr val="FFFF00"/>
                </a:solidFill>
              </a:rPr>
              <a:t>7. Accountability </a:t>
            </a:r>
            <a:r>
              <a:rPr lang="en-CA" sz="2000" dirty="0">
                <a:solidFill>
                  <a:schemeClr val="bg1"/>
                </a:solidFill>
              </a:rPr>
              <a:t>— AI systems should be auditable and covered by existing protections for corporate whistleblowers. Negative impacts of systems should be acknowledged and reported in advance.</a:t>
            </a:r>
          </a:p>
        </p:txBody>
      </p:sp>
      <p:sp>
        <p:nvSpPr>
          <p:cNvPr id="3" name="Title 1">
            <a:extLst>
              <a:ext uri="{FF2B5EF4-FFF2-40B4-BE49-F238E27FC236}">
                <a16:creationId xmlns:a16="http://schemas.microsoft.com/office/drawing/2014/main" id="{51D5E865-5960-8D40-B3CE-B57FEE92B180}"/>
              </a:ext>
            </a:extLst>
          </p:cNvPr>
          <p:cNvSpPr txBox="1">
            <a:spLocks/>
          </p:cNvSpPr>
          <p:nvPr/>
        </p:nvSpPr>
        <p:spPr>
          <a:xfrm>
            <a:off x="606394" y="37510"/>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prstClr val="white"/>
                </a:solidFill>
                <a:latin typeface="Perpetua Titling MT Light" charset="0"/>
              </a:rPr>
              <a:t>The European Commission : AI Ethics</a:t>
            </a:r>
          </a:p>
        </p:txBody>
      </p:sp>
      <p:sp>
        <p:nvSpPr>
          <p:cNvPr id="4" name="Rectangle 3">
            <a:extLst>
              <a:ext uri="{FF2B5EF4-FFF2-40B4-BE49-F238E27FC236}">
                <a16:creationId xmlns:a16="http://schemas.microsoft.com/office/drawing/2014/main" id="{D38D2F51-A0B7-EE42-B9AA-2926FE812A13}"/>
              </a:ext>
            </a:extLst>
          </p:cNvPr>
          <p:cNvSpPr/>
          <p:nvPr/>
        </p:nvSpPr>
        <p:spPr bwMode="auto">
          <a:xfrm>
            <a:off x="5243094" y="657321"/>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5" name="Slide Number Placeholder 4">
            <a:extLst>
              <a:ext uri="{FF2B5EF4-FFF2-40B4-BE49-F238E27FC236}">
                <a16:creationId xmlns:a16="http://schemas.microsoft.com/office/drawing/2014/main" id="{F3754374-0ABA-D44B-8385-D0C5D6DE0835}"/>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26</a:t>
            </a:fld>
            <a:endParaRPr lang="en-US" sz="1400">
              <a:solidFill>
                <a:schemeClr val="bg1"/>
              </a:solidFill>
            </a:endParaRPr>
          </a:p>
        </p:txBody>
      </p:sp>
      <p:sp>
        <p:nvSpPr>
          <p:cNvPr id="6" name="TextBox 5">
            <a:extLst>
              <a:ext uri="{FF2B5EF4-FFF2-40B4-BE49-F238E27FC236}">
                <a16:creationId xmlns:a16="http://schemas.microsoft.com/office/drawing/2014/main" id="{C9919EDA-BBE4-AE4D-B48F-3D74BAE2C294}"/>
              </a:ext>
            </a:extLst>
          </p:cNvPr>
          <p:cNvSpPr txBox="1"/>
          <p:nvPr/>
        </p:nvSpPr>
        <p:spPr>
          <a:xfrm>
            <a:off x="3034145" y="6430481"/>
            <a:ext cx="8681605" cy="369332"/>
          </a:xfrm>
          <a:prstGeom prst="rect">
            <a:avLst/>
          </a:prstGeom>
          <a:noFill/>
        </p:spPr>
        <p:txBody>
          <a:bodyPr wrap="square" rtlCol="0">
            <a:spAutoFit/>
          </a:bodyPr>
          <a:lstStyle/>
          <a:p>
            <a:r>
              <a:rPr lang="en-US" b="1" dirty="0">
                <a:solidFill>
                  <a:schemeClr val="bg1"/>
                </a:solidFill>
              </a:rPr>
              <a:t>VIDEO SOURCE: </a:t>
            </a:r>
            <a:r>
              <a:rPr lang="en-US" dirty="0">
                <a:solidFill>
                  <a:schemeClr val="bg1"/>
                </a:solidFill>
              </a:rPr>
              <a:t>https://</a:t>
            </a:r>
            <a:r>
              <a:rPr lang="en-US" dirty="0" err="1">
                <a:solidFill>
                  <a:schemeClr val="bg1"/>
                </a:solidFill>
              </a:rPr>
              <a:t>www.youtube.com</a:t>
            </a:r>
            <a:r>
              <a:rPr lang="en-US" dirty="0">
                <a:solidFill>
                  <a:schemeClr val="bg1"/>
                </a:solidFill>
              </a:rPr>
              <a:t>/</a:t>
            </a:r>
            <a:r>
              <a:rPr lang="en-US" dirty="0" err="1">
                <a:solidFill>
                  <a:schemeClr val="bg1"/>
                </a:solidFill>
              </a:rPr>
              <a:t>watch?v</a:t>
            </a:r>
            <a:r>
              <a:rPr lang="en-US" dirty="0">
                <a:solidFill>
                  <a:schemeClr val="bg1"/>
                </a:solidFill>
              </a:rPr>
              <a:t>=2CskgpgcVdg&amp;feature=</a:t>
            </a:r>
            <a:r>
              <a:rPr lang="en-US" dirty="0" err="1">
                <a:solidFill>
                  <a:schemeClr val="bg1"/>
                </a:solidFill>
              </a:rPr>
              <a:t>emb_logo</a:t>
            </a:r>
            <a:endParaRPr lang="en-US" dirty="0">
              <a:solidFill>
                <a:schemeClr val="bg1"/>
              </a:solidFill>
            </a:endParaRPr>
          </a:p>
        </p:txBody>
      </p:sp>
    </p:spTree>
    <p:extLst>
      <p:ext uri="{BB962C8B-B14F-4D97-AF65-F5344CB8AC3E}">
        <p14:creationId xmlns:p14="http://schemas.microsoft.com/office/powerpoint/2010/main" val="275889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717119" y="328347"/>
            <a:ext cx="11474881" cy="543475"/>
          </a:xfrm>
        </p:spPr>
        <p:txBody>
          <a:bodyPr>
            <a:noAutofit/>
          </a:bodyPr>
          <a:lstStyle/>
          <a:p>
            <a:r>
              <a:rPr lang="en-US">
                <a:solidFill>
                  <a:prstClr val="white"/>
                </a:solidFill>
                <a:latin typeface="Perpetua Titling MT Light" charset="0"/>
              </a:rPr>
              <a:t>EUROPEAN UNION TRUSTWORTHY AI</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199845" y="99439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27</a:t>
            </a:fld>
            <a:endParaRPr lang="en-US" sz="1400">
              <a:solidFill>
                <a:schemeClr val="bg1"/>
              </a:solidFill>
            </a:endParaRPr>
          </a:p>
        </p:txBody>
      </p:sp>
      <p:pic>
        <p:nvPicPr>
          <p:cNvPr id="7" name="Picture 6">
            <a:extLst>
              <a:ext uri="{FF2B5EF4-FFF2-40B4-BE49-F238E27FC236}">
                <a16:creationId xmlns:a16="http://schemas.microsoft.com/office/drawing/2014/main" id="{BA4F2D40-25DB-4C43-B9A5-73014C8AEB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9324" y="188896"/>
            <a:ext cx="794084" cy="794084"/>
          </a:xfrm>
          <a:prstGeom prst="rect">
            <a:avLst/>
          </a:prstGeom>
        </p:spPr>
      </p:pic>
      <p:sp>
        <p:nvSpPr>
          <p:cNvPr id="10" name="TextBox 9">
            <a:extLst>
              <a:ext uri="{FF2B5EF4-FFF2-40B4-BE49-F238E27FC236}">
                <a16:creationId xmlns:a16="http://schemas.microsoft.com/office/drawing/2014/main" id="{F6F14B78-A2AB-0D43-96C5-3B657BD5A10F}"/>
              </a:ext>
            </a:extLst>
          </p:cNvPr>
          <p:cNvSpPr txBox="1"/>
          <p:nvPr/>
        </p:nvSpPr>
        <p:spPr>
          <a:xfrm>
            <a:off x="1472880" y="1041566"/>
            <a:ext cx="10300304" cy="5693866"/>
          </a:xfrm>
          <a:prstGeom prst="rect">
            <a:avLst/>
          </a:prstGeom>
          <a:noFill/>
        </p:spPr>
        <p:txBody>
          <a:bodyPr wrap="square" rtlCol="0">
            <a:spAutoFit/>
          </a:bodyPr>
          <a:lstStyle/>
          <a:p>
            <a:r>
              <a:rPr lang="en-US" sz="2800" b="1">
                <a:solidFill>
                  <a:srgbClr val="FFFF00"/>
                </a:solidFill>
              </a:rPr>
              <a:t>EUROPEAN UNION </a:t>
            </a:r>
            <a:r>
              <a:rPr lang="en-CA" sz="2800" b="1">
                <a:solidFill>
                  <a:srgbClr val="FFFF00"/>
                </a:solidFill>
              </a:rPr>
              <a:t>TRUSTWORTHY AI ASSESSMENT </a:t>
            </a:r>
          </a:p>
          <a:p>
            <a:r>
              <a:rPr lang="en-CA" sz="1400" b="1">
                <a:solidFill>
                  <a:schemeClr val="bg1"/>
                </a:solidFill>
              </a:rPr>
              <a:t>1. HUMAN AGENCY AND OVERSIGHT  </a:t>
            </a:r>
            <a:endParaRPr lang="en-CA" sz="1400">
              <a:solidFill>
                <a:schemeClr val="bg1"/>
              </a:solidFill>
            </a:endParaRPr>
          </a:p>
          <a:p>
            <a:r>
              <a:rPr lang="en-CA" sz="1400">
                <a:solidFill>
                  <a:schemeClr val="bg1"/>
                </a:solidFill>
              </a:rPr>
              <a:t>Fundamental rights </a:t>
            </a:r>
          </a:p>
          <a:p>
            <a:r>
              <a:rPr lang="en-CA" sz="1400">
                <a:solidFill>
                  <a:schemeClr val="bg1"/>
                </a:solidFill>
              </a:rPr>
              <a:t>Human agency  </a:t>
            </a:r>
          </a:p>
          <a:p>
            <a:r>
              <a:rPr lang="en-CA" sz="1400">
                <a:solidFill>
                  <a:schemeClr val="bg1"/>
                </a:solidFill>
              </a:rPr>
              <a:t>Human oversight </a:t>
            </a:r>
          </a:p>
          <a:p>
            <a:r>
              <a:rPr lang="en-CA" sz="1400" b="1">
                <a:solidFill>
                  <a:schemeClr val="bg1"/>
                </a:solidFill>
              </a:rPr>
              <a:t>2. TECHNICAL ROBUSTNESS AND SAFETY </a:t>
            </a:r>
            <a:endParaRPr lang="en-CA" sz="1400">
              <a:solidFill>
                <a:schemeClr val="bg1"/>
              </a:solidFill>
            </a:endParaRPr>
          </a:p>
          <a:p>
            <a:r>
              <a:rPr lang="en-CA" sz="1400">
                <a:solidFill>
                  <a:schemeClr val="bg1"/>
                </a:solidFill>
              </a:rPr>
              <a:t>Resilience to attack and security </a:t>
            </a:r>
          </a:p>
          <a:p>
            <a:r>
              <a:rPr lang="en-CA" sz="1400">
                <a:solidFill>
                  <a:schemeClr val="bg1"/>
                </a:solidFill>
              </a:rPr>
              <a:t>Fallback plan and general safety </a:t>
            </a:r>
          </a:p>
          <a:p>
            <a:r>
              <a:rPr lang="en-CA" sz="1400">
                <a:solidFill>
                  <a:schemeClr val="bg1"/>
                </a:solidFill>
              </a:rPr>
              <a:t>Accuracy  </a:t>
            </a:r>
          </a:p>
          <a:p>
            <a:r>
              <a:rPr lang="en-CA" sz="1400">
                <a:solidFill>
                  <a:schemeClr val="bg1"/>
                </a:solidFill>
              </a:rPr>
              <a:t>Reliability and reproducibility </a:t>
            </a:r>
          </a:p>
          <a:p>
            <a:r>
              <a:rPr lang="en-CA" sz="1400" b="1">
                <a:solidFill>
                  <a:schemeClr val="bg1"/>
                </a:solidFill>
              </a:rPr>
              <a:t>3. PRIVACY AND DATA GOVERNANCE </a:t>
            </a:r>
            <a:endParaRPr lang="en-CA" sz="1400">
              <a:solidFill>
                <a:schemeClr val="bg1"/>
              </a:solidFill>
            </a:endParaRPr>
          </a:p>
          <a:p>
            <a:r>
              <a:rPr lang="en-CA" sz="1400">
                <a:solidFill>
                  <a:schemeClr val="bg1"/>
                </a:solidFill>
              </a:rPr>
              <a:t>Respect for privacy and data protection </a:t>
            </a:r>
          </a:p>
          <a:p>
            <a:r>
              <a:rPr lang="en-CA" sz="1400">
                <a:solidFill>
                  <a:schemeClr val="bg1"/>
                </a:solidFill>
              </a:rPr>
              <a:t>Quality and integrity of data </a:t>
            </a:r>
          </a:p>
          <a:p>
            <a:r>
              <a:rPr lang="en-CA" sz="1400">
                <a:solidFill>
                  <a:schemeClr val="bg1"/>
                </a:solidFill>
              </a:rPr>
              <a:t>Access to data </a:t>
            </a:r>
          </a:p>
          <a:p>
            <a:r>
              <a:rPr lang="en-CA" sz="1400" b="1">
                <a:solidFill>
                  <a:schemeClr val="bg1"/>
                </a:solidFill>
              </a:rPr>
              <a:t>4. TRANSPARENCY </a:t>
            </a:r>
            <a:endParaRPr lang="en-CA" sz="1400">
              <a:solidFill>
                <a:schemeClr val="bg1"/>
              </a:solidFill>
            </a:endParaRPr>
          </a:p>
          <a:p>
            <a:r>
              <a:rPr lang="en-CA" sz="1400">
                <a:solidFill>
                  <a:schemeClr val="bg1"/>
                </a:solidFill>
              </a:rPr>
              <a:t>Traceability </a:t>
            </a:r>
          </a:p>
          <a:p>
            <a:r>
              <a:rPr lang="en-CA" sz="1400">
                <a:solidFill>
                  <a:schemeClr val="bg1"/>
                </a:solidFill>
              </a:rPr>
              <a:t>Explainability </a:t>
            </a:r>
          </a:p>
          <a:p>
            <a:r>
              <a:rPr lang="en-CA" sz="1400">
                <a:solidFill>
                  <a:schemeClr val="bg1"/>
                </a:solidFill>
              </a:rPr>
              <a:t>Communication </a:t>
            </a:r>
          </a:p>
          <a:p>
            <a:r>
              <a:rPr lang="en-CA" sz="1400" b="1">
                <a:solidFill>
                  <a:schemeClr val="bg1"/>
                </a:solidFill>
              </a:rPr>
              <a:t>5. DIVERSITY, NON-DISCRIMINATION AND FAIRNESS </a:t>
            </a:r>
            <a:endParaRPr lang="en-CA" sz="1400">
              <a:solidFill>
                <a:schemeClr val="bg1"/>
              </a:solidFill>
            </a:endParaRPr>
          </a:p>
          <a:p>
            <a:r>
              <a:rPr lang="en-CA" sz="1400">
                <a:solidFill>
                  <a:schemeClr val="bg1"/>
                </a:solidFill>
              </a:rPr>
              <a:t>Unfair bias avoidance </a:t>
            </a:r>
          </a:p>
          <a:p>
            <a:r>
              <a:rPr lang="en-CA" sz="1400" b="1">
                <a:solidFill>
                  <a:schemeClr val="bg1"/>
                </a:solidFill>
              </a:rPr>
              <a:t>6. SOCIETAL AND ENVIRONMENTAL </a:t>
            </a:r>
            <a:endParaRPr lang="en-US" sz="1400" b="1">
              <a:solidFill>
                <a:schemeClr val="bg1"/>
              </a:solidFill>
            </a:endParaRPr>
          </a:p>
          <a:p>
            <a:r>
              <a:rPr lang="en-US" sz="1600" b="1">
                <a:solidFill>
                  <a:schemeClr val="bg1"/>
                </a:solidFill>
              </a:rPr>
              <a:t>Review Source:</a:t>
            </a:r>
          </a:p>
          <a:p>
            <a:r>
              <a:rPr lang="en-CA" sz="1400" b="1">
                <a:solidFill>
                  <a:schemeClr val="bg1"/>
                </a:solidFill>
              </a:rPr>
              <a:t>EU High-Level Expert Group on Artificial Intelligence:  https://ec.europa.eu/digital-single-market/en/news/assessment-list-trustworthy-artificial-intelligence-altai-self-assessment</a:t>
            </a:r>
            <a:endParaRPr lang="en-US" sz="1400" b="1">
              <a:solidFill>
                <a:schemeClr val="bg1"/>
              </a:solidFill>
            </a:endParaRPr>
          </a:p>
        </p:txBody>
      </p:sp>
    </p:spTree>
    <p:extLst>
      <p:ext uri="{BB962C8B-B14F-4D97-AF65-F5344CB8AC3E}">
        <p14:creationId xmlns:p14="http://schemas.microsoft.com/office/powerpoint/2010/main" val="4109187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298303" y="342765"/>
            <a:ext cx="11474881" cy="543475"/>
          </a:xfrm>
        </p:spPr>
        <p:txBody>
          <a:bodyPr>
            <a:noAutofit/>
          </a:bodyPr>
          <a:lstStyle/>
          <a:p>
            <a:r>
              <a:rPr lang="en-US">
                <a:solidFill>
                  <a:prstClr val="white"/>
                </a:solidFill>
                <a:latin typeface="Perpetua Titling MT Light" charset="0"/>
              </a:rPr>
              <a:t>ETHICAL DATA PRIVACY FRAMEWORKS </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199845" y="99439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28</a:t>
            </a:fld>
            <a:endParaRPr lang="en-US" sz="1400">
              <a:solidFill>
                <a:schemeClr val="bg1"/>
              </a:solidFill>
            </a:endParaRPr>
          </a:p>
        </p:txBody>
      </p:sp>
      <p:sp>
        <p:nvSpPr>
          <p:cNvPr id="10" name="TextBox 9">
            <a:extLst>
              <a:ext uri="{FF2B5EF4-FFF2-40B4-BE49-F238E27FC236}">
                <a16:creationId xmlns:a16="http://schemas.microsoft.com/office/drawing/2014/main" id="{F6F14B78-A2AB-0D43-96C5-3B657BD5A10F}"/>
              </a:ext>
            </a:extLst>
          </p:cNvPr>
          <p:cNvSpPr txBox="1"/>
          <p:nvPr/>
        </p:nvSpPr>
        <p:spPr>
          <a:xfrm>
            <a:off x="743843" y="1040109"/>
            <a:ext cx="11417447" cy="5170646"/>
          </a:xfrm>
          <a:prstGeom prst="rect">
            <a:avLst/>
          </a:prstGeom>
          <a:noFill/>
        </p:spPr>
        <p:txBody>
          <a:bodyPr wrap="square" rtlCol="0">
            <a:spAutoFit/>
          </a:bodyPr>
          <a:lstStyle/>
          <a:p>
            <a:r>
              <a:rPr lang="en-US" sz="2200" b="1">
                <a:solidFill>
                  <a:srgbClr val="FFFF00"/>
                </a:solidFill>
              </a:rPr>
              <a:t>SINGAPORE DATA PROTECTION FRAMEWORK</a:t>
            </a:r>
          </a:p>
          <a:p>
            <a:r>
              <a:rPr lang="en-US" sz="2200" b="1">
                <a:solidFill>
                  <a:schemeClr val="bg1"/>
                </a:solidFill>
              </a:rPr>
              <a:t>Based on three principles</a:t>
            </a:r>
          </a:p>
          <a:p>
            <a:br>
              <a:rPr lang="en-CA" sz="2200">
                <a:solidFill>
                  <a:schemeClr val="bg1"/>
                </a:solidFill>
              </a:rPr>
            </a:br>
            <a:r>
              <a:rPr lang="en-CA" sz="2200" b="1">
                <a:solidFill>
                  <a:srgbClr val="FFFF00"/>
                </a:solidFill>
              </a:rPr>
              <a:t>Consent</a:t>
            </a:r>
            <a:r>
              <a:rPr lang="en-CA" sz="2200">
                <a:solidFill>
                  <a:schemeClr val="bg1"/>
                </a:solidFill>
              </a:rPr>
              <a:t> – Organisations may collect, use or disclose personal data only with the individual's knowledge and consent (with some exceptions);</a:t>
            </a:r>
          </a:p>
          <a:p>
            <a:r>
              <a:rPr lang="en-CA" sz="2200" b="1">
                <a:solidFill>
                  <a:srgbClr val="FFFF00"/>
                </a:solidFill>
              </a:rPr>
              <a:t>Purpose</a:t>
            </a:r>
            <a:r>
              <a:rPr lang="en-CA" sz="2200">
                <a:solidFill>
                  <a:schemeClr val="bg1"/>
                </a:solidFill>
              </a:rPr>
              <a:t> – Organisations may collect, use or disclose personal data in an appropriate manner for the circumstances, and only if they have informed the individual of purposes for the collection, use or disclosure; and</a:t>
            </a:r>
          </a:p>
          <a:p>
            <a:r>
              <a:rPr lang="en-CA" sz="2200" b="1">
                <a:solidFill>
                  <a:srgbClr val="FFFF00"/>
                </a:solidFill>
              </a:rPr>
              <a:t>Reasonableness</a:t>
            </a:r>
            <a:r>
              <a:rPr lang="en-CA" sz="2200">
                <a:solidFill>
                  <a:schemeClr val="bg1"/>
                </a:solidFill>
              </a:rPr>
              <a:t> – Organisations may collect, use or disclose personal data only for purposes that would be considered appropriate to a reasonable person in the given circumstances.</a:t>
            </a:r>
          </a:p>
          <a:p>
            <a:endParaRPr lang="en-US" sz="2200" b="1">
              <a:solidFill>
                <a:schemeClr val="bg1"/>
              </a:solidFill>
            </a:endParaRPr>
          </a:p>
          <a:p>
            <a:endParaRPr lang="en-US" sz="2200" b="1">
              <a:solidFill>
                <a:schemeClr val="bg1"/>
              </a:solidFill>
            </a:endParaRPr>
          </a:p>
          <a:p>
            <a:r>
              <a:rPr lang="en-US" sz="2200" b="1">
                <a:solidFill>
                  <a:schemeClr val="bg1"/>
                </a:solidFill>
              </a:rPr>
              <a:t>Source: </a:t>
            </a:r>
            <a:r>
              <a:rPr lang="en-US" sz="2200">
                <a:solidFill>
                  <a:schemeClr val="bg1"/>
                </a:solidFill>
              </a:rPr>
              <a:t>https://www.pdpc.gov.sg/Overview-of-PDPA/The-Legislation/Personal-Data-Protection-Act</a:t>
            </a:r>
          </a:p>
          <a:p>
            <a:endParaRPr lang="en-US" sz="2200" b="1">
              <a:solidFill>
                <a:schemeClr val="bg1"/>
              </a:solidFill>
            </a:endParaRPr>
          </a:p>
          <a:p>
            <a:endParaRPr lang="en-US" sz="2200" b="1">
              <a:solidFill>
                <a:schemeClr val="bg1"/>
              </a:solidFill>
            </a:endParaRPr>
          </a:p>
        </p:txBody>
      </p:sp>
    </p:spTree>
    <p:extLst>
      <p:ext uri="{BB962C8B-B14F-4D97-AF65-F5344CB8AC3E}">
        <p14:creationId xmlns:p14="http://schemas.microsoft.com/office/powerpoint/2010/main" val="2403780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21DB4C-A42A-E74C-85A0-8EC087513251}"/>
              </a:ext>
            </a:extLst>
          </p:cNvPr>
          <p:cNvSpPr>
            <a:spLocks noGrp="1"/>
          </p:cNvSpPr>
          <p:nvPr>
            <p:ph type="title"/>
          </p:nvPr>
        </p:nvSpPr>
        <p:spPr>
          <a:xfrm>
            <a:off x="298303" y="342765"/>
            <a:ext cx="11474881" cy="543475"/>
          </a:xfrm>
        </p:spPr>
        <p:txBody>
          <a:bodyPr>
            <a:noAutofit/>
          </a:bodyPr>
          <a:lstStyle/>
          <a:p>
            <a:r>
              <a:rPr lang="en-US">
                <a:solidFill>
                  <a:prstClr val="white"/>
                </a:solidFill>
                <a:latin typeface="Perpetua Titling MT Light" charset="0"/>
              </a:rPr>
              <a:t>CHINA : ETHICAL PRINCIPLES</a:t>
            </a:r>
          </a:p>
        </p:txBody>
      </p:sp>
      <p:sp>
        <p:nvSpPr>
          <p:cNvPr id="6" name="Rectangle 5">
            <a:extLst>
              <a:ext uri="{FF2B5EF4-FFF2-40B4-BE49-F238E27FC236}">
                <a16:creationId xmlns:a16="http://schemas.microsoft.com/office/drawing/2014/main" id="{A075BF9E-A43F-7548-B7CA-95DA120F8F80}"/>
              </a:ext>
            </a:extLst>
          </p:cNvPr>
          <p:cNvSpPr/>
          <p:nvPr/>
        </p:nvSpPr>
        <p:spPr bwMode="auto">
          <a:xfrm>
            <a:off x="5199845" y="99439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8" name="Slide Number Placeholder 4">
            <a:extLst>
              <a:ext uri="{FF2B5EF4-FFF2-40B4-BE49-F238E27FC236}">
                <a16:creationId xmlns:a16="http://schemas.microsoft.com/office/drawing/2014/main" id="{A28A9AB6-2221-AA48-82F4-9A2A5B94CD9D}"/>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29</a:t>
            </a:fld>
            <a:endParaRPr lang="en-US" sz="1400">
              <a:solidFill>
                <a:schemeClr val="bg1"/>
              </a:solidFill>
            </a:endParaRPr>
          </a:p>
        </p:txBody>
      </p:sp>
      <p:sp>
        <p:nvSpPr>
          <p:cNvPr id="4" name="TextBox 3">
            <a:extLst>
              <a:ext uri="{FF2B5EF4-FFF2-40B4-BE49-F238E27FC236}">
                <a16:creationId xmlns:a16="http://schemas.microsoft.com/office/drawing/2014/main" id="{C1B600C5-2766-BB4A-8530-7D3F8EE73824}"/>
              </a:ext>
            </a:extLst>
          </p:cNvPr>
          <p:cNvSpPr txBox="1"/>
          <p:nvPr/>
        </p:nvSpPr>
        <p:spPr>
          <a:xfrm>
            <a:off x="1021403" y="1203538"/>
            <a:ext cx="10289599" cy="4985980"/>
          </a:xfrm>
          <a:prstGeom prst="rect">
            <a:avLst/>
          </a:prstGeom>
          <a:noFill/>
        </p:spPr>
        <p:txBody>
          <a:bodyPr wrap="square" rtlCol="0">
            <a:spAutoFit/>
          </a:bodyPr>
          <a:lstStyle/>
          <a:p>
            <a:r>
              <a:rPr lang="en-CA" sz="2000" b="1" dirty="0">
                <a:solidFill>
                  <a:srgbClr val="FFFF00"/>
                </a:solidFill>
              </a:rPr>
              <a:t>The Beijing AI Principles (BAIP)</a:t>
            </a:r>
            <a:r>
              <a:rPr lang="en-CA" sz="2000" b="1" dirty="0">
                <a:solidFill>
                  <a:schemeClr val="bg1"/>
                </a:solidFill>
              </a:rPr>
              <a:t>, </a:t>
            </a:r>
            <a:r>
              <a:rPr lang="en-CA" sz="2000" dirty="0">
                <a:solidFill>
                  <a:schemeClr val="bg1"/>
                </a:solidFill>
              </a:rPr>
              <a:t>released in May 2019, backed by the Ministry of Science and Technology and drafted by the Beijing Academy of AI in a multi-stakeholder consultative process. The BAIP takes an applied approach to AI ethics by suggesting detailed and action-oriented goals, norms and best practices in research and development, AI use and AI governance. </a:t>
            </a:r>
          </a:p>
          <a:p>
            <a:endParaRPr lang="en-CA" sz="2000" dirty="0">
              <a:solidFill>
                <a:schemeClr val="bg1"/>
              </a:solidFill>
            </a:endParaRPr>
          </a:p>
          <a:p>
            <a:pPr marL="342900" indent="-342900">
              <a:buFont typeface="Arial" panose="020B0604020202020204" pitchFamily="34" charset="0"/>
              <a:buChar char="•"/>
            </a:pPr>
            <a:r>
              <a:rPr lang="en-CA" sz="2000" dirty="0">
                <a:solidFill>
                  <a:schemeClr val="bg1"/>
                </a:solidFill>
              </a:rPr>
              <a:t>In addition, the </a:t>
            </a:r>
            <a:r>
              <a:rPr lang="en-CA" sz="2000" u="sng" dirty="0">
                <a:solidFill>
                  <a:schemeClr val="bg1"/>
                </a:solidFill>
              </a:rPr>
              <a:t>BAIP </a:t>
            </a:r>
            <a:r>
              <a:rPr lang="en-CA" sz="2000" dirty="0">
                <a:solidFill>
                  <a:schemeClr val="bg1"/>
                </a:solidFill>
              </a:rPr>
              <a:t>references the </a:t>
            </a:r>
            <a:r>
              <a:rPr lang="en-CA" sz="2000" b="1" dirty="0">
                <a:solidFill>
                  <a:schemeClr val="bg1"/>
                </a:solidFill>
              </a:rPr>
              <a:t>‘philosophy of “optimising symbiosis”. </a:t>
            </a:r>
          </a:p>
          <a:p>
            <a:pPr marL="342900" indent="-342900">
              <a:buFont typeface="Arial" panose="020B0604020202020204" pitchFamily="34" charset="0"/>
              <a:buChar char="•"/>
            </a:pPr>
            <a:r>
              <a:rPr lang="en-CA" sz="2000" dirty="0">
                <a:solidFill>
                  <a:schemeClr val="bg1"/>
                </a:solidFill>
              </a:rPr>
              <a:t>One of the drafters, Yi Zeng, explains that </a:t>
            </a:r>
            <a:r>
              <a:rPr lang="en-CA" sz="2000" b="1" dirty="0">
                <a:solidFill>
                  <a:schemeClr val="bg1"/>
                </a:solidFill>
              </a:rPr>
              <a:t>optimising symbiosis refers to the principle of ‘harmony’ in Chinese philosophy, where all life forms evolve in harmony rather than competition and is especially relevant in the context of human-machine interactions. </a:t>
            </a:r>
          </a:p>
          <a:p>
            <a:pPr marL="342900" indent="-342900">
              <a:buFont typeface="Arial" panose="020B0604020202020204" pitchFamily="34" charset="0"/>
              <a:buChar char="•"/>
            </a:pPr>
            <a:r>
              <a:rPr lang="en-CA" sz="2000" dirty="0">
                <a:solidFill>
                  <a:schemeClr val="bg1"/>
                </a:solidFill>
              </a:rPr>
              <a:t>This particular application of Chinese ethics and philosophy to AI is a distinctive approach </a:t>
            </a:r>
          </a:p>
          <a:p>
            <a:pPr marL="342900" indent="-342900">
              <a:buFont typeface="Arial" panose="020B0604020202020204" pitchFamily="34" charset="0"/>
              <a:buChar char="•"/>
            </a:pPr>
            <a:r>
              <a:rPr lang="en-CA" sz="2000" dirty="0">
                <a:solidFill>
                  <a:schemeClr val="bg1"/>
                </a:solidFill>
              </a:rPr>
              <a:t>Finally, in line with its applied focus, the BAIP touches on long-term planning for the expected development trajectory of AI. </a:t>
            </a:r>
          </a:p>
          <a:p>
            <a:pPr marL="342900" indent="-342900">
              <a:buFont typeface="Arial" panose="020B0604020202020204" pitchFamily="34" charset="0"/>
              <a:buChar char="•"/>
            </a:pPr>
            <a:r>
              <a:rPr lang="en-CA" sz="2000" dirty="0">
                <a:solidFill>
                  <a:schemeClr val="bg1"/>
                </a:solidFill>
              </a:rPr>
              <a:t>The BAIP’s forward-looking, hands-on approach and long-term outlook is unique among other global principles, as is the way it links existing principles to Chinese practices and philosophical traditions.</a:t>
            </a:r>
          </a:p>
          <a:p>
            <a:endParaRPr lang="en-US" dirty="0">
              <a:solidFill>
                <a:schemeClr val="bg1"/>
              </a:solidFill>
            </a:endParaRPr>
          </a:p>
        </p:txBody>
      </p:sp>
      <p:sp>
        <p:nvSpPr>
          <p:cNvPr id="5" name="TextBox 4">
            <a:extLst>
              <a:ext uri="{FF2B5EF4-FFF2-40B4-BE49-F238E27FC236}">
                <a16:creationId xmlns:a16="http://schemas.microsoft.com/office/drawing/2014/main" id="{31F21563-9A15-CD4E-B419-030E581F4C92}"/>
              </a:ext>
            </a:extLst>
          </p:cNvPr>
          <p:cNvSpPr txBox="1"/>
          <p:nvPr/>
        </p:nvSpPr>
        <p:spPr>
          <a:xfrm>
            <a:off x="4394200" y="6138516"/>
            <a:ext cx="6502400" cy="368300"/>
          </a:xfrm>
          <a:prstGeom prst="rect">
            <a:avLst/>
          </a:prstGeom>
          <a:noFill/>
        </p:spPr>
        <p:txBody>
          <a:bodyPr wrap="square" rtlCol="0">
            <a:spAutoFit/>
          </a:bodyPr>
          <a:lstStyle/>
          <a:p>
            <a:r>
              <a:rPr lang="en-US" b="1" dirty="0">
                <a:solidFill>
                  <a:schemeClr val="bg1"/>
                </a:solidFill>
              </a:rPr>
              <a:t>Source: </a:t>
            </a:r>
            <a:r>
              <a:rPr lang="en-US" dirty="0">
                <a:solidFill>
                  <a:schemeClr val="bg1"/>
                </a:solidFill>
              </a:rPr>
              <a:t>https://</a:t>
            </a:r>
            <a:r>
              <a:rPr lang="en-US" dirty="0" err="1">
                <a:solidFill>
                  <a:schemeClr val="bg1"/>
                </a:solidFill>
              </a:rPr>
              <a:t>www.baai.ac.cn</a:t>
            </a:r>
            <a:r>
              <a:rPr lang="en-US" dirty="0">
                <a:solidFill>
                  <a:schemeClr val="bg1"/>
                </a:solidFill>
              </a:rPr>
              <a:t>/news/</a:t>
            </a:r>
            <a:r>
              <a:rPr lang="en-US" dirty="0" err="1">
                <a:solidFill>
                  <a:schemeClr val="bg1"/>
                </a:solidFill>
              </a:rPr>
              <a:t>beijing</a:t>
            </a:r>
            <a:r>
              <a:rPr lang="en-US" dirty="0">
                <a:solidFill>
                  <a:schemeClr val="bg1"/>
                </a:solidFill>
              </a:rPr>
              <a:t>-</a:t>
            </a:r>
            <a:r>
              <a:rPr lang="en-US" dirty="0" err="1">
                <a:solidFill>
                  <a:schemeClr val="bg1"/>
                </a:solidFill>
              </a:rPr>
              <a:t>ai</a:t>
            </a:r>
            <a:r>
              <a:rPr lang="en-US" dirty="0">
                <a:solidFill>
                  <a:schemeClr val="bg1"/>
                </a:solidFill>
              </a:rPr>
              <a:t>-principles-</a:t>
            </a:r>
            <a:r>
              <a:rPr lang="en-US" dirty="0" err="1">
                <a:solidFill>
                  <a:schemeClr val="bg1"/>
                </a:solidFill>
              </a:rPr>
              <a:t>en.html</a:t>
            </a:r>
            <a:endParaRPr lang="en-US" dirty="0">
              <a:solidFill>
                <a:schemeClr val="bg1"/>
              </a:solidFill>
            </a:endParaRPr>
          </a:p>
        </p:txBody>
      </p:sp>
    </p:spTree>
    <p:extLst>
      <p:ext uri="{BB962C8B-B14F-4D97-AF65-F5344CB8AC3E}">
        <p14:creationId xmlns:p14="http://schemas.microsoft.com/office/powerpoint/2010/main" val="2844812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EF350E-6E7A-1C47-B1E9-80A04D785356}"/>
              </a:ext>
            </a:extLst>
          </p:cNvPr>
          <p:cNvSpPr>
            <a:spLocks noGrp="1"/>
          </p:cNvSpPr>
          <p:nvPr>
            <p:ph sz="quarter" idx="11"/>
          </p:nvPr>
        </p:nvSpPr>
        <p:spPr>
          <a:xfrm>
            <a:off x="298303" y="1041400"/>
            <a:ext cx="11474881" cy="4086601"/>
          </a:xfrm>
        </p:spPr>
        <p:txBody>
          <a:bodyPr>
            <a:noAutofit/>
          </a:bodyPr>
          <a:lstStyle/>
          <a:p>
            <a:pPr fontAlgn="base"/>
            <a:r>
              <a:rPr lang="en-CA" sz="1600" b="1">
                <a:solidFill>
                  <a:srgbClr val="FFFF00"/>
                </a:solidFill>
                <a:latin typeface="Garamond" panose="02020404030301010803" pitchFamily="18" charset="0"/>
              </a:rPr>
              <a:t>Do Good: </a:t>
            </a:r>
            <a:r>
              <a:rPr lang="en-CA" sz="1600">
                <a:solidFill>
                  <a:schemeClr val="bg1"/>
                </a:solidFill>
                <a:latin typeface="Garamond" panose="02020404030301010803" pitchFamily="18" charset="0"/>
              </a:rPr>
              <a:t>AI should be designed and developed to promote the progress of society and human civilization, to promote the sustainable development of nature and society, to benefit all mankind and the environment, and to enhance the well-being of society and ecology.</a:t>
            </a:r>
          </a:p>
          <a:p>
            <a:pPr fontAlgn="base"/>
            <a:r>
              <a:rPr lang="en-CA" sz="1600" b="1">
                <a:solidFill>
                  <a:srgbClr val="FFFF00"/>
                </a:solidFill>
                <a:latin typeface="Garamond" panose="02020404030301010803" pitchFamily="18" charset="0"/>
              </a:rPr>
              <a:t>For Humanity</a:t>
            </a:r>
            <a:r>
              <a:rPr lang="en-CA" sz="1600" b="1">
                <a:solidFill>
                  <a:schemeClr val="bg1"/>
                </a:solidFill>
                <a:latin typeface="Garamond" panose="02020404030301010803" pitchFamily="18" charset="0"/>
              </a:rPr>
              <a:t>: </a:t>
            </a:r>
            <a:r>
              <a:rPr lang="en-CA" sz="1600">
                <a:solidFill>
                  <a:schemeClr val="bg1"/>
                </a:solidFill>
                <a:latin typeface="Garamond" panose="02020404030301010803" pitchFamily="18" charset="0"/>
              </a:rPr>
              <a:t>The R&amp;D of AI should serve humanity and conform to human values as well as the overall interests of mankind. Human privacy, dignity, freedom, autonomy, and rights should be sufficiently respected. AI should not be used to against, utilize or harm human beings.</a:t>
            </a:r>
          </a:p>
          <a:p>
            <a:pPr fontAlgn="base"/>
            <a:r>
              <a:rPr lang="en-CA" sz="1600" b="1">
                <a:solidFill>
                  <a:srgbClr val="FFFF00"/>
                </a:solidFill>
                <a:latin typeface="Garamond" panose="02020404030301010803" pitchFamily="18" charset="0"/>
              </a:rPr>
              <a:t>Be Responsible:</a:t>
            </a:r>
            <a:r>
              <a:rPr lang="en-CA" sz="1600" b="1">
                <a:solidFill>
                  <a:schemeClr val="bg1"/>
                </a:solidFill>
                <a:latin typeface="Garamond" panose="02020404030301010803" pitchFamily="18" charset="0"/>
              </a:rPr>
              <a:t> </a:t>
            </a:r>
            <a:r>
              <a:rPr lang="en-CA" sz="1600">
                <a:solidFill>
                  <a:schemeClr val="bg1"/>
                </a:solidFill>
                <a:latin typeface="Garamond" panose="02020404030301010803" pitchFamily="18" charset="0"/>
              </a:rPr>
              <a:t>Researchers and developers of AI should have sufficient considerations for the potential ethical, legal, and social impacts and risks brought in by their products and take concrete actions to reduce and avoid them.</a:t>
            </a:r>
          </a:p>
          <a:p>
            <a:pPr fontAlgn="base"/>
            <a:r>
              <a:rPr lang="en-CA" sz="1600" b="1">
                <a:solidFill>
                  <a:srgbClr val="FFFF00"/>
                </a:solidFill>
                <a:latin typeface="Garamond" panose="02020404030301010803" pitchFamily="18" charset="0"/>
              </a:rPr>
              <a:t>Control Risks: </a:t>
            </a:r>
            <a:r>
              <a:rPr lang="en-CA" sz="1600">
                <a:solidFill>
                  <a:schemeClr val="bg1"/>
                </a:solidFill>
                <a:latin typeface="Garamond" panose="02020404030301010803" pitchFamily="18" charset="0"/>
              </a:rPr>
              <a:t>Continuous efforts should be made to improve the maturity, robustness, reliability, and controllability of AI systems, so as to ensure the security for the data, the safety and security for the AI system itself, and the safety for the external environment where the AI system deploys.</a:t>
            </a:r>
          </a:p>
          <a:p>
            <a:pPr fontAlgn="base"/>
            <a:r>
              <a:rPr lang="en-CA" sz="1600" b="1">
                <a:solidFill>
                  <a:srgbClr val="FFFF00"/>
                </a:solidFill>
                <a:latin typeface="Garamond" panose="02020404030301010803" pitchFamily="18" charset="0"/>
              </a:rPr>
              <a:t>Be Ethical: </a:t>
            </a:r>
            <a:r>
              <a:rPr lang="en-CA" sz="1600">
                <a:solidFill>
                  <a:schemeClr val="bg1"/>
                </a:solidFill>
                <a:latin typeface="Garamond" panose="02020404030301010803" pitchFamily="18" charset="0"/>
              </a:rPr>
              <a:t>AI R&amp;D should take ethical design approaches to make the system trustworthy. This may include, but not limited to: making the system as fair as possible, reducing possible discrimination and biases, improving its transparency, explainability, and predictability, and making the system more traceable, auditable and accountable.</a:t>
            </a:r>
          </a:p>
          <a:p>
            <a:pPr fontAlgn="base"/>
            <a:r>
              <a:rPr lang="en-CA" sz="1600" b="1">
                <a:solidFill>
                  <a:srgbClr val="FFFF00"/>
                </a:solidFill>
                <a:latin typeface="Garamond" panose="02020404030301010803" pitchFamily="18" charset="0"/>
              </a:rPr>
              <a:t>Be Diverse and Inclusive: </a:t>
            </a:r>
            <a:r>
              <a:rPr lang="en-CA" sz="1600">
                <a:solidFill>
                  <a:schemeClr val="bg1"/>
                </a:solidFill>
                <a:latin typeface="Garamond" panose="02020404030301010803" pitchFamily="18" charset="0"/>
              </a:rPr>
              <a:t>The development of AI should reflect diversity and inclusiveness, and be designed to benefit as many people as possible, especially those who would otherwise be easily neglected or underrepresented in AI applications.</a:t>
            </a:r>
          </a:p>
          <a:p>
            <a:pPr fontAlgn="base"/>
            <a:r>
              <a:rPr lang="en-CA" sz="1600" b="1">
                <a:solidFill>
                  <a:srgbClr val="FFFF00"/>
                </a:solidFill>
                <a:latin typeface="Garamond" panose="02020404030301010803" pitchFamily="18" charset="0"/>
              </a:rPr>
              <a:t>Open and Share: </a:t>
            </a:r>
            <a:r>
              <a:rPr lang="en-CA" sz="1600">
                <a:solidFill>
                  <a:schemeClr val="bg1"/>
                </a:solidFill>
                <a:latin typeface="Garamond" panose="02020404030301010803" pitchFamily="18" charset="0"/>
              </a:rPr>
              <a:t>It is encouraged to establish AI open platforms to avoid data/platform monopolies, to share the benefits of AI development to the greatest extent, and to promote equal development opportunities for different regions and industries.</a:t>
            </a:r>
          </a:p>
          <a:p>
            <a:endParaRPr lang="en-US" sz="1600">
              <a:solidFill>
                <a:schemeClr val="bg1"/>
              </a:solidFill>
              <a:latin typeface="Garamond" panose="02020404030301010803" pitchFamily="18" charset="0"/>
            </a:endParaRPr>
          </a:p>
        </p:txBody>
      </p:sp>
      <p:sp>
        <p:nvSpPr>
          <p:cNvPr id="6" name="Title 2">
            <a:extLst>
              <a:ext uri="{FF2B5EF4-FFF2-40B4-BE49-F238E27FC236}">
                <a16:creationId xmlns:a16="http://schemas.microsoft.com/office/drawing/2014/main" id="{F300D8BF-5397-2249-A5B5-E2C7DE25BB63}"/>
              </a:ext>
            </a:extLst>
          </p:cNvPr>
          <p:cNvSpPr txBox="1">
            <a:spLocks/>
          </p:cNvSpPr>
          <p:nvPr/>
        </p:nvSpPr>
        <p:spPr>
          <a:xfrm>
            <a:off x="298303" y="177665"/>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latin typeface="Perpetua Titling MT Light" charset="0"/>
              </a:rPr>
              <a:t>CHINA : bAIP ETHICAL PRINCIPLES</a:t>
            </a:r>
          </a:p>
        </p:txBody>
      </p:sp>
      <p:sp>
        <p:nvSpPr>
          <p:cNvPr id="7" name="Slide Number Placeholder 4">
            <a:extLst>
              <a:ext uri="{FF2B5EF4-FFF2-40B4-BE49-F238E27FC236}">
                <a16:creationId xmlns:a16="http://schemas.microsoft.com/office/drawing/2014/main" id="{0BD197F0-EE73-9647-817A-100F6E0FA4F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30</a:t>
            </a:fld>
            <a:endParaRPr lang="en-US" sz="1400">
              <a:solidFill>
                <a:schemeClr val="bg1"/>
              </a:solidFill>
            </a:endParaRPr>
          </a:p>
        </p:txBody>
      </p:sp>
      <p:sp>
        <p:nvSpPr>
          <p:cNvPr id="8" name="Rectangle 7">
            <a:extLst>
              <a:ext uri="{FF2B5EF4-FFF2-40B4-BE49-F238E27FC236}">
                <a16:creationId xmlns:a16="http://schemas.microsoft.com/office/drawing/2014/main" id="{805FB813-5547-154F-AAE3-3D7FC75A1235}"/>
              </a:ext>
            </a:extLst>
          </p:cNvPr>
          <p:cNvSpPr/>
          <p:nvPr/>
        </p:nvSpPr>
        <p:spPr bwMode="auto">
          <a:xfrm>
            <a:off x="5174445" y="83555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Tree>
    <p:extLst>
      <p:ext uri="{BB962C8B-B14F-4D97-AF65-F5344CB8AC3E}">
        <p14:creationId xmlns:p14="http://schemas.microsoft.com/office/powerpoint/2010/main" val="2156478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EF350E-6E7A-1C47-B1E9-80A04D785356}"/>
              </a:ext>
            </a:extLst>
          </p:cNvPr>
          <p:cNvSpPr>
            <a:spLocks noGrp="1"/>
          </p:cNvSpPr>
          <p:nvPr>
            <p:ph sz="quarter" idx="11"/>
          </p:nvPr>
        </p:nvSpPr>
        <p:spPr>
          <a:xfrm>
            <a:off x="298303" y="835550"/>
            <a:ext cx="11474881" cy="4086601"/>
          </a:xfrm>
        </p:spPr>
        <p:txBody>
          <a:bodyPr>
            <a:noAutofit/>
          </a:bodyPr>
          <a:lstStyle/>
          <a:p>
            <a:pPr fontAlgn="base"/>
            <a:r>
              <a:rPr lang="en-CA" sz="1800" b="1">
                <a:solidFill>
                  <a:srgbClr val="FFFF00"/>
                </a:solidFill>
                <a:latin typeface="Garamond" panose="02020404030301010803" pitchFamily="18" charset="0"/>
              </a:rPr>
              <a:t>Optimizing Employment</a:t>
            </a:r>
            <a:r>
              <a:rPr lang="en-CA" sz="1800" b="1">
                <a:solidFill>
                  <a:schemeClr val="bg1"/>
                </a:solidFill>
                <a:latin typeface="Garamond" panose="02020404030301010803" pitchFamily="18" charset="0"/>
              </a:rPr>
              <a:t>: </a:t>
            </a:r>
            <a:r>
              <a:rPr lang="en-CA" sz="1800">
                <a:solidFill>
                  <a:schemeClr val="bg1"/>
                </a:solidFill>
                <a:latin typeface="Garamond" panose="02020404030301010803" pitchFamily="18" charset="0"/>
              </a:rPr>
              <a:t>An inclusive attitude should be taken towards the potential impact of AI on human employment. A cautious attitude should be taken towards the promotion of AI applications that may have huge impacts on human employment. Explorations on Human-AI coordination and new forms of work that would give full play to human advantages and characteristics should be encouraged.</a:t>
            </a:r>
          </a:p>
          <a:p>
            <a:pPr fontAlgn="base"/>
            <a:r>
              <a:rPr lang="en-CA" sz="1800" b="1">
                <a:solidFill>
                  <a:srgbClr val="FFFF00"/>
                </a:solidFill>
                <a:latin typeface="Garamond" panose="02020404030301010803" pitchFamily="18" charset="0"/>
              </a:rPr>
              <a:t>Harmony and Cooperation:</a:t>
            </a:r>
            <a:r>
              <a:rPr lang="en-CA" sz="1800" b="1">
                <a:solidFill>
                  <a:schemeClr val="bg1"/>
                </a:solidFill>
                <a:latin typeface="Garamond" panose="02020404030301010803" pitchFamily="18" charset="0"/>
              </a:rPr>
              <a:t> </a:t>
            </a:r>
            <a:r>
              <a:rPr lang="en-CA" sz="1800">
                <a:solidFill>
                  <a:schemeClr val="bg1"/>
                </a:solidFill>
                <a:latin typeface="Garamond" panose="02020404030301010803" pitchFamily="18" charset="0"/>
              </a:rPr>
              <a:t>Cooperation should be actively developed to establish an interdisciplinary, cross-domain, cross-sectoral, cross-organizational, cross-regional, global and comprehensive AI governance ecosystem, so as to avoid malicious AI race, to share AI governance experience, and to jointly cope with the impact of AI with the philosophy of "Optimizing Symbiosis".</a:t>
            </a:r>
          </a:p>
          <a:p>
            <a:pPr fontAlgn="base"/>
            <a:r>
              <a:rPr lang="en-CA" sz="1800" b="1">
                <a:solidFill>
                  <a:srgbClr val="FFFF00"/>
                </a:solidFill>
                <a:latin typeface="Garamond" panose="02020404030301010803" pitchFamily="18" charset="0"/>
              </a:rPr>
              <a:t>Adaptation and Moderation: </a:t>
            </a:r>
            <a:r>
              <a:rPr lang="en-CA" sz="1800">
                <a:solidFill>
                  <a:schemeClr val="bg1"/>
                </a:solidFill>
                <a:latin typeface="Garamond" panose="02020404030301010803" pitchFamily="18" charset="0"/>
              </a:rPr>
              <a:t>Adaptive revisions of AI principles, policies, and regulations should be actively considered to adjust them to the development of AI. Governance measures of AI should match its development status, not only to avoid hindering its proper utilization, but also to ensure that it is beneficial to society and nature.</a:t>
            </a:r>
          </a:p>
          <a:p>
            <a:pPr fontAlgn="base"/>
            <a:r>
              <a:rPr lang="en-CA" sz="1800" b="1">
                <a:solidFill>
                  <a:srgbClr val="FFFF00"/>
                </a:solidFill>
                <a:latin typeface="Garamond" panose="02020404030301010803" pitchFamily="18" charset="0"/>
              </a:rPr>
              <a:t>Subdivision and Implementation: </a:t>
            </a:r>
            <a:r>
              <a:rPr lang="en-CA" sz="1800">
                <a:solidFill>
                  <a:schemeClr val="bg1"/>
                </a:solidFill>
                <a:latin typeface="Garamond" panose="02020404030301010803" pitchFamily="18" charset="0"/>
              </a:rPr>
              <a:t>Various fields and scenarios of AI applications should be actively considered for further formulating more specific and detailed guidelines. The implementation of such principles should also be actively promoted – through the whole life cycle of AI research, development, and application.</a:t>
            </a:r>
          </a:p>
          <a:p>
            <a:pPr fontAlgn="base"/>
            <a:r>
              <a:rPr lang="en-CA" sz="1800" b="1">
                <a:solidFill>
                  <a:srgbClr val="FFFF00"/>
                </a:solidFill>
                <a:latin typeface="Garamond" panose="02020404030301010803" pitchFamily="18" charset="0"/>
              </a:rPr>
              <a:t>Long-term Planning:</a:t>
            </a:r>
            <a:r>
              <a:rPr lang="en-CA" sz="1800" b="1">
                <a:solidFill>
                  <a:schemeClr val="bg1"/>
                </a:solidFill>
                <a:latin typeface="Garamond" panose="02020404030301010803" pitchFamily="18" charset="0"/>
              </a:rPr>
              <a:t> </a:t>
            </a:r>
            <a:r>
              <a:rPr lang="en-CA" sz="1800">
                <a:solidFill>
                  <a:schemeClr val="bg1"/>
                </a:solidFill>
                <a:latin typeface="Garamond" panose="02020404030301010803" pitchFamily="18" charset="0"/>
              </a:rPr>
              <a:t>Continuous research on the potential risks of Augmented Intelligence, Artificial General Intelligence (AGI) and Superintelligence should be encouraged. Strategic designs should be considered to ensure that AI will always be beneficial to society and nature in the future.</a:t>
            </a:r>
          </a:p>
          <a:p>
            <a:endParaRPr lang="en-US" sz="1800">
              <a:solidFill>
                <a:schemeClr val="bg1"/>
              </a:solidFill>
              <a:latin typeface="Garamond" panose="02020404030301010803" pitchFamily="18" charset="0"/>
            </a:endParaRPr>
          </a:p>
        </p:txBody>
      </p:sp>
      <p:sp>
        <p:nvSpPr>
          <p:cNvPr id="6" name="Title 2">
            <a:extLst>
              <a:ext uri="{FF2B5EF4-FFF2-40B4-BE49-F238E27FC236}">
                <a16:creationId xmlns:a16="http://schemas.microsoft.com/office/drawing/2014/main" id="{F300D8BF-5397-2249-A5B5-E2C7DE25BB63}"/>
              </a:ext>
            </a:extLst>
          </p:cNvPr>
          <p:cNvSpPr txBox="1">
            <a:spLocks/>
          </p:cNvSpPr>
          <p:nvPr/>
        </p:nvSpPr>
        <p:spPr>
          <a:xfrm>
            <a:off x="298303" y="177665"/>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latin typeface="Perpetua Titling MT Light" charset="0"/>
              </a:rPr>
              <a:t>CHINA : bAIP GOVERNANCE PRINCIPLES</a:t>
            </a:r>
          </a:p>
        </p:txBody>
      </p:sp>
      <p:sp>
        <p:nvSpPr>
          <p:cNvPr id="7" name="Slide Number Placeholder 4">
            <a:extLst>
              <a:ext uri="{FF2B5EF4-FFF2-40B4-BE49-F238E27FC236}">
                <a16:creationId xmlns:a16="http://schemas.microsoft.com/office/drawing/2014/main" id="{0BD197F0-EE73-9647-817A-100F6E0FA4F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31</a:t>
            </a:fld>
            <a:endParaRPr lang="en-US" sz="1400">
              <a:solidFill>
                <a:schemeClr val="bg1"/>
              </a:solidFill>
            </a:endParaRPr>
          </a:p>
        </p:txBody>
      </p:sp>
      <p:sp>
        <p:nvSpPr>
          <p:cNvPr id="8" name="Rectangle 7">
            <a:extLst>
              <a:ext uri="{FF2B5EF4-FFF2-40B4-BE49-F238E27FC236}">
                <a16:creationId xmlns:a16="http://schemas.microsoft.com/office/drawing/2014/main" id="{805FB813-5547-154F-AAE3-3D7FC75A1235}"/>
              </a:ext>
            </a:extLst>
          </p:cNvPr>
          <p:cNvSpPr/>
          <p:nvPr/>
        </p:nvSpPr>
        <p:spPr bwMode="auto">
          <a:xfrm>
            <a:off x="5174445" y="83555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Tree>
    <p:extLst>
      <p:ext uri="{BB962C8B-B14F-4D97-AF65-F5344CB8AC3E}">
        <p14:creationId xmlns:p14="http://schemas.microsoft.com/office/powerpoint/2010/main" val="2765592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F300D8BF-5397-2249-A5B5-E2C7DE25BB63}"/>
              </a:ext>
            </a:extLst>
          </p:cNvPr>
          <p:cNvSpPr txBox="1">
            <a:spLocks/>
          </p:cNvSpPr>
          <p:nvPr/>
        </p:nvSpPr>
        <p:spPr>
          <a:xfrm>
            <a:off x="298303" y="177665"/>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latin typeface="Perpetua Titling MT Light" charset="0"/>
              </a:rPr>
              <a:t>CHINA: AI Industry AI Pledge</a:t>
            </a:r>
          </a:p>
        </p:txBody>
      </p:sp>
      <p:sp>
        <p:nvSpPr>
          <p:cNvPr id="7" name="Slide Number Placeholder 4">
            <a:extLst>
              <a:ext uri="{FF2B5EF4-FFF2-40B4-BE49-F238E27FC236}">
                <a16:creationId xmlns:a16="http://schemas.microsoft.com/office/drawing/2014/main" id="{0BD197F0-EE73-9647-817A-100F6E0FA4F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32</a:t>
            </a:fld>
            <a:endParaRPr lang="en-US" sz="1400">
              <a:solidFill>
                <a:schemeClr val="bg1"/>
              </a:solidFill>
            </a:endParaRPr>
          </a:p>
        </p:txBody>
      </p:sp>
      <p:sp>
        <p:nvSpPr>
          <p:cNvPr id="8" name="Rectangle 7">
            <a:extLst>
              <a:ext uri="{FF2B5EF4-FFF2-40B4-BE49-F238E27FC236}">
                <a16:creationId xmlns:a16="http://schemas.microsoft.com/office/drawing/2014/main" id="{805FB813-5547-154F-AAE3-3D7FC75A1235}"/>
              </a:ext>
            </a:extLst>
          </p:cNvPr>
          <p:cNvSpPr/>
          <p:nvPr/>
        </p:nvSpPr>
        <p:spPr bwMode="auto">
          <a:xfrm>
            <a:off x="5174445" y="83555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9" name="TextBox 8">
            <a:extLst>
              <a:ext uri="{FF2B5EF4-FFF2-40B4-BE49-F238E27FC236}">
                <a16:creationId xmlns:a16="http://schemas.microsoft.com/office/drawing/2014/main" id="{99696A28-B567-F44B-AFE0-125823EFDA3D}"/>
              </a:ext>
            </a:extLst>
          </p:cNvPr>
          <p:cNvSpPr txBox="1"/>
          <p:nvPr/>
        </p:nvSpPr>
        <p:spPr>
          <a:xfrm>
            <a:off x="495300" y="995679"/>
            <a:ext cx="11220450" cy="6186309"/>
          </a:xfrm>
          <a:prstGeom prst="rect">
            <a:avLst/>
          </a:prstGeom>
          <a:noFill/>
        </p:spPr>
        <p:txBody>
          <a:bodyPr wrap="square" rtlCol="0">
            <a:spAutoFit/>
          </a:bodyPr>
          <a:lstStyle/>
          <a:p>
            <a:r>
              <a:rPr lang="en-CA" sz="2200" b="1">
                <a:solidFill>
                  <a:srgbClr val="FFFF00"/>
                </a:solidFill>
              </a:rPr>
              <a:t>A Draft Joint Pledge on AI Industry Self-Discipline was released in May 2019. It was backed by the Ministry of Industry and Information Technology and drafted by the China Academy of Information and Communication Technology in another multi-stakeholder consultative process. </a:t>
            </a:r>
          </a:p>
          <a:p>
            <a:pPr marL="342900" indent="-342900">
              <a:buFont typeface="Arial" panose="020B0604020202020204" pitchFamily="34" charset="0"/>
              <a:buChar char="•"/>
            </a:pPr>
            <a:r>
              <a:rPr lang="en-CA" sz="2200">
                <a:solidFill>
                  <a:schemeClr val="bg1"/>
                </a:solidFill>
              </a:rPr>
              <a:t>This document largely aligns with other global AI ethics principles but has one notable point of distinction. Article 10: Self-discipline and self-governance, is unique in the global landscape as well as the Chinese one.</a:t>
            </a:r>
          </a:p>
          <a:p>
            <a:pPr marL="342900" indent="-342900">
              <a:buFont typeface="Arial" panose="020B0604020202020204" pitchFamily="34" charset="0"/>
              <a:buChar char="•"/>
            </a:pPr>
            <a:r>
              <a:rPr lang="en-CA" sz="2200">
                <a:solidFill>
                  <a:schemeClr val="bg1"/>
                </a:solidFill>
              </a:rPr>
              <a:t>This pledge calls to ‘strengthen awareness of corporate social responsibility, integrate ethical principles into all aspects of AI-related activities and implement ethical reviews. </a:t>
            </a:r>
          </a:p>
          <a:p>
            <a:pPr marL="342900" indent="-342900">
              <a:buFont typeface="Arial" panose="020B0604020202020204" pitchFamily="34" charset="0"/>
              <a:buChar char="•"/>
            </a:pPr>
            <a:r>
              <a:rPr lang="en-CA" sz="2200">
                <a:solidFill>
                  <a:schemeClr val="bg1"/>
                </a:solidFill>
              </a:rPr>
              <a:t>Promote industry self-governance, formulate norms of behaviour for practitioners, and progressively build and strengthen industry supervision mechanisms’. </a:t>
            </a:r>
          </a:p>
          <a:p>
            <a:pPr marL="342900" indent="-342900">
              <a:buFont typeface="Arial" panose="020B0604020202020204" pitchFamily="34" charset="0"/>
              <a:buChar char="•"/>
            </a:pPr>
            <a:r>
              <a:rPr lang="en-CA" sz="2200">
                <a:solidFill>
                  <a:schemeClr val="bg1"/>
                </a:solidFill>
              </a:rPr>
              <a:t>The suggestion of ethical reviews, self-governance and industry supervision mechanisms introduces a significantly stronger degree of implementation, enforcement and oversight on AI ethics compliance, a field still largely considered soft law. </a:t>
            </a:r>
          </a:p>
          <a:p>
            <a:pPr marL="342900" indent="-342900">
              <a:buFont typeface="Arial" panose="020B0604020202020204" pitchFamily="34" charset="0"/>
              <a:buChar char="•"/>
            </a:pPr>
            <a:r>
              <a:rPr lang="en-CA" sz="2200">
                <a:solidFill>
                  <a:schemeClr val="bg1"/>
                </a:solidFill>
              </a:rPr>
              <a:t>This lends a more applied nature to AI ethics principles in the Chinese AI industry, in the event that this joint pledge materializes.</a:t>
            </a:r>
          </a:p>
          <a:p>
            <a:br>
              <a:rPr lang="en-CA" sz="2200">
                <a:solidFill>
                  <a:schemeClr val="bg1"/>
                </a:solidFill>
              </a:rPr>
            </a:br>
            <a:endParaRPr lang="en-US" sz="2200">
              <a:solidFill>
                <a:schemeClr val="bg1"/>
              </a:solidFill>
            </a:endParaRPr>
          </a:p>
        </p:txBody>
      </p:sp>
      <p:sp>
        <p:nvSpPr>
          <p:cNvPr id="10" name="TextBox 9">
            <a:extLst>
              <a:ext uri="{FF2B5EF4-FFF2-40B4-BE49-F238E27FC236}">
                <a16:creationId xmlns:a16="http://schemas.microsoft.com/office/drawing/2014/main" id="{A3AD4EA2-BE18-174D-8EB4-F5D1F6B34714}"/>
              </a:ext>
            </a:extLst>
          </p:cNvPr>
          <p:cNvSpPr txBox="1"/>
          <p:nvPr/>
        </p:nvSpPr>
        <p:spPr>
          <a:xfrm>
            <a:off x="4844010" y="6082243"/>
            <a:ext cx="6738390" cy="646331"/>
          </a:xfrm>
          <a:prstGeom prst="rect">
            <a:avLst/>
          </a:prstGeom>
          <a:noFill/>
        </p:spPr>
        <p:txBody>
          <a:bodyPr wrap="square" rtlCol="0">
            <a:spAutoFit/>
          </a:bodyPr>
          <a:lstStyle/>
          <a:p>
            <a:r>
              <a:rPr lang="en-US" sz="1200">
                <a:solidFill>
                  <a:schemeClr val="bg1"/>
                </a:solidFill>
              </a:rPr>
              <a:t>Translated Pledge see this link to review:</a:t>
            </a:r>
          </a:p>
          <a:p>
            <a:r>
              <a:rPr lang="en-US" sz="1200">
                <a:solidFill>
                  <a:schemeClr val="bg1"/>
                </a:solidFill>
              </a:rPr>
              <a:t>https://www.newamerica.org/cybersecurity-initiative/digichina/blog/translation-chinese-ai-alliance-drafts-self-discipline-joint-pledge/</a:t>
            </a:r>
          </a:p>
        </p:txBody>
      </p:sp>
    </p:spTree>
    <p:extLst>
      <p:ext uri="{BB962C8B-B14F-4D97-AF65-F5344CB8AC3E}">
        <p14:creationId xmlns:p14="http://schemas.microsoft.com/office/powerpoint/2010/main" val="3828773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F300D8BF-5397-2249-A5B5-E2C7DE25BB63}"/>
              </a:ext>
            </a:extLst>
          </p:cNvPr>
          <p:cNvSpPr txBox="1">
            <a:spLocks/>
          </p:cNvSpPr>
          <p:nvPr/>
        </p:nvSpPr>
        <p:spPr>
          <a:xfrm>
            <a:off x="298303" y="177665"/>
            <a:ext cx="11474881" cy="5434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latin typeface="Perpetua Titling MT Light" charset="0"/>
              </a:rPr>
              <a:t>CHINA: Governance Principles for AI</a:t>
            </a:r>
          </a:p>
        </p:txBody>
      </p:sp>
      <p:sp>
        <p:nvSpPr>
          <p:cNvPr id="7" name="Slide Number Placeholder 4">
            <a:extLst>
              <a:ext uri="{FF2B5EF4-FFF2-40B4-BE49-F238E27FC236}">
                <a16:creationId xmlns:a16="http://schemas.microsoft.com/office/drawing/2014/main" id="{0BD197F0-EE73-9647-817A-100F6E0FA4F7}"/>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33</a:t>
            </a:fld>
            <a:endParaRPr lang="en-US" sz="1400">
              <a:solidFill>
                <a:schemeClr val="bg1"/>
              </a:solidFill>
            </a:endParaRPr>
          </a:p>
        </p:txBody>
      </p:sp>
      <p:sp>
        <p:nvSpPr>
          <p:cNvPr id="8" name="Rectangle 7">
            <a:extLst>
              <a:ext uri="{FF2B5EF4-FFF2-40B4-BE49-F238E27FC236}">
                <a16:creationId xmlns:a16="http://schemas.microsoft.com/office/drawing/2014/main" id="{805FB813-5547-154F-AAE3-3D7FC75A1235}"/>
              </a:ext>
            </a:extLst>
          </p:cNvPr>
          <p:cNvSpPr/>
          <p:nvPr/>
        </p:nvSpPr>
        <p:spPr bwMode="auto">
          <a:xfrm>
            <a:off x="5174445" y="83555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2" name="TextBox 1">
            <a:extLst>
              <a:ext uri="{FF2B5EF4-FFF2-40B4-BE49-F238E27FC236}">
                <a16:creationId xmlns:a16="http://schemas.microsoft.com/office/drawing/2014/main" id="{EFD6FA20-6B07-764F-B1D2-D1932F6FCBEC}"/>
              </a:ext>
            </a:extLst>
          </p:cNvPr>
          <p:cNvSpPr txBox="1"/>
          <p:nvPr/>
        </p:nvSpPr>
        <p:spPr>
          <a:xfrm>
            <a:off x="4274590" y="5675819"/>
            <a:ext cx="7886700" cy="923330"/>
          </a:xfrm>
          <a:prstGeom prst="rect">
            <a:avLst/>
          </a:prstGeom>
          <a:noFill/>
        </p:spPr>
        <p:txBody>
          <a:bodyPr wrap="square" rtlCol="0">
            <a:spAutoFit/>
          </a:bodyPr>
          <a:lstStyle/>
          <a:p>
            <a:r>
              <a:rPr lang="en-US">
                <a:solidFill>
                  <a:schemeClr val="bg1"/>
                </a:solidFill>
              </a:rPr>
              <a:t>Source https://www.newamerica.org/cybersecurity-initiative/digichina/blog/translation-chinese-expert-group-offers-governance-principles-responsible-ai/</a:t>
            </a:r>
          </a:p>
        </p:txBody>
      </p:sp>
      <p:sp>
        <p:nvSpPr>
          <p:cNvPr id="3" name="TextBox 2">
            <a:extLst>
              <a:ext uri="{FF2B5EF4-FFF2-40B4-BE49-F238E27FC236}">
                <a16:creationId xmlns:a16="http://schemas.microsoft.com/office/drawing/2014/main" id="{F28F1BF5-0EA5-FE47-BBAB-B13301CD3750}"/>
              </a:ext>
            </a:extLst>
          </p:cNvPr>
          <p:cNvSpPr txBox="1"/>
          <p:nvPr/>
        </p:nvSpPr>
        <p:spPr>
          <a:xfrm>
            <a:off x="695393" y="1367209"/>
            <a:ext cx="10680700" cy="4585871"/>
          </a:xfrm>
          <a:prstGeom prst="rect">
            <a:avLst/>
          </a:prstGeom>
          <a:noFill/>
        </p:spPr>
        <p:txBody>
          <a:bodyPr wrap="square" rtlCol="0">
            <a:spAutoFit/>
          </a:bodyPr>
          <a:lstStyle/>
          <a:p>
            <a:r>
              <a:rPr lang="en-CA" sz="2400" b="1">
                <a:solidFill>
                  <a:srgbClr val="FFFF00"/>
                </a:solidFill>
              </a:rPr>
              <a:t>Finally, China released the Governance Principles for a New Generation of AI, released in June 2019, also backed by the Ministry of Science and Technology and drafted by the National New Generation AI Governance Expert Committee. </a:t>
            </a:r>
          </a:p>
          <a:p>
            <a:endParaRPr lang="en-CA" sz="2200">
              <a:solidFill>
                <a:schemeClr val="bg1"/>
              </a:solidFill>
            </a:endParaRPr>
          </a:p>
          <a:p>
            <a:r>
              <a:rPr lang="en-CA" sz="2200">
                <a:solidFill>
                  <a:schemeClr val="bg1"/>
                </a:solidFill>
              </a:rPr>
              <a:t>As well as being aligned with other international AI ethics principles, these principles also share considerable similarity with the two previous Chinese documents. </a:t>
            </a:r>
          </a:p>
          <a:p>
            <a:endParaRPr lang="en-CA" sz="2200">
              <a:solidFill>
                <a:schemeClr val="bg1"/>
              </a:solidFill>
            </a:endParaRPr>
          </a:p>
          <a:p>
            <a:r>
              <a:rPr lang="en-CA" sz="2200">
                <a:solidFill>
                  <a:schemeClr val="bg1"/>
                </a:solidFill>
              </a:rPr>
              <a:t>Predominantly applied in nature, this document again references harmony, offering a more direct translation as ‘human-machine harmony’. </a:t>
            </a:r>
          </a:p>
          <a:p>
            <a:endParaRPr lang="en-CA" sz="2200">
              <a:solidFill>
                <a:schemeClr val="bg1"/>
              </a:solidFill>
            </a:endParaRPr>
          </a:p>
          <a:p>
            <a:r>
              <a:rPr lang="en-CA" sz="2200">
                <a:solidFill>
                  <a:schemeClr val="bg1"/>
                </a:solidFill>
              </a:rPr>
              <a:t>In a global landscape of human-centred AI ethics, this vision is unique in its holistic approach to the interactions between humans and AI, and the way they shape and are being shaped by each other.</a:t>
            </a:r>
            <a:endParaRPr lang="en-US" sz="2200">
              <a:solidFill>
                <a:schemeClr val="bg1"/>
              </a:solidFill>
            </a:endParaRPr>
          </a:p>
        </p:txBody>
      </p:sp>
    </p:spTree>
    <p:extLst>
      <p:ext uri="{BB962C8B-B14F-4D97-AF65-F5344CB8AC3E}">
        <p14:creationId xmlns:p14="http://schemas.microsoft.com/office/powerpoint/2010/main" val="3980127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DB20DD6-A73E-A649-8C3F-4AB01A391A35}"/>
              </a:ext>
            </a:extLst>
          </p:cNvPr>
          <p:cNvSpPr/>
          <p:nvPr/>
        </p:nvSpPr>
        <p:spPr>
          <a:xfrm>
            <a:off x="1279355" y="-106598"/>
            <a:ext cx="9677947" cy="1323439"/>
          </a:xfrm>
          <a:prstGeom prst="rect">
            <a:avLst/>
          </a:prstGeom>
        </p:spPr>
        <p:txBody>
          <a:bodyPr wrap="square">
            <a:spAutoFit/>
          </a:bodyPr>
          <a:lstStyle/>
          <a:p>
            <a:pPr algn="ctr"/>
            <a:r>
              <a:rPr lang="en-US" sz="4000" b="1">
                <a:solidFill>
                  <a:srgbClr val="FFFF00"/>
                </a:solidFill>
              </a:rPr>
              <a:t>LAB EXERCISE 20 : USA VS CHINA – </a:t>
            </a:r>
          </a:p>
          <a:p>
            <a:pPr algn="ctr"/>
            <a:r>
              <a:rPr lang="en-US" sz="4000" b="1">
                <a:solidFill>
                  <a:srgbClr val="FFFF00"/>
                </a:solidFill>
              </a:rPr>
              <a:t>ETHICAL PERSPECTIVES</a:t>
            </a:r>
          </a:p>
        </p:txBody>
      </p:sp>
      <p:pic>
        <p:nvPicPr>
          <p:cNvPr id="4" name="Picture 3">
            <a:extLst>
              <a:ext uri="{FF2B5EF4-FFF2-40B4-BE49-F238E27FC236}">
                <a16:creationId xmlns:a16="http://schemas.microsoft.com/office/drawing/2014/main" id="{5B1B72DD-174F-E74B-A293-87474200C1F8}"/>
              </a:ext>
            </a:extLst>
          </p:cNvPr>
          <p:cNvPicPr>
            <a:picLocks noChangeAspect="1"/>
          </p:cNvPicPr>
          <p:nvPr/>
        </p:nvPicPr>
        <p:blipFill>
          <a:blip r:embed="rId2"/>
          <a:stretch>
            <a:fillRect/>
          </a:stretch>
        </p:blipFill>
        <p:spPr>
          <a:xfrm>
            <a:off x="210571" y="1371302"/>
            <a:ext cx="5476353" cy="5113720"/>
          </a:xfrm>
          <a:prstGeom prst="rect">
            <a:avLst/>
          </a:prstGeom>
        </p:spPr>
      </p:pic>
      <p:sp>
        <p:nvSpPr>
          <p:cNvPr id="5" name="TextBox 4">
            <a:extLst>
              <a:ext uri="{FF2B5EF4-FFF2-40B4-BE49-F238E27FC236}">
                <a16:creationId xmlns:a16="http://schemas.microsoft.com/office/drawing/2014/main" id="{56CA2C4C-FA59-924A-A7B3-0BD8B37CCE20}"/>
              </a:ext>
            </a:extLst>
          </p:cNvPr>
          <p:cNvSpPr txBox="1"/>
          <p:nvPr/>
        </p:nvSpPr>
        <p:spPr>
          <a:xfrm>
            <a:off x="5799221" y="1481338"/>
            <a:ext cx="5835316" cy="5170646"/>
          </a:xfrm>
          <a:prstGeom prst="rect">
            <a:avLst/>
          </a:prstGeom>
          <a:noFill/>
        </p:spPr>
        <p:txBody>
          <a:bodyPr wrap="square" rtlCol="0">
            <a:spAutoFit/>
          </a:bodyPr>
          <a:lstStyle/>
          <a:p>
            <a:r>
              <a:rPr lang="en-US" sz="2400" b="1">
                <a:solidFill>
                  <a:srgbClr val="FFFF00"/>
                </a:solidFill>
              </a:rPr>
              <a:t>Instructions</a:t>
            </a:r>
          </a:p>
          <a:p>
            <a:r>
              <a:rPr lang="en-US">
                <a:solidFill>
                  <a:schemeClr val="bg1"/>
                </a:solidFill>
              </a:rPr>
              <a:t>Read this article post on the </a:t>
            </a:r>
            <a:r>
              <a:rPr lang="en-US" i="1">
                <a:solidFill>
                  <a:schemeClr val="bg1"/>
                </a:solidFill>
              </a:rPr>
              <a:t>AI Power : The USA China AI Race. </a:t>
            </a:r>
          </a:p>
          <a:p>
            <a:endParaRPr lang="en-US">
              <a:solidFill>
                <a:schemeClr val="bg1"/>
              </a:solidFill>
            </a:endParaRPr>
          </a:p>
          <a:p>
            <a:r>
              <a:rPr lang="en-US" b="1">
                <a:solidFill>
                  <a:srgbClr val="FFFF00"/>
                </a:solidFill>
              </a:rPr>
              <a:t>Source: </a:t>
            </a:r>
          </a:p>
          <a:p>
            <a:r>
              <a:rPr lang="en-US">
                <a:solidFill>
                  <a:schemeClr val="bg1"/>
                </a:solidFill>
              </a:rPr>
              <a:t>https://emerj.com/ai-power/the-usa-china-ai-race/</a:t>
            </a:r>
          </a:p>
          <a:p>
            <a:endParaRPr lang="en-US">
              <a:solidFill>
                <a:schemeClr val="bg1"/>
              </a:solidFill>
            </a:endParaRPr>
          </a:p>
          <a:p>
            <a:r>
              <a:rPr lang="en-US" b="1">
                <a:solidFill>
                  <a:srgbClr val="FFFF00"/>
                </a:solidFill>
              </a:rPr>
              <a:t>Questions: </a:t>
            </a:r>
            <a:br>
              <a:rPr lang="en-US">
                <a:solidFill>
                  <a:schemeClr val="bg1"/>
                </a:solidFill>
              </a:rPr>
            </a:br>
            <a:r>
              <a:rPr lang="en-US">
                <a:solidFill>
                  <a:schemeClr val="bg1"/>
                </a:solidFill>
              </a:rPr>
              <a:t>What are the implications of China, or Russia and other communist countries do not ensure AI Ethics for Responsible and Explainable AI with a strong Moral Compass to respect Privacy and Security ?</a:t>
            </a:r>
          </a:p>
          <a:p>
            <a:endParaRPr lang="en-US">
              <a:solidFill>
                <a:schemeClr val="bg1"/>
              </a:solidFill>
            </a:endParaRPr>
          </a:p>
          <a:p>
            <a:r>
              <a:rPr lang="en-US" b="1">
                <a:solidFill>
                  <a:srgbClr val="FFFF00"/>
                </a:solidFill>
              </a:rPr>
              <a:t>Learning Outcome: </a:t>
            </a:r>
          </a:p>
          <a:p>
            <a:r>
              <a:rPr lang="en-US">
                <a:solidFill>
                  <a:schemeClr val="bg1"/>
                </a:solidFill>
              </a:rPr>
              <a:t>Appreciate the international complexities in diverse practices for privacy, security and ensuring Explainable Transparent AI practices</a:t>
            </a:r>
          </a:p>
          <a:p>
            <a:endParaRPr lang="en-US">
              <a:solidFill>
                <a:schemeClr val="bg1"/>
              </a:solidFill>
            </a:endParaRPr>
          </a:p>
          <a:p>
            <a:endParaRPr lang="en-US">
              <a:solidFill>
                <a:schemeClr val="bg1"/>
              </a:solidFill>
            </a:endParaRPr>
          </a:p>
        </p:txBody>
      </p:sp>
      <p:sp>
        <p:nvSpPr>
          <p:cNvPr id="6" name="Slide Number Placeholder 4">
            <a:extLst>
              <a:ext uri="{FF2B5EF4-FFF2-40B4-BE49-F238E27FC236}">
                <a16:creationId xmlns:a16="http://schemas.microsoft.com/office/drawing/2014/main" id="{634B5665-FD5B-C74B-9817-451D9F8DEB8C}"/>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34</a:t>
            </a:fld>
            <a:endParaRPr lang="en-US" sz="1400">
              <a:solidFill>
                <a:schemeClr val="bg1"/>
              </a:solidFill>
            </a:endParaRPr>
          </a:p>
        </p:txBody>
      </p:sp>
      <p:pic>
        <p:nvPicPr>
          <p:cNvPr id="8" name="Picture 7">
            <a:extLst>
              <a:ext uri="{FF2B5EF4-FFF2-40B4-BE49-F238E27FC236}">
                <a16:creationId xmlns:a16="http://schemas.microsoft.com/office/drawing/2014/main" id="{76E553D5-AB17-2748-8667-DDCD1DE57F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854" y="170393"/>
            <a:ext cx="794084" cy="794084"/>
          </a:xfrm>
          <a:prstGeom prst="rect">
            <a:avLst/>
          </a:prstGeom>
        </p:spPr>
      </p:pic>
    </p:spTree>
    <p:extLst>
      <p:ext uri="{BB962C8B-B14F-4D97-AF65-F5344CB8AC3E}">
        <p14:creationId xmlns:p14="http://schemas.microsoft.com/office/powerpoint/2010/main" val="136208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91530A-2633-2A40-9F41-C4558E42634F}"/>
              </a:ext>
            </a:extLst>
          </p:cNvPr>
          <p:cNvPicPr>
            <a:picLocks noChangeAspect="1"/>
          </p:cNvPicPr>
          <p:nvPr/>
        </p:nvPicPr>
        <p:blipFill>
          <a:blip r:embed="rId2"/>
          <a:stretch>
            <a:fillRect/>
          </a:stretch>
        </p:blipFill>
        <p:spPr>
          <a:xfrm>
            <a:off x="1461023" y="1085458"/>
            <a:ext cx="8975558" cy="5510462"/>
          </a:xfrm>
          <a:prstGeom prst="rect">
            <a:avLst/>
          </a:prstGeom>
        </p:spPr>
      </p:pic>
      <p:sp>
        <p:nvSpPr>
          <p:cNvPr id="3" name="Title 2">
            <a:extLst>
              <a:ext uri="{FF2B5EF4-FFF2-40B4-BE49-F238E27FC236}">
                <a16:creationId xmlns:a16="http://schemas.microsoft.com/office/drawing/2014/main" id="{96E983D8-45F5-584D-B7C9-280BA08DEF5C}"/>
              </a:ext>
            </a:extLst>
          </p:cNvPr>
          <p:cNvSpPr>
            <a:spLocks noGrp="1"/>
          </p:cNvSpPr>
          <p:nvPr>
            <p:ph type="title"/>
          </p:nvPr>
        </p:nvSpPr>
        <p:spPr>
          <a:xfrm>
            <a:off x="211362" y="347540"/>
            <a:ext cx="11474881" cy="543475"/>
          </a:xfrm>
        </p:spPr>
        <p:txBody>
          <a:bodyPr>
            <a:noAutofit/>
          </a:bodyPr>
          <a:lstStyle/>
          <a:p>
            <a:r>
              <a:rPr lang="en-US">
                <a:solidFill>
                  <a:prstClr val="white"/>
                </a:solidFill>
                <a:latin typeface="Perpetua Titling MT Light" charset="0"/>
              </a:rPr>
              <a:t>CANADA RESPONSIBLE AI VISION</a:t>
            </a:r>
          </a:p>
        </p:txBody>
      </p:sp>
      <p:sp>
        <p:nvSpPr>
          <p:cNvPr id="4" name="Rectangle 3">
            <a:extLst>
              <a:ext uri="{FF2B5EF4-FFF2-40B4-BE49-F238E27FC236}">
                <a16:creationId xmlns:a16="http://schemas.microsoft.com/office/drawing/2014/main" id="{59F28937-89B2-F443-92E3-972BBDFA8A20}"/>
              </a:ext>
            </a:extLst>
          </p:cNvPr>
          <p:cNvSpPr/>
          <p:nvPr/>
        </p:nvSpPr>
        <p:spPr bwMode="auto">
          <a:xfrm>
            <a:off x="5207074" y="919658"/>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6" name="Slide Number Placeholder 4">
            <a:extLst>
              <a:ext uri="{FF2B5EF4-FFF2-40B4-BE49-F238E27FC236}">
                <a16:creationId xmlns:a16="http://schemas.microsoft.com/office/drawing/2014/main" id="{E8FCD40A-FA20-8F41-A19C-C8CFF6D1C8E5}"/>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35</a:t>
            </a:fld>
            <a:endParaRPr lang="en-US" sz="1400">
              <a:solidFill>
                <a:schemeClr val="bg1"/>
              </a:solidFill>
            </a:endParaRPr>
          </a:p>
        </p:txBody>
      </p:sp>
    </p:spTree>
    <p:extLst>
      <p:ext uri="{BB962C8B-B14F-4D97-AF65-F5344CB8AC3E}">
        <p14:creationId xmlns:p14="http://schemas.microsoft.com/office/powerpoint/2010/main" val="1140281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F540F-3492-5B44-8E26-A8606F65147B}"/>
              </a:ext>
            </a:extLst>
          </p:cNvPr>
          <p:cNvPicPr>
            <a:picLocks noChangeAspect="1"/>
          </p:cNvPicPr>
          <p:nvPr/>
        </p:nvPicPr>
        <p:blipFill>
          <a:blip r:embed="rId2">
            <a:alphaModFix amt="35000"/>
          </a:blip>
          <a:stretch>
            <a:fillRect/>
          </a:stretch>
        </p:blipFill>
        <p:spPr>
          <a:xfrm>
            <a:off x="0" y="0"/>
            <a:ext cx="12192000" cy="6858000"/>
          </a:xfrm>
          <a:prstGeom prst="rect">
            <a:avLst/>
          </a:prstGeom>
        </p:spPr>
      </p:pic>
      <p:sp>
        <p:nvSpPr>
          <p:cNvPr id="4" name="Rectangle 3"/>
          <p:cNvSpPr/>
          <p:nvPr/>
        </p:nvSpPr>
        <p:spPr>
          <a:xfrm>
            <a:off x="0" y="2157413"/>
            <a:ext cx="12192000" cy="222885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EA39E8C-FF6B-D84A-9F1B-4DA182E19CA1}"/>
              </a:ext>
            </a:extLst>
          </p:cNvPr>
          <p:cNvSpPr/>
          <p:nvPr/>
        </p:nvSpPr>
        <p:spPr bwMode="auto">
          <a:xfrm>
            <a:off x="5366096" y="4175614"/>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3" name="Title 1">
            <a:extLst>
              <a:ext uri="{FF2B5EF4-FFF2-40B4-BE49-F238E27FC236}">
                <a16:creationId xmlns:a16="http://schemas.microsoft.com/office/drawing/2014/main" id="{A44AD90D-4B77-294C-839C-B3215A2A803C}"/>
              </a:ext>
            </a:extLst>
          </p:cNvPr>
          <p:cNvSpPr txBox="1">
            <a:spLocks/>
          </p:cNvSpPr>
          <p:nvPr/>
        </p:nvSpPr>
        <p:spPr>
          <a:xfrm>
            <a:off x="283851" y="2299847"/>
            <a:ext cx="11358563" cy="1568556"/>
          </a:xfrm>
          <a:prstGeom prst="rect">
            <a:avLst/>
          </a:prstGeom>
        </p:spPr>
        <p:txBody>
          <a:bodyPr vert="horz" lIns="91440" tIns="45720" rIns="91440" bIns="45720" rtlCol="0" anchor="ctr">
            <a:no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a:solidFill>
                  <a:prstClr val="white"/>
                </a:solidFill>
                <a:latin typeface="Perpetua Titling MT Light" charset="0"/>
                <a:ea typeface="Perpetua Titling MT Light" charset="0"/>
                <a:cs typeface="Perpetua Titling MT Light" charset="0"/>
              </a:rPr>
              <a:t>Section 3.0 : </a:t>
            </a:r>
          </a:p>
          <a:p>
            <a:pPr algn="ctr"/>
            <a:r>
              <a:rPr lang="en-US" sz="3600" b="0">
                <a:solidFill>
                  <a:prstClr val="white"/>
                </a:solidFill>
                <a:latin typeface="Perpetua Titling MT Light" charset="0"/>
                <a:ea typeface="Perpetua Titling MT Light" charset="0"/>
                <a:cs typeface="Perpetua Titling MT Light" charset="0"/>
              </a:rPr>
              <a:t>CASELETS: ETHICs </a:t>
            </a:r>
            <a:endParaRPr lang="en-US" sz="3600" b="0">
              <a:solidFill>
                <a:srgbClr val="89C542"/>
              </a:solidFill>
              <a:latin typeface="Perpetua Titling MT Light" charset="0"/>
              <a:ea typeface="Perpetua Titling MT Light" charset="0"/>
              <a:cs typeface="Perpetua Titling MT Light" charset="0"/>
            </a:endParaRPr>
          </a:p>
        </p:txBody>
      </p:sp>
    </p:spTree>
    <p:extLst>
      <p:ext uri="{BB962C8B-B14F-4D97-AF65-F5344CB8AC3E}">
        <p14:creationId xmlns:p14="http://schemas.microsoft.com/office/powerpoint/2010/main" val="623144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85A7E6-8879-604B-9F90-4717B42F5D10}"/>
              </a:ext>
            </a:extLst>
          </p:cNvPr>
          <p:cNvPicPr>
            <a:picLocks noChangeAspect="1"/>
          </p:cNvPicPr>
          <p:nvPr/>
        </p:nvPicPr>
        <p:blipFill>
          <a:blip r:embed="rId2"/>
          <a:stretch>
            <a:fillRect/>
          </a:stretch>
        </p:blipFill>
        <p:spPr>
          <a:xfrm>
            <a:off x="3080083" y="927341"/>
            <a:ext cx="6340643" cy="5742158"/>
          </a:xfrm>
          <a:prstGeom prst="rect">
            <a:avLst/>
          </a:prstGeom>
        </p:spPr>
      </p:pic>
      <p:sp>
        <p:nvSpPr>
          <p:cNvPr id="7" name="Title 2">
            <a:extLst>
              <a:ext uri="{FF2B5EF4-FFF2-40B4-BE49-F238E27FC236}">
                <a16:creationId xmlns:a16="http://schemas.microsoft.com/office/drawing/2014/main" id="{4525A8B7-0129-284D-9CB6-70C51A0423BF}"/>
              </a:ext>
            </a:extLst>
          </p:cNvPr>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8 ETHICAL QUESTIONS IN AI:</a:t>
            </a:r>
          </a:p>
        </p:txBody>
      </p:sp>
      <p:sp>
        <p:nvSpPr>
          <p:cNvPr id="8" name="Rectangle 7">
            <a:extLst>
              <a:ext uri="{FF2B5EF4-FFF2-40B4-BE49-F238E27FC236}">
                <a16:creationId xmlns:a16="http://schemas.microsoft.com/office/drawing/2014/main" id="{6DBCD973-7580-4D43-838C-60A4B5CD5D7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10" name="Slide Number Placeholder 4">
            <a:extLst>
              <a:ext uri="{FF2B5EF4-FFF2-40B4-BE49-F238E27FC236}">
                <a16:creationId xmlns:a16="http://schemas.microsoft.com/office/drawing/2014/main" id="{84CB0AF9-3F1E-BF46-9146-7210BCDE5785}"/>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37</a:t>
            </a:fld>
            <a:endParaRPr lang="en-US" sz="1400">
              <a:solidFill>
                <a:schemeClr val="bg1"/>
              </a:solidFill>
            </a:endParaRPr>
          </a:p>
        </p:txBody>
      </p:sp>
      <p:sp>
        <p:nvSpPr>
          <p:cNvPr id="11" name="TextBox 10">
            <a:extLst>
              <a:ext uri="{FF2B5EF4-FFF2-40B4-BE49-F238E27FC236}">
                <a16:creationId xmlns:a16="http://schemas.microsoft.com/office/drawing/2014/main" id="{842B45C1-AA73-FE43-A575-B157036229EB}"/>
              </a:ext>
            </a:extLst>
          </p:cNvPr>
          <p:cNvSpPr txBox="1"/>
          <p:nvPr/>
        </p:nvSpPr>
        <p:spPr>
          <a:xfrm>
            <a:off x="3080083" y="6328611"/>
            <a:ext cx="6340643" cy="340888"/>
          </a:xfrm>
          <a:prstGeom prst="rect">
            <a:avLst/>
          </a:prstGeom>
          <a:solidFill>
            <a:schemeClr val="bg1"/>
          </a:solidFill>
        </p:spPr>
        <p:txBody>
          <a:bodyPr wrap="square" rtlCol="0">
            <a:spAutoFit/>
          </a:bodyPr>
          <a:lstStyle/>
          <a:p>
            <a:endParaRPr lang="en-US"/>
          </a:p>
        </p:txBody>
      </p:sp>
      <p:sp>
        <p:nvSpPr>
          <p:cNvPr id="2" name="Rectangle 1">
            <a:extLst>
              <a:ext uri="{FF2B5EF4-FFF2-40B4-BE49-F238E27FC236}">
                <a16:creationId xmlns:a16="http://schemas.microsoft.com/office/drawing/2014/main" id="{28EE293E-BA72-FB42-9263-0E3421EE3FCC}"/>
              </a:ext>
            </a:extLst>
          </p:cNvPr>
          <p:cNvSpPr/>
          <p:nvPr/>
        </p:nvSpPr>
        <p:spPr>
          <a:xfrm>
            <a:off x="2241194" y="3823820"/>
            <a:ext cx="7708900" cy="626311"/>
          </a:xfrm>
          <a:prstGeom prst="rect">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6529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46ED3C-1F38-514B-877C-B3E8C079D032}"/>
              </a:ext>
            </a:extLst>
          </p:cNvPr>
          <p:cNvSpPr txBox="1"/>
          <p:nvPr/>
        </p:nvSpPr>
        <p:spPr>
          <a:xfrm>
            <a:off x="3706368" y="850900"/>
            <a:ext cx="8180832" cy="5847755"/>
          </a:xfrm>
          <a:prstGeom prst="rect">
            <a:avLst/>
          </a:prstGeom>
          <a:noFill/>
        </p:spPr>
        <p:txBody>
          <a:bodyPr wrap="square" rtlCol="0">
            <a:spAutoFit/>
          </a:bodyPr>
          <a:lstStyle/>
          <a:p>
            <a:pPr marL="342900" indent="-342900">
              <a:buFont typeface="Arial" panose="020B0604020202020204" pitchFamily="34" charset="0"/>
              <a:buChar char="•"/>
            </a:pPr>
            <a:r>
              <a:rPr lang="en-CA" sz="2200">
                <a:solidFill>
                  <a:schemeClr val="bg1"/>
                </a:solidFill>
              </a:rPr>
              <a:t>A court in Italy has dealt a blow to unalloyed algorithmic management after a legal challenge brought by three unions. </a:t>
            </a:r>
            <a:r>
              <a:rPr lang="en-CA" sz="2200" b="1">
                <a:solidFill>
                  <a:schemeClr val="bg1"/>
                </a:solidFill>
              </a:rPr>
              <a:t>The Bologna court ruled that a reputational-ranking algorithm used by on-demand food delivery platform, Deliveroo, discriminated against gigging delivery workers by breaching local labor laws.</a:t>
            </a:r>
          </a:p>
          <a:p>
            <a:pPr marL="342900" indent="-342900">
              <a:buFont typeface="Arial" panose="020B0604020202020204" pitchFamily="34" charset="0"/>
              <a:buChar char="•"/>
            </a:pPr>
            <a:r>
              <a:rPr lang="en-CA" sz="2200">
                <a:solidFill>
                  <a:schemeClr val="bg1"/>
                </a:solidFill>
              </a:rPr>
              <a:t>The ruling, reported earlier in the </a:t>
            </a:r>
            <a:r>
              <a:rPr lang="en-CA" sz="2200">
                <a:solidFill>
                  <a:schemeClr val="bg1"/>
                </a:solidFill>
                <a:hlinkClick r:id="rId2">
                  <a:extLst>
                    <a:ext uri="{A12FA001-AC4F-418D-AE19-62706E023703}">
                      <ahyp:hlinkClr xmlns:ahyp="http://schemas.microsoft.com/office/drawing/2018/hyperlinkcolor" val="tx"/>
                    </a:ext>
                  </a:extLst>
                </a:hlinkClick>
              </a:rPr>
              <a:t>Italian</a:t>
            </a:r>
            <a:r>
              <a:rPr lang="en-CA" sz="2200">
                <a:solidFill>
                  <a:schemeClr val="bg1"/>
                </a:solidFill>
              </a:rPr>
              <a:t> </a:t>
            </a:r>
            <a:r>
              <a:rPr lang="en-CA" sz="2200">
                <a:solidFill>
                  <a:schemeClr val="bg1"/>
                </a:solidFill>
                <a:hlinkClick r:id="rId3">
                  <a:extLst>
                    <a:ext uri="{A12FA001-AC4F-418D-AE19-62706E023703}">
                      <ahyp:hlinkClr xmlns:ahyp="http://schemas.microsoft.com/office/drawing/2018/hyperlinkcolor" val="tx"/>
                    </a:ext>
                  </a:extLst>
                </a:hlinkClick>
              </a:rPr>
              <a:t>press</a:t>
            </a:r>
            <a:r>
              <a:rPr lang="en-CA" sz="2200">
                <a:solidFill>
                  <a:schemeClr val="bg1"/>
                </a:solidFill>
              </a:rPr>
              <a:t>, found Deliveroo’s ranking algorithm discriminated against delivery couriers because it did not distinguish between legally protected reasons for withholding labour — namely not working because a rider was sick; or exercising their protected right to strike — and more trivial reasons for not being as productive as they’d indicated they would be.</a:t>
            </a:r>
          </a:p>
          <a:p>
            <a:pPr marL="342900" indent="-342900">
              <a:buFont typeface="Arial" panose="020B0604020202020204" pitchFamily="34" charset="0"/>
              <a:buChar char="•"/>
            </a:pPr>
            <a:r>
              <a:rPr lang="en-CA" sz="2200">
                <a:solidFill>
                  <a:schemeClr val="bg1"/>
                </a:solidFill>
              </a:rPr>
              <a:t>In a </a:t>
            </a:r>
            <a:r>
              <a:rPr lang="en-CA" sz="2200">
                <a:solidFill>
                  <a:schemeClr val="bg1"/>
                </a:solidFill>
                <a:hlinkClick r:id="rId4">
                  <a:extLst>
                    <a:ext uri="{A12FA001-AC4F-418D-AE19-62706E023703}">
                      <ahyp:hlinkClr xmlns:ahyp="http://schemas.microsoft.com/office/drawing/2018/hyperlinkcolor" val="tx"/>
                    </a:ext>
                  </a:extLst>
                </a:hlinkClick>
              </a:rPr>
              <a:t>statement</a:t>
            </a:r>
            <a:r>
              <a:rPr lang="en-CA" sz="2200">
                <a:solidFill>
                  <a:schemeClr val="bg1"/>
                </a:solidFill>
              </a:rPr>
              <a:t>, the Italian General Confederation of Labour (CGIL) called the Bologna court ruling “an epochal turning point in the conquest of trade union rights and freedoms in the digital world”.</a:t>
            </a:r>
          </a:p>
          <a:p>
            <a:pPr marL="342900" indent="-342900">
              <a:buFont typeface="Arial" panose="020B0604020202020204" pitchFamily="34" charset="0"/>
              <a:buChar char="•"/>
            </a:pPr>
            <a:endParaRPr lang="en-US" sz="2200">
              <a:solidFill>
                <a:schemeClr val="bg1"/>
              </a:solidFill>
            </a:endParaRPr>
          </a:p>
          <a:p>
            <a:r>
              <a:rPr lang="en-US" sz="2200" b="1">
                <a:solidFill>
                  <a:schemeClr val="bg1"/>
                </a:solidFill>
              </a:rPr>
              <a:t>Source: </a:t>
            </a:r>
            <a:r>
              <a:rPr lang="en-US" sz="2200">
                <a:solidFill>
                  <a:schemeClr val="bg1"/>
                </a:solidFill>
              </a:rPr>
              <a:t>January 2021: https://techcrunch.com/2021/01/04/italian-court-rules-against-discriminatory-deliveroo-rider-ranking-algorithm/</a:t>
            </a:r>
          </a:p>
        </p:txBody>
      </p:sp>
      <p:sp>
        <p:nvSpPr>
          <p:cNvPr id="3" name="Title 2">
            <a:extLst>
              <a:ext uri="{FF2B5EF4-FFF2-40B4-BE49-F238E27FC236}">
                <a16:creationId xmlns:a16="http://schemas.microsoft.com/office/drawing/2014/main" id="{475BC709-8283-1943-8EFF-7F786270B62A}"/>
              </a:ext>
            </a:extLst>
          </p:cNvPr>
          <p:cNvSpPr txBox="1">
            <a:spLocks/>
          </p:cNvSpPr>
          <p:nvPr/>
        </p:nvSpPr>
        <p:spPr>
          <a:xfrm>
            <a:off x="2382076" y="177829"/>
            <a:ext cx="11474881" cy="5434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prstClr val="white"/>
                </a:solidFill>
                <a:latin typeface="Perpetua Titling MT Light" charset="0"/>
              </a:rPr>
              <a:t>AI ETHICS LEGAL Risk Zones</a:t>
            </a:r>
          </a:p>
        </p:txBody>
      </p:sp>
      <p:sp>
        <p:nvSpPr>
          <p:cNvPr id="4" name="Rectangle 3">
            <a:extLst>
              <a:ext uri="{FF2B5EF4-FFF2-40B4-BE49-F238E27FC236}">
                <a16:creationId xmlns:a16="http://schemas.microsoft.com/office/drawing/2014/main" id="{75D99456-A446-AB4A-8247-FF913B5D1136}"/>
              </a:ext>
            </a:extLst>
          </p:cNvPr>
          <p:cNvSpPr/>
          <p:nvPr/>
        </p:nvSpPr>
        <p:spPr bwMode="auto">
          <a:xfrm>
            <a:off x="5744052" y="763751"/>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5" name="Picture 4">
            <a:extLst>
              <a:ext uri="{FF2B5EF4-FFF2-40B4-BE49-F238E27FC236}">
                <a16:creationId xmlns:a16="http://schemas.microsoft.com/office/drawing/2014/main" id="{D62F8969-1727-0840-B335-EA378CAFA351}"/>
              </a:ext>
            </a:extLst>
          </p:cNvPr>
          <p:cNvPicPr>
            <a:picLocks noChangeAspect="1"/>
          </p:cNvPicPr>
          <p:nvPr/>
        </p:nvPicPr>
        <p:blipFill>
          <a:blip r:embed="rId5"/>
          <a:stretch>
            <a:fillRect/>
          </a:stretch>
        </p:blipFill>
        <p:spPr>
          <a:xfrm>
            <a:off x="134112" y="3924554"/>
            <a:ext cx="3454400" cy="2349500"/>
          </a:xfrm>
          <a:prstGeom prst="rect">
            <a:avLst/>
          </a:prstGeom>
        </p:spPr>
      </p:pic>
      <p:pic>
        <p:nvPicPr>
          <p:cNvPr id="6" name="Picture 5">
            <a:extLst>
              <a:ext uri="{FF2B5EF4-FFF2-40B4-BE49-F238E27FC236}">
                <a16:creationId xmlns:a16="http://schemas.microsoft.com/office/drawing/2014/main" id="{C93B3691-05F6-B44A-90ED-FA4374E4A888}"/>
              </a:ext>
            </a:extLst>
          </p:cNvPr>
          <p:cNvPicPr>
            <a:picLocks noChangeAspect="1"/>
          </p:cNvPicPr>
          <p:nvPr/>
        </p:nvPicPr>
        <p:blipFill>
          <a:blip r:embed="rId6"/>
          <a:stretch>
            <a:fillRect/>
          </a:stretch>
        </p:blipFill>
        <p:spPr>
          <a:xfrm>
            <a:off x="134112" y="1067054"/>
            <a:ext cx="3454400" cy="2857500"/>
          </a:xfrm>
          <a:prstGeom prst="rect">
            <a:avLst/>
          </a:prstGeom>
        </p:spPr>
      </p:pic>
      <p:sp>
        <p:nvSpPr>
          <p:cNvPr id="7" name="Slide Number Placeholder 4">
            <a:extLst>
              <a:ext uri="{FF2B5EF4-FFF2-40B4-BE49-F238E27FC236}">
                <a16:creationId xmlns:a16="http://schemas.microsoft.com/office/drawing/2014/main" id="{75DB7038-AD8D-BB4E-8430-167BF845D2FA}"/>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38</a:t>
            </a:fld>
            <a:endParaRPr lang="en-US" sz="1400">
              <a:solidFill>
                <a:schemeClr val="bg1"/>
              </a:solidFill>
            </a:endParaRPr>
          </a:p>
        </p:txBody>
      </p:sp>
    </p:spTree>
    <p:extLst>
      <p:ext uri="{BB962C8B-B14F-4D97-AF65-F5344CB8AC3E}">
        <p14:creationId xmlns:p14="http://schemas.microsoft.com/office/powerpoint/2010/main" val="467233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4525A8B7-0129-284D-9CB6-70C51A0423BF}"/>
              </a:ext>
            </a:extLst>
          </p:cNvPr>
          <p:cNvSpPr>
            <a:spLocks noGrp="1"/>
          </p:cNvSpPr>
          <p:nvPr>
            <p:ph type="title"/>
          </p:nvPr>
        </p:nvSpPr>
        <p:spPr>
          <a:xfrm>
            <a:off x="358204" y="170393"/>
            <a:ext cx="11474881" cy="543475"/>
          </a:xfrm>
        </p:spPr>
        <p:txBody>
          <a:bodyPr>
            <a:noAutofit/>
          </a:bodyPr>
          <a:lstStyle/>
          <a:p>
            <a:r>
              <a:rPr lang="en-US">
                <a:solidFill>
                  <a:prstClr val="white"/>
                </a:solidFill>
                <a:latin typeface="Perpetua Titling MT Light" charset="0"/>
              </a:rPr>
              <a:t>HUMAN LOSS OF JOBS: ETHICAL RISKS</a:t>
            </a:r>
          </a:p>
        </p:txBody>
      </p:sp>
      <p:sp>
        <p:nvSpPr>
          <p:cNvPr id="8" name="Rectangle 7">
            <a:extLst>
              <a:ext uri="{FF2B5EF4-FFF2-40B4-BE49-F238E27FC236}">
                <a16:creationId xmlns:a16="http://schemas.microsoft.com/office/drawing/2014/main" id="{6DBCD973-7580-4D43-838C-60A4B5CD5D7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10" name="Slide Number Placeholder 4">
            <a:extLst>
              <a:ext uri="{FF2B5EF4-FFF2-40B4-BE49-F238E27FC236}">
                <a16:creationId xmlns:a16="http://schemas.microsoft.com/office/drawing/2014/main" id="{84CB0AF9-3F1E-BF46-9146-7210BCDE5785}"/>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39</a:t>
            </a:fld>
            <a:endParaRPr lang="en-US" sz="1400">
              <a:solidFill>
                <a:schemeClr val="bg1"/>
              </a:solidFill>
            </a:endParaRPr>
          </a:p>
        </p:txBody>
      </p:sp>
      <p:sp>
        <p:nvSpPr>
          <p:cNvPr id="11" name="TextBox 10">
            <a:extLst>
              <a:ext uri="{FF2B5EF4-FFF2-40B4-BE49-F238E27FC236}">
                <a16:creationId xmlns:a16="http://schemas.microsoft.com/office/drawing/2014/main" id="{842B45C1-AA73-FE43-A575-B157036229EB}"/>
              </a:ext>
            </a:extLst>
          </p:cNvPr>
          <p:cNvSpPr txBox="1"/>
          <p:nvPr/>
        </p:nvSpPr>
        <p:spPr>
          <a:xfrm>
            <a:off x="1718331" y="952314"/>
            <a:ext cx="8754624" cy="369332"/>
          </a:xfrm>
          <a:prstGeom prst="rect">
            <a:avLst/>
          </a:prstGeom>
          <a:solidFill>
            <a:schemeClr val="bg1"/>
          </a:solidFill>
        </p:spPr>
        <p:txBody>
          <a:bodyPr wrap="square" rtlCol="0">
            <a:spAutoFit/>
          </a:bodyPr>
          <a:lstStyle/>
          <a:p>
            <a:pPr algn="ctr"/>
            <a:r>
              <a:rPr lang="en-US" b="1"/>
              <a:t>WHAT IS THE IMPACT TO HUMANS LOSING JOBS WITH AI?</a:t>
            </a:r>
          </a:p>
        </p:txBody>
      </p:sp>
      <p:sp>
        <p:nvSpPr>
          <p:cNvPr id="2" name="TextBox 1">
            <a:extLst>
              <a:ext uri="{FF2B5EF4-FFF2-40B4-BE49-F238E27FC236}">
                <a16:creationId xmlns:a16="http://schemas.microsoft.com/office/drawing/2014/main" id="{37C901D4-7EF5-614F-ADCC-89A47E593DBF}"/>
              </a:ext>
            </a:extLst>
          </p:cNvPr>
          <p:cNvSpPr txBox="1"/>
          <p:nvPr/>
        </p:nvSpPr>
        <p:spPr>
          <a:xfrm>
            <a:off x="358204" y="1430496"/>
            <a:ext cx="11474881" cy="5078313"/>
          </a:xfrm>
          <a:prstGeom prst="rect">
            <a:avLst/>
          </a:prstGeom>
          <a:noFill/>
        </p:spPr>
        <p:txBody>
          <a:bodyPr wrap="square" rtlCol="0">
            <a:spAutoFit/>
          </a:bodyPr>
          <a:lstStyle/>
          <a:p>
            <a:r>
              <a:rPr lang="en-CA" sz="2800" b="1">
                <a:solidFill>
                  <a:srgbClr val="FFFF00"/>
                </a:solidFill>
              </a:rPr>
              <a:t>An interesting ethical dilemma of AI impact of declining Jobs in the work force?</a:t>
            </a:r>
          </a:p>
          <a:p>
            <a:endParaRPr lang="en-CA" sz="2800" b="1">
              <a:solidFill>
                <a:srgbClr val="FFFF00"/>
              </a:solidFill>
            </a:endParaRPr>
          </a:p>
          <a:p>
            <a:r>
              <a:rPr lang="en-CA" sz="2400">
                <a:solidFill>
                  <a:schemeClr val="bg1"/>
                </a:solidFill>
              </a:rPr>
              <a:t>This is a concern that repeatedly appears in the press. </a:t>
            </a:r>
          </a:p>
          <a:p>
            <a:endParaRPr lang="en-CA" sz="2400">
              <a:solidFill>
                <a:schemeClr val="bg1"/>
              </a:solidFill>
            </a:endParaRPr>
          </a:p>
          <a:p>
            <a:r>
              <a:rPr lang="en-CA" sz="2400">
                <a:solidFill>
                  <a:schemeClr val="bg1"/>
                </a:solidFill>
              </a:rPr>
              <a:t>It’s true that AI will be able to do some of today’s jobs better than humans. Inevitably, those people will lose their jobs, and it will take a major societal initiative to retrain those employees for new work. </a:t>
            </a:r>
          </a:p>
          <a:p>
            <a:endParaRPr lang="en-CA" sz="2400">
              <a:solidFill>
                <a:schemeClr val="bg1"/>
              </a:solidFill>
            </a:endParaRPr>
          </a:p>
          <a:p>
            <a:r>
              <a:rPr lang="en-CA" sz="2400" b="1">
                <a:solidFill>
                  <a:srgbClr val="FFFF00"/>
                </a:solidFill>
              </a:rPr>
              <a:t>However, it’s likely that AI will replace jobs that were boring, menial, or unfulfilling. Individuals will be able to spend their time on more creative pursuits, and higher-level tasks. While jobs will go away, AI will also create new markets, industries, and jobs for future generations.</a:t>
            </a:r>
            <a:endParaRPr lang="en-US" sz="2400" b="1">
              <a:solidFill>
                <a:srgbClr val="FFFF00"/>
              </a:solidFill>
            </a:endParaRPr>
          </a:p>
        </p:txBody>
      </p:sp>
    </p:spTree>
    <p:extLst>
      <p:ext uri="{BB962C8B-B14F-4D97-AF65-F5344CB8AC3E}">
        <p14:creationId xmlns:p14="http://schemas.microsoft.com/office/powerpoint/2010/main" val="3533189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4525A8B7-0129-284D-9CB6-70C51A0423BF}"/>
              </a:ext>
            </a:extLst>
          </p:cNvPr>
          <p:cNvSpPr>
            <a:spLocks noGrp="1"/>
          </p:cNvSpPr>
          <p:nvPr>
            <p:ph type="title"/>
          </p:nvPr>
        </p:nvSpPr>
        <p:spPr>
          <a:xfrm>
            <a:off x="240869" y="367642"/>
            <a:ext cx="11474881" cy="543475"/>
          </a:xfrm>
        </p:spPr>
        <p:txBody>
          <a:bodyPr>
            <a:noAutofit/>
          </a:bodyPr>
          <a:lstStyle/>
          <a:p>
            <a:r>
              <a:rPr lang="en-US" b="1">
                <a:solidFill>
                  <a:srgbClr val="FFFF00"/>
                </a:solidFill>
                <a:latin typeface="Perpetua Titling MT Light" charset="0"/>
              </a:rPr>
              <a:t>LAB EXERCISE 21 </a:t>
            </a:r>
            <a:br>
              <a:rPr lang="en-US" sz="4000">
                <a:solidFill>
                  <a:prstClr val="white"/>
                </a:solidFill>
                <a:latin typeface="Perpetua Titling MT Light" charset="0"/>
              </a:rPr>
            </a:br>
            <a:r>
              <a:rPr lang="en-US" sz="4000">
                <a:solidFill>
                  <a:prstClr val="white"/>
                </a:solidFill>
                <a:latin typeface="Perpetua Titling MT Light" charset="0"/>
              </a:rPr>
              <a:t>HUMAN LOSS OF JOBS : ETHICAL RISKS</a:t>
            </a:r>
          </a:p>
        </p:txBody>
      </p:sp>
      <p:sp>
        <p:nvSpPr>
          <p:cNvPr id="8" name="Rectangle 7">
            <a:extLst>
              <a:ext uri="{FF2B5EF4-FFF2-40B4-BE49-F238E27FC236}">
                <a16:creationId xmlns:a16="http://schemas.microsoft.com/office/drawing/2014/main" id="{6DBCD973-7580-4D43-838C-60A4B5CD5D76}"/>
              </a:ext>
            </a:extLst>
          </p:cNvPr>
          <p:cNvSpPr/>
          <p:nvPr/>
        </p:nvSpPr>
        <p:spPr bwMode="auto">
          <a:xfrm>
            <a:off x="5137500" y="1185880"/>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10" name="Slide Number Placeholder 4">
            <a:extLst>
              <a:ext uri="{FF2B5EF4-FFF2-40B4-BE49-F238E27FC236}">
                <a16:creationId xmlns:a16="http://schemas.microsoft.com/office/drawing/2014/main" id="{84CB0AF9-3F1E-BF46-9146-7210BCDE5785}"/>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40</a:t>
            </a:fld>
            <a:endParaRPr lang="en-US" sz="1400">
              <a:solidFill>
                <a:schemeClr val="bg1"/>
              </a:solidFill>
            </a:endParaRPr>
          </a:p>
        </p:txBody>
      </p:sp>
      <p:sp>
        <p:nvSpPr>
          <p:cNvPr id="11" name="TextBox 10">
            <a:extLst>
              <a:ext uri="{FF2B5EF4-FFF2-40B4-BE49-F238E27FC236}">
                <a16:creationId xmlns:a16="http://schemas.microsoft.com/office/drawing/2014/main" id="{842B45C1-AA73-FE43-A575-B157036229EB}"/>
              </a:ext>
            </a:extLst>
          </p:cNvPr>
          <p:cNvSpPr txBox="1"/>
          <p:nvPr/>
        </p:nvSpPr>
        <p:spPr>
          <a:xfrm>
            <a:off x="925793" y="1329286"/>
            <a:ext cx="10475138" cy="276999"/>
          </a:xfrm>
          <a:prstGeom prst="rect">
            <a:avLst/>
          </a:prstGeom>
          <a:solidFill>
            <a:schemeClr val="bg1"/>
          </a:solidFill>
        </p:spPr>
        <p:txBody>
          <a:bodyPr wrap="square" rtlCol="0">
            <a:spAutoFit/>
          </a:bodyPr>
          <a:lstStyle/>
          <a:p>
            <a:pPr algn="ctr"/>
            <a:r>
              <a:rPr lang="en-US" sz="1200" b="1"/>
              <a:t>Over 50% of the jobs as we know them are predicted to impacted by AI and Robots</a:t>
            </a:r>
          </a:p>
        </p:txBody>
      </p:sp>
      <p:sp>
        <p:nvSpPr>
          <p:cNvPr id="2" name="TextBox 1">
            <a:extLst>
              <a:ext uri="{FF2B5EF4-FFF2-40B4-BE49-F238E27FC236}">
                <a16:creationId xmlns:a16="http://schemas.microsoft.com/office/drawing/2014/main" id="{37C901D4-7EF5-614F-ADCC-89A47E593DBF}"/>
              </a:ext>
            </a:extLst>
          </p:cNvPr>
          <p:cNvSpPr txBox="1"/>
          <p:nvPr/>
        </p:nvSpPr>
        <p:spPr>
          <a:xfrm>
            <a:off x="388204" y="1649768"/>
            <a:ext cx="11550316" cy="5632311"/>
          </a:xfrm>
          <a:prstGeom prst="rect">
            <a:avLst/>
          </a:prstGeom>
          <a:noFill/>
        </p:spPr>
        <p:txBody>
          <a:bodyPr wrap="square" rtlCol="0">
            <a:spAutoFit/>
          </a:bodyPr>
          <a:lstStyle/>
          <a:p>
            <a:r>
              <a:rPr lang="en-US" b="1" u="sng" dirty="0">
                <a:solidFill>
                  <a:srgbClr val="FFFF00"/>
                </a:solidFill>
              </a:rPr>
              <a:t>INSTRUCTIONS:</a:t>
            </a:r>
          </a:p>
          <a:p>
            <a:r>
              <a:rPr lang="en-US" dirty="0">
                <a:solidFill>
                  <a:schemeClr val="bg1"/>
                </a:solidFill>
              </a:rPr>
              <a:t>Watch the Video and discuss these three questions in the chat area:</a:t>
            </a:r>
          </a:p>
          <a:p>
            <a:r>
              <a:rPr lang="en-US" dirty="0">
                <a:solidFill>
                  <a:schemeClr val="bg1"/>
                </a:solidFill>
              </a:rPr>
              <a:t>1.) What is our responsibility as we reduce more jobs due to AI , Robotic </a:t>
            </a:r>
            <a:r>
              <a:rPr lang="en-US" dirty="0" err="1">
                <a:solidFill>
                  <a:schemeClr val="bg1"/>
                </a:solidFill>
              </a:rPr>
              <a:t>Enablements</a:t>
            </a:r>
            <a:r>
              <a:rPr lang="en-US" dirty="0">
                <a:solidFill>
                  <a:schemeClr val="bg1"/>
                </a:solidFill>
              </a:rPr>
              <a:t>?</a:t>
            </a:r>
          </a:p>
          <a:p>
            <a:r>
              <a:rPr lang="en-US" dirty="0">
                <a:solidFill>
                  <a:schemeClr val="bg1"/>
                </a:solidFill>
              </a:rPr>
              <a:t>2.) What can we do if machines take our jobs – Universal Basic Income to Humans</a:t>
            </a:r>
          </a:p>
          <a:p>
            <a:r>
              <a:rPr lang="en-US" dirty="0">
                <a:solidFill>
                  <a:schemeClr val="bg1"/>
                </a:solidFill>
              </a:rPr>
              <a:t>3.) How do you see humans adapting to the future reality of working less – implications between haves and have nots?</a:t>
            </a:r>
          </a:p>
          <a:p>
            <a:endParaRPr lang="en-US" b="1" u="sng" dirty="0">
              <a:solidFill>
                <a:srgbClr val="FFFF00"/>
              </a:solidFill>
            </a:endParaRPr>
          </a:p>
          <a:p>
            <a:r>
              <a:rPr lang="en-US" b="1" u="sng" dirty="0">
                <a:solidFill>
                  <a:srgbClr val="FFFF00"/>
                </a:solidFill>
              </a:rPr>
              <a:t>SOURCES</a:t>
            </a:r>
            <a:r>
              <a:rPr lang="en-US" b="1" u="sng" dirty="0">
                <a:solidFill>
                  <a:schemeClr val="bg1"/>
                </a:solidFill>
              </a:rPr>
              <a:t>:</a:t>
            </a:r>
            <a:r>
              <a:rPr lang="en-CA" dirty="0"/>
              <a:t> </a:t>
            </a:r>
            <a:r>
              <a:rPr lang="en-CA" dirty="0">
                <a:solidFill>
                  <a:schemeClr val="bg1"/>
                </a:solidFill>
              </a:rPr>
              <a:t>The jobs we'll lose to machines -- and the ones we won't | Anthony </a:t>
            </a:r>
            <a:r>
              <a:rPr lang="en-CA" dirty="0" err="1">
                <a:solidFill>
                  <a:schemeClr val="bg1"/>
                </a:solidFill>
              </a:rPr>
              <a:t>Goldbloom</a:t>
            </a:r>
            <a:r>
              <a:rPr lang="en-CA" dirty="0">
                <a:solidFill>
                  <a:schemeClr val="bg1"/>
                </a:solidFill>
              </a:rPr>
              <a:t>, </a:t>
            </a:r>
            <a:r>
              <a:rPr lang="en-CA" dirty="0" err="1">
                <a:solidFill>
                  <a:schemeClr val="bg1"/>
                </a:solidFill>
              </a:rPr>
              <a:t>TedTalk</a:t>
            </a:r>
            <a:r>
              <a:rPr lang="en-CA" dirty="0">
                <a:solidFill>
                  <a:schemeClr val="bg1"/>
                </a:solidFill>
              </a:rPr>
              <a:t> Length: 4.36 minutes</a:t>
            </a:r>
          </a:p>
          <a:p>
            <a:r>
              <a:rPr lang="en-US" dirty="0">
                <a:solidFill>
                  <a:schemeClr val="bg1"/>
                </a:solidFill>
                <a:hlinkClick r:id="rId2">
                  <a:extLst>
                    <a:ext uri="{A12FA001-AC4F-418D-AE19-62706E023703}">
                      <ahyp:hlinkClr xmlns:ahyp="http://schemas.microsoft.com/office/drawing/2018/hyperlinkcolor" val="tx"/>
                    </a:ext>
                  </a:extLst>
                </a:hlinkClick>
              </a:rPr>
              <a:t>https://www.youtube.com/watch?v=gWmRkYsLzB4</a:t>
            </a:r>
            <a:br>
              <a:rPr lang="en-US" dirty="0">
                <a:solidFill>
                  <a:schemeClr val="bg1"/>
                </a:solidFill>
              </a:rPr>
            </a:br>
            <a:endParaRPr lang="en-US" dirty="0">
              <a:solidFill>
                <a:schemeClr val="bg1"/>
              </a:solidFill>
            </a:endParaRPr>
          </a:p>
          <a:p>
            <a:r>
              <a:rPr lang="en-US" b="1" dirty="0">
                <a:solidFill>
                  <a:srgbClr val="FFFF00"/>
                </a:solidFill>
              </a:rPr>
              <a:t>ADDITIONAL LEARNING: </a:t>
            </a:r>
            <a:r>
              <a:rPr lang="en-US" dirty="0">
                <a:solidFill>
                  <a:schemeClr val="bg1"/>
                </a:solidFill>
              </a:rPr>
              <a:t>Is your Job Safe? – The Economist</a:t>
            </a:r>
          </a:p>
          <a:p>
            <a:r>
              <a:rPr lang="en-US" dirty="0">
                <a:solidFill>
                  <a:schemeClr val="bg1"/>
                </a:solidFill>
                <a:hlinkClick r:id="rId3">
                  <a:extLst>
                    <a:ext uri="{A12FA001-AC4F-418D-AE19-62706E023703}">
                      <ahyp:hlinkClr xmlns:ahyp="http://schemas.microsoft.com/office/drawing/2018/hyperlinkcolor" val="tx"/>
                    </a:ext>
                  </a:extLst>
                </a:hlinkClick>
              </a:rPr>
              <a:t>https://www.youtube.com/watch?v=gUc5oN_ffRo</a:t>
            </a:r>
            <a:endParaRPr lang="en-US" dirty="0">
              <a:solidFill>
                <a:schemeClr val="bg1"/>
              </a:solidFill>
            </a:endParaRPr>
          </a:p>
          <a:p>
            <a:r>
              <a:rPr lang="en-CA" dirty="0">
                <a:solidFill>
                  <a:schemeClr val="bg1"/>
                </a:solidFill>
              </a:rPr>
              <a:t>Kai-Fu Lee is China's most famous venture capitalist, the former CEO of Google China, and one of the leading voices on the possibilities of AI. And he thinks AI might make global inequality worse over the next 50 years. View: </a:t>
            </a:r>
            <a:r>
              <a:rPr lang="en-CA" b="1" dirty="0">
                <a:solidFill>
                  <a:schemeClr val="bg1"/>
                </a:solidFill>
              </a:rPr>
              <a:t>Source: </a:t>
            </a:r>
            <a:r>
              <a:rPr lang="en-CA" dirty="0">
                <a:solidFill>
                  <a:schemeClr val="bg1"/>
                </a:solidFill>
              </a:rPr>
              <a:t>YouTube: https://</a:t>
            </a:r>
            <a:r>
              <a:rPr lang="en-CA" dirty="0" err="1">
                <a:solidFill>
                  <a:schemeClr val="bg1"/>
                </a:solidFill>
              </a:rPr>
              <a:t>www.youtube.com</a:t>
            </a:r>
            <a:r>
              <a:rPr lang="en-CA" dirty="0">
                <a:solidFill>
                  <a:schemeClr val="bg1"/>
                </a:solidFill>
              </a:rPr>
              <a:t>/</a:t>
            </a:r>
            <a:r>
              <a:rPr lang="en-CA" dirty="0" err="1">
                <a:solidFill>
                  <a:schemeClr val="bg1"/>
                </a:solidFill>
              </a:rPr>
              <a:t>watch?v</a:t>
            </a:r>
            <a:r>
              <a:rPr lang="en-CA" dirty="0">
                <a:solidFill>
                  <a:schemeClr val="bg1"/>
                </a:solidFill>
              </a:rPr>
              <a:t>=ycjO2CDduGM&amp;feature=</a:t>
            </a:r>
            <a:r>
              <a:rPr lang="en-CA" dirty="0" err="1">
                <a:solidFill>
                  <a:schemeClr val="bg1"/>
                </a:solidFill>
              </a:rPr>
              <a:t>emb_logo</a:t>
            </a:r>
            <a:endParaRPr lang="en-US" b="1" u="sng" dirty="0">
              <a:solidFill>
                <a:schemeClr val="bg1"/>
              </a:solidFill>
            </a:endParaRPr>
          </a:p>
          <a:p>
            <a:endParaRPr lang="en-US" b="1" u="sng" dirty="0">
              <a:solidFill>
                <a:srgbClr val="FFFF00"/>
              </a:solidFill>
            </a:endParaRPr>
          </a:p>
          <a:p>
            <a:r>
              <a:rPr lang="en-US" b="1" u="sng" dirty="0">
                <a:solidFill>
                  <a:srgbClr val="FFFF00"/>
                </a:solidFill>
              </a:rPr>
              <a:t>LEARNING OUTCOME:</a:t>
            </a:r>
          </a:p>
          <a:p>
            <a:r>
              <a:rPr lang="en-US" dirty="0">
                <a:solidFill>
                  <a:schemeClr val="bg1"/>
                </a:solidFill>
              </a:rPr>
              <a:t>Increased knowledge of the ethical risks of humans losing jobs due to AI, Robotic Enhancements as well as Superpower AI dynamics between USA and China.</a:t>
            </a:r>
          </a:p>
          <a:p>
            <a:endParaRPr lang="en-US" dirty="0">
              <a:solidFill>
                <a:schemeClr val="bg1"/>
              </a:solidFill>
            </a:endParaRPr>
          </a:p>
          <a:p>
            <a:endParaRPr lang="en-US" dirty="0">
              <a:solidFill>
                <a:schemeClr val="bg1"/>
              </a:solidFill>
            </a:endParaRPr>
          </a:p>
        </p:txBody>
      </p:sp>
      <p:pic>
        <p:nvPicPr>
          <p:cNvPr id="9" name="Picture 8">
            <a:extLst>
              <a:ext uri="{FF2B5EF4-FFF2-40B4-BE49-F238E27FC236}">
                <a16:creationId xmlns:a16="http://schemas.microsoft.com/office/drawing/2014/main" id="{202CEAE6-D004-1444-A4BB-5E295D2FE32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854" y="170393"/>
            <a:ext cx="794084" cy="794084"/>
          </a:xfrm>
          <a:prstGeom prst="rect">
            <a:avLst/>
          </a:prstGeom>
        </p:spPr>
      </p:pic>
    </p:spTree>
    <p:extLst>
      <p:ext uri="{BB962C8B-B14F-4D97-AF65-F5344CB8AC3E}">
        <p14:creationId xmlns:p14="http://schemas.microsoft.com/office/powerpoint/2010/main" val="604865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DB20DD6-A73E-A649-8C3F-4AB01A391A35}"/>
              </a:ext>
            </a:extLst>
          </p:cNvPr>
          <p:cNvSpPr/>
          <p:nvPr/>
        </p:nvSpPr>
        <p:spPr>
          <a:xfrm>
            <a:off x="873938" y="0"/>
            <a:ext cx="10559719" cy="1323439"/>
          </a:xfrm>
          <a:prstGeom prst="rect">
            <a:avLst/>
          </a:prstGeom>
        </p:spPr>
        <p:txBody>
          <a:bodyPr wrap="square">
            <a:spAutoFit/>
          </a:bodyPr>
          <a:lstStyle/>
          <a:p>
            <a:pPr algn="ctr"/>
            <a:r>
              <a:rPr lang="en-US" sz="4400" b="1">
                <a:solidFill>
                  <a:srgbClr val="FFFF00"/>
                </a:solidFill>
              </a:rPr>
              <a:t>LAB EXERCISE 22:</a:t>
            </a:r>
          </a:p>
          <a:p>
            <a:pPr algn="ctr"/>
            <a:r>
              <a:rPr lang="en-US" sz="3600" b="1">
                <a:solidFill>
                  <a:srgbClr val="FFFF00"/>
                </a:solidFill>
              </a:rPr>
              <a:t>WHEN INFORMATION BECOMES A WEAPON</a:t>
            </a:r>
          </a:p>
        </p:txBody>
      </p:sp>
      <p:sp>
        <p:nvSpPr>
          <p:cNvPr id="5" name="TextBox 4">
            <a:extLst>
              <a:ext uri="{FF2B5EF4-FFF2-40B4-BE49-F238E27FC236}">
                <a16:creationId xmlns:a16="http://schemas.microsoft.com/office/drawing/2014/main" id="{56CA2C4C-FA59-924A-A7B3-0BD8B37CCE20}"/>
              </a:ext>
            </a:extLst>
          </p:cNvPr>
          <p:cNvSpPr txBox="1"/>
          <p:nvPr/>
        </p:nvSpPr>
        <p:spPr>
          <a:xfrm>
            <a:off x="348914" y="1331288"/>
            <a:ext cx="10852485" cy="5632311"/>
          </a:xfrm>
          <a:prstGeom prst="rect">
            <a:avLst/>
          </a:prstGeom>
          <a:noFill/>
        </p:spPr>
        <p:txBody>
          <a:bodyPr wrap="square" rtlCol="0">
            <a:spAutoFit/>
          </a:bodyPr>
          <a:lstStyle/>
          <a:p>
            <a:r>
              <a:rPr lang="en-US" sz="2000" b="1">
                <a:solidFill>
                  <a:srgbClr val="FFFF00"/>
                </a:solidFill>
              </a:rPr>
              <a:t>Instructions</a:t>
            </a:r>
          </a:p>
          <a:p>
            <a:r>
              <a:rPr lang="en-US" sz="2000">
                <a:solidFill>
                  <a:schemeClr val="bg1"/>
                </a:solidFill>
              </a:rPr>
              <a:t>Watch this video from Stanford University with experts on digital technology and impacts on Democracy. Video Production produced by Stanford (Global Digital Policy Incubator)</a:t>
            </a:r>
          </a:p>
          <a:p>
            <a:endParaRPr lang="en-US" sz="2000">
              <a:solidFill>
                <a:schemeClr val="bg1"/>
              </a:solidFill>
            </a:endParaRPr>
          </a:p>
          <a:p>
            <a:r>
              <a:rPr lang="en-US" sz="2000" b="1">
                <a:solidFill>
                  <a:srgbClr val="FFFF00"/>
                </a:solidFill>
              </a:rPr>
              <a:t>Source: Video Length 1 hr. 30 min.</a:t>
            </a:r>
          </a:p>
          <a:p>
            <a:r>
              <a:rPr lang="en-US" sz="2000">
                <a:solidFill>
                  <a:schemeClr val="bg1"/>
                </a:solidFill>
              </a:rPr>
              <a:t>https://www.youtube.com/watch?v=bAB6s3a3cUY</a:t>
            </a:r>
          </a:p>
          <a:p>
            <a:endParaRPr lang="en-US" sz="2000">
              <a:solidFill>
                <a:schemeClr val="bg1"/>
              </a:solidFill>
            </a:endParaRPr>
          </a:p>
          <a:p>
            <a:r>
              <a:rPr lang="en-US" sz="2000" b="1">
                <a:solidFill>
                  <a:srgbClr val="FFFF00"/>
                </a:solidFill>
              </a:rPr>
              <a:t>Questions: </a:t>
            </a:r>
            <a:br>
              <a:rPr lang="en-US" sz="2000">
                <a:solidFill>
                  <a:schemeClr val="bg1"/>
                </a:solidFill>
              </a:rPr>
            </a:br>
            <a:r>
              <a:rPr lang="en-US" sz="2000">
                <a:solidFill>
                  <a:schemeClr val="bg1"/>
                </a:solidFill>
              </a:rPr>
              <a:t>1. What are the risks of Big Data Capture on Every Move you make?</a:t>
            </a:r>
          </a:p>
          <a:p>
            <a:r>
              <a:rPr lang="en-US" sz="2000">
                <a:solidFill>
                  <a:schemeClr val="bg1"/>
                </a:solidFill>
              </a:rPr>
              <a:t>2. Why Digital Capture – information becomes a weapon – can impact election outcomes, propensity to purchase more, create habits, create fake news, etc. – and why Ethics are important to guide leaders decision making practices?</a:t>
            </a:r>
          </a:p>
          <a:p>
            <a:endParaRPr lang="en-US" sz="2000">
              <a:solidFill>
                <a:schemeClr val="bg1"/>
              </a:solidFill>
            </a:endParaRPr>
          </a:p>
          <a:p>
            <a:r>
              <a:rPr lang="en-US" sz="2000" b="1">
                <a:solidFill>
                  <a:srgbClr val="FFFF00"/>
                </a:solidFill>
              </a:rPr>
              <a:t>Learning Outcome: </a:t>
            </a:r>
          </a:p>
          <a:p>
            <a:r>
              <a:rPr lang="en-US" sz="2000">
                <a:solidFill>
                  <a:schemeClr val="bg1"/>
                </a:solidFill>
              </a:rPr>
              <a:t>Appreciate the international complexities in diverse practices for privacy, security and ensuring Explainable Transparent AI practices</a:t>
            </a:r>
          </a:p>
          <a:p>
            <a:endParaRPr lang="en-US" sz="2000">
              <a:solidFill>
                <a:schemeClr val="bg1"/>
              </a:solidFill>
            </a:endParaRPr>
          </a:p>
          <a:p>
            <a:endParaRPr lang="en-US" sz="2000">
              <a:solidFill>
                <a:schemeClr val="bg1"/>
              </a:solidFill>
            </a:endParaRPr>
          </a:p>
        </p:txBody>
      </p:sp>
      <p:sp>
        <p:nvSpPr>
          <p:cNvPr id="6" name="Slide Number Placeholder 4">
            <a:extLst>
              <a:ext uri="{FF2B5EF4-FFF2-40B4-BE49-F238E27FC236}">
                <a16:creationId xmlns:a16="http://schemas.microsoft.com/office/drawing/2014/main" id="{634B5665-FD5B-C74B-9817-451D9F8DEB8C}"/>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41</a:t>
            </a:fld>
            <a:endParaRPr lang="en-US" sz="1400">
              <a:solidFill>
                <a:schemeClr val="bg1"/>
              </a:solidFill>
            </a:endParaRPr>
          </a:p>
        </p:txBody>
      </p:sp>
      <p:pic>
        <p:nvPicPr>
          <p:cNvPr id="8" name="Picture 7">
            <a:extLst>
              <a:ext uri="{FF2B5EF4-FFF2-40B4-BE49-F238E27FC236}">
                <a16:creationId xmlns:a16="http://schemas.microsoft.com/office/drawing/2014/main" id="{76E553D5-AB17-2748-8667-DDCD1DE57F6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9854" y="170393"/>
            <a:ext cx="794084" cy="794084"/>
          </a:xfrm>
          <a:prstGeom prst="rect">
            <a:avLst/>
          </a:prstGeom>
        </p:spPr>
      </p:pic>
    </p:spTree>
    <p:extLst>
      <p:ext uri="{BB962C8B-B14F-4D97-AF65-F5344CB8AC3E}">
        <p14:creationId xmlns:p14="http://schemas.microsoft.com/office/powerpoint/2010/main" val="1708401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667A2-E6A2-A647-9330-588496865266}"/>
              </a:ext>
            </a:extLst>
          </p:cNvPr>
          <p:cNvSpPr txBox="1"/>
          <p:nvPr/>
        </p:nvSpPr>
        <p:spPr>
          <a:xfrm>
            <a:off x="584029" y="94022"/>
            <a:ext cx="11158935" cy="738664"/>
          </a:xfrm>
          <a:prstGeom prst="rect">
            <a:avLst/>
          </a:prstGeom>
          <a:noFill/>
        </p:spPr>
        <p:txBody>
          <a:bodyPr wrap="square" rtlCol="0">
            <a:spAutoFit/>
          </a:bodyPr>
          <a:lstStyle/>
          <a:p>
            <a:pPr algn="ctr"/>
            <a:r>
              <a:rPr lang="en-US" sz="4200">
                <a:solidFill>
                  <a:prstClr val="white"/>
                </a:solidFill>
                <a:latin typeface="Perpetua Titling MT Light" charset="0"/>
              </a:rPr>
              <a:t>WEEK TWO –WHAT YOU HAVE LEARNED</a:t>
            </a:r>
          </a:p>
        </p:txBody>
      </p:sp>
      <p:sp>
        <p:nvSpPr>
          <p:cNvPr id="3" name="TextBox 2">
            <a:extLst>
              <a:ext uri="{FF2B5EF4-FFF2-40B4-BE49-F238E27FC236}">
                <a16:creationId xmlns:a16="http://schemas.microsoft.com/office/drawing/2014/main" id="{93B68377-9ADD-1249-A7F7-0B2FB85E2E6B}"/>
              </a:ext>
            </a:extLst>
          </p:cNvPr>
          <p:cNvSpPr txBox="1"/>
          <p:nvPr/>
        </p:nvSpPr>
        <p:spPr>
          <a:xfrm>
            <a:off x="842210" y="1653006"/>
            <a:ext cx="11044989" cy="1477328"/>
          </a:xfrm>
          <a:prstGeom prst="rect">
            <a:avLst/>
          </a:prstGeom>
          <a:noFill/>
        </p:spPr>
        <p:txBody>
          <a:bodyPr wrap="square" rtlCol="0">
            <a:spAutoFit/>
          </a:bodyPr>
          <a:lstStyle/>
          <a:p>
            <a:pPr marL="457200" lvl="0" indent="-457200">
              <a:buFont typeface="Arial" panose="020B0604020202020204" pitchFamily="34" charset="0"/>
              <a:buChar char="•"/>
            </a:pPr>
            <a:r>
              <a:rPr lang="en-US" sz="3000" b="1">
                <a:solidFill>
                  <a:schemeClr val="bg1"/>
                </a:solidFill>
              </a:rPr>
              <a:t>Section 1.0 </a:t>
            </a:r>
            <a:r>
              <a:rPr lang="en-US" sz="3000">
                <a:solidFill>
                  <a:schemeClr val="bg1"/>
                </a:solidFill>
              </a:rPr>
              <a:t>– Overview of Accountability, Explainability and Privacy</a:t>
            </a:r>
          </a:p>
          <a:p>
            <a:pPr marL="457200" lvl="0" indent="-457200">
              <a:buFont typeface="Arial" panose="020B0604020202020204" pitchFamily="34" charset="0"/>
              <a:buChar char="•"/>
            </a:pPr>
            <a:r>
              <a:rPr lang="en-US" sz="3000" b="1">
                <a:solidFill>
                  <a:schemeClr val="bg1"/>
                </a:solidFill>
              </a:rPr>
              <a:t>Section 2.0 </a:t>
            </a:r>
            <a:r>
              <a:rPr lang="en-US" sz="3000">
                <a:solidFill>
                  <a:schemeClr val="bg1"/>
                </a:solidFill>
              </a:rPr>
              <a:t>- International Perspectives of AI</a:t>
            </a:r>
          </a:p>
          <a:p>
            <a:pPr marL="457200" lvl="0" indent="-457200">
              <a:buFont typeface="Arial" panose="020B0604020202020204" pitchFamily="34" charset="0"/>
              <a:buChar char="•"/>
            </a:pPr>
            <a:r>
              <a:rPr lang="en-US" sz="3000" b="1">
                <a:solidFill>
                  <a:schemeClr val="bg1"/>
                </a:solidFill>
              </a:rPr>
              <a:t>Section 3.0 </a:t>
            </a:r>
            <a:r>
              <a:rPr lang="en-US" sz="3000">
                <a:solidFill>
                  <a:schemeClr val="bg1"/>
                </a:solidFill>
              </a:rPr>
              <a:t>– AI Caselets and Discussion</a:t>
            </a:r>
          </a:p>
        </p:txBody>
      </p:sp>
      <p:sp>
        <p:nvSpPr>
          <p:cNvPr id="4" name="Rectangle 3">
            <a:extLst>
              <a:ext uri="{FF2B5EF4-FFF2-40B4-BE49-F238E27FC236}">
                <a16:creationId xmlns:a16="http://schemas.microsoft.com/office/drawing/2014/main" id="{06AF6494-92BD-C246-961F-EF2A43049FF6}"/>
              </a:ext>
            </a:extLst>
          </p:cNvPr>
          <p:cNvSpPr/>
          <p:nvPr/>
        </p:nvSpPr>
        <p:spPr bwMode="auto">
          <a:xfrm>
            <a:off x="5366100" y="797745"/>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pic>
        <p:nvPicPr>
          <p:cNvPr id="5" name="Picture 4">
            <a:extLst>
              <a:ext uri="{FF2B5EF4-FFF2-40B4-BE49-F238E27FC236}">
                <a16:creationId xmlns:a16="http://schemas.microsoft.com/office/drawing/2014/main" id="{3E75F57A-9238-774D-A5D8-32FF9532B2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8594" y="4661485"/>
            <a:ext cx="1284705" cy="1284705"/>
          </a:xfrm>
          <a:prstGeom prst="rect">
            <a:avLst/>
          </a:prstGeom>
        </p:spPr>
      </p:pic>
      <p:sp>
        <p:nvSpPr>
          <p:cNvPr id="6" name="TextBox 5">
            <a:extLst>
              <a:ext uri="{FF2B5EF4-FFF2-40B4-BE49-F238E27FC236}">
                <a16:creationId xmlns:a16="http://schemas.microsoft.com/office/drawing/2014/main" id="{CB5CB417-2CD7-B145-8B31-710A8E0E5FF0}"/>
              </a:ext>
            </a:extLst>
          </p:cNvPr>
          <p:cNvSpPr txBox="1"/>
          <p:nvPr/>
        </p:nvSpPr>
        <p:spPr>
          <a:xfrm>
            <a:off x="2461795" y="5022860"/>
            <a:ext cx="9321800" cy="923330"/>
          </a:xfrm>
          <a:prstGeom prst="rect">
            <a:avLst/>
          </a:prstGeom>
          <a:noFill/>
        </p:spPr>
        <p:txBody>
          <a:bodyPr wrap="square" rtlCol="0">
            <a:spAutoFit/>
          </a:bodyPr>
          <a:lstStyle/>
          <a:p>
            <a:r>
              <a:rPr lang="en-US">
                <a:solidFill>
                  <a:schemeClr val="bg1"/>
                </a:solidFill>
              </a:rPr>
              <a:t>= NOTE: Every time you see this learning image, there is an exercise, either in a group or self – learning mode. Some of these may be  optional , while others are recommended, or mandatory. Read closely the instructions, and we recommend you complete all the learning sources provided.</a:t>
            </a:r>
          </a:p>
        </p:txBody>
      </p:sp>
      <p:sp>
        <p:nvSpPr>
          <p:cNvPr id="7" name="Slide Number Placeholder 4">
            <a:extLst>
              <a:ext uri="{FF2B5EF4-FFF2-40B4-BE49-F238E27FC236}">
                <a16:creationId xmlns:a16="http://schemas.microsoft.com/office/drawing/2014/main" id="{E3BC915A-19D2-E64C-A1D9-CDAE86F61B3E}"/>
              </a:ext>
            </a:extLst>
          </p:cNvPr>
          <p:cNvSpPr txBox="1">
            <a:spLocks/>
          </p:cNvSpPr>
          <p:nvPr/>
        </p:nvSpPr>
        <p:spPr>
          <a:xfrm>
            <a:off x="11742964"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42</a:t>
            </a:fld>
            <a:endParaRPr lang="en-US" sz="1400">
              <a:solidFill>
                <a:schemeClr val="bg1"/>
              </a:solidFill>
            </a:endParaRPr>
          </a:p>
        </p:txBody>
      </p:sp>
    </p:spTree>
    <p:extLst>
      <p:ext uri="{BB962C8B-B14F-4D97-AF65-F5344CB8AC3E}">
        <p14:creationId xmlns:p14="http://schemas.microsoft.com/office/powerpoint/2010/main" val="3685772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E055-A182-674C-BF44-43A3448B1A6A}"/>
              </a:ext>
            </a:extLst>
          </p:cNvPr>
          <p:cNvSpPr txBox="1">
            <a:spLocks/>
          </p:cNvSpPr>
          <p:nvPr/>
        </p:nvSpPr>
        <p:spPr>
          <a:xfrm>
            <a:off x="0" y="176430"/>
            <a:ext cx="12192000"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0">
                <a:solidFill>
                  <a:prstClr val="white"/>
                </a:solidFill>
                <a:latin typeface="Perpetua Titling MT Light" charset="0"/>
                <a:ea typeface="Perpetua Titling MT Light" charset="0"/>
                <a:cs typeface="Perpetua Titling MT Light" charset="0"/>
              </a:rPr>
              <a:t>Dr. Cindy Gordon</a:t>
            </a:r>
          </a:p>
        </p:txBody>
      </p:sp>
      <p:sp>
        <p:nvSpPr>
          <p:cNvPr id="3" name="Rectangle 2">
            <a:extLst>
              <a:ext uri="{FF2B5EF4-FFF2-40B4-BE49-F238E27FC236}">
                <a16:creationId xmlns:a16="http://schemas.microsoft.com/office/drawing/2014/main" id="{6EA27D24-5783-0146-BFFB-0585B901DD3A}"/>
              </a:ext>
            </a:extLst>
          </p:cNvPr>
          <p:cNvSpPr/>
          <p:nvPr/>
        </p:nvSpPr>
        <p:spPr>
          <a:xfrm>
            <a:off x="3649016" y="1571748"/>
            <a:ext cx="8140701" cy="5078313"/>
          </a:xfrm>
          <a:prstGeom prst="rect">
            <a:avLst/>
          </a:prstGeom>
        </p:spPr>
        <p:txBody>
          <a:bodyPr wrap="square">
            <a:spAutoFit/>
          </a:bodyPr>
          <a:lstStyle/>
          <a:p>
            <a:pPr>
              <a:spcAft>
                <a:spcPts val="0"/>
              </a:spcAft>
            </a:pPr>
            <a:r>
              <a:rPr lang="en-US">
                <a:solidFill>
                  <a:schemeClr val="bg1"/>
                </a:solidFill>
                <a:latin typeface="+mj-lt"/>
                <a:ea typeface="Calibri" panose="020F0502020204030204" pitchFamily="34" charset="0"/>
                <a:cs typeface="Times New Roman" panose="02020603050405020304" pitchFamily="18" charset="0"/>
              </a:rPr>
              <a:t>Dr. Cindy Gordon, CEO of SalesChoice Inc, (www.SalesChoice.com) an award-winning AI SaaS Company, specializing in using AI for financial performance improvements in revenue forecasting, mitigating risks in inflated forecasts, and improving resource utilization and cost efficiencies, using AI to bring CEO’s, CFO’s, CRO’s a greater peace of mind. SalesChoice offers a full solutioning and educational offer to help advance organization’s adoption of AI Solutions. Dr. Gordon is a Forbes Business School and Technology Strategy AI Advisor, a Forbes AI Thought Leader, and an AI Forum Board Advisor. She is well published author of over 13 books, and her 14th book: The AI Split: The Perfect World or The Perfect Storm will be released in Spring 2021. She is Chair, and Co-Founder of the AI Directory Hub, an international Hub bringing business, and AI technology leaders together to advance their innovation needs. She is also a Board Advisor for CATA, Canada’s largest Technology Association, and a National Spokesperson for women in STEM. She also is passionate about Sustainability and the Environment, and is a former Board Director of RSI. Prior to Founding SalesChoice, Dr. Gordon was the Founder of Helix Commerce International Inc, an Innovation firm, a Venture Capitalist, a Partner with Accenture, a Senior Director and GM of Xerox and Vice President of Citicorp. She can be contacted at </a:t>
            </a:r>
            <a:r>
              <a:rPr lang="en-US">
                <a:solidFill>
                  <a:schemeClr val="bg1"/>
                </a:solidFill>
                <a:latin typeface="+mj-lt"/>
                <a:ea typeface="Calibri" panose="020F0502020204030204" pitchFamily="34" charset="0"/>
                <a:cs typeface="Times New Roman" panose="02020603050405020304" pitchFamily="18" charset="0"/>
                <a:hlinkClick r:id="rId2"/>
              </a:rPr>
              <a:t>cindy@saleschoice.com</a:t>
            </a:r>
            <a:r>
              <a:rPr lang="en-US">
                <a:solidFill>
                  <a:schemeClr val="bg1"/>
                </a:solidFill>
                <a:latin typeface="+mj-lt"/>
                <a:ea typeface="Calibri" panose="020F0502020204030204" pitchFamily="34" charset="0"/>
                <a:cs typeface="Times New Roman" panose="02020603050405020304" pitchFamily="18" charset="0"/>
              </a:rPr>
              <a:t>. She can also be reached on her cell at (416)230-6538)</a:t>
            </a:r>
            <a:endParaRPr lang="en-CA">
              <a:solidFill>
                <a:schemeClr val="bg1"/>
              </a:solidFill>
              <a:latin typeface="+mj-l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BEBF7F7-0E47-B74E-B96C-E53D2E2C4F93}"/>
              </a:ext>
            </a:extLst>
          </p:cNvPr>
          <p:cNvPicPr>
            <a:picLocks noChangeAspect="1"/>
          </p:cNvPicPr>
          <p:nvPr/>
        </p:nvPicPr>
        <p:blipFill>
          <a:blip r:embed="rId3"/>
          <a:stretch>
            <a:fillRect/>
          </a:stretch>
        </p:blipFill>
        <p:spPr>
          <a:xfrm>
            <a:off x="0" y="1571748"/>
            <a:ext cx="3649016" cy="1996952"/>
          </a:xfrm>
          <a:prstGeom prst="rect">
            <a:avLst/>
          </a:prstGeom>
        </p:spPr>
      </p:pic>
      <p:sp>
        <p:nvSpPr>
          <p:cNvPr id="5" name="Slide Number Placeholder 4">
            <a:extLst>
              <a:ext uri="{FF2B5EF4-FFF2-40B4-BE49-F238E27FC236}">
                <a16:creationId xmlns:a16="http://schemas.microsoft.com/office/drawing/2014/main" id="{236A358D-AF98-1E4C-9780-9F97D0D145CF}"/>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43</a:t>
            </a:fld>
            <a:endParaRPr lang="en-US" sz="1400">
              <a:solidFill>
                <a:schemeClr val="bg1"/>
              </a:solidFill>
            </a:endParaRPr>
          </a:p>
        </p:txBody>
      </p:sp>
    </p:spTree>
    <p:extLst>
      <p:ext uri="{BB962C8B-B14F-4D97-AF65-F5344CB8AC3E}">
        <p14:creationId xmlns:p14="http://schemas.microsoft.com/office/powerpoint/2010/main" val="3336064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
            <a:extLst>
              <a:ext uri="{FF2B5EF4-FFF2-40B4-BE49-F238E27FC236}">
                <a16:creationId xmlns:a16="http://schemas.microsoft.com/office/drawing/2014/main" id="{B3D9F9A8-38D8-42DD-A6CE-4014A59B3134}"/>
              </a:ext>
            </a:extLst>
          </p:cNvPr>
          <p:cNvSpPr>
            <a:spLocks noGrp="1"/>
          </p:cNvSpPr>
          <p:nvPr>
            <p:ph type="sldNum" sz="quarter" idx="12"/>
          </p:nvPr>
        </p:nvSpPr>
        <p:spPr>
          <a:xfrm>
            <a:off x="11594441" y="6434135"/>
            <a:ext cx="500921" cy="365125"/>
          </a:xfrm>
        </p:spPr>
        <p:txBody>
          <a:bodyPr/>
          <a:lstStyle/>
          <a:p>
            <a:fld id="{06EFA79E-D63B-49E3-825C-1CADDB72B0D1}" type="slidenum">
              <a:rPr lang="en-US" smtClean="0">
                <a:solidFill>
                  <a:prstClr val="black">
                    <a:tint val="75000"/>
                  </a:prstClr>
                </a:solidFill>
              </a:rPr>
              <a:pPr/>
              <a:t>44</a:t>
            </a:fld>
            <a:endParaRPr lang="en-US">
              <a:solidFill>
                <a:prstClr val="black">
                  <a:tint val="75000"/>
                </a:prstClr>
              </a:solidFill>
            </a:endParaRPr>
          </a:p>
        </p:txBody>
      </p:sp>
      <p:sp>
        <p:nvSpPr>
          <p:cNvPr id="28" name="Title 1"/>
          <p:cNvSpPr txBox="1">
            <a:spLocks/>
          </p:cNvSpPr>
          <p:nvPr/>
        </p:nvSpPr>
        <p:spPr>
          <a:xfrm>
            <a:off x="-96638" y="2773856"/>
            <a:ext cx="12192000" cy="768957"/>
          </a:xfrm>
          <a:prstGeom prst="rect">
            <a:avLst/>
          </a:prstGeom>
        </p:spPr>
        <p:txBody>
          <a:bodyPr vert="horz" lIns="91440" tIns="45720" rIns="91440" bIns="45720" rtlCol="0" anchor="ctr">
            <a:normAutofit/>
          </a:bodyPr>
          <a:lstStyle>
            <a:lvl1pPr algn="l" defTabSz="1645920" rtl="0" eaLnBrk="1" latinLnBrk="0" hangingPunct="1">
              <a:spcBef>
                <a:spcPct val="0"/>
              </a:spcBef>
              <a:buNone/>
              <a:defRPr sz="7200" b="1" kern="1200">
                <a:solidFill>
                  <a:srgbClr val="005600"/>
                </a:solidFill>
                <a:latin typeface="Calibri" panose="020F05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0">
                <a:solidFill>
                  <a:prstClr val="white"/>
                </a:solidFill>
                <a:latin typeface="Perpetua Titling MT Light" charset="0"/>
                <a:ea typeface="Perpetua Titling MT Light" charset="0"/>
                <a:cs typeface="Perpetua Titling MT Light" charset="0"/>
              </a:rPr>
              <a:t>Thank You</a:t>
            </a:r>
          </a:p>
        </p:txBody>
      </p:sp>
      <p:sp>
        <p:nvSpPr>
          <p:cNvPr id="29" name="Rectangle 28"/>
          <p:cNvSpPr/>
          <p:nvPr/>
        </p:nvSpPr>
        <p:spPr bwMode="auto">
          <a:xfrm>
            <a:off x="5269462" y="3497094"/>
            <a:ext cx="1194075" cy="45719"/>
          </a:xfrm>
          <a:prstGeom prst="rect">
            <a:avLst/>
          </a:prstGeom>
          <a:solidFill>
            <a:srgbClr val="9CCD4E"/>
          </a:solidFill>
          <a:ln w="6350" cap="flat" cmpd="sng" algn="ctr">
            <a:noFill/>
            <a:prstDash val="solid"/>
            <a:miter lim="800000"/>
          </a:ln>
          <a:effectLst/>
        </p:spPr>
        <p:txBody>
          <a:bodyPr lIns="91339" tIns="45672" rIns="91339" bIns="45672" anchor="ctr"/>
          <a:lstStyle/>
          <a:p>
            <a:pPr algn="ctr" defTabSz="1828434">
              <a:defRPr/>
            </a:pPr>
            <a:endParaRPr lang="en-US" sz="3600" kern="0">
              <a:solidFill>
                <a:srgbClr val="9BBB5C"/>
              </a:solidFill>
              <a:latin typeface="Open Sans Light"/>
            </a:endParaRPr>
          </a:p>
        </p:txBody>
      </p:sp>
      <p:sp>
        <p:nvSpPr>
          <p:cNvPr id="5" name="Slide Number Placeholder 4">
            <a:extLst>
              <a:ext uri="{FF2B5EF4-FFF2-40B4-BE49-F238E27FC236}">
                <a16:creationId xmlns:a16="http://schemas.microsoft.com/office/drawing/2014/main" id="{3D03645C-33BF-884D-80CF-61D1B426DBD3}"/>
              </a:ext>
            </a:extLst>
          </p:cNvPr>
          <p:cNvSpPr txBox="1">
            <a:spLocks/>
          </p:cNvSpPr>
          <p:nvPr/>
        </p:nvSpPr>
        <p:spPr>
          <a:xfrm>
            <a:off x="11715750" y="6506817"/>
            <a:ext cx="445540" cy="3511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CBDC3A-D49F-4631-A8C7-55D59B33E5FA}" type="slidenum">
              <a:rPr lang="en-US" sz="1400" smtClean="0">
                <a:solidFill>
                  <a:schemeClr val="bg1"/>
                </a:solidFill>
              </a:rPr>
              <a:pPr/>
              <a:t>44</a:t>
            </a:fld>
            <a:endParaRPr lang="en-US" sz="1400">
              <a:solidFill>
                <a:schemeClr val="bg1"/>
              </a:solidFill>
            </a:endParaRPr>
          </a:p>
        </p:txBody>
      </p:sp>
    </p:spTree>
    <p:extLst>
      <p:ext uri="{BB962C8B-B14F-4D97-AF65-F5344CB8AC3E}">
        <p14:creationId xmlns:p14="http://schemas.microsoft.com/office/powerpoint/2010/main" val="60991443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94156</TotalTime>
  <Words>5741</Words>
  <Application>Microsoft Macintosh PowerPoint</Application>
  <PresentationFormat>Widescreen</PresentationFormat>
  <Paragraphs>466</Paragraphs>
  <Slides>44</Slides>
  <Notes>10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44</vt:i4>
      </vt:variant>
    </vt:vector>
  </HeadingPairs>
  <TitlesOfParts>
    <vt:vector size="59" baseType="lpstr">
      <vt:lpstr>Arial</vt:lpstr>
      <vt:lpstr>Arial Black</vt:lpstr>
      <vt:lpstr>Calibri</vt:lpstr>
      <vt:lpstr>Calibri Light</vt:lpstr>
      <vt:lpstr>Garamond</vt:lpstr>
      <vt:lpstr>Gotham Medium</vt:lpstr>
      <vt:lpstr>Graphik</vt:lpstr>
      <vt:lpstr>Open Sans Light</vt:lpstr>
      <vt:lpstr>Perpetua Titling MT Light</vt:lpstr>
      <vt:lpstr>Roboto</vt:lpstr>
      <vt:lpstr>Roboto Light</vt:lpstr>
      <vt:lpstr>Times New Roman</vt:lpstr>
      <vt:lpstr>Wingdings</vt:lpstr>
      <vt:lpstr>Custom Design</vt:lpstr>
      <vt:lpstr>1_Office Theme</vt:lpstr>
      <vt:lpstr>PowerPoint Presentation</vt:lpstr>
      <vt:lpstr>PowerPoint Presentation</vt:lpstr>
      <vt:lpstr>PowerPoint Presentation</vt:lpstr>
      <vt:lpstr>PowerPoint Presentation</vt:lpstr>
      <vt:lpstr>PowerPoint Presentation</vt:lpstr>
      <vt:lpstr>AI ETHICS LEGAL Risk Zones</vt:lpstr>
      <vt:lpstr>AI ETHICS LEGAL Risk Zones</vt:lpstr>
      <vt:lpstr>AI ETHICS LEGAL Risk Zones</vt:lpstr>
      <vt:lpstr>AI ETHICS LEGAL Risk Zones</vt:lpstr>
      <vt:lpstr>ACCOUNTABILITY – BAD ACTORS</vt:lpstr>
      <vt:lpstr>LAB EXERCISE 16  AI ETHICS: AI Perspectives from Experts </vt:lpstr>
      <vt:lpstr>LAB EXERCISE 17   AI ETHICS: BAD ACTORS</vt:lpstr>
      <vt:lpstr>LAB EXERCISE 17 (Cont) AI ETHICS: BAD ACTORS</vt:lpstr>
      <vt:lpstr>AI ETHICS LEGAL Risk Zones</vt:lpstr>
      <vt:lpstr>AI ETHICS LEGAL Risk Zones</vt:lpstr>
      <vt:lpstr>EXPLAINABILITY</vt:lpstr>
      <vt:lpstr>AI ETHICS LEGAL Risk Zones</vt:lpstr>
      <vt:lpstr>AI ETHICS LEGAL Risk Zones</vt:lpstr>
      <vt:lpstr>AI ETHICS LEGAL Risk Zones</vt:lpstr>
      <vt:lpstr>PowerPoint Presentation</vt:lpstr>
      <vt:lpstr>PowerPoint Presentation</vt:lpstr>
      <vt:lpstr>EUROPE DATA PRIVACY PROTECTION</vt:lpstr>
      <vt:lpstr>PowerPoint Presentation</vt:lpstr>
      <vt:lpstr>PowerPoint Presentation</vt:lpstr>
      <vt:lpstr>GDPR LEARNING MATERIALS</vt:lpstr>
      <vt:lpstr>PowerPoint Presentation</vt:lpstr>
      <vt:lpstr>EUROPEAN UNION TRUSTWORTHY AI</vt:lpstr>
      <vt:lpstr>ETHICAL DATA PRIVACY FRAMEWORKS </vt:lpstr>
      <vt:lpstr>CHINA : ETHICAL PRINCIPLES</vt:lpstr>
      <vt:lpstr>PowerPoint Presentation</vt:lpstr>
      <vt:lpstr>PowerPoint Presentation</vt:lpstr>
      <vt:lpstr>PowerPoint Presentation</vt:lpstr>
      <vt:lpstr>PowerPoint Presentation</vt:lpstr>
      <vt:lpstr>PowerPoint Presentation</vt:lpstr>
      <vt:lpstr>CANADA RESPONSIBLE AI VISION</vt:lpstr>
      <vt:lpstr>PowerPoint Presentation</vt:lpstr>
      <vt:lpstr>8 ETHICAL QUESTIONS IN AI:</vt:lpstr>
      <vt:lpstr>PowerPoint Presentation</vt:lpstr>
      <vt:lpstr>HUMAN LOSS OF JOBS: ETHICAL RISKS</vt:lpstr>
      <vt:lpstr>LAB EXERCISE 21  HUMAN LOSS OF JOBS : ETHICAL RISKS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Mathur</dc:creator>
  <cp:lastModifiedBy>SalesChoice Inc</cp:lastModifiedBy>
  <cp:revision>888</cp:revision>
  <cp:lastPrinted>2021-11-27T20:13:33Z</cp:lastPrinted>
  <dcterms:created xsi:type="dcterms:W3CDTF">2016-11-01T14:50:08Z</dcterms:created>
  <dcterms:modified xsi:type="dcterms:W3CDTF">2024-08-08T21:35:17Z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3833130</vt:lpwstr>
  </property>
  <property fmtid="{D5CDD505-2E9C-101B-9397-08002B2CF9AE}" pid="3" name="NXPowerLiteSettings">
    <vt:lpwstr>C7000400038000</vt:lpwstr>
  </property>
  <property fmtid="{D5CDD505-2E9C-101B-9397-08002B2CF9AE}" pid="4" name="NXPowerLiteVersion">
    <vt:lpwstr>S8.2.0</vt:lpwstr>
  </property>
</Properties>
</file>