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78" r:id="rId2"/>
  </p:sldMasterIdLst>
  <p:notesMasterIdLst>
    <p:notesMasterId r:id="rId72"/>
  </p:notesMasterIdLst>
  <p:sldIdLst>
    <p:sldId id="316" r:id="rId3"/>
    <p:sldId id="1384" r:id="rId4"/>
    <p:sldId id="1385" r:id="rId5"/>
    <p:sldId id="1291" r:id="rId6"/>
    <p:sldId id="933" r:id="rId7"/>
    <p:sldId id="934" r:id="rId8"/>
    <p:sldId id="1232" r:id="rId9"/>
    <p:sldId id="1455" r:id="rId10"/>
    <p:sldId id="2076137312" r:id="rId11"/>
    <p:sldId id="2076137327" r:id="rId12"/>
    <p:sldId id="2076137342" r:id="rId13"/>
    <p:sldId id="1394" r:id="rId14"/>
    <p:sldId id="2076137309" r:id="rId15"/>
    <p:sldId id="2076137310" r:id="rId16"/>
    <p:sldId id="2076137311" r:id="rId17"/>
    <p:sldId id="1463" r:id="rId18"/>
    <p:sldId id="1456" r:id="rId19"/>
    <p:sldId id="1457" r:id="rId20"/>
    <p:sldId id="1408" r:id="rId21"/>
    <p:sldId id="1407" r:id="rId22"/>
    <p:sldId id="1409" r:id="rId23"/>
    <p:sldId id="1312" r:id="rId24"/>
    <p:sldId id="1265" r:id="rId25"/>
    <p:sldId id="1508" r:id="rId26"/>
    <p:sldId id="1296" r:id="rId27"/>
    <p:sldId id="1462" r:id="rId28"/>
    <p:sldId id="1326" r:id="rId29"/>
    <p:sldId id="1327" r:id="rId30"/>
    <p:sldId id="1388" r:id="rId31"/>
    <p:sldId id="1328" r:id="rId32"/>
    <p:sldId id="1329" r:id="rId33"/>
    <p:sldId id="1337" r:id="rId34"/>
    <p:sldId id="1336" r:id="rId35"/>
    <p:sldId id="1330" r:id="rId36"/>
    <p:sldId id="1389" r:id="rId37"/>
    <p:sldId id="1335" r:id="rId38"/>
    <p:sldId id="1333" r:id="rId39"/>
    <p:sldId id="1351" r:id="rId40"/>
    <p:sldId id="1334" r:id="rId41"/>
    <p:sldId id="1352" r:id="rId42"/>
    <p:sldId id="1387" r:id="rId43"/>
    <p:sldId id="1310" r:id="rId44"/>
    <p:sldId id="1221" r:id="rId45"/>
    <p:sldId id="2076137313" r:id="rId46"/>
    <p:sldId id="1499" r:id="rId47"/>
    <p:sldId id="1500" r:id="rId48"/>
    <p:sldId id="1501" r:id="rId49"/>
    <p:sldId id="1502" r:id="rId50"/>
    <p:sldId id="1503" r:id="rId51"/>
    <p:sldId id="1504" r:id="rId52"/>
    <p:sldId id="1397" r:id="rId53"/>
    <p:sldId id="1222" r:id="rId54"/>
    <p:sldId id="1313" r:id="rId55"/>
    <p:sldId id="1495" r:id="rId56"/>
    <p:sldId id="1496" r:id="rId57"/>
    <p:sldId id="1315" r:id="rId58"/>
    <p:sldId id="1498" r:id="rId59"/>
    <p:sldId id="1505" r:id="rId60"/>
    <p:sldId id="1506" r:id="rId61"/>
    <p:sldId id="1507" r:id="rId62"/>
    <p:sldId id="1311" r:id="rId63"/>
    <p:sldId id="1302" r:id="rId64"/>
    <p:sldId id="1303" r:id="rId65"/>
    <p:sldId id="1298" r:id="rId66"/>
    <p:sldId id="1300" r:id="rId67"/>
    <p:sldId id="1391" r:id="rId68"/>
    <p:sldId id="1390" r:id="rId69"/>
    <p:sldId id="1181" r:id="rId70"/>
    <p:sldId id="1359"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lesChoice Inc" initials="SI"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536A"/>
    <a:srgbClr val="89C542"/>
    <a:srgbClr val="74B8CB"/>
    <a:srgbClr val="E5F2FA"/>
    <a:srgbClr val="D8B0AE"/>
    <a:srgbClr val="1C8ECF"/>
    <a:srgbClr val="1C88AF"/>
    <a:srgbClr val="238BB2"/>
    <a:srgbClr val="F8A92A"/>
    <a:srgbClr val="9ACA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67" autoAdjust="0"/>
    <p:restoredTop sz="90937"/>
  </p:normalViewPr>
  <p:slideViewPr>
    <p:cSldViewPr snapToGrid="0">
      <p:cViewPr varScale="1">
        <p:scale>
          <a:sx n="97" d="100"/>
          <a:sy n="97" d="100"/>
        </p:scale>
        <p:origin x="776" y="200"/>
      </p:cViewPr>
      <p:guideLst/>
    </p:cSldViewPr>
  </p:slideViewPr>
  <p:notesTextViewPr>
    <p:cViewPr>
      <p:scale>
        <a:sx n="1" d="1"/>
        <a:sy n="1" d="1"/>
      </p:scale>
      <p:origin x="0" y="0"/>
    </p:cViewPr>
  </p:notesTextViewPr>
  <p:sorterViewPr>
    <p:cViewPr>
      <p:scale>
        <a:sx n="165" d="100"/>
        <a:sy n="165" d="100"/>
      </p:scale>
      <p:origin x="0" y="0"/>
    </p:cViewPr>
  </p:sorterViewPr>
  <p:notesViewPr>
    <p:cSldViewPr snapToGrid="0">
      <p:cViewPr varScale="1">
        <p:scale>
          <a:sx n="85" d="100"/>
          <a:sy n="85" d="100"/>
        </p:scale>
        <p:origin x="2448"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47DE4F-EBBC-4283-93B5-F8DCE9B8BCEE}" type="datetimeFigureOut">
              <a:rPr lang="en-US" smtClean="0"/>
              <a:t>11/19/22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3B0B70-2B7E-433D-AFDC-F809ACBE3646}" type="slidenum">
              <a:rPr lang="en-US" smtClean="0"/>
              <a:t>‹#›</a:t>
            </a:fld>
            <a:endParaRPr lang="en-US" dirty="0"/>
          </a:p>
        </p:txBody>
      </p:sp>
    </p:spTree>
    <p:extLst>
      <p:ext uri="{BB962C8B-B14F-4D97-AF65-F5344CB8AC3E}">
        <p14:creationId xmlns:p14="http://schemas.microsoft.com/office/powerpoint/2010/main" val="2002839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Core Message: </a:t>
            </a:r>
          </a:p>
          <a:p>
            <a:r>
              <a:rPr lang="de-DE" dirty="0"/>
              <a:t>AI Definition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2383479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42463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180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Core Message: </a:t>
            </a:r>
          </a:p>
          <a:p>
            <a:r>
              <a:rPr lang="de-DE" dirty="0"/>
              <a:t>AI Definition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2944394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Core Message: </a:t>
            </a:r>
          </a:p>
          <a:p>
            <a:r>
              <a:rPr lang="de-DE" dirty="0"/>
              <a:t>AI Definition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753552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Core Message: </a:t>
            </a:r>
          </a:p>
          <a:p>
            <a:r>
              <a:rPr lang="de-DE" dirty="0"/>
              <a:t>AI Definition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4219491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571372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1052943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Core Message: </a:t>
            </a:r>
          </a:p>
          <a:p>
            <a:r>
              <a:rPr lang="de-DE" dirty="0"/>
              <a:t>AI Definition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1119849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B0B70-2B7E-433D-AFDC-F809ACBE3646}" type="slidenum">
              <a:rPr lang="en-US" smtClean="0"/>
              <a:t>69</a:t>
            </a:fld>
            <a:endParaRPr lang="en-US" dirty="0"/>
          </a:p>
        </p:txBody>
      </p:sp>
    </p:spTree>
    <p:extLst>
      <p:ext uri="{BB962C8B-B14F-4D97-AF65-F5344CB8AC3E}">
        <p14:creationId xmlns:p14="http://schemas.microsoft.com/office/powerpoint/2010/main" val="3031911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3.jpeg"/><Relationship Id="rId5" Type="http://schemas.openxmlformats.org/officeDocument/2006/relationships/image" Target="../media/image2.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D6552E5-5BAD-BC41-AAFD-213B825E4C46}" type="datetimeFigureOut">
              <a:rPr lang="en-US" smtClean="0"/>
              <a:t>11/19/22</a:t>
            </a:fld>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6AC02AE7-29E2-1C4D-A897-820801CC4691}" type="slidenum">
              <a:rPr lang="en-US" smtClean="0"/>
              <a:t>‹#›</a:t>
            </a:fld>
            <a:endParaRPr lang="en-US" dirty="0"/>
          </a:p>
        </p:txBody>
      </p:sp>
    </p:spTree>
    <p:extLst>
      <p:ext uri="{BB962C8B-B14F-4D97-AF65-F5344CB8AC3E}">
        <p14:creationId xmlns:p14="http://schemas.microsoft.com/office/powerpoint/2010/main" val="206246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6552E5-5BAD-BC41-AAFD-213B825E4C46}" type="datetimeFigureOut">
              <a:rPr lang="en-US" smtClean="0"/>
              <a:t>11/19/22</a:t>
            </a:fld>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6AC02AE7-29E2-1C4D-A897-820801CC4691}" type="slidenum">
              <a:rPr lang="en-US" smtClean="0"/>
              <a:t>‹#›</a:t>
            </a:fld>
            <a:endParaRPr lang="en-US" dirty="0"/>
          </a:p>
        </p:txBody>
      </p:sp>
    </p:spTree>
    <p:extLst>
      <p:ext uri="{BB962C8B-B14F-4D97-AF65-F5344CB8AC3E}">
        <p14:creationId xmlns:p14="http://schemas.microsoft.com/office/powerpoint/2010/main" val="341663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6552E5-5BAD-BC41-AAFD-213B825E4C46}" type="datetimeFigureOut">
              <a:rPr lang="en-US" smtClean="0"/>
              <a:t>11/19/22</a:t>
            </a:fld>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6AC02AE7-29E2-1C4D-A897-820801CC4691}" type="slidenum">
              <a:rPr lang="en-US" smtClean="0"/>
              <a:t>‹#›</a:t>
            </a:fld>
            <a:endParaRPr lang="en-US" dirty="0"/>
          </a:p>
        </p:txBody>
      </p:sp>
    </p:spTree>
    <p:extLst>
      <p:ext uri="{BB962C8B-B14F-4D97-AF65-F5344CB8AC3E}">
        <p14:creationId xmlns:p14="http://schemas.microsoft.com/office/powerpoint/2010/main" val="2118067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6552E5-5BAD-BC41-AAFD-213B825E4C46}" type="datetimeFigureOut">
              <a:rPr lang="en-US" smtClean="0"/>
              <a:t>11/19/22</a:t>
            </a:fld>
            <a:endParaRPr lang="en-US" dirty="0"/>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6AC02AE7-29E2-1C4D-A897-820801CC4691}" type="slidenum">
              <a:rPr lang="en-US" smtClean="0"/>
              <a:t>‹#›</a:t>
            </a:fld>
            <a:endParaRPr lang="en-US" dirty="0"/>
          </a:p>
        </p:txBody>
      </p:sp>
    </p:spTree>
    <p:extLst>
      <p:ext uri="{BB962C8B-B14F-4D97-AF65-F5344CB8AC3E}">
        <p14:creationId xmlns:p14="http://schemas.microsoft.com/office/powerpoint/2010/main" val="1678094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6552E5-5BAD-BC41-AAFD-213B825E4C46}" type="datetimeFigureOut">
              <a:rPr lang="en-US" smtClean="0"/>
              <a:t>11/19/22</a:t>
            </a:fld>
            <a:endParaRPr lang="en-US" dirty="0"/>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p:cNvSpPr>
            <a:spLocks noGrp="1"/>
          </p:cNvSpPr>
          <p:nvPr>
            <p:ph type="sldNum" sz="quarter" idx="12"/>
          </p:nvPr>
        </p:nvSpPr>
        <p:spPr/>
        <p:txBody>
          <a:bodyPr/>
          <a:lstStyle/>
          <a:p>
            <a:fld id="{6AC02AE7-29E2-1C4D-A897-820801CC4691}" type="slidenum">
              <a:rPr lang="en-US" smtClean="0"/>
              <a:t>‹#›</a:t>
            </a:fld>
            <a:endParaRPr lang="en-US" dirty="0"/>
          </a:p>
        </p:txBody>
      </p:sp>
    </p:spTree>
    <p:extLst>
      <p:ext uri="{BB962C8B-B14F-4D97-AF65-F5344CB8AC3E}">
        <p14:creationId xmlns:p14="http://schemas.microsoft.com/office/powerpoint/2010/main" val="832500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6552E5-5BAD-BC41-AAFD-213B825E4C46}" type="datetimeFigureOut">
              <a:rPr lang="en-US" smtClean="0"/>
              <a:t>11/19/22</a:t>
            </a:fld>
            <a:endParaRPr lang="en-US" dirty="0"/>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6AC02AE7-29E2-1C4D-A897-820801CC4691}" type="slidenum">
              <a:rPr lang="en-US" smtClean="0"/>
              <a:t>‹#›</a:t>
            </a:fld>
            <a:endParaRPr lang="en-US" dirty="0"/>
          </a:p>
        </p:txBody>
      </p:sp>
    </p:spTree>
    <p:extLst>
      <p:ext uri="{BB962C8B-B14F-4D97-AF65-F5344CB8AC3E}">
        <p14:creationId xmlns:p14="http://schemas.microsoft.com/office/powerpoint/2010/main" val="975825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6552E5-5BAD-BC41-AAFD-213B825E4C46}" type="datetimeFigureOut">
              <a:rPr lang="en-US" smtClean="0"/>
              <a:t>11/19/22</a:t>
            </a:fld>
            <a:endParaRPr lang="en-US" dirty="0"/>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p:cNvSpPr>
            <a:spLocks noGrp="1"/>
          </p:cNvSpPr>
          <p:nvPr>
            <p:ph type="sldNum" sz="quarter" idx="12"/>
          </p:nvPr>
        </p:nvSpPr>
        <p:spPr/>
        <p:txBody>
          <a:bodyPr/>
          <a:lstStyle/>
          <a:p>
            <a:fld id="{6AC02AE7-29E2-1C4D-A897-820801CC4691}" type="slidenum">
              <a:rPr lang="en-US" smtClean="0"/>
              <a:t>‹#›</a:t>
            </a:fld>
            <a:endParaRPr lang="en-US" dirty="0"/>
          </a:p>
        </p:txBody>
      </p:sp>
    </p:spTree>
    <p:extLst>
      <p:ext uri="{BB962C8B-B14F-4D97-AF65-F5344CB8AC3E}">
        <p14:creationId xmlns:p14="http://schemas.microsoft.com/office/powerpoint/2010/main" val="367910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6552E5-5BAD-BC41-AAFD-213B825E4C46}" type="datetimeFigureOut">
              <a:rPr lang="en-US" smtClean="0"/>
              <a:t>11/19/22</a:t>
            </a:fld>
            <a:endParaRPr lang="en-US" dirty="0"/>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6AC02AE7-29E2-1C4D-A897-820801CC4691}" type="slidenum">
              <a:rPr lang="en-US" smtClean="0"/>
              <a:t>‹#›</a:t>
            </a:fld>
            <a:endParaRPr lang="en-US" dirty="0"/>
          </a:p>
        </p:txBody>
      </p:sp>
    </p:spTree>
    <p:extLst>
      <p:ext uri="{BB962C8B-B14F-4D97-AF65-F5344CB8AC3E}">
        <p14:creationId xmlns:p14="http://schemas.microsoft.com/office/powerpoint/2010/main" val="873429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6552E5-5BAD-BC41-AAFD-213B825E4C46}" type="datetimeFigureOut">
              <a:rPr lang="en-US" smtClean="0"/>
              <a:t>11/19/22</a:t>
            </a:fld>
            <a:endParaRPr lang="en-US" dirty="0"/>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6AC02AE7-29E2-1C4D-A897-820801CC4691}" type="slidenum">
              <a:rPr lang="en-US" smtClean="0"/>
              <a:t>‹#›</a:t>
            </a:fld>
            <a:endParaRPr lang="en-US" dirty="0"/>
          </a:p>
        </p:txBody>
      </p:sp>
    </p:spTree>
    <p:extLst>
      <p:ext uri="{BB962C8B-B14F-4D97-AF65-F5344CB8AC3E}">
        <p14:creationId xmlns:p14="http://schemas.microsoft.com/office/powerpoint/2010/main" val="1679450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6552E5-5BAD-BC41-AAFD-213B825E4C46}" type="datetimeFigureOut">
              <a:rPr lang="en-US" smtClean="0"/>
              <a:t>11/19/22</a:t>
            </a:fld>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6AC02AE7-29E2-1C4D-A897-820801CC4691}" type="slidenum">
              <a:rPr lang="en-US" smtClean="0"/>
              <a:t>‹#›</a:t>
            </a:fld>
            <a:endParaRPr lang="en-US" dirty="0"/>
          </a:p>
        </p:txBody>
      </p:sp>
    </p:spTree>
    <p:extLst>
      <p:ext uri="{BB962C8B-B14F-4D97-AF65-F5344CB8AC3E}">
        <p14:creationId xmlns:p14="http://schemas.microsoft.com/office/powerpoint/2010/main" val="2741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6552E5-5BAD-BC41-AAFD-213B825E4C46}" type="datetimeFigureOut">
              <a:rPr lang="en-US" smtClean="0"/>
              <a:t>11/19/22</a:t>
            </a:fld>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6AC02AE7-29E2-1C4D-A897-820801CC4691}" type="slidenum">
              <a:rPr lang="en-US" smtClean="0"/>
              <a:t>‹#›</a:t>
            </a:fld>
            <a:endParaRPr lang="en-US" dirty="0"/>
          </a:p>
        </p:txBody>
      </p:sp>
    </p:spTree>
    <p:extLst>
      <p:ext uri="{BB962C8B-B14F-4D97-AF65-F5344CB8AC3E}">
        <p14:creationId xmlns:p14="http://schemas.microsoft.com/office/powerpoint/2010/main" val="972225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06EFA79E-D63B-49E3-825C-1CADDB72B0D1}" type="slidenum">
              <a:rPr lang="en-US" smtClean="0">
                <a:solidFill>
                  <a:prstClr val="white"/>
                </a:solidFill>
              </a:rPr>
              <a:pPr/>
              <a:t>‹#›</a:t>
            </a:fld>
            <a:endParaRPr lang="en-US" dirty="0">
              <a:solidFill>
                <a:prstClr val="white"/>
              </a:solidFill>
            </a:endParaRPr>
          </a:p>
        </p:txBody>
      </p:sp>
    </p:spTree>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06EFA79E-D63B-49E3-825C-1CADDB72B0D1}" type="slidenum">
              <a:rPr lang="en-US" smtClean="0">
                <a:solidFill>
                  <a:prstClr val="white"/>
                </a:solidFill>
              </a:rPr>
              <a:pPr/>
              <a:t>‹#›</a:t>
            </a:fld>
            <a:endParaRPr lang="en-US" dirty="0">
              <a:solidFill>
                <a:prstClr val="white"/>
              </a:solidFill>
            </a:endParaRPr>
          </a:p>
        </p:txBody>
      </p:sp>
    </p:spTree>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06EFA79E-D63B-49E3-825C-1CADDB72B0D1}" type="slidenum">
              <a:rPr lang="en-US" smtClean="0">
                <a:solidFill>
                  <a:prstClr val="white"/>
                </a:solidFill>
              </a:rPr>
              <a:pPr/>
              <a:t>‹#›</a:t>
            </a:fld>
            <a:endParaRPr lang="en-US" dirty="0">
              <a:solidFill>
                <a:prstClr val="white"/>
              </a:solidFill>
            </a:endParaRPr>
          </a:p>
        </p:txBody>
      </p:sp>
    </p:spTree>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06EFA79E-D63B-49E3-825C-1CADDB72B0D1}" type="slidenum">
              <a:rPr lang="en-US" smtClean="0">
                <a:solidFill>
                  <a:prstClr val="white"/>
                </a:solidFill>
              </a:rPr>
              <a:pPr/>
              <a:t>‹#›</a:t>
            </a:fld>
            <a:endParaRPr lang="en-US" dirty="0">
              <a:solidFill>
                <a:prstClr val="white"/>
              </a:solidFill>
            </a:endParaRPr>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dirty="0">
              <a:solidFill>
                <a:prstClr val="white"/>
              </a:solidFill>
            </a:endParaRPr>
          </a:p>
        </p:txBody>
      </p:sp>
      <p:sp>
        <p:nvSpPr>
          <p:cNvPr id="9" name="Slide Number Placeholder 8"/>
          <p:cNvSpPr>
            <a:spLocks noGrp="1"/>
          </p:cNvSpPr>
          <p:nvPr>
            <p:ph type="sldNum" sz="quarter" idx="12"/>
          </p:nvPr>
        </p:nvSpPr>
        <p:spPr/>
        <p:txBody>
          <a:bodyPr/>
          <a:lstStyle/>
          <a:p>
            <a:fld id="{06EFA79E-D63B-49E3-825C-1CADDB72B0D1}" type="slidenum">
              <a:rPr lang="en-US" smtClean="0">
                <a:solidFill>
                  <a:prstClr val="white"/>
                </a:solidFill>
              </a:rPr>
              <a:pPr/>
              <a:t>‹#›</a:t>
            </a:fld>
            <a:endParaRPr lang="en-US" dirty="0">
              <a:solidFill>
                <a:prstClr val="white"/>
              </a:solidFill>
            </a:endParaRPr>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dirty="0">
              <a:solidFill>
                <a:prstClr val="white"/>
              </a:solidFill>
            </a:endParaRPr>
          </a:p>
        </p:txBody>
      </p:sp>
      <p:sp>
        <p:nvSpPr>
          <p:cNvPr id="5" name="Slide Number Placeholder 4"/>
          <p:cNvSpPr>
            <a:spLocks noGrp="1"/>
          </p:cNvSpPr>
          <p:nvPr>
            <p:ph type="sldNum" sz="quarter" idx="12"/>
          </p:nvPr>
        </p:nvSpPr>
        <p:spPr/>
        <p:txBody>
          <a:bodyPr/>
          <a:lstStyle/>
          <a:p>
            <a:fld id="{06EFA79E-D63B-49E3-825C-1CADDB72B0D1}" type="slidenum">
              <a:rPr lang="en-US" smtClean="0">
                <a:solidFill>
                  <a:prstClr val="white"/>
                </a:solidFill>
              </a:rPr>
              <a:pPr/>
              <a:t>‹#›</a:t>
            </a:fld>
            <a:endParaRPr lang="en-US" dirty="0">
              <a:solidFill>
                <a:prstClr val="white"/>
              </a:solidFill>
            </a:endParaRPr>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solidFill>
                <a:prstClr val="white"/>
              </a:solidFill>
            </a:endParaRPr>
          </a:p>
        </p:txBody>
      </p:sp>
      <p:sp>
        <p:nvSpPr>
          <p:cNvPr id="4" name="Slide Number Placeholder 3"/>
          <p:cNvSpPr>
            <a:spLocks noGrp="1"/>
          </p:cNvSpPr>
          <p:nvPr>
            <p:ph type="sldNum" sz="quarter" idx="12"/>
          </p:nvPr>
        </p:nvSpPr>
        <p:spPr/>
        <p:txBody>
          <a:bodyPr/>
          <a:lstStyle/>
          <a:p>
            <a:fld id="{06EFA79E-D63B-49E3-825C-1CADDB72B0D1}" type="slidenum">
              <a:rPr lang="en-US" smtClean="0">
                <a:solidFill>
                  <a:prstClr val="white"/>
                </a:solidFill>
              </a:rPr>
              <a:pPr/>
              <a:t>‹#›</a:t>
            </a:fld>
            <a:endParaRPr lang="en-US" dirty="0">
              <a:solidFill>
                <a:prstClr val="white"/>
              </a:solidFill>
            </a:endParaRPr>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06EFA79E-D63B-49E3-825C-1CADDB72B0D1}" type="slidenum">
              <a:rPr lang="en-US" smtClean="0">
                <a:solidFill>
                  <a:prstClr val="white"/>
                </a:solidFill>
              </a:rPr>
              <a:pPr/>
              <a:t>‹#›</a:t>
            </a:fld>
            <a:endParaRPr lang="en-US" dirty="0">
              <a:solidFill>
                <a:prstClr val="white"/>
              </a:solidFill>
            </a:endParaRPr>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06EFA79E-D63B-49E3-825C-1CADDB72B0D1}" type="slidenum">
              <a:rPr lang="en-US" smtClean="0">
                <a:solidFill>
                  <a:prstClr val="white"/>
                </a:solidFill>
              </a:rPr>
              <a:pPr/>
              <a:t>‹#›</a:t>
            </a:fld>
            <a:endParaRPr lang="en-US" dirty="0">
              <a:solidFill>
                <a:prstClr val="white"/>
              </a:solidFill>
            </a:endParaRPr>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06EFA79E-D63B-49E3-825C-1CADDB72B0D1}" type="slidenum">
              <a:rPr lang="en-US" smtClean="0">
                <a:solidFill>
                  <a:prstClr val="white"/>
                </a:solidFill>
              </a:rPr>
              <a:pPr/>
              <a:t>‹#›</a:t>
            </a:fld>
            <a:endParaRPr lang="en-US" dirty="0">
              <a:solidFill>
                <a:prstClr val="white"/>
              </a:solidFill>
            </a:endParaRPr>
          </a:p>
        </p:txBody>
      </p:sp>
    </p:spTree>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06EFA79E-D63B-49E3-825C-1CADDB72B0D1}" type="slidenum">
              <a:rPr lang="en-US" smtClean="0">
                <a:solidFill>
                  <a:prstClr val="white"/>
                </a:solidFill>
              </a:rPr>
              <a:pPr/>
              <a:t>‹#›</a:t>
            </a:fld>
            <a:endParaRPr lang="en-US" dirty="0">
              <a:solidFill>
                <a:prstClr val="white"/>
              </a:solidFill>
            </a:endParaRPr>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a_1Column_DarkGray">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5741" y="554272"/>
            <a:ext cx="11474881" cy="543475"/>
          </a:xfrm>
        </p:spPr>
        <p:txBody>
          <a:bodyPr/>
          <a:lstStyle>
            <a:lvl1pPr algn="ctr">
              <a:defRPr>
                <a:solidFill>
                  <a:schemeClr val="bg1"/>
                </a:solidFill>
              </a:defRPr>
            </a:lvl1pPr>
          </a:lstStyle>
          <a:p>
            <a:r>
              <a:rPr lang="en-US" dirty="0"/>
              <a:t>INSERT MAIN TITLE AT 36PT MIN 30PT</a:t>
            </a:r>
            <a:endParaRPr lang="en-AU" dirty="0"/>
          </a:p>
        </p:txBody>
      </p:sp>
      <p:sp>
        <p:nvSpPr>
          <p:cNvPr id="5" name="Text Placeholder 4"/>
          <p:cNvSpPr>
            <a:spLocks noGrp="1"/>
          </p:cNvSpPr>
          <p:nvPr>
            <p:ph type="body" sz="quarter" idx="12" hasCustomPrompt="1"/>
          </p:nvPr>
        </p:nvSpPr>
        <p:spPr>
          <a:xfrm>
            <a:off x="355741" y="1098297"/>
            <a:ext cx="11474881" cy="430887"/>
          </a:xfrm>
        </p:spPr>
        <p:txBody>
          <a:bodyPr>
            <a:spAutoFit/>
          </a:bodyPr>
          <a:lstStyle>
            <a:lvl1pPr algn="ctr">
              <a:lnSpc>
                <a:spcPct val="100000"/>
              </a:lnSpc>
              <a:spcBef>
                <a:spcPts val="0"/>
              </a:spcBef>
              <a:defRPr sz="2200">
                <a:solidFill>
                  <a:schemeClr val="bg1"/>
                </a:solidFill>
                <a:latin typeface="Arial Black" panose="020B0A04020102020204" pitchFamily="34" charset="0"/>
              </a:defRPr>
            </a:lvl1pPr>
          </a:lstStyle>
          <a:p>
            <a:r>
              <a:rPr lang="en-US" dirty="0"/>
              <a:t>Insert sub-title here at 22pt, min 18pt</a:t>
            </a:r>
          </a:p>
        </p:txBody>
      </p:sp>
      <p:sp>
        <p:nvSpPr>
          <p:cNvPr id="7" name="Slide Number Placeholder 6"/>
          <p:cNvSpPr>
            <a:spLocks noGrp="1"/>
          </p:cNvSpPr>
          <p:nvPr>
            <p:ph type="sldNum" sz="quarter" idx="32"/>
          </p:nvPr>
        </p:nvSpPr>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9" name="Content Placeholder 7"/>
          <p:cNvSpPr>
            <a:spLocks noGrp="1"/>
          </p:cNvSpPr>
          <p:nvPr>
            <p:ph sz="quarter" idx="11" hasCustomPrompt="1"/>
          </p:nvPr>
        </p:nvSpPr>
        <p:spPr>
          <a:xfrm>
            <a:off x="355739" y="1774415"/>
            <a:ext cx="7526940" cy="4175033"/>
          </a:xfrm>
        </p:spPr>
        <p:txBody>
          <a:bodyPr/>
          <a:lstStyle>
            <a:lvl1pPr>
              <a:lnSpc>
                <a:spcPct val="110000"/>
              </a:lnSpc>
              <a:spcBef>
                <a:spcPts val="1200"/>
              </a:spcBef>
              <a:defRPr sz="2000">
                <a:solidFill>
                  <a:schemeClr val="bg1"/>
                </a:solidFill>
                <a:latin typeface="Arial" panose="020B0604020202020204" pitchFamily="34" charset="0"/>
                <a:ea typeface="Roboto" panose="02000000000000000000" pitchFamily="2" charset="0"/>
              </a:defRPr>
            </a:lvl1pPr>
            <a:lvl2pPr>
              <a:lnSpc>
                <a:spcPct val="110000"/>
              </a:lnSpc>
              <a:spcBef>
                <a:spcPts val="1200"/>
              </a:spcBef>
              <a:defRPr sz="2000" baseline="0">
                <a:solidFill>
                  <a:schemeClr val="bg1"/>
                </a:solidFill>
                <a:latin typeface="Arial" panose="020B0604020202020204" pitchFamily="34" charset="0"/>
                <a:ea typeface="Roboto" panose="02000000000000000000" pitchFamily="2" charset="0"/>
              </a:defRPr>
            </a:lvl2pPr>
            <a:lvl3pPr>
              <a:lnSpc>
                <a:spcPct val="110000"/>
              </a:lnSpc>
              <a:spcBef>
                <a:spcPts val="1200"/>
              </a:spcBef>
              <a:defRPr sz="2000">
                <a:solidFill>
                  <a:schemeClr val="bg1"/>
                </a:solidFill>
                <a:latin typeface="Arial" panose="020B0604020202020204" pitchFamily="34" charset="0"/>
                <a:ea typeface="Roboto" panose="02000000000000000000" pitchFamily="2" charset="0"/>
              </a:defRPr>
            </a:lvl3pPr>
            <a:lvl4pPr>
              <a:lnSpc>
                <a:spcPct val="110000"/>
              </a:lnSpc>
              <a:spcBef>
                <a:spcPts val="800"/>
              </a:spcBef>
              <a:defRPr>
                <a:latin typeface="Arial" panose="020B0604020202020204" pitchFamily="34" charset="0"/>
                <a:ea typeface="Roboto" panose="02000000000000000000" pitchFamily="2" charset="0"/>
              </a:defRPr>
            </a:lvl4pPr>
            <a:lvl5pPr>
              <a:lnSpc>
                <a:spcPct val="110000"/>
              </a:lnSpc>
              <a:spcBef>
                <a:spcPts val="800"/>
              </a:spcBef>
              <a:defRPr>
                <a:latin typeface="Arial" panose="020B0604020202020204" pitchFamily="34" charset="0"/>
                <a:ea typeface="Roboto" panose="02000000000000000000" pitchFamily="2" charset="0"/>
              </a:defRPr>
            </a:lvl5pPr>
          </a:lstStyle>
          <a:p>
            <a:r>
              <a:rPr lang="en-US" dirty="0"/>
              <a:t>Minimum font size 14pt and line spacing of at least Multiple 1.1</a:t>
            </a:r>
          </a:p>
          <a:p>
            <a:pPr lvl="1"/>
            <a:r>
              <a:rPr lang="pt-BR" dirty="0"/>
              <a:t>Apita imentemqui te sunte cuptia sam cus dem qui deni dictiis dit qui sitae et as sant incitatet, as aut eost, nonsend?</a:t>
            </a:r>
          </a:p>
          <a:p>
            <a:pPr lvl="1"/>
            <a:r>
              <a:rPr lang="pt-BR" dirty="0"/>
              <a:t>As se eni dolestotate con raerum es ini officiis eos reseque peles aut que perferepudi odit perror mo blaborrum et reium as sum.</a:t>
            </a:r>
          </a:p>
          <a:p>
            <a:pPr lvl="2"/>
            <a:r>
              <a:rPr lang="pt-BR" dirty="0"/>
              <a:t>Nimi, qui restis sinihilla verum quatis estrum aut aute nonestr</a:t>
            </a:r>
          </a:p>
          <a:p>
            <a:pPr lvl="2"/>
            <a:r>
              <a:rPr lang="pt-BR" dirty="0"/>
              <a:t>Pudae dolores sedita qui con nempos inullitae esciet que</a:t>
            </a:r>
          </a:p>
        </p:txBody>
      </p:sp>
    </p:spTree>
    <p:extLst>
      <p:ext uri="{BB962C8B-B14F-4D97-AF65-F5344CB8AC3E}">
        <p14:creationId xmlns:p14="http://schemas.microsoft.com/office/powerpoint/2010/main" val="1635339425"/>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a_2Columns_White">
    <p:bg>
      <p:bgPr>
        <a:solidFill>
          <a:schemeClr val="bg1"/>
        </a:solidFill>
        <a:effectLst/>
      </p:bgPr>
    </p:bg>
    <p:spTree>
      <p:nvGrpSpPr>
        <p:cNvPr id="1" name=""/>
        <p:cNvGrpSpPr/>
        <p:nvPr/>
      </p:nvGrpSpPr>
      <p:grpSpPr>
        <a:xfrm>
          <a:off x="0" y="0"/>
          <a:ext cx="0" cy="0"/>
          <a:chOff x="0" y="0"/>
          <a:chExt cx="0" cy="0"/>
        </a:xfrm>
      </p:grpSpPr>
      <p:sp>
        <p:nvSpPr>
          <p:cNvPr id="8" name="Content Placeholder 7"/>
          <p:cNvSpPr>
            <a:spLocks noGrp="1"/>
          </p:cNvSpPr>
          <p:nvPr>
            <p:ph sz="quarter" idx="11" hasCustomPrompt="1"/>
          </p:nvPr>
        </p:nvSpPr>
        <p:spPr>
          <a:xfrm>
            <a:off x="355739" y="1774415"/>
            <a:ext cx="7526940" cy="4175033"/>
          </a:xfrm>
        </p:spPr>
        <p:txBody>
          <a:bodyPr/>
          <a:lstStyle>
            <a:lvl1pPr>
              <a:lnSpc>
                <a:spcPct val="110000"/>
              </a:lnSpc>
              <a:spcBef>
                <a:spcPts val="1200"/>
              </a:spcBef>
              <a:defRPr sz="2000">
                <a:solidFill>
                  <a:schemeClr val="tx1"/>
                </a:solidFill>
                <a:latin typeface="Arial" panose="020B0604020202020204" pitchFamily="34" charset="0"/>
                <a:ea typeface="Roboto" panose="02000000000000000000" pitchFamily="2" charset="0"/>
              </a:defRPr>
            </a:lvl1pPr>
            <a:lvl2pPr>
              <a:lnSpc>
                <a:spcPct val="110000"/>
              </a:lnSpc>
              <a:spcBef>
                <a:spcPts val="1200"/>
              </a:spcBef>
              <a:defRPr sz="2000">
                <a:solidFill>
                  <a:schemeClr val="tx1"/>
                </a:solidFill>
                <a:latin typeface="Arial" panose="020B0604020202020204" pitchFamily="34" charset="0"/>
                <a:ea typeface="Roboto" panose="02000000000000000000" pitchFamily="2" charset="0"/>
              </a:defRPr>
            </a:lvl2pPr>
            <a:lvl3pPr>
              <a:lnSpc>
                <a:spcPct val="110000"/>
              </a:lnSpc>
              <a:spcBef>
                <a:spcPts val="1200"/>
              </a:spcBef>
              <a:defRPr sz="2000">
                <a:solidFill>
                  <a:schemeClr val="tx1"/>
                </a:solidFill>
                <a:latin typeface="Arial" panose="020B0604020202020204" pitchFamily="34" charset="0"/>
                <a:ea typeface="Roboto" panose="02000000000000000000" pitchFamily="2" charset="0"/>
              </a:defRPr>
            </a:lvl3pPr>
            <a:lvl4pPr>
              <a:lnSpc>
                <a:spcPct val="110000"/>
              </a:lnSpc>
              <a:spcBef>
                <a:spcPts val="800"/>
              </a:spcBef>
              <a:defRPr>
                <a:solidFill>
                  <a:schemeClr val="tx1"/>
                </a:solidFill>
                <a:latin typeface="Arial" panose="020B0604020202020204" pitchFamily="34" charset="0"/>
                <a:ea typeface="Roboto" panose="02000000000000000000" pitchFamily="2" charset="0"/>
              </a:defRPr>
            </a:lvl4pPr>
            <a:lvl5pPr>
              <a:lnSpc>
                <a:spcPct val="110000"/>
              </a:lnSpc>
              <a:spcBef>
                <a:spcPts val="800"/>
              </a:spcBef>
              <a:defRPr>
                <a:solidFill>
                  <a:schemeClr val="tx1"/>
                </a:solidFill>
                <a:latin typeface="Arial" panose="020B0604020202020204" pitchFamily="34" charset="0"/>
                <a:ea typeface="Roboto" panose="02000000000000000000" pitchFamily="2" charset="0"/>
              </a:defRPr>
            </a:lvl5pPr>
          </a:lstStyle>
          <a:p>
            <a:r>
              <a:rPr lang="en-US" dirty="0"/>
              <a:t>Minimum font size 14pt and line spacing of at least Multiple 1.1</a:t>
            </a:r>
          </a:p>
          <a:p>
            <a:pPr lvl="1"/>
            <a:r>
              <a:rPr lang="pt-BR" dirty="0"/>
              <a:t>Apita imentemqui te sunte cuptia sam cus dem qui deni dictiis dit qui sitae et as sant incitatet, as aut eost, nonsend?</a:t>
            </a:r>
          </a:p>
          <a:p>
            <a:pPr lvl="1"/>
            <a:r>
              <a:rPr lang="pt-BR" dirty="0"/>
              <a:t>As se eni dolestotate con raerum es ini officiis eos reseque peles aut que perferepudi odit perror mo blaborrum et reium as sum.</a:t>
            </a:r>
          </a:p>
          <a:p>
            <a:pPr lvl="2"/>
            <a:r>
              <a:rPr lang="pt-BR" dirty="0"/>
              <a:t>Nimi, qui restis sinihilla verum quatis estrum aut aute nonestr</a:t>
            </a:r>
          </a:p>
          <a:p>
            <a:pPr lvl="2"/>
            <a:r>
              <a:rPr lang="pt-BR" dirty="0"/>
              <a:t>Pudae dolores sedita qui con nempos inullitae esciet que</a:t>
            </a:r>
          </a:p>
        </p:txBody>
      </p:sp>
      <p:sp>
        <p:nvSpPr>
          <p:cNvPr id="12" name="Title 1"/>
          <p:cNvSpPr>
            <a:spLocks noGrp="1"/>
          </p:cNvSpPr>
          <p:nvPr>
            <p:ph type="title" hasCustomPrompt="1"/>
          </p:nvPr>
        </p:nvSpPr>
        <p:spPr>
          <a:xfrm>
            <a:off x="355741" y="554272"/>
            <a:ext cx="11474881" cy="543475"/>
          </a:xfrm>
        </p:spPr>
        <p:txBody>
          <a:bodyPr/>
          <a:lstStyle>
            <a:lvl1pPr algn="ctr">
              <a:defRPr>
                <a:solidFill>
                  <a:schemeClr val="tx1"/>
                </a:solidFill>
              </a:defRPr>
            </a:lvl1pPr>
          </a:lstStyle>
          <a:p>
            <a:r>
              <a:rPr lang="en-US" dirty="0"/>
              <a:t>INSERT MAIN TITLE AT 36PT MIN 30PT</a:t>
            </a:r>
            <a:endParaRPr lang="en-AU" dirty="0"/>
          </a:p>
        </p:txBody>
      </p:sp>
      <p:sp>
        <p:nvSpPr>
          <p:cNvPr id="13" name="Text Placeholder 4"/>
          <p:cNvSpPr>
            <a:spLocks noGrp="1"/>
          </p:cNvSpPr>
          <p:nvPr>
            <p:ph type="body" sz="quarter" idx="12" hasCustomPrompt="1"/>
          </p:nvPr>
        </p:nvSpPr>
        <p:spPr>
          <a:xfrm>
            <a:off x="355741" y="1128768"/>
            <a:ext cx="11474881" cy="407894"/>
          </a:xfrm>
        </p:spPr>
        <p:txBody>
          <a:bodyPr/>
          <a:lstStyle>
            <a:lvl1pPr algn="ctr">
              <a:lnSpc>
                <a:spcPct val="100000"/>
              </a:lnSpc>
              <a:spcBef>
                <a:spcPts val="0"/>
              </a:spcBef>
              <a:defRPr sz="2200">
                <a:solidFill>
                  <a:schemeClr val="tx2"/>
                </a:solidFill>
                <a:latin typeface="Arial Black" panose="020B0A04020102020204" pitchFamily="34" charset="0"/>
              </a:defRPr>
            </a:lvl1pPr>
          </a:lstStyle>
          <a:p>
            <a:r>
              <a:rPr lang="en-US" dirty="0"/>
              <a:t>Insert sub-title here at 22pt, min 18pt</a:t>
            </a:r>
          </a:p>
        </p:txBody>
      </p:sp>
      <p:sp>
        <p:nvSpPr>
          <p:cNvPr id="14" name="Content Placeholder 7"/>
          <p:cNvSpPr>
            <a:spLocks noGrp="1"/>
          </p:cNvSpPr>
          <p:nvPr>
            <p:ph sz="quarter" idx="33" hasCustomPrompt="1"/>
          </p:nvPr>
        </p:nvSpPr>
        <p:spPr>
          <a:xfrm>
            <a:off x="8192319" y="1774415"/>
            <a:ext cx="3619414" cy="4175033"/>
          </a:xfrm>
        </p:spPr>
        <p:txBody>
          <a:bodyPr/>
          <a:lstStyle>
            <a:lvl1pPr marL="0" indent="0">
              <a:lnSpc>
                <a:spcPct val="110000"/>
              </a:lnSpc>
              <a:spcBef>
                <a:spcPts val="1200"/>
              </a:spcBef>
              <a:buFont typeface="Arial" panose="020B0604020202020204" pitchFamily="34" charset="0"/>
              <a:buNone/>
              <a:defRPr sz="2000">
                <a:solidFill>
                  <a:schemeClr val="tx1"/>
                </a:solidFill>
                <a:latin typeface="Arial" panose="020B0604020202020204" pitchFamily="34" charset="0"/>
                <a:ea typeface="Roboto" panose="02000000000000000000" pitchFamily="2" charset="0"/>
              </a:defRPr>
            </a:lvl1pPr>
            <a:lvl2pPr marL="0" indent="0">
              <a:lnSpc>
                <a:spcPct val="110000"/>
              </a:lnSpc>
              <a:spcBef>
                <a:spcPts val="1200"/>
              </a:spcBef>
              <a:buNone/>
              <a:defRPr sz="2000">
                <a:solidFill>
                  <a:schemeClr val="tx1"/>
                </a:solidFill>
                <a:latin typeface="Arial" panose="020B0604020202020204" pitchFamily="34" charset="0"/>
                <a:ea typeface="Roboto" panose="02000000000000000000" pitchFamily="2" charset="0"/>
              </a:defRPr>
            </a:lvl2pPr>
            <a:lvl3pPr>
              <a:lnSpc>
                <a:spcPct val="110000"/>
              </a:lnSpc>
              <a:spcBef>
                <a:spcPts val="1000"/>
              </a:spcBef>
              <a:defRPr sz="2000">
                <a:solidFill>
                  <a:schemeClr val="tx1"/>
                </a:solidFill>
                <a:latin typeface="Arial" panose="020B0604020202020204" pitchFamily="34" charset="0"/>
                <a:ea typeface="Roboto" panose="02000000000000000000" pitchFamily="2" charset="0"/>
              </a:defRPr>
            </a:lvl3pPr>
            <a:lvl4pPr>
              <a:lnSpc>
                <a:spcPct val="110000"/>
              </a:lnSpc>
              <a:spcBef>
                <a:spcPts val="800"/>
              </a:spcBef>
              <a:defRPr>
                <a:solidFill>
                  <a:schemeClr val="tx1"/>
                </a:solidFill>
                <a:latin typeface="Arial" panose="020B0604020202020204" pitchFamily="34" charset="0"/>
                <a:ea typeface="Roboto" panose="02000000000000000000" pitchFamily="2" charset="0"/>
              </a:defRPr>
            </a:lvl4pPr>
            <a:lvl5pPr>
              <a:lnSpc>
                <a:spcPct val="110000"/>
              </a:lnSpc>
              <a:spcBef>
                <a:spcPts val="800"/>
              </a:spcBef>
              <a:defRPr>
                <a:solidFill>
                  <a:schemeClr val="tx1"/>
                </a:solidFill>
                <a:latin typeface="Arial" panose="020B0604020202020204" pitchFamily="34" charset="0"/>
                <a:ea typeface="Roboto" panose="02000000000000000000" pitchFamily="2" charset="0"/>
              </a:defRPr>
            </a:lvl5pPr>
          </a:lstStyle>
          <a:p>
            <a:r>
              <a:rPr lang="en-US" dirty="0"/>
              <a:t>Minimum font size 14pt and line spacing of at least Multiple 1.1</a:t>
            </a:r>
          </a:p>
          <a:p>
            <a:pPr lvl="1"/>
            <a:r>
              <a:rPr lang="pt-BR" dirty="0"/>
              <a:t>Qui deni dictiis dit qui sitae et as sant incitatet, vendios dolore prest, as aut eost, nonsend?</a:t>
            </a:r>
          </a:p>
          <a:p>
            <a:pPr lvl="1"/>
            <a:r>
              <a:rPr lang="pt-BR" dirty="0"/>
              <a:t>As se eni dolestotate con reseque peles aut que.</a:t>
            </a:r>
          </a:p>
        </p:txBody>
      </p:sp>
      <p:sp>
        <p:nvSpPr>
          <p:cNvPr id="9" name="Slide Number Placeholder 4"/>
          <p:cNvSpPr>
            <a:spLocks noGrp="1"/>
          </p:cNvSpPr>
          <p:nvPr>
            <p:ph type="sldNum" sz="quarter" idx="4"/>
          </p:nvPr>
        </p:nvSpPr>
        <p:spPr>
          <a:xfrm flipH="1">
            <a:off x="11617001" y="6537474"/>
            <a:ext cx="216084" cy="161888"/>
          </a:xfrm>
          <a:prstGeom prst="rect">
            <a:avLst/>
          </a:prstGeom>
        </p:spPr>
        <p:txBody>
          <a:bodyPr vert="horz" wrap="square" lIns="0" tIns="60944" rIns="0" bIns="60944" numCol="1" anchor="ctr" anchorCtr="0" compatLnSpc="1">
            <a:prstTxWarp prst="textNoShape">
              <a:avLst/>
            </a:prstTxWarp>
            <a:noAutofit/>
          </a:bodyPr>
          <a:lstStyle>
            <a:lvl1pPr algn="r">
              <a:defRPr sz="800">
                <a:solidFill>
                  <a:schemeClr val="tx1">
                    <a:alpha val="50000"/>
                  </a:schemeClr>
                </a:solidFill>
                <a:latin typeface="+mn-lt"/>
                <a:ea typeface="Roboto Light" panose="02000000000000000000" pitchFamily="2" charset="0"/>
                <a:cs typeface="Gotham Medium" pitchFamily="2" charset="0"/>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177772411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2_Title and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8"/>
        </p:xfrm>
        <a:graphic>
          <a:graphicData uri="http://schemas.openxmlformats.org/presentationml/2006/ole">
            <mc:AlternateContent xmlns:mc="http://schemas.openxmlformats.org/markup-compatibility/2006">
              <mc:Choice xmlns:v="urn:schemas-microsoft-com:vml" Requires="v">
                <p:oleObj spid="_x0000_s16412" name="think-cell Slide" r:id="rId4" imgW="473" imgH="476" progId="TCLayout.ActiveDocument.1">
                  <p:embed/>
                </p:oleObj>
              </mc:Choice>
              <mc:Fallback>
                <p:oleObj name="think-cell Slide" r:id="rId4" imgW="473" imgH="476" progId="TCLayout.ActiveDocument.1">
                  <p:embed/>
                  <p:pic>
                    <p:nvPicPr>
                      <p:cNvPr id="2" name="Object 1" hidden="1"/>
                      <p:cNvPicPr/>
                      <p:nvPr/>
                    </p:nvPicPr>
                    <p:blipFill>
                      <a:blip r:embed="rId5"/>
                      <a:stretch>
                        <a:fillRect/>
                      </a:stretch>
                    </p:blipFill>
                    <p:spPr>
                      <a:xfrm>
                        <a:off x="1588" y="1588"/>
                        <a:ext cx="1587" cy="1588"/>
                      </a:xfrm>
                      <a:prstGeom prst="rect">
                        <a:avLst/>
                      </a:prstGeom>
                    </p:spPr>
                  </p:pic>
                </p:oleObj>
              </mc:Fallback>
            </mc:AlternateContent>
          </a:graphicData>
        </a:graphic>
      </p:graphicFrame>
      <p:pic>
        <p:nvPicPr>
          <p:cNvPr id="100" name="image2.jpeg"/>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6569" y="2"/>
            <a:ext cx="12214923" cy="1396998"/>
          </a:xfrm>
          <a:prstGeom prst="rect">
            <a:avLst/>
          </a:prstGeom>
          <a:ln w="12700">
            <a:miter lim="400000"/>
          </a:ln>
        </p:spPr>
      </p:pic>
      <p:sp>
        <p:nvSpPr>
          <p:cNvPr id="101" name="Shape 101"/>
          <p:cNvSpPr>
            <a:spLocks noGrp="1"/>
          </p:cNvSpPr>
          <p:nvPr>
            <p:ph type="body" sz="quarter" idx="1"/>
          </p:nvPr>
        </p:nvSpPr>
        <p:spPr>
          <a:xfrm>
            <a:off x="558800" y="139700"/>
            <a:ext cx="9097462" cy="914401"/>
          </a:xfrm>
          <a:prstGeom prst="rect">
            <a:avLst/>
          </a:prstGeom>
        </p:spPr>
        <p:txBody>
          <a:bodyPr>
            <a:normAutofit/>
          </a:bodyPr>
          <a:lstStyle>
            <a:lvl1pPr marL="0" indent="0">
              <a:buClrTx/>
              <a:buSzTx/>
              <a:buFontTx/>
              <a:buNone/>
              <a:defRPr>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0" indent="353173">
              <a:buClrTx/>
              <a:buSzTx/>
              <a:buFontTx/>
              <a:buNone/>
              <a:defRPr>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L="0" indent="706347">
              <a:buClrTx/>
              <a:buSzTx/>
              <a:buFontTx/>
              <a:buNone/>
              <a:defRPr>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L="0" indent="1059524">
              <a:buClrTx/>
              <a:buSzTx/>
              <a:buFontTx/>
              <a:buNone/>
              <a:defRPr>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L="0" indent="1412697">
              <a:buClrTx/>
              <a:buSzTx/>
              <a:buFontTx/>
              <a:buNone/>
              <a:defRPr>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349980519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C02AE7-29E2-1C4D-A897-820801CC4691}" type="slidenum">
              <a:rPr lang="en-US" smtClean="0"/>
              <a:t>‹#›</a:t>
            </a:fld>
            <a:endParaRPr lang="en-US" dirty="0"/>
          </a:p>
        </p:txBody>
      </p:sp>
    </p:spTree>
    <p:extLst>
      <p:ext uri="{BB962C8B-B14F-4D97-AF65-F5344CB8AC3E}">
        <p14:creationId xmlns:p14="http://schemas.microsoft.com/office/powerpoint/2010/main" val="6402836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16" cstate="email">
            <a:alphaModFix amt="85000"/>
            <a:extLst>
              <a:ext uri="{28A0092B-C50C-407E-A947-70E740481C1C}">
                <a14:useLocalDpi xmlns:a14="http://schemas.microsoft.com/office/drawing/2010/main"/>
              </a:ext>
            </a:extLst>
          </a:blip>
          <a:stretch>
            <a:fillRect/>
          </a:stretch>
        </p:blipFill>
        <p:spPr>
          <a:xfrm>
            <a:off x="-25400" y="-1"/>
            <a:ext cx="12217400" cy="6890203"/>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US" dirty="0">
              <a:solidFill>
                <a:prstClr val="white"/>
              </a:solidFill>
            </a:endParaRPr>
          </a:p>
        </p:txBody>
      </p:sp>
      <p:sp>
        <p:nvSpPr>
          <p:cNvPr id="6" name="Slide Number Placeholder 5"/>
          <p:cNvSpPr>
            <a:spLocks noGrp="1"/>
          </p:cNvSpPr>
          <p:nvPr>
            <p:ph type="sldNum" sz="quarter" idx="4"/>
          </p:nvPr>
        </p:nvSpPr>
        <p:spPr>
          <a:xfrm>
            <a:off x="11715750" y="6525078"/>
            <a:ext cx="445540" cy="365125"/>
          </a:xfrm>
          <a:prstGeom prst="rect">
            <a:avLst/>
          </a:prstGeom>
        </p:spPr>
        <p:txBody>
          <a:bodyPr vert="horz" lIns="91440" tIns="45720" rIns="91440" bIns="45720" rtlCol="0" anchor="ctr"/>
          <a:lstStyle>
            <a:lvl1pPr algn="r">
              <a:defRPr sz="1200">
                <a:solidFill>
                  <a:schemeClr val="bg1"/>
                </a:solidFill>
              </a:defRPr>
            </a:lvl1pPr>
          </a:lstStyle>
          <a:p>
            <a:fld id="{06EFA79E-D63B-49E3-825C-1CADDB72B0D1}" type="slidenum">
              <a:rPr lang="en-US" smtClean="0">
                <a:solidFill>
                  <a:prstClr val="white"/>
                </a:solidFill>
              </a:rPr>
              <a:pPr/>
              <a:t>‹#›</a:t>
            </a:fld>
            <a:endParaRPr lang="en-US" dirty="0">
              <a:solidFill>
                <a:prstClr val="white"/>
              </a:solidFill>
            </a:endParaRPr>
          </a:p>
        </p:txBody>
      </p:sp>
      <p:sp>
        <p:nvSpPr>
          <p:cNvPr id="9" name="TextBox 8"/>
          <p:cNvSpPr txBox="1"/>
          <p:nvPr userDrawn="1"/>
        </p:nvSpPr>
        <p:spPr>
          <a:xfrm>
            <a:off x="0" y="6564397"/>
            <a:ext cx="4038600" cy="276999"/>
          </a:xfrm>
          <a:prstGeom prst="rect">
            <a:avLst/>
          </a:prstGeom>
          <a:noFill/>
        </p:spPr>
        <p:txBody>
          <a:bodyPr wrap="square" rtlCol="0">
            <a:spAutoFit/>
          </a:bodyPr>
          <a:lstStyle/>
          <a:p>
            <a:r>
              <a:rPr lang="en-US" sz="1200" dirty="0">
                <a:solidFill>
                  <a:prstClr val="white"/>
                </a:solidFill>
              </a:rPr>
              <a:t>Confidential: Copyright Dr. Cindy Gordon 2022/2023</a:t>
            </a:r>
          </a:p>
        </p:txBody>
      </p:sp>
    </p:spTree>
    <p:extLst>
      <p:ext uri="{BB962C8B-B14F-4D97-AF65-F5344CB8AC3E}">
        <p14:creationId xmlns:p14="http://schemas.microsoft.com/office/powerpoint/2010/main" val="194715193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3" r:id="rId12"/>
    <p:sldLayoutId id="2147483694" r:id="rId13"/>
    <p:sldLayoutId id="2147483696" r:id="rId14"/>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RiiXVUrAdc&amp;feature=youtu.be" TargetMode="Externa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hyperlink" Target="https://www.idc.com/getdoc.jsp?containerId=prUS46794720" TargetMode="Externa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8" Type="http://schemas.openxmlformats.org/officeDocument/2006/relationships/hyperlink" Target="https://www.globenewswire.com/Tracker?data=5_inGOevLmTNbc6y1EaN4xRkMzGWI7zNCKjl6VnPMWYAPgJJl3Gd-8CGUFcCetGbAnLPOxlKdtSXDFVXzQVCwjt-GTJNdUtlryzt7QaPp-O9EFv4NMZ5sQ5JAWRkF02luXhRU9OcwBERpXE9ALnD2tfaw1VMWZ4NoAe2f9PZTVLrgPgt1PjXuZBjThqEcCqw" TargetMode="External"/><Relationship Id="rId3" Type="http://schemas.openxmlformats.org/officeDocument/2006/relationships/tags" Target="../tags/tag3.xml"/><Relationship Id="rId7" Type="http://schemas.openxmlformats.org/officeDocument/2006/relationships/image" Target="../media/image8.emf"/><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notesSlide" Target="../notesSlides/notesSlide1.xml"/><Relationship Id="rId4"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8.emf"/><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notesSlide" Target="../notesSlides/notesSlide4.xml"/><Relationship Id="rId4"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7.xml"/><Relationship Id="rId7" Type="http://schemas.openxmlformats.org/officeDocument/2006/relationships/image" Target="../media/image8.emf"/><Relationship Id="rId2" Type="http://schemas.openxmlformats.org/officeDocument/2006/relationships/tags" Target="../tags/tag6.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notesSlide" Target="../notesSlides/notesSlide5.xml"/><Relationship Id="rId4"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tags" Target="../tags/tag9.xml"/><Relationship Id="rId7" Type="http://schemas.openxmlformats.org/officeDocument/2006/relationships/tags" Target="../tags/tag13.xml"/><Relationship Id="rId2" Type="http://schemas.openxmlformats.org/officeDocument/2006/relationships/tags" Target="../tags/tag8.xml"/><Relationship Id="rId1" Type="http://schemas.openxmlformats.org/officeDocument/2006/relationships/vmlDrawing" Target="../drawings/vmlDrawing5.vml"/><Relationship Id="rId6" Type="http://schemas.openxmlformats.org/officeDocument/2006/relationships/tags" Target="../tags/tag12.xml"/><Relationship Id="rId11" Type="http://schemas.openxmlformats.org/officeDocument/2006/relationships/image" Target="../media/image8.emf"/><Relationship Id="rId5" Type="http://schemas.openxmlformats.org/officeDocument/2006/relationships/tags" Target="../tags/tag11.xml"/><Relationship Id="rId10" Type="http://schemas.openxmlformats.org/officeDocument/2006/relationships/oleObject" Target="../embeddings/oleObject5.bin"/><Relationship Id="rId4" Type="http://schemas.openxmlformats.org/officeDocument/2006/relationships/tags" Target="../tags/tag10.xml"/><Relationship Id="rId9"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hyperlink" Target="https://www.youtube.com/watch?v=s0dMTAQM4cw" TargetMode="Externa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s://www.cbinsights.com/research/ai-threatens-humanity-expert-quotes/?utm_source=CB+Insights+Newsletter&amp;utm_campaign=20b3334a2c-newsletter_general_Sat_20191026&amp;utm_medium=email&amp;utm_term=0_9dc0513989-20b3334a2c-89272985" TargetMode="External"/><Relationship Id="rId1" Type="http://schemas.openxmlformats.org/officeDocument/2006/relationships/slideLayout" Target="../slideLayouts/slideLayout23.xml"/><Relationship Id="rId4" Type="http://schemas.openxmlformats.org/officeDocument/2006/relationships/image" Target="../media/image5.tiff"/></Relationships>
</file>

<file path=ppt/slides/_rels/slide23.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hyperlink" Target="https://tedxbeaconstreet.com/speakers/juan-enriquez/" TargetMode="External"/><Relationship Id="rId2" Type="http://schemas.openxmlformats.org/officeDocument/2006/relationships/hyperlink" Target="https://www.youtube.com/watch?v=iiAirfn-lBI" TargetMode="External"/><Relationship Id="rId1" Type="http://schemas.openxmlformats.org/officeDocument/2006/relationships/slideLayout" Target="../slideLayouts/slideLayout18.xml"/><Relationship Id="rId4" Type="http://schemas.openxmlformats.org/officeDocument/2006/relationships/image" Target="../media/image15.tiff"/></Relationships>
</file>

<file path=ppt/slides/_rels/slide25.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hyperlink" Target="http://www.etiskraad.dk/english" TargetMode="Externa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GboOXAjGevA" TargetMode="External"/><Relationship Id="rId2" Type="http://schemas.openxmlformats.org/officeDocument/2006/relationships/image" Target="../media/image5.tiff"/><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18.tiff"/><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19.tiff"/><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image" Target="../media/image8.emf"/><Relationship Id="rId2" Type="http://schemas.openxmlformats.org/officeDocument/2006/relationships/tags" Target="../tags/tag14.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notesSlide" Target="../notesSlides/notesSlide9.xml"/><Relationship Id="rId4"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image" Target="../media/image25.tiff"/><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2" Type="http://schemas.openxmlformats.org/officeDocument/2006/relationships/image" Target="../media/image26.tiff"/><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2" Type="http://schemas.openxmlformats.org/officeDocument/2006/relationships/hyperlink" Target="https://www.brookings.edu/research/algorithmic-bias-detection-and-mitigation-best-practices-and-policies-to-reduce-consumer-harms/#footnote-16" TargetMode="Externa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3" Type="http://schemas.openxmlformats.org/officeDocument/2006/relationships/hyperlink" Target="https://www.youtube.com/hashtag/bloombergequality" TargetMode="External"/><Relationship Id="rId2" Type="http://schemas.openxmlformats.org/officeDocument/2006/relationships/hyperlink" Target="https://www.youtube.com/watch?v=59bMh59JQDo&amp;feature=emb_logo" TargetMode="External"/><Relationship Id="rId1" Type="http://schemas.openxmlformats.org/officeDocument/2006/relationships/slideLayout" Target="../slideLayouts/slideLayout24.xml"/><Relationship Id="rId4" Type="http://schemas.openxmlformats.org/officeDocument/2006/relationships/hyperlink" Target="https://www.propublica.org/article/machine-bias-risk-assessments-in-criminal-sentencing"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hyperlink" Target="https://www.gsb.stanford.edu/insights/workplace-equality-economys-hidden-engine" TargetMode="Externa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3" Type="http://schemas.openxmlformats.org/officeDocument/2006/relationships/hyperlink" Target="https://www.youtube.com/watch?v=q44XUZdCIMM" TargetMode="External"/><Relationship Id="rId2" Type="http://schemas.openxmlformats.org/officeDocument/2006/relationships/hyperlink" Target="https://www.research.ibm.com/5-in-5/ai-and-bias/" TargetMode="External"/><Relationship Id="rId1" Type="http://schemas.openxmlformats.org/officeDocument/2006/relationships/slideLayout" Target="../slideLayouts/slideLayout24.xml"/><Relationship Id="rId4" Type="http://schemas.openxmlformats.org/officeDocument/2006/relationships/image" Target="../media/image5.tif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2" Type="http://schemas.openxmlformats.org/officeDocument/2006/relationships/hyperlink" Target="https://www.brookings.edu/research/algorithmic-bias-detection-and-mitigation-best-practices-and-policies-to-reduce-consumer-harms/#footnote-44" TargetMode="External"/><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image" Target="../media/image27.tiff"/><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image" Target="../media/image28.tiff"/><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3" Type="http://schemas.openxmlformats.org/officeDocument/2006/relationships/image" Target="../media/image29.tiff"/><Relationship Id="rId2" Type="http://schemas.openxmlformats.org/officeDocument/2006/relationships/hyperlink" Target="mailto:cindy@saleschoice.com" TargetMode="Externa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1A5CA6-07EF-A24B-AF74-61A72629FDC1}"/>
              </a:ext>
            </a:extLst>
          </p:cNvPr>
          <p:cNvPicPr>
            <a:picLocks noChangeAspect="1"/>
          </p:cNvPicPr>
          <p:nvPr/>
        </p:nvPicPr>
        <p:blipFill>
          <a:blip r:embed="rId2">
            <a:alphaModFix amt="35000"/>
          </a:blip>
          <a:stretch>
            <a:fillRect/>
          </a:stretch>
        </p:blipFill>
        <p:spPr>
          <a:xfrm>
            <a:off x="0" y="0"/>
            <a:ext cx="12209074" cy="6858000"/>
          </a:xfrm>
          <a:prstGeom prst="rect">
            <a:avLst/>
          </a:prstGeom>
        </p:spPr>
      </p:pic>
      <p:sp>
        <p:nvSpPr>
          <p:cNvPr id="2" name="TextBox 1">
            <a:extLst>
              <a:ext uri="{FF2B5EF4-FFF2-40B4-BE49-F238E27FC236}">
                <a16:creationId xmlns:a16="http://schemas.microsoft.com/office/drawing/2014/main" id="{2C4C4C3A-B6F4-8E46-9A3E-2A1E2128E137}"/>
              </a:ext>
            </a:extLst>
          </p:cNvPr>
          <p:cNvSpPr txBox="1"/>
          <p:nvPr/>
        </p:nvSpPr>
        <p:spPr>
          <a:xfrm>
            <a:off x="371061" y="1105287"/>
            <a:ext cx="11635409" cy="4647426"/>
          </a:xfrm>
          <a:prstGeom prst="rect">
            <a:avLst/>
          </a:prstGeom>
          <a:noFill/>
        </p:spPr>
        <p:txBody>
          <a:bodyPr wrap="square" rtlCol="0">
            <a:spAutoFit/>
          </a:bodyPr>
          <a:lstStyle/>
          <a:p>
            <a:pPr algn="ctr"/>
            <a:r>
              <a:rPr lang="en-US" sz="4800" b="1" dirty="0">
                <a:solidFill>
                  <a:schemeClr val="bg1"/>
                </a:solidFill>
              </a:rPr>
              <a:t>ETHICS AND LAW FOR DATA SCIENCE </a:t>
            </a:r>
          </a:p>
          <a:p>
            <a:pPr algn="ctr"/>
            <a:endParaRPr lang="en-US" sz="4000" b="1" dirty="0">
              <a:solidFill>
                <a:srgbClr val="89C542"/>
              </a:solidFill>
            </a:endParaRPr>
          </a:p>
          <a:p>
            <a:pPr algn="ctr"/>
            <a:r>
              <a:rPr lang="en-US" sz="4000" b="1" dirty="0">
                <a:solidFill>
                  <a:srgbClr val="89C542"/>
                </a:solidFill>
              </a:rPr>
              <a:t>WEEK ONE – 1st LECTURE</a:t>
            </a:r>
          </a:p>
          <a:p>
            <a:pPr algn="ctr"/>
            <a:endParaRPr lang="en-US" sz="2000" b="1" dirty="0">
              <a:solidFill>
                <a:schemeClr val="bg1"/>
              </a:solidFill>
            </a:endParaRPr>
          </a:p>
          <a:p>
            <a:pPr algn="ctr"/>
            <a:r>
              <a:rPr lang="en-US" sz="2000" b="1" dirty="0">
                <a:solidFill>
                  <a:schemeClr val="bg1"/>
                </a:solidFill>
              </a:rPr>
              <a:t>Adjunct Professor: George Brown College – AI Post Graduate Program</a:t>
            </a:r>
          </a:p>
          <a:p>
            <a:pPr algn="ctr"/>
            <a:r>
              <a:rPr lang="en-US" sz="2000" b="1" dirty="0">
                <a:solidFill>
                  <a:schemeClr val="bg1"/>
                </a:solidFill>
              </a:rPr>
              <a:t>Dr. Cindy Gordon, CEO, SalesChoice</a:t>
            </a:r>
          </a:p>
          <a:p>
            <a:pPr algn="ctr"/>
            <a:r>
              <a:rPr lang="en-US" sz="2000" b="1" dirty="0">
                <a:solidFill>
                  <a:schemeClr val="bg1"/>
                </a:solidFill>
              </a:rPr>
              <a:t>www.saleschoice.com</a:t>
            </a:r>
          </a:p>
          <a:p>
            <a:pPr algn="ctr"/>
            <a:r>
              <a:rPr lang="en-US" sz="2000" b="1" dirty="0">
                <a:solidFill>
                  <a:schemeClr val="bg1"/>
                </a:solidFill>
              </a:rPr>
              <a:t>Cell: (416-230-6538)</a:t>
            </a:r>
          </a:p>
          <a:p>
            <a:pPr algn="ctr"/>
            <a:r>
              <a:rPr lang="en-US" sz="2000" b="1" dirty="0">
                <a:solidFill>
                  <a:schemeClr val="bg1"/>
                </a:solidFill>
              </a:rPr>
              <a:t>Email: cindy@saleschoice.com</a:t>
            </a:r>
          </a:p>
        </p:txBody>
      </p:sp>
    </p:spTree>
    <p:extLst>
      <p:ext uri="{BB962C8B-B14F-4D97-AF65-F5344CB8AC3E}">
        <p14:creationId xmlns:p14="http://schemas.microsoft.com/office/powerpoint/2010/main" val="1564606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04017B-6270-9748-94EC-883BFE7EDEC4}"/>
              </a:ext>
            </a:extLst>
          </p:cNvPr>
          <p:cNvSpPr txBox="1"/>
          <p:nvPr/>
        </p:nvSpPr>
        <p:spPr>
          <a:xfrm>
            <a:off x="1125307" y="104800"/>
            <a:ext cx="10178716" cy="738664"/>
          </a:xfrm>
          <a:prstGeom prst="rect">
            <a:avLst/>
          </a:prstGeom>
          <a:noFill/>
        </p:spPr>
        <p:txBody>
          <a:bodyPr wrap="square" rtlCol="0">
            <a:spAutoFit/>
          </a:bodyPr>
          <a:lstStyle/>
          <a:p>
            <a:pPr algn="ctr"/>
            <a:r>
              <a:rPr lang="en-US" sz="4200" dirty="0">
                <a:solidFill>
                  <a:prstClr val="white"/>
                </a:solidFill>
                <a:latin typeface="Perpetua Titling MT Light" charset="0"/>
              </a:rPr>
              <a:t>COURSE OUTLINE</a:t>
            </a:r>
          </a:p>
        </p:txBody>
      </p:sp>
      <p:sp>
        <p:nvSpPr>
          <p:cNvPr id="3" name="Rectangle 2">
            <a:extLst>
              <a:ext uri="{FF2B5EF4-FFF2-40B4-BE49-F238E27FC236}">
                <a16:creationId xmlns:a16="http://schemas.microsoft.com/office/drawing/2014/main" id="{B64A46E3-DAC9-B043-ABD8-AD2C42E7BBE4}"/>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graphicFrame>
        <p:nvGraphicFramePr>
          <p:cNvPr id="5" name="Table 4">
            <a:extLst>
              <a:ext uri="{FF2B5EF4-FFF2-40B4-BE49-F238E27FC236}">
                <a16:creationId xmlns:a16="http://schemas.microsoft.com/office/drawing/2014/main" id="{7D85C3D4-3EAB-FD43-A7E6-427170E91879}"/>
              </a:ext>
            </a:extLst>
          </p:cNvPr>
          <p:cNvGraphicFramePr>
            <a:graphicFrameLocks noGrp="1"/>
          </p:cNvGraphicFramePr>
          <p:nvPr>
            <p:extLst>
              <p:ext uri="{D42A27DB-BD31-4B8C-83A1-F6EECF244321}">
                <p14:modId xmlns:p14="http://schemas.microsoft.com/office/powerpoint/2010/main" val="1314665922"/>
              </p:ext>
            </p:extLst>
          </p:nvPr>
        </p:nvGraphicFramePr>
        <p:xfrm>
          <a:off x="734891" y="1536409"/>
          <a:ext cx="10959548" cy="3322320"/>
        </p:xfrm>
        <a:graphic>
          <a:graphicData uri="http://schemas.openxmlformats.org/drawingml/2006/table">
            <a:tbl>
              <a:tblPr firstRow="1" bandRow="1">
                <a:tableStyleId>{93296810-A885-4BE3-A3E7-6D5BEEA58F35}</a:tableStyleId>
              </a:tblPr>
              <a:tblGrid>
                <a:gridCol w="1034690">
                  <a:extLst>
                    <a:ext uri="{9D8B030D-6E8A-4147-A177-3AD203B41FA5}">
                      <a16:colId xmlns:a16="http://schemas.microsoft.com/office/drawing/2014/main" val="2222382522"/>
                    </a:ext>
                  </a:extLst>
                </a:gridCol>
                <a:gridCol w="9924858">
                  <a:extLst>
                    <a:ext uri="{9D8B030D-6E8A-4147-A177-3AD203B41FA5}">
                      <a16:colId xmlns:a16="http://schemas.microsoft.com/office/drawing/2014/main" val="3121213591"/>
                    </a:ext>
                  </a:extLst>
                </a:gridCol>
              </a:tblGrid>
              <a:tr h="0">
                <a:tc>
                  <a:txBody>
                    <a:bodyPr/>
                    <a:lstStyle/>
                    <a:p>
                      <a:r>
                        <a:rPr lang="en-US" sz="2200" b="1" dirty="0">
                          <a:solidFill>
                            <a:srgbClr val="FFFF00"/>
                          </a:solidFill>
                        </a:rPr>
                        <a:t>WEEK </a:t>
                      </a:r>
                    </a:p>
                  </a:txBody>
                  <a:tcPr>
                    <a:solidFill>
                      <a:schemeClr val="tx1"/>
                    </a:solidFill>
                  </a:tcPr>
                </a:tc>
                <a:tc>
                  <a:txBody>
                    <a:bodyPr/>
                    <a:lstStyle/>
                    <a:p>
                      <a:r>
                        <a:rPr lang="en-US" sz="2200" b="1" dirty="0">
                          <a:solidFill>
                            <a:srgbClr val="FFFF00"/>
                          </a:solidFill>
                        </a:rPr>
                        <a:t>CONTENT</a:t>
                      </a:r>
                    </a:p>
                  </a:txBody>
                  <a:tcPr>
                    <a:solidFill>
                      <a:schemeClr val="tx1"/>
                    </a:solidFill>
                  </a:tcPr>
                </a:tc>
                <a:extLst>
                  <a:ext uri="{0D108BD9-81ED-4DB2-BD59-A6C34878D82A}">
                    <a16:rowId xmlns:a16="http://schemas.microsoft.com/office/drawing/2014/main" val="420609992"/>
                  </a:ext>
                </a:extLst>
              </a:tr>
              <a:tr h="370840">
                <a:tc>
                  <a:txBody>
                    <a:bodyPr/>
                    <a:lstStyle/>
                    <a:p>
                      <a:r>
                        <a:rPr lang="en-US" sz="2200" b="1" dirty="0">
                          <a:solidFill>
                            <a:schemeClr val="bg1"/>
                          </a:solidFill>
                        </a:rPr>
                        <a:t>1</a:t>
                      </a:r>
                    </a:p>
                  </a:txBody>
                  <a:tcPr>
                    <a:solidFill>
                      <a:schemeClr val="tx1"/>
                    </a:solidFill>
                  </a:tcPr>
                </a:tc>
                <a:tc>
                  <a:txBody>
                    <a:bodyPr/>
                    <a:lstStyle/>
                    <a:p>
                      <a:r>
                        <a:rPr lang="en-US" sz="2200" b="1" dirty="0">
                          <a:solidFill>
                            <a:schemeClr val="bg1"/>
                          </a:solidFill>
                        </a:rPr>
                        <a:t>What is AI, Market Dynamics, Ethics in Data and AI, General Introduction to the Structure of Legal and Policy Frameworks</a:t>
                      </a:r>
                    </a:p>
                  </a:txBody>
                  <a:tcPr>
                    <a:solidFill>
                      <a:schemeClr val="tx1"/>
                    </a:solidFill>
                  </a:tcPr>
                </a:tc>
                <a:extLst>
                  <a:ext uri="{0D108BD9-81ED-4DB2-BD59-A6C34878D82A}">
                    <a16:rowId xmlns:a16="http://schemas.microsoft.com/office/drawing/2014/main" val="3088676143"/>
                  </a:ext>
                </a:extLst>
              </a:tr>
              <a:tr h="370840">
                <a:tc>
                  <a:txBody>
                    <a:bodyPr/>
                    <a:lstStyle/>
                    <a:p>
                      <a:r>
                        <a:rPr lang="en-US" sz="2200" b="1" dirty="0">
                          <a:solidFill>
                            <a:schemeClr val="bg1"/>
                          </a:solidFill>
                        </a:rPr>
                        <a:t>1</a:t>
                      </a:r>
                    </a:p>
                  </a:txBody>
                  <a:tcPr>
                    <a:solidFill>
                      <a:schemeClr val="tx1"/>
                    </a:solidFill>
                  </a:tcPr>
                </a:tc>
                <a:tc>
                  <a:txBody>
                    <a:bodyPr/>
                    <a:lstStyle/>
                    <a:p>
                      <a:r>
                        <a:rPr lang="en-US" sz="2200" b="1" dirty="0">
                          <a:solidFill>
                            <a:schemeClr val="bg1"/>
                          </a:solidFill>
                        </a:rPr>
                        <a:t>AI in the Judicial System and access to Justice, Individual Assignments Given</a:t>
                      </a:r>
                    </a:p>
                  </a:txBody>
                  <a:tcPr>
                    <a:solidFill>
                      <a:schemeClr val="tx1"/>
                    </a:solidFill>
                  </a:tcPr>
                </a:tc>
                <a:extLst>
                  <a:ext uri="{0D108BD9-81ED-4DB2-BD59-A6C34878D82A}">
                    <a16:rowId xmlns:a16="http://schemas.microsoft.com/office/drawing/2014/main" val="2095605370"/>
                  </a:ext>
                </a:extLst>
              </a:tr>
              <a:tr h="370840">
                <a:tc>
                  <a:txBody>
                    <a:bodyPr/>
                    <a:lstStyle/>
                    <a:p>
                      <a:r>
                        <a:rPr lang="en-US" sz="2200" b="1" dirty="0">
                          <a:solidFill>
                            <a:schemeClr val="bg1"/>
                          </a:solidFill>
                        </a:rPr>
                        <a:t>2</a:t>
                      </a:r>
                    </a:p>
                  </a:txBody>
                  <a:tcPr>
                    <a:solidFill>
                      <a:schemeClr val="tx1"/>
                    </a:solidFill>
                  </a:tcPr>
                </a:tc>
                <a:tc>
                  <a:txBody>
                    <a:bodyPr/>
                    <a:lstStyle/>
                    <a:p>
                      <a:r>
                        <a:rPr lang="en-US" sz="2200" b="1" dirty="0">
                          <a:solidFill>
                            <a:schemeClr val="bg1"/>
                          </a:solidFill>
                        </a:rPr>
                        <a:t>Introduction to Law and Regulation of Data and AI, Introduction to Data Privacy</a:t>
                      </a:r>
                    </a:p>
                  </a:txBody>
                  <a:tcPr>
                    <a:solidFill>
                      <a:schemeClr val="tx1"/>
                    </a:solidFill>
                  </a:tcPr>
                </a:tc>
                <a:extLst>
                  <a:ext uri="{0D108BD9-81ED-4DB2-BD59-A6C34878D82A}">
                    <a16:rowId xmlns:a16="http://schemas.microsoft.com/office/drawing/2014/main" val="1412973756"/>
                  </a:ext>
                </a:extLst>
              </a:tr>
              <a:tr h="370840">
                <a:tc>
                  <a:txBody>
                    <a:bodyPr/>
                    <a:lstStyle/>
                    <a:p>
                      <a:r>
                        <a:rPr lang="en-US" sz="2200" b="1" dirty="0">
                          <a:solidFill>
                            <a:schemeClr val="bg1"/>
                          </a:solidFill>
                        </a:rPr>
                        <a:t>2</a:t>
                      </a:r>
                    </a:p>
                  </a:txBody>
                  <a:tcPr>
                    <a:solidFill>
                      <a:schemeClr val="tx1"/>
                    </a:solidFill>
                  </a:tcPr>
                </a:tc>
                <a:tc>
                  <a:txBody>
                    <a:bodyPr/>
                    <a:lstStyle/>
                    <a:p>
                      <a:r>
                        <a:rPr lang="en-US" sz="2200" b="1" dirty="0">
                          <a:solidFill>
                            <a:schemeClr val="bg1"/>
                          </a:solidFill>
                        </a:rPr>
                        <a:t>Overview of International Perspectives, Ethical Cases and Legal Implications</a:t>
                      </a:r>
                    </a:p>
                  </a:txBody>
                  <a:tcPr>
                    <a:solidFill>
                      <a:schemeClr val="tx1"/>
                    </a:solidFill>
                  </a:tcPr>
                </a:tc>
                <a:extLst>
                  <a:ext uri="{0D108BD9-81ED-4DB2-BD59-A6C34878D82A}">
                    <a16:rowId xmlns:a16="http://schemas.microsoft.com/office/drawing/2014/main" val="3568695117"/>
                  </a:ext>
                </a:extLst>
              </a:tr>
              <a:tr h="370840">
                <a:tc>
                  <a:txBody>
                    <a:bodyPr/>
                    <a:lstStyle/>
                    <a:p>
                      <a:r>
                        <a:rPr lang="en-US" sz="2200" b="1" dirty="0">
                          <a:solidFill>
                            <a:schemeClr val="bg1"/>
                          </a:solidFill>
                        </a:rPr>
                        <a:t>3</a:t>
                      </a:r>
                    </a:p>
                  </a:txBody>
                  <a:tcPr>
                    <a:solidFill>
                      <a:schemeClr val="tx1"/>
                    </a:solidFill>
                  </a:tcPr>
                </a:tc>
                <a:tc>
                  <a:txBody>
                    <a:bodyPr/>
                    <a:lstStyle/>
                    <a:p>
                      <a:r>
                        <a:rPr lang="en-US" sz="2200" b="1" dirty="0">
                          <a:solidFill>
                            <a:schemeClr val="bg1"/>
                          </a:solidFill>
                        </a:rPr>
                        <a:t>Case Studies on AI &amp; Ethics, AI and Robot Rights</a:t>
                      </a:r>
                    </a:p>
                  </a:txBody>
                  <a:tcPr>
                    <a:solidFill>
                      <a:schemeClr val="tx1"/>
                    </a:solidFill>
                  </a:tcPr>
                </a:tc>
                <a:extLst>
                  <a:ext uri="{0D108BD9-81ED-4DB2-BD59-A6C34878D82A}">
                    <a16:rowId xmlns:a16="http://schemas.microsoft.com/office/drawing/2014/main" val="3692743940"/>
                  </a:ext>
                </a:extLst>
              </a:tr>
              <a:tr h="370840">
                <a:tc>
                  <a:txBody>
                    <a:bodyPr/>
                    <a:lstStyle/>
                    <a:p>
                      <a:r>
                        <a:rPr lang="en-US" sz="2200" b="1" dirty="0">
                          <a:solidFill>
                            <a:schemeClr val="bg1"/>
                          </a:solidFill>
                        </a:rPr>
                        <a:t>3</a:t>
                      </a:r>
                    </a:p>
                  </a:txBody>
                  <a:tcPr>
                    <a:solidFill>
                      <a:schemeClr val="tx1"/>
                    </a:solidFill>
                  </a:tcPr>
                </a:tc>
                <a:tc>
                  <a:txBody>
                    <a:bodyPr/>
                    <a:lstStyle/>
                    <a:p>
                      <a:r>
                        <a:rPr lang="en-US" sz="2200" b="1" dirty="0">
                          <a:solidFill>
                            <a:schemeClr val="bg1"/>
                          </a:solidFill>
                        </a:rPr>
                        <a:t>Project Due</a:t>
                      </a:r>
                    </a:p>
                  </a:txBody>
                  <a:tcPr>
                    <a:solidFill>
                      <a:schemeClr val="tx1"/>
                    </a:solidFill>
                  </a:tcPr>
                </a:tc>
                <a:extLst>
                  <a:ext uri="{0D108BD9-81ED-4DB2-BD59-A6C34878D82A}">
                    <a16:rowId xmlns:a16="http://schemas.microsoft.com/office/drawing/2014/main" val="1540668616"/>
                  </a:ext>
                </a:extLst>
              </a:tr>
            </a:tbl>
          </a:graphicData>
        </a:graphic>
      </p:graphicFrame>
      <p:sp>
        <p:nvSpPr>
          <p:cNvPr id="6" name="Slide Number Placeholder 4">
            <a:extLst>
              <a:ext uri="{FF2B5EF4-FFF2-40B4-BE49-F238E27FC236}">
                <a16:creationId xmlns:a16="http://schemas.microsoft.com/office/drawing/2014/main" id="{7F31F43B-878A-E04C-A89F-A71D538BF671}"/>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a:t>
            </a:fld>
            <a:endParaRPr lang="en-US" sz="1400" dirty="0">
              <a:solidFill>
                <a:schemeClr val="bg1"/>
              </a:solidFill>
            </a:endParaRPr>
          </a:p>
        </p:txBody>
      </p:sp>
    </p:spTree>
    <p:extLst>
      <p:ext uri="{BB962C8B-B14F-4D97-AF65-F5344CB8AC3E}">
        <p14:creationId xmlns:p14="http://schemas.microsoft.com/office/powerpoint/2010/main" val="2018083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04017B-6270-9748-94EC-883BFE7EDEC4}"/>
              </a:ext>
            </a:extLst>
          </p:cNvPr>
          <p:cNvSpPr txBox="1"/>
          <p:nvPr/>
        </p:nvSpPr>
        <p:spPr>
          <a:xfrm>
            <a:off x="1125307" y="104800"/>
            <a:ext cx="10178716" cy="738664"/>
          </a:xfrm>
          <a:prstGeom prst="rect">
            <a:avLst/>
          </a:prstGeom>
          <a:noFill/>
        </p:spPr>
        <p:txBody>
          <a:bodyPr wrap="square" rtlCol="0">
            <a:spAutoFit/>
          </a:bodyPr>
          <a:lstStyle/>
          <a:p>
            <a:pPr algn="ctr"/>
            <a:r>
              <a:rPr lang="en-US" sz="4200" dirty="0">
                <a:solidFill>
                  <a:prstClr val="white"/>
                </a:solidFill>
                <a:latin typeface="Perpetua Titling MT Light" charset="0"/>
              </a:rPr>
              <a:t>GENERAL OVERVIEW</a:t>
            </a:r>
          </a:p>
        </p:txBody>
      </p:sp>
      <p:sp>
        <p:nvSpPr>
          <p:cNvPr id="3" name="Rectangle 2">
            <a:extLst>
              <a:ext uri="{FF2B5EF4-FFF2-40B4-BE49-F238E27FC236}">
                <a16:creationId xmlns:a16="http://schemas.microsoft.com/office/drawing/2014/main" id="{B64A46E3-DAC9-B043-ABD8-AD2C42E7BBE4}"/>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4" name="TextBox 3">
            <a:extLst>
              <a:ext uri="{FF2B5EF4-FFF2-40B4-BE49-F238E27FC236}">
                <a16:creationId xmlns:a16="http://schemas.microsoft.com/office/drawing/2014/main" id="{B27B77C5-737F-AF4E-8567-A7E1D393E836}"/>
              </a:ext>
            </a:extLst>
          </p:cNvPr>
          <p:cNvSpPr txBox="1"/>
          <p:nvPr/>
        </p:nvSpPr>
        <p:spPr>
          <a:xfrm>
            <a:off x="390597" y="1536409"/>
            <a:ext cx="11443594" cy="3046988"/>
          </a:xfrm>
          <a:prstGeom prst="rect">
            <a:avLst/>
          </a:prstGeom>
          <a:noFill/>
        </p:spPr>
        <p:txBody>
          <a:bodyPr wrap="square" rtlCol="0">
            <a:spAutoFit/>
          </a:bodyPr>
          <a:lstStyle/>
          <a:p>
            <a:r>
              <a:rPr lang="en-US" sz="2800" b="1" dirty="0">
                <a:solidFill>
                  <a:srgbClr val="FFFF00"/>
                </a:solidFill>
              </a:rPr>
              <a:t>EVALUATION SYSTEM	</a:t>
            </a:r>
            <a:r>
              <a:rPr lang="en-US" sz="2400" b="1" dirty="0">
                <a:solidFill>
                  <a:srgbClr val="FFFF00"/>
                </a:solidFill>
              </a:rPr>
              <a:t>					</a:t>
            </a:r>
            <a:r>
              <a:rPr lang="en-US" sz="2800" b="1" dirty="0">
                <a:solidFill>
                  <a:srgbClr val="FFFF00"/>
                </a:solidFill>
              </a:rPr>
              <a:t>GRADE</a:t>
            </a:r>
          </a:p>
          <a:p>
            <a:endParaRPr lang="en-US" sz="2400" b="1" dirty="0">
              <a:solidFill>
                <a:schemeClr val="bg1"/>
              </a:solidFill>
            </a:endParaRPr>
          </a:p>
          <a:p>
            <a:r>
              <a:rPr lang="en-US" sz="2800" b="1" dirty="0">
                <a:solidFill>
                  <a:schemeClr val="bg1"/>
                </a:solidFill>
              </a:rPr>
              <a:t>Class Participation	 						10%</a:t>
            </a:r>
          </a:p>
          <a:p>
            <a:r>
              <a:rPr lang="en-US" sz="2800" b="1" dirty="0">
                <a:solidFill>
                  <a:schemeClr val="bg1"/>
                </a:solidFill>
              </a:rPr>
              <a:t>Lab Exercises: Assessment Exercises				30%</a:t>
            </a:r>
          </a:p>
          <a:p>
            <a:r>
              <a:rPr lang="en-US" sz="2800" b="1" dirty="0">
                <a:solidFill>
                  <a:schemeClr val="bg1"/>
                </a:solidFill>
              </a:rPr>
              <a:t>Project : Ethics Assignment Paper					30%</a:t>
            </a:r>
          </a:p>
          <a:p>
            <a:r>
              <a:rPr lang="en-US" sz="2800" b="1" dirty="0">
                <a:solidFill>
                  <a:schemeClr val="bg1"/>
                </a:solidFill>
              </a:rPr>
              <a:t>Final Exam									30%</a:t>
            </a:r>
          </a:p>
          <a:p>
            <a:r>
              <a:rPr lang="en-US" sz="2800" b="1" dirty="0">
                <a:solidFill>
                  <a:srgbClr val="FFFF00"/>
                </a:solidFill>
              </a:rPr>
              <a:t>TOTAL POINTS	</a:t>
            </a:r>
            <a:r>
              <a:rPr lang="en-US" sz="2800" b="1" dirty="0">
                <a:solidFill>
                  <a:schemeClr val="bg1"/>
                </a:solidFill>
              </a:rPr>
              <a:t>							</a:t>
            </a:r>
            <a:r>
              <a:rPr lang="en-US" sz="2800" b="1" dirty="0">
                <a:solidFill>
                  <a:srgbClr val="FFFF00"/>
                </a:solidFill>
              </a:rPr>
              <a:t>100%</a:t>
            </a:r>
          </a:p>
        </p:txBody>
      </p:sp>
      <p:sp>
        <p:nvSpPr>
          <p:cNvPr id="5" name="Slide Number Placeholder 4">
            <a:extLst>
              <a:ext uri="{FF2B5EF4-FFF2-40B4-BE49-F238E27FC236}">
                <a16:creationId xmlns:a16="http://schemas.microsoft.com/office/drawing/2014/main" id="{78BC1F72-9819-4C4C-81A8-C702F23DA508}"/>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a:t>
            </a:fld>
            <a:endParaRPr lang="en-US" sz="1400" dirty="0">
              <a:solidFill>
                <a:schemeClr val="bg1"/>
              </a:solidFill>
            </a:endParaRPr>
          </a:p>
        </p:txBody>
      </p:sp>
    </p:spTree>
    <p:extLst>
      <p:ext uri="{BB962C8B-B14F-4D97-AF65-F5344CB8AC3E}">
        <p14:creationId xmlns:p14="http://schemas.microsoft.com/office/powerpoint/2010/main" val="1852741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8667A2-E6A2-A647-9330-588496865266}"/>
              </a:ext>
            </a:extLst>
          </p:cNvPr>
          <p:cNvSpPr txBox="1"/>
          <p:nvPr/>
        </p:nvSpPr>
        <p:spPr>
          <a:xfrm>
            <a:off x="1125307" y="104800"/>
            <a:ext cx="10178716" cy="738664"/>
          </a:xfrm>
          <a:prstGeom prst="rect">
            <a:avLst/>
          </a:prstGeom>
          <a:noFill/>
        </p:spPr>
        <p:txBody>
          <a:bodyPr wrap="square" rtlCol="0">
            <a:spAutoFit/>
          </a:bodyPr>
          <a:lstStyle/>
          <a:p>
            <a:pPr algn="ctr"/>
            <a:r>
              <a:rPr lang="en-US" sz="4200" dirty="0">
                <a:solidFill>
                  <a:prstClr val="white"/>
                </a:solidFill>
                <a:latin typeface="Perpetua Titling MT Light" charset="0"/>
              </a:rPr>
              <a:t>WEEK ONE – OUTLINE OVERVIEW</a:t>
            </a:r>
          </a:p>
        </p:txBody>
      </p:sp>
      <p:sp>
        <p:nvSpPr>
          <p:cNvPr id="3" name="TextBox 2">
            <a:extLst>
              <a:ext uri="{FF2B5EF4-FFF2-40B4-BE49-F238E27FC236}">
                <a16:creationId xmlns:a16="http://schemas.microsoft.com/office/drawing/2014/main" id="{93B68377-9ADD-1249-A7F7-0B2FB85E2E6B}"/>
              </a:ext>
            </a:extLst>
          </p:cNvPr>
          <p:cNvSpPr txBox="1"/>
          <p:nvPr/>
        </p:nvSpPr>
        <p:spPr>
          <a:xfrm>
            <a:off x="738606" y="1492050"/>
            <a:ext cx="11044989" cy="3323987"/>
          </a:xfrm>
          <a:prstGeom prst="rect">
            <a:avLst/>
          </a:prstGeom>
          <a:noFill/>
        </p:spPr>
        <p:txBody>
          <a:bodyPr wrap="square" rtlCol="0">
            <a:spAutoFit/>
          </a:bodyPr>
          <a:lstStyle/>
          <a:p>
            <a:pPr marL="457200" lvl="0" indent="-457200">
              <a:buFont typeface="Arial" panose="020B0604020202020204" pitchFamily="34" charset="0"/>
              <a:buChar char="•"/>
            </a:pPr>
            <a:r>
              <a:rPr lang="en-US" sz="3000" b="1" dirty="0">
                <a:solidFill>
                  <a:schemeClr val="bg1"/>
                </a:solidFill>
              </a:rPr>
              <a:t>Section 1.0 </a:t>
            </a:r>
            <a:r>
              <a:rPr lang="en-US" sz="3000" dirty="0">
                <a:solidFill>
                  <a:schemeClr val="bg1"/>
                </a:solidFill>
              </a:rPr>
              <a:t>- What is AI? </a:t>
            </a:r>
          </a:p>
          <a:p>
            <a:pPr marL="457200" lvl="0" indent="-457200">
              <a:buFont typeface="Arial" panose="020B0604020202020204" pitchFamily="34" charset="0"/>
              <a:buChar char="•"/>
            </a:pPr>
            <a:r>
              <a:rPr lang="en-US" sz="3000" b="1" dirty="0">
                <a:solidFill>
                  <a:schemeClr val="bg1"/>
                </a:solidFill>
              </a:rPr>
              <a:t>Section 2.0 </a:t>
            </a:r>
            <a:r>
              <a:rPr lang="en-US" sz="3000" dirty="0">
                <a:solidFill>
                  <a:schemeClr val="bg1"/>
                </a:solidFill>
              </a:rPr>
              <a:t>- Introduction to AI Ethics, Data Privacy and Key Issues</a:t>
            </a:r>
            <a:endParaRPr lang="en-CA" sz="3000" dirty="0">
              <a:solidFill>
                <a:schemeClr val="bg1"/>
              </a:solidFill>
            </a:endParaRPr>
          </a:p>
          <a:p>
            <a:pPr marL="457200" indent="-457200">
              <a:buFont typeface="Arial" panose="020B0604020202020204" pitchFamily="34" charset="0"/>
              <a:buChar char="•"/>
            </a:pPr>
            <a:r>
              <a:rPr lang="en-US" sz="3000" b="1" dirty="0">
                <a:solidFill>
                  <a:schemeClr val="bg1"/>
                </a:solidFill>
              </a:rPr>
              <a:t>Section 3.0 </a:t>
            </a:r>
            <a:r>
              <a:rPr lang="en-US" sz="3000" dirty="0">
                <a:solidFill>
                  <a:schemeClr val="bg1"/>
                </a:solidFill>
              </a:rPr>
              <a:t>- Introduction to the Structure of Legal and Policy 			       Frameworks</a:t>
            </a:r>
          </a:p>
          <a:p>
            <a:r>
              <a:rPr lang="en-US" sz="3000" b="1" dirty="0">
                <a:solidFill>
                  <a:srgbClr val="FFFF00"/>
                </a:solidFill>
              </a:rPr>
              <a:t>Plus Exercises </a:t>
            </a:r>
            <a:r>
              <a:rPr lang="en-US" sz="3000" b="1" dirty="0">
                <a:solidFill>
                  <a:schemeClr val="bg1"/>
                </a:solidFill>
              </a:rPr>
              <a:t>: </a:t>
            </a:r>
          </a:p>
          <a:p>
            <a:r>
              <a:rPr lang="en-US" sz="3000" b="1" dirty="0">
                <a:solidFill>
                  <a:schemeClr val="bg1"/>
                </a:solidFill>
              </a:rPr>
              <a:t>	Learning Experiences – Labs Self-Paced Learning,	 	Assignments and in Class</a:t>
            </a:r>
          </a:p>
        </p:txBody>
      </p:sp>
      <p:sp>
        <p:nvSpPr>
          <p:cNvPr id="4" name="Rectangle 3">
            <a:extLst>
              <a:ext uri="{FF2B5EF4-FFF2-40B4-BE49-F238E27FC236}">
                <a16:creationId xmlns:a16="http://schemas.microsoft.com/office/drawing/2014/main" id="{06AF6494-92BD-C246-961F-EF2A43049FF6}"/>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pic>
        <p:nvPicPr>
          <p:cNvPr id="5" name="Picture 4">
            <a:extLst>
              <a:ext uri="{FF2B5EF4-FFF2-40B4-BE49-F238E27FC236}">
                <a16:creationId xmlns:a16="http://schemas.microsoft.com/office/drawing/2014/main" id="{3E75F57A-9238-774D-A5D8-32FF9532B29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88594" y="5164538"/>
            <a:ext cx="1284705" cy="1284705"/>
          </a:xfrm>
          <a:prstGeom prst="rect">
            <a:avLst/>
          </a:prstGeom>
        </p:spPr>
      </p:pic>
      <p:sp>
        <p:nvSpPr>
          <p:cNvPr id="6" name="TextBox 5">
            <a:extLst>
              <a:ext uri="{FF2B5EF4-FFF2-40B4-BE49-F238E27FC236}">
                <a16:creationId xmlns:a16="http://schemas.microsoft.com/office/drawing/2014/main" id="{CB5CB417-2CD7-B145-8B31-710A8E0E5FF0}"/>
              </a:ext>
            </a:extLst>
          </p:cNvPr>
          <p:cNvSpPr txBox="1"/>
          <p:nvPr/>
        </p:nvSpPr>
        <p:spPr>
          <a:xfrm>
            <a:off x="2461795" y="5525913"/>
            <a:ext cx="9321800" cy="923330"/>
          </a:xfrm>
          <a:prstGeom prst="rect">
            <a:avLst/>
          </a:prstGeom>
          <a:noFill/>
        </p:spPr>
        <p:txBody>
          <a:bodyPr wrap="square" rtlCol="0">
            <a:spAutoFit/>
          </a:bodyPr>
          <a:lstStyle/>
          <a:p>
            <a:r>
              <a:rPr lang="en-US" dirty="0">
                <a:solidFill>
                  <a:schemeClr val="bg1"/>
                </a:solidFill>
              </a:rPr>
              <a:t>= NOTE: Every time you see this learning image, there is an exercise, either in a group or self – learning mode. Some of these may be  optional , while others are recommended, or mandatory. Read closely the instructions, and we recommend you complete all the learning sources provided.</a:t>
            </a:r>
          </a:p>
        </p:txBody>
      </p:sp>
      <p:sp>
        <p:nvSpPr>
          <p:cNvPr id="7" name="Slide Number Placeholder 4">
            <a:extLst>
              <a:ext uri="{FF2B5EF4-FFF2-40B4-BE49-F238E27FC236}">
                <a16:creationId xmlns:a16="http://schemas.microsoft.com/office/drawing/2014/main" id="{E3BC915A-19D2-E64C-A1D9-CDAE86F61B3E}"/>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a:t>
            </a:fld>
            <a:endParaRPr lang="en-US" sz="1400" dirty="0">
              <a:solidFill>
                <a:schemeClr val="bg1"/>
              </a:solidFill>
            </a:endParaRPr>
          </a:p>
        </p:txBody>
      </p:sp>
    </p:spTree>
    <p:extLst>
      <p:ext uri="{BB962C8B-B14F-4D97-AF65-F5344CB8AC3E}">
        <p14:creationId xmlns:p14="http://schemas.microsoft.com/office/powerpoint/2010/main" val="1047482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F540F-3492-5B44-8E26-A8606F65147B}"/>
              </a:ext>
            </a:extLst>
          </p:cNvPr>
          <p:cNvPicPr>
            <a:picLocks noChangeAspect="1"/>
          </p:cNvPicPr>
          <p:nvPr/>
        </p:nvPicPr>
        <p:blipFill>
          <a:blip r:embed="rId2">
            <a:alphaModFix amt="35000"/>
          </a:blip>
          <a:stretch>
            <a:fillRect/>
          </a:stretch>
        </p:blipFill>
        <p:spPr>
          <a:xfrm>
            <a:off x="0" y="0"/>
            <a:ext cx="12192000" cy="6858000"/>
          </a:xfrm>
          <a:prstGeom prst="rect">
            <a:avLst/>
          </a:prstGeom>
        </p:spPr>
      </p:pic>
      <p:sp>
        <p:nvSpPr>
          <p:cNvPr id="4" name="Rectangle 3"/>
          <p:cNvSpPr/>
          <p:nvPr/>
        </p:nvSpPr>
        <p:spPr>
          <a:xfrm>
            <a:off x="0" y="2157413"/>
            <a:ext cx="12192000" cy="222885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5EA39E8C-FF6B-D84A-9F1B-4DA182E19CA1}"/>
              </a:ext>
            </a:extLst>
          </p:cNvPr>
          <p:cNvSpPr/>
          <p:nvPr/>
        </p:nvSpPr>
        <p:spPr bwMode="auto">
          <a:xfrm>
            <a:off x="5366098" y="3598098"/>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3" name="Title 1">
            <a:extLst>
              <a:ext uri="{FF2B5EF4-FFF2-40B4-BE49-F238E27FC236}">
                <a16:creationId xmlns:a16="http://schemas.microsoft.com/office/drawing/2014/main" id="{A44AD90D-4B77-294C-839C-B3215A2A803C}"/>
              </a:ext>
            </a:extLst>
          </p:cNvPr>
          <p:cNvSpPr txBox="1">
            <a:spLocks/>
          </p:cNvSpPr>
          <p:nvPr/>
        </p:nvSpPr>
        <p:spPr>
          <a:xfrm>
            <a:off x="283853" y="2157413"/>
            <a:ext cx="11358563" cy="1568556"/>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0" dirty="0">
                <a:solidFill>
                  <a:prstClr val="white"/>
                </a:solidFill>
                <a:latin typeface="Perpetua Titling MT Light" charset="0"/>
                <a:ea typeface="Perpetua Titling MT Light" charset="0"/>
                <a:cs typeface="Perpetua Titling MT Light" charset="0"/>
              </a:rPr>
              <a:t>Section 1.0 : </a:t>
            </a:r>
          </a:p>
          <a:p>
            <a:pPr algn="ctr"/>
            <a:r>
              <a:rPr lang="en-US" sz="3600" b="0" dirty="0">
                <a:solidFill>
                  <a:prstClr val="white"/>
                </a:solidFill>
                <a:latin typeface="Perpetua Titling MT Light" charset="0"/>
                <a:ea typeface="Perpetua Titling MT Light" charset="0"/>
                <a:cs typeface="Perpetua Titling MT Light" charset="0"/>
              </a:rPr>
              <a:t>What is Artificial Intelligence?</a:t>
            </a:r>
            <a:endParaRPr lang="en-US" sz="3600" b="0" dirty="0">
              <a:solidFill>
                <a:srgbClr val="89C542"/>
              </a:solidFill>
              <a:latin typeface="Perpetua Titling MT Light" charset="0"/>
              <a:ea typeface="Perpetua Titling MT Light" charset="0"/>
              <a:cs typeface="Perpetua Titling MT Light" charset="0"/>
            </a:endParaRPr>
          </a:p>
        </p:txBody>
      </p:sp>
    </p:spTree>
    <p:extLst>
      <p:ext uri="{BB962C8B-B14F-4D97-AF65-F5344CB8AC3E}">
        <p14:creationId xmlns:p14="http://schemas.microsoft.com/office/powerpoint/2010/main" val="1530040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39E8C-FF6B-D84A-9F1B-4DA182E19CA1}"/>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3" name="Title 1">
            <a:extLst>
              <a:ext uri="{FF2B5EF4-FFF2-40B4-BE49-F238E27FC236}">
                <a16:creationId xmlns:a16="http://schemas.microsoft.com/office/drawing/2014/main" id="{A44AD90D-4B77-294C-839C-B3215A2A803C}"/>
              </a:ext>
            </a:extLst>
          </p:cNvPr>
          <p:cNvSpPr txBox="1">
            <a:spLocks/>
          </p:cNvSpPr>
          <p:nvPr/>
        </p:nvSpPr>
        <p:spPr>
          <a:xfrm>
            <a:off x="626366" y="74507"/>
            <a:ext cx="10673542" cy="768957"/>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0" dirty="0">
                <a:solidFill>
                  <a:prstClr val="white"/>
                </a:solidFill>
                <a:latin typeface="Perpetua Titling MT Light" charset="0"/>
                <a:ea typeface="Perpetua Titling MT Light" charset="0"/>
                <a:cs typeface="Perpetua Titling MT Light" charset="0"/>
              </a:rPr>
              <a:t>What is AI?</a:t>
            </a:r>
          </a:p>
        </p:txBody>
      </p:sp>
      <p:sp>
        <p:nvSpPr>
          <p:cNvPr id="7" name="TextBox 6">
            <a:extLst>
              <a:ext uri="{FF2B5EF4-FFF2-40B4-BE49-F238E27FC236}">
                <a16:creationId xmlns:a16="http://schemas.microsoft.com/office/drawing/2014/main" id="{FC0DA16E-F204-7147-9A32-B0360842EF18}"/>
              </a:ext>
            </a:extLst>
          </p:cNvPr>
          <p:cNvSpPr txBox="1"/>
          <p:nvPr/>
        </p:nvSpPr>
        <p:spPr>
          <a:xfrm>
            <a:off x="278787" y="1074549"/>
            <a:ext cx="11598441" cy="1692771"/>
          </a:xfrm>
          <a:prstGeom prst="rect">
            <a:avLst/>
          </a:prstGeom>
          <a:noFill/>
        </p:spPr>
        <p:txBody>
          <a:bodyPr wrap="square" rtlCol="0">
            <a:spAutoFit/>
          </a:bodyPr>
          <a:lstStyle/>
          <a:p>
            <a:pPr algn="ctr"/>
            <a:r>
              <a:rPr lang="en-US" sz="2800" dirty="0">
                <a:solidFill>
                  <a:schemeClr val="bg1"/>
                </a:solidFill>
              </a:rPr>
              <a:t>In a business context, </a:t>
            </a:r>
            <a:r>
              <a:rPr lang="en-US" sz="2800" b="1" dirty="0">
                <a:solidFill>
                  <a:srgbClr val="FFFF00"/>
                </a:solidFill>
              </a:rPr>
              <a:t>AI is a collection of technologies that power machines to perceive their environment and take action.</a:t>
            </a:r>
            <a:endParaRPr lang="en-US" sz="2400" b="1" dirty="0">
              <a:solidFill>
                <a:srgbClr val="FFFF00"/>
              </a:solidFill>
            </a:endParaRPr>
          </a:p>
          <a:p>
            <a:pPr algn="ctr"/>
            <a:r>
              <a:rPr lang="en-US" sz="2400" dirty="0">
                <a:solidFill>
                  <a:schemeClr val="bg1"/>
                </a:solidFill>
              </a:rPr>
              <a:t>The new catalyst essential to </a:t>
            </a:r>
            <a:r>
              <a:rPr lang="en-US" sz="2400" b="1" dirty="0">
                <a:solidFill>
                  <a:srgbClr val="FFFF00"/>
                </a:solidFill>
              </a:rPr>
              <a:t>AI is the ability to autonomously learn, adapt, and improve </a:t>
            </a:r>
            <a:r>
              <a:rPr lang="en-US" sz="2400" dirty="0">
                <a:solidFill>
                  <a:schemeClr val="bg1"/>
                </a:solidFill>
              </a:rPr>
              <a:t>– at increasingly lower costs – striving to mimic human intelligent and interactions.</a:t>
            </a:r>
          </a:p>
        </p:txBody>
      </p:sp>
      <p:cxnSp>
        <p:nvCxnSpPr>
          <p:cNvPr id="8" name="Straight Connector 7"/>
          <p:cNvCxnSpPr>
            <a:cxnSpLocks/>
            <a:stCxn id="46" idx="2"/>
          </p:cNvCxnSpPr>
          <p:nvPr/>
        </p:nvCxnSpPr>
        <p:spPr>
          <a:xfrm flipH="1">
            <a:off x="2265959" y="3577356"/>
            <a:ext cx="5222768" cy="6075"/>
          </a:xfrm>
          <a:prstGeom prst="line">
            <a:avLst/>
          </a:prstGeom>
          <a:ln>
            <a:solidFill>
              <a:srgbClr val="1C88AF"/>
            </a:solidFill>
            <a:prstDash val="sysDash"/>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06116" y="4389694"/>
            <a:ext cx="1857939" cy="2015936"/>
          </a:xfrm>
          <a:prstGeom prst="rect">
            <a:avLst/>
          </a:prstGeom>
          <a:noFill/>
          <a:ln>
            <a:noFill/>
          </a:ln>
        </p:spPr>
        <p:txBody>
          <a:bodyPr wrap="square" lIns="0" tIns="0" rIns="0" bIns="0" rtlCol="0">
            <a:spAutoFit/>
          </a:bodyPr>
          <a:lstStyle/>
          <a:p>
            <a:pPr defTabSz="913851">
              <a:spcBef>
                <a:spcPts val="200"/>
              </a:spcBef>
              <a:spcAft>
                <a:spcPts val="400"/>
              </a:spcAft>
              <a:defRPr/>
            </a:pPr>
            <a:r>
              <a:rPr lang="en-US" b="1" cap="all" dirty="0">
                <a:solidFill>
                  <a:srgbClr val="FFFF00"/>
                </a:solidFill>
              </a:rPr>
              <a:t>SensING</a:t>
            </a:r>
          </a:p>
          <a:p>
            <a:pPr defTabSz="913851">
              <a:spcBef>
                <a:spcPts val="200"/>
              </a:spcBef>
              <a:spcAft>
                <a:spcPts val="400"/>
              </a:spcAft>
              <a:defRPr/>
            </a:pPr>
            <a:r>
              <a:rPr lang="en-US" dirty="0">
                <a:solidFill>
                  <a:schemeClr val="bg1"/>
                </a:solidFill>
              </a:rPr>
              <a:t>Perceive the world </a:t>
            </a:r>
            <a:r>
              <a:rPr lang="en-US" dirty="0">
                <a:solidFill>
                  <a:srgbClr val="FFFFFF"/>
                </a:solidFill>
              </a:rPr>
              <a:t>by acquiring and processing images, sounds and speech to develop </a:t>
            </a:r>
            <a:r>
              <a:rPr lang="en-US" dirty="0">
                <a:solidFill>
                  <a:srgbClr val="00B9FF"/>
                </a:solidFill>
              </a:rPr>
              <a:t>enhanced data</a:t>
            </a:r>
            <a:r>
              <a:rPr lang="en-US" dirty="0">
                <a:solidFill>
                  <a:schemeClr val="bg1"/>
                </a:solidFill>
              </a:rPr>
              <a:t>.</a:t>
            </a:r>
            <a:endParaRPr lang="de-DE" dirty="0">
              <a:solidFill>
                <a:schemeClr val="bg1"/>
              </a:solidFill>
            </a:endParaRPr>
          </a:p>
        </p:txBody>
      </p:sp>
      <p:sp>
        <p:nvSpPr>
          <p:cNvPr id="10" name="TextBox 9"/>
          <p:cNvSpPr txBox="1"/>
          <p:nvPr/>
        </p:nvSpPr>
        <p:spPr>
          <a:xfrm>
            <a:off x="2805618" y="4389695"/>
            <a:ext cx="2109282" cy="1461939"/>
          </a:xfrm>
          <a:prstGeom prst="rect">
            <a:avLst/>
          </a:prstGeom>
          <a:noFill/>
          <a:ln>
            <a:noFill/>
          </a:ln>
        </p:spPr>
        <p:txBody>
          <a:bodyPr wrap="square" lIns="0" tIns="0" rIns="0" bIns="0" rtlCol="0">
            <a:spAutoFit/>
          </a:bodyPr>
          <a:lstStyle/>
          <a:p>
            <a:pPr algn="ctr" defTabSz="913851">
              <a:spcBef>
                <a:spcPts val="200"/>
              </a:spcBef>
              <a:spcAft>
                <a:spcPts val="400"/>
              </a:spcAft>
              <a:defRPr/>
            </a:pPr>
            <a:r>
              <a:rPr lang="en-US" b="1" cap="all" dirty="0">
                <a:solidFill>
                  <a:srgbClr val="FFFF00"/>
                </a:solidFill>
              </a:rPr>
              <a:t>UNDERSTANDING</a:t>
            </a:r>
          </a:p>
          <a:p>
            <a:pPr defTabSz="913851">
              <a:spcBef>
                <a:spcPts val="200"/>
              </a:spcBef>
              <a:spcAft>
                <a:spcPts val="400"/>
              </a:spcAft>
              <a:defRPr/>
            </a:pPr>
            <a:r>
              <a:rPr lang="en-US" dirty="0">
                <a:solidFill>
                  <a:srgbClr val="FFFFFF"/>
                </a:solidFill>
              </a:rPr>
              <a:t>Analyze and understand</a:t>
            </a:r>
            <a:r>
              <a:rPr lang="en-US" b="1" dirty="0">
                <a:solidFill>
                  <a:srgbClr val="FFFFFF"/>
                </a:solidFill>
              </a:rPr>
              <a:t> </a:t>
            </a:r>
            <a:r>
              <a:rPr lang="en-US" dirty="0">
                <a:solidFill>
                  <a:srgbClr val="FFFFFF"/>
                </a:solidFill>
              </a:rPr>
              <a:t>the</a:t>
            </a:r>
            <a:r>
              <a:rPr lang="en-US" b="1" dirty="0">
                <a:solidFill>
                  <a:srgbClr val="FFFFFF"/>
                </a:solidFill>
              </a:rPr>
              <a:t> </a:t>
            </a:r>
            <a:r>
              <a:rPr lang="en-US" dirty="0">
                <a:solidFill>
                  <a:srgbClr val="FFFFFF"/>
                </a:solidFill>
              </a:rPr>
              <a:t>data collected by generating </a:t>
            </a:r>
            <a:r>
              <a:rPr lang="en-US" dirty="0">
                <a:solidFill>
                  <a:srgbClr val="00B9FF"/>
                </a:solidFill>
              </a:rPr>
              <a:t>meaning and insights</a:t>
            </a:r>
            <a:r>
              <a:rPr lang="en-US" dirty="0">
                <a:solidFill>
                  <a:srgbClr val="FFFFFF"/>
                </a:solidFill>
              </a:rPr>
              <a:t>.</a:t>
            </a:r>
            <a:endParaRPr lang="de-DE" dirty="0">
              <a:solidFill>
                <a:srgbClr val="FFFFFF"/>
              </a:solidFill>
            </a:endParaRPr>
          </a:p>
        </p:txBody>
      </p:sp>
      <p:sp>
        <p:nvSpPr>
          <p:cNvPr id="11" name="TextBox 10"/>
          <p:cNvSpPr txBox="1"/>
          <p:nvPr/>
        </p:nvSpPr>
        <p:spPr>
          <a:xfrm>
            <a:off x="5366100" y="4389695"/>
            <a:ext cx="1795664" cy="1461939"/>
          </a:xfrm>
          <a:prstGeom prst="rect">
            <a:avLst/>
          </a:prstGeom>
          <a:noFill/>
          <a:ln>
            <a:noFill/>
          </a:ln>
        </p:spPr>
        <p:txBody>
          <a:bodyPr wrap="square" lIns="0" tIns="0" rIns="0" bIns="0" rtlCol="0">
            <a:spAutoFit/>
          </a:bodyPr>
          <a:lstStyle/>
          <a:p>
            <a:pPr defTabSz="913851">
              <a:spcBef>
                <a:spcPts val="200"/>
              </a:spcBef>
              <a:spcAft>
                <a:spcPts val="400"/>
              </a:spcAft>
              <a:defRPr/>
            </a:pPr>
            <a:r>
              <a:rPr lang="en-US" b="1" cap="all" dirty="0">
                <a:solidFill>
                  <a:srgbClr val="FFFF00"/>
                </a:solidFill>
              </a:rPr>
              <a:t>actING</a:t>
            </a:r>
          </a:p>
          <a:p>
            <a:pPr defTabSz="913851">
              <a:spcBef>
                <a:spcPts val="200"/>
              </a:spcBef>
              <a:spcAft>
                <a:spcPts val="400"/>
              </a:spcAft>
              <a:defRPr/>
            </a:pPr>
            <a:r>
              <a:rPr lang="en-US" dirty="0">
                <a:solidFill>
                  <a:srgbClr val="FFFFFF"/>
                </a:solidFill>
              </a:rPr>
              <a:t>Use the information generated to</a:t>
            </a:r>
            <a:r>
              <a:rPr lang="en-US" dirty="0">
                <a:solidFill>
                  <a:srgbClr val="00B9FF"/>
                </a:solidFill>
              </a:rPr>
              <a:t> take action</a:t>
            </a:r>
            <a:r>
              <a:rPr lang="en-US" dirty="0">
                <a:solidFill>
                  <a:srgbClr val="FFFFFF"/>
                </a:solidFill>
              </a:rPr>
              <a:t>.</a:t>
            </a:r>
            <a:endParaRPr lang="de-DE" dirty="0">
              <a:solidFill>
                <a:srgbClr val="FFFFFF"/>
              </a:solidFill>
            </a:endParaRPr>
          </a:p>
        </p:txBody>
      </p:sp>
      <p:sp>
        <p:nvSpPr>
          <p:cNvPr id="12" name="TextBox 11"/>
          <p:cNvSpPr txBox="1"/>
          <p:nvPr/>
        </p:nvSpPr>
        <p:spPr>
          <a:xfrm>
            <a:off x="7224459" y="4368732"/>
            <a:ext cx="1964429" cy="2015936"/>
          </a:xfrm>
          <a:prstGeom prst="rect">
            <a:avLst/>
          </a:prstGeom>
          <a:noFill/>
          <a:ln>
            <a:noFill/>
          </a:ln>
        </p:spPr>
        <p:txBody>
          <a:bodyPr wrap="square" lIns="0" tIns="0" rIns="0" bIns="0" rtlCol="0">
            <a:spAutoFit/>
          </a:bodyPr>
          <a:lstStyle/>
          <a:p>
            <a:pPr defTabSz="913851">
              <a:spcBef>
                <a:spcPts val="200"/>
              </a:spcBef>
              <a:spcAft>
                <a:spcPts val="400"/>
              </a:spcAft>
              <a:defRPr/>
            </a:pPr>
            <a:r>
              <a:rPr lang="en-US" b="1" cap="all" dirty="0">
                <a:solidFill>
                  <a:srgbClr val="FFFF00"/>
                </a:solidFill>
              </a:rPr>
              <a:t>LearnING</a:t>
            </a:r>
          </a:p>
          <a:p>
            <a:pPr defTabSz="913851">
              <a:spcBef>
                <a:spcPts val="200"/>
              </a:spcBef>
              <a:spcAft>
                <a:spcPts val="400"/>
              </a:spcAft>
              <a:defRPr/>
            </a:pPr>
            <a:r>
              <a:rPr lang="en-US" dirty="0">
                <a:solidFill>
                  <a:srgbClr val="FFFFFF"/>
                </a:solidFill>
              </a:rPr>
              <a:t>Deploy examples, trial and error and unsupervised learning algorithms to </a:t>
            </a:r>
            <a:r>
              <a:rPr lang="en-US" dirty="0">
                <a:solidFill>
                  <a:srgbClr val="00B9FF"/>
                </a:solidFill>
              </a:rPr>
              <a:t>learn and improve outcomes</a:t>
            </a:r>
            <a:r>
              <a:rPr lang="en-US" dirty="0">
                <a:solidFill>
                  <a:srgbClr val="FFFFFF"/>
                </a:solidFill>
              </a:rPr>
              <a:t>.</a:t>
            </a:r>
          </a:p>
        </p:txBody>
      </p:sp>
      <p:grpSp>
        <p:nvGrpSpPr>
          <p:cNvPr id="13" name="Group 12"/>
          <p:cNvGrpSpPr/>
          <p:nvPr/>
        </p:nvGrpSpPr>
        <p:grpSpPr>
          <a:xfrm>
            <a:off x="1364312" y="3116146"/>
            <a:ext cx="974753" cy="974753"/>
            <a:chOff x="887626" y="1407707"/>
            <a:chExt cx="914400" cy="914400"/>
          </a:xfrm>
        </p:grpSpPr>
        <p:grpSp>
          <p:nvGrpSpPr>
            <p:cNvPr id="14" name="Group 13"/>
            <p:cNvGrpSpPr/>
            <p:nvPr/>
          </p:nvGrpSpPr>
          <p:grpSpPr>
            <a:xfrm>
              <a:off x="887626" y="1407707"/>
              <a:ext cx="914400" cy="914400"/>
              <a:chOff x="303212" y="1927039"/>
              <a:chExt cx="914400" cy="914400"/>
            </a:xfrm>
          </p:grpSpPr>
          <p:sp>
            <p:nvSpPr>
              <p:cNvPr id="16" name="Oval 15"/>
              <p:cNvSpPr/>
              <p:nvPr/>
            </p:nvSpPr>
            <p:spPr>
              <a:xfrm>
                <a:off x="303212" y="1927039"/>
                <a:ext cx="914400" cy="914400"/>
              </a:xfrm>
              <a:prstGeom prst="ellipse">
                <a:avLst/>
              </a:prstGeom>
              <a:solidFill>
                <a:schemeClr val="bg1"/>
              </a:solidFill>
              <a:ln w="9525" cap="flat" cmpd="sng" algn="ctr">
                <a:solidFill>
                  <a:srgbClr val="89C542"/>
                </a:solidFill>
                <a:prstDash val="sysDash"/>
              </a:ln>
              <a:effectLst/>
            </p:spPr>
            <p:txBody>
              <a:bodyPr rtlCol="0" anchor="ctr"/>
              <a:lstStyle/>
              <a:p>
                <a:pPr algn="ctr" defTabSz="814841">
                  <a:defRPr/>
                </a:pPr>
                <a:endParaRPr lang="en-US" sz="1999" kern="0" dirty="0">
                  <a:solidFill>
                    <a:srgbClr val="FFFFFF"/>
                  </a:solidFill>
                  <a:latin typeface="Arial Black"/>
                </a:endParaRPr>
              </a:p>
            </p:txBody>
          </p:sp>
          <p:sp>
            <p:nvSpPr>
              <p:cNvPr id="17" name="Oval 16"/>
              <p:cNvSpPr/>
              <p:nvPr/>
            </p:nvSpPr>
            <p:spPr>
              <a:xfrm>
                <a:off x="371792" y="1995619"/>
                <a:ext cx="777240" cy="777240"/>
              </a:xfrm>
              <a:prstGeom prst="ellipse">
                <a:avLst/>
              </a:prstGeom>
              <a:solidFill>
                <a:schemeClr val="bg1"/>
              </a:solidFill>
              <a:ln w="9525" cap="flat" cmpd="sng" algn="ctr">
                <a:solidFill>
                  <a:srgbClr val="89C542"/>
                </a:solidFill>
                <a:prstDash val="solid"/>
              </a:ln>
              <a:effectLst/>
            </p:spPr>
            <p:txBody>
              <a:bodyPr rtlCol="0" anchor="ctr"/>
              <a:lstStyle/>
              <a:p>
                <a:pPr algn="ctr" defTabSz="814841">
                  <a:defRPr/>
                </a:pPr>
                <a:endParaRPr lang="en-US" sz="1999" kern="0" dirty="0">
                  <a:solidFill>
                    <a:srgbClr val="FFFFFF"/>
                  </a:solidFill>
                  <a:latin typeface="Arial Black"/>
                </a:endParaRPr>
              </a:p>
            </p:txBody>
          </p:sp>
        </p:grpSp>
        <p:sp>
          <p:nvSpPr>
            <p:cNvPr id="15" name="Oval 14"/>
            <p:cNvSpPr/>
            <p:nvPr/>
          </p:nvSpPr>
          <p:spPr>
            <a:xfrm>
              <a:off x="1266655" y="1786736"/>
              <a:ext cx="156342" cy="156342"/>
            </a:xfrm>
            <a:prstGeom prst="ellipse">
              <a:avLst/>
            </a:prstGeom>
            <a:solidFill>
              <a:schemeClr val="bg1"/>
            </a:solidFill>
            <a:ln>
              <a:solidFill>
                <a:srgbClr val="89C5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3851">
                <a:defRPr/>
              </a:pPr>
              <a:endParaRPr lang="en-US" sz="2399" dirty="0">
                <a:solidFill>
                  <a:srgbClr val="FFFFFF"/>
                </a:solidFill>
                <a:latin typeface="Arial"/>
              </a:endParaRPr>
            </a:p>
          </p:txBody>
        </p:sp>
      </p:grpSp>
      <p:grpSp>
        <p:nvGrpSpPr>
          <p:cNvPr id="18" name="Group 17"/>
          <p:cNvGrpSpPr/>
          <p:nvPr/>
        </p:nvGrpSpPr>
        <p:grpSpPr>
          <a:xfrm>
            <a:off x="3388502" y="3116146"/>
            <a:ext cx="974753" cy="974753"/>
            <a:chOff x="887626" y="1407707"/>
            <a:chExt cx="914400" cy="914400"/>
          </a:xfrm>
        </p:grpSpPr>
        <p:grpSp>
          <p:nvGrpSpPr>
            <p:cNvPr id="19" name="Group 18"/>
            <p:cNvGrpSpPr/>
            <p:nvPr/>
          </p:nvGrpSpPr>
          <p:grpSpPr>
            <a:xfrm>
              <a:off x="887626" y="1407707"/>
              <a:ext cx="914400" cy="914400"/>
              <a:chOff x="303212" y="1927039"/>
              <a:chExt cx="914400" cy="914400"/>
            </a:xfrm>
          </p:grpSpPr>
          <p:sp>
            <p:nvSpPr>
              <p:cNvPr id="21" name="Oval 20"/>
              <p:cNvSpPr/>
              <p:nvPr/>
            </p:nvSpPr>
            <p:spPr>
              <a:xfrm>
                <a:off x="303212" y="1927039"/>
                <a:ext cx="914400" cy="914400"/>
              </a:xfrm>
              <a:prstGeom prst="ellipse">
                <a:avLst/>
              </a:prstGeom>
              <a:solidFill>
                <a:schemeClr val="bg1"/>
              </a:solidFill>
              <a:ln w="9525" cap="flat" cmpd="sng" algn="ctr">
                <a:solidFill>
                  <a:srgbClr val="89C542"/>
                </a:solidFill>
                <a:prstDash val="sysDash"/>
              </a:ln>
              <a:effectLst/>
            </p:spPr>
            <p:txBody>
              <a:bodyPr rtlCol="0" anchor="ctr"/>
              <a:lstStyle/>
              <a:p>
                <a:pPr algn="ctr" defTabSz="814841">
                  <a:defRPr/>
                </a:pPr>
                <a:endParaRPr lang="en-US" sz="1999" kern="0" dirty="0">
                  <a:solidFill>
                    <a:srgbClr val="FFFFFF"/>
                  </a:solidFill>
                  <a:latin typeface="Arial Black"/>
                </a:endParaRPr>
              </a:p>
            </p:txBody>
          </p:sp>
          <p:sp>
            <p:nvSpPr>
              <p:cNvPr id="22" name="Oval 21"/>
              <p:cNvSpPr/>
              <p:nvPr/>
            </p:nvSpPr>
            <p:spPr>
              <a:xfrm>
                <a:off x="371792" y="1995619"/>
                <a:ext cx="777240" cy="777240"/>
              </a:xfrm>
              <a:prstGeom prst="ellipse">
                <a:avLst/>
              </a:prstGeom>
              <a:solidFill>
                <a:schemeClr val="bg1"/>
              </a:solidFill>
              <a:ln w="9525" cap="flat" cmpd="sng" algn="ctr">
                <a:solidFill>
                  <a:srgbClr val="89C542"/>
                </a:solidFill>
                <a:prstDash val="solid"/>
              </a:ln>
              <a:effectLst/>
            </p:spPr>
            <p:txBody>
              <a:bodyPr rtlCol="0" anchor="ctr"/>
              <a:lstStyle/>
              <a:p>
                <a:pPr algn="ctr" defTabSz="814841">
                  <a:defRPr/>
                </a:pPr>
                <a:endParaRPr lang="en-US" sz="1999" kern="0" dirty="0">
                  <a:solidFill>
                    <a:srgbClr val="FFFFFF"/>
                  </a:solidFill>
                  <a:latin typeface="Arial Black"/>
                </a:endParaRPr>
              </a:p>
            </p:txBody>
          </p:sp>
        </p:grpSp>
        <p:sp>
          <p:nvSpPr>
            <p:cNvPr id="20" name="Oval 19"/>
            <p:cNvSpPr/>
            <p:nvPr/>
          </p:nvSpPr>
          <p:spPr>
            <a:xfrm>
              <a:off x="1266655" y="1786736"/>
              <a:ext cx="156342" cy="156342"/>
            </a:xfrm>
            <a:prstGeom prst="ellipse">
              <a:avLst/>
            </a:prstGeom>
            <a:solidFill>
              <a:schemeClr val="bg1"/>
            </a:solidFill>
            <a:ln>
              <a:solidFill>
                <a:srgbClr val="89C5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3851">
                <a:defRPr/>
              </a:pPr>
              <a:endParaRPr lang="en-US" sz="2399" dirty="0">
                <a:solidFill>
                  <a:srgbClr val="FFFFFF"/>
                </a:solidFill>
                <a:latin typeface="Arial"/>
              </a:endParaRPr>
            </a:p>
          </p:txBody>
        </p:sp>
      </p:grpSp>
      <p:grpSp>
        <p:nvGrpSpPr>
          <p:cNvPr id="23" name="Group 22"/>
          <p:cNvGrpSpPr/>
          <p:nvPr/>
        </p:nvGrpSpPr>
        <p:grpSpPr>
          <a:xfrm>
            <a:off x="5443155" y="3116146"/>
            <a:ext cx="974753" cy="974753"/>
            <a:chOff x="2533283" y="3049588"/>
            <a:chExt cx="914400" cy="914400"/>
          </a:xfrm>
        </p:grpSpPr>
        <p:grpSp>
          <p:nvGrpSpPr>
            <p:cNvPr id="24" name="Group 23"/>
            <p:cNvGrpSpPr/>
            <p:nvPr/>
          </p:nvGrpSpPr>
          <p:grpSpPr>
            <a:xfrm>
              <a:off x="2533283" y="3049588"/>
              <a:ext cx="914400" cy="914400"/>
              <a:chOff x="887626" y="1407707"/>
              <a:chExt cx="914400" cy="914400"/>
            </a:xfrm>
          </p:grpSpPr>
          <p:grpSp>
            <p:nvGrpSpPr>
              <p:cNvPr id="26" name="Group 25"/>
              <p:cNvGrpSpPr/>
              <p:nvPr/>
            </p:nvGrpSpPr>
            <p:grpSpPr>
              <a:xfrm>
                <a:off x="887626" y="1407707"/>
                <a:ext cx="914400" cy="914400"/>
                <a:chOff x="303212" y="1927039"/>
                <a:chExt cx="914400" cy="914400"/>
              </a:xfrm>
            </p:grpSpPr>
            <p:sp>
              <p:nvSpPr>
                <p:cNvPr id="28" name="Oval 27"/>
                <p:cNvSpPr/>
                <p:nvPr/>
              </p:nvSpPr>
              <p:spPr>
                <a:xfrm>
                  <a:off x="303212" y="1927039"/>
                  <a:ext cx="914400" cy="914400"/>
                </a:xfrm>
                <a:prstGeom prst="ellipse">
                  <a:avLst/>
                </a:prstGeom>
                <a:solidFill>
                  <a:schemeClr val="bg1"/>
                </a:solidFill>
                <a:ln w="9525" cap="flat" cmpd="sng" algn="ctr">
                  <a:solidFill>
                    <a:schemeClr val="tx2">
                      <a:lumMod val="60000"/>
                      <a:lumOff val="40000"/>
                    </a:schemeClr>
                  </a:solidFill>
                  <a:prstDash val="sysDash"/>
                </a:ln>
                <a:effectLst/>
              </p:spPr>
              <p:txBody>
                <a:bodyPr rtlCol="0" anchor="ctr"/>
                <a:lstStyle/>
                <a:p>
                  <a:pPr algn="ctr" defTabSz="814841">
                    <a:defRPr/>
                  </a:pPr>
                  <a:endParaRPr lang="en-US" sz="1999" kern="0" dirty="0">
                    <a:solidFill>
                      <a:srgbClr val="FFFFFF"/>
                    </a:solidFill>
                    <a:latin typeface="Arial Black"/>
                  </a:endParaRPr>
                </a:p>
              </p:txBody>
            </p:sp>
            <p:sp>
              <p:nvSpPr>
                <p:cNvPr id="29" name="Oval 28"/>
                <p:cNvSpPr/>
                <p:nvPr/>
              </p:nvSpPr>
              <p:spPr>
                <a:xfrm>
                  <a:off x="371792" y="1995619"/>
                  <a:ext cx="777240" cy="777240"/>
                </a:xfrm>
                <a:prstGeom prst="ellipse">
                  <a:avLst/>
                </a:prstGeom>
                <a:solidFill>
                  <a:schemeClr val="bg1"/>
                </a:solidFill>
                <a:ln w="9525" cap="flat" cmpd="sng" algn="ctr">
                  <a:solidFill>
                    <a:schemeClr val="bg2"/>
                  </a:solidFill>
                  <a:prstDash val="solid"/>
                </a:ln>
                <a:effectLst/>
              </p:spPr>
              <p:txBody>
                <a:bodyPr rtlCol="0" anchor="ctr"/>
                <a:lstStyle/>
                <a:p>
                  <a:pPr algn="ctr" defTabSz="814841">
                    <a:defRPr/>
                  </a:pPr>
                  <a:endParaRPr lang="en-US" sz="1999" kern="0" dirty="0">
                    <a:solidFill>
                      <a:srgbClr val="FFFFFF"/>
                    </a:solidFill>
                    <a:latin typeface="Arial Black"/>
                  </a:endParaRPr>
                </a:p>
              </p:txBody>
            </p:sp>
          </p:grpSp>
          <p:sp>
            <p:nvSpPr>
              <p:cNvPr id="27" name="Oval 26"/>
              <p:cNvSpPr/>
              <p:nvPr/>
            </p:nvSpPr>
            <p:spPr>
              <a:xfrm>
                <a:off x="1266655" y="1786736"/>
                <a:ext cx="156342" cy="156342"/>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3851">
                  <a:defRPr/>
                </a:pPr>
                <a:endParaRPr lang="en-US" sz="2399" dirty="0">
                  <a:solidFill>
                    <a:srgbClr val="FFFFFF"/>
                  </a:solidFill>
                  <a:latin typeface="Arial"/>
                </a:endParaRPr>
              </a:p>
            </p:txBody>
          </p:sp>
        </p:grpSp>
        <p:sp>
          <p:nvSpPr>
            <p:cNvPr id="25" name="Freeform 24"/>
            <p:cNvSpPr>
              <a:spLocks noEditPoints="1"/>
            </p:cNvSpPr>
            <p:nvPr/>
          </p:nvSpPr>
          <p:spPr bwMode="auto">
            <a:xfrm>
              <a:off x="2749991" y="3276330"/>
              <a:ext cx="457200" cy="457200"/>
            </a:xfrm>
            <a:custGeom>
              <a:avLst/>
              <a:gdLst>
                <a:gd name="T0" fmla="*/ 884 w 1768"/>
                <a:gd name="T1" fmla="*/ 0 h 1768"/>
                <a:gd name="T2" fmla="*/ 0 w 1768"/>
                <a:gd name="T3" fmla="*/ 884 h 1768"/>
                <a:gd name="T4" fmla="*/ 884 w 1768"/>
                <a:gd name="T5" fmla="*/ 1768 h 1768"/>
                <a:gd name="T6" fmla="*/ 1768 w 1768"/>
                <a:gd name="T7" fmla="*/ 884 h 1768"/>
                <a:gd name="T8" fmla="*/ 884 w 1768"/>
                <a:gd name="T9" fmla="*/ 0 h 1768"/>
                <a:gd name="T10" fmla="*/ 1328 w 1768"/>
                <a:gd name="T11" fmla="*/ 521 h 1768"/>
                <a:gd name="T12" fmla="*/ 868 w 1768"/>
                <a:gd name="T13" fmla="*/ 1353 h 1768"/>
                <a:gd name="T14" fmla="*/ 775 w 1768"/>
                <a:gd name="T15" fmla="*/ 1408 h 1768"/>
                <a:gd name="T16" fmla="*/ 774 w 1768"/>
                <a:gd name="T17" fmla="*/ 1408 h 1768"/>
                <a:gd name="T18" fmla="*/ 680 w 1768"/>
                <a:gd name="T19" fmla="*/ 1355 h 1768"/>
                <a:gd name="T20" fmla="*/ 440 w 1768"/>
                <a:gd name="T21" fmla="*/ 943 h 1768"/>
                <a:gd name="T22" fmla="*/ 479 w 1768"/>
                <a:gd name="T23" fmla="*/ 795 h 1768"/>
                <a:gd name="T24" fmla="*/ 627 w 1768"/>
                <a:gd name="T25" fmla="*/ 834 h 1768"/>
                <a:gd name="T26" fmla="*/ 771 w 1768"/>
                <a:gd name="T27" fmla="*/ 1082 h 1768"/>
                <a:gd name="T28" fmla="*/ 1139 w 1768"/>
                <a:gd name="T29" fmla="*/ 416 h 1768"/>
                <a:gd name="T30" fmla="*/ 1286 w 1768"/>
                <a:gd name="T31" fmla="*/ 374 h 1768"/>
                <a:gd name="T32" fmla="*/ 1328 w 1768"/>
                <a:gd name="T33" fmla="*/ 521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68" h="1768">
                  <a:moveTo>
                    <a:pt x="884" y="0"/>
                  </a:moveTo>
                  <a:cubicBezTo>
                    <a:pt x="395" y="0"/>
                    <a:pt x="0" y="396"/>
                    <a:pt x="0" y="884"/>
                  </a:cubicBezTo>
                  <a:cubicBezTo>
                    <a:pt x="0" y="1373"/>
                    <a:pt x="395" y="1768"/>
                    <a:pt x="884" y="1768"/>
                  </a:cubicBezTo>
                  <a:cubicBezTo>
                    <a:pt x="1372" y="1768"/>
                    <a:pt x="1768" y="1373"/>
                    <a:pt x="1768" y="884"/>
                  </a:cubicBezTo>
                  <a:cubicBezTo>
                    <a:pt x="1768" y="396"/>
                    <a:pt x="1372" y="0"/>
                    <a:pt x="884" y="0"/>
                  </a:cubicBezTo>
                  <a:close/>
                  <a:moveTo>
                    <a:pt x="1328" y="521"/>
                  </a:moveTo>
                  <a:cubicBezTo>
                    <a:pt x="868" y="1353"/>
                    <a:pt x="868" y="1353"/>
                    <a:pt x="868" y="1353"/>
                  </a:cubicBezTo>
                  <a:cubicBezTo>
                    <a:pt x="849" y="1387"/>
                    <a:pt x="814" y="1408"/>
                    <a:pt x="775" y="1408"/>
                  </a:cubicBezTo>
                  <a:cubicBezTo>
                    <a:pt x="775" y="1408"/>
                    <a:pt x="774" y="1408"/>
                    <a:pt x="774" y="1408"/>
                  </a:cubicBezTo>
                  <a:cubicBezTo>
                    <a:pt x="735" y="1408"/>
                    <a:pt x="700" y="1388"/>
                    <a:pt x="680" y="1355"/>
                  </a:cubicBezTo>
                  <a:cubicBezTo>
                    <a:pt x="440" y="943"/>
                    <a:pt x="440" y="943"/>
                    <a:pt x="440" y="943"/>
                  </a:cubicBezTo>
                  <a:cubicBezTo>
                    <a:pt x="410" y="891"/>
                    <a:pt x="428" y="825"/>
                    <a:pt x="479" y="795"/>
                  </a:cubicBezTo>
                  <a:cubicBezTo>
                    <a:pt x="531" y="765"/>
                    <a:pt x="597" y="782"/>
                    <a:pt x="627" y="834"/>
                  </a:cubicBezTo>
                  <a:cubicBezTo>
                    <a:pt x="771" y="1082"/>
                    <a:pt x="771" y="1082"/>
                    <a:pt x="771" y="1082"/>
                  </a:cubicBezTo>
                  <a:cubicBezTo>
                    <a:pt x="1139" y="416"/>
                    <a:pt x="1139" y="416"/>
                    <a:pt x="1139" y="416"/>
                  </a:cubicBezTo>
                  <a:cubicBezTo>
                    <a:pt x="1168" y="364"/>
                    <a:pt x="1234" y="345"/>
                    <a:pt x="1286" y="374"/>
                  </a:cubicBezTo>
                  <a:cubicBezTo>
                    <a:pt x="1338" y="403"/>
                    <a:pt x="1357" y="468"/>
                    <a:pt x="1328" y="521"/>
                  </a:cubicBezTo>
                  <a:close/>
                </a:path>
              </a:pathLst>
            </a:custGeom>
            <a:solidFill>
              <a:schemeClr val="bg1"/>
            </a:solidFill>
            <a:ln>
              <a:noFill/>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grpSp>
      <p:grpSp>
        <p:nvGrpSpPr>
          <p:cNvPr id="30" name="Group 29"/>
          <p:cNvGrpSpPr/>
          <p:nvPr/>
        </p:nvGrpSpPr>
        <p:grpSpPr>
          <a:xfrm>
            <a:off x="7488727" y="3089979"/>
            <a:ext cx="974753" cy="974753"/>
            <a:chOff x="5163112" y="2903821"/>
            <a:chExt cx="731520" cy="731520"/>
          </a:xfrm>
        </p:grpSpPr>
        <p:grpSp>
          <p:nvGrpSpPr>
            <p:cNvPr id="31" name="Group 30"/>
            <p:cNvGrpSpPr/>
            <p:nvPr/>
          </p:nvGrpSpPr>
          <p:grpSpPr>
            <a:xfrm>
              <a:off x="5163112" y="2903821"/>
              <a:ext cx="731520" cy="731520"/>
              <a:chOff x="887626" y="1407707"/>
              <a:chExt cx="914400" cy="914400"/>
            </a:xfrm>
          </p:grpSpPr>
          <p:grpSp>
            <p:nvGrpSpPr>
              <p:cNvPr id="44" name="Group 43"/>
              <p:cNvGrpSpPr/>
              <p:nvPr/>
            </p:nvGrpSpPr>
            <p:grpSpPr>
              <a:xfrm>
                <a:off x="887626" y="1407707"/>
                <a:ext cx="914400" cy="914400"/>
                <a:chOff x="303212" y="1927039"/>
                <a:chExt cx="914400" cy="914400"/>
              </a:xfrm>
            </p:grpSpPr>
            <p:sp>
              <p:nvSpPr>
                <p:cNvPr id="46" name="Oval 45"/>
                <p:cNvSpPr/>
                <p:nvPr/>
              </p:nvSpPr>
              <p:spPr>
                <a:xfrm>
                  <a:off x="303212" y="1927039"/>
                  <a:ext cx="914400" cy="914400"/>
                </a:xfrm>
                <a:prstGeom prst="ellipse">
                  <a:avLst/>
                </a:prstGeom>
                <a:solidFill>
                  <a:schemeClr val="bg1"/>
                </a:solidFill>
                <a:ln w="9525" cap="flat" cmpd="sng" algn="ctr">
                  <a:solidFill>
                    <a:srgbClr val="89C542"/>
                  </a:solidFill>
                  <a:prstDash val="sysDash"/>
                </a:ln>
                <a:effectLst/>
              </p:spPr>
              <p:txBody>
                <a:bodyPr rtlCol="0" anchor="ctr"/>
                <a:lstStyle/>
                <a:p>
                  <a:pPr algn="ctr" defTabSz="814841">
                    <a:defRPr/>
                  </a:pPr>
                  <a:endParaRPr lang="en-US" sz="1999" kern="0" dirty="0">
                    <a:solidFill>
                      <a:srgbClr val="FFFFFF"/>
                    </a:solidFill>
                    <a:latin typeface="Arial Black"/>
                  </a:endParaRPr>
                </a:p>
              </p:txBody>
            </p:sp>
            <p:sp>
              <p:nvSpPr>
                <p:cNvPr id="47" name="Oval 46"/>
                <p:cNvSpPr/>
                <p:nvPr/>
              </p:nvSpPr>
              <p:spPr>
                <a:xfrm>
                  <a:off x="371792" y="1995619"/>
                  <a:ext cx="777240" cy="777240"/>
                </a:xfrm>
                <a:prstGeom prst="ellipse">
                  <a:avLst/>
                </a:prstGeom>
                <a:solidFill>
                  <a:schemeClr val="bg1"/>
                </a:solidFill>
                <a:ln w="9525" cap="flat" cmpd="sng" algn="ctr">
                  <a:solidFill>
                    <a:srgbClr val="89C542"/>
                  </a:solidFill>
                  <a:prstDash val="solid"/>
                </a:ln>
                <a:effectLst/>
              </p:spPr>
              <p:txBody>
                <a:bodyPr rtlCol="0" anchor="ctr"/>
                <a:lstStyle/>
                <a:p>
                  <a:pPr algn="ctr" defTabSz="814841">
                    <a:defRPr/>
                  </a:pPr>
                  <a:endParaRPr lang="en-US" sz="1999" kern="0" dirty="0">
                    <a:solidFill>
                      <a:srgbClr val="FFFFFF"/>
                    </a:solidFill>
                    <a:latin typeface="Arial Black"/>
                  </a:endParaRPr>
                </a:p>
              </p:txBody>
            </p:sp>
          </p:grpSp>
          <p:sp>
            <p:nvSpPr>
              <p:cNvPr id="45" name="Oval 44"/>
              <p:cNvSpPr/>
              <p:nvPr/>
            </p:nvSpPr>
            <p:spPr>
              <a:xfrm>
                <a:off x="1266655" y="1786736"/>
                <a:ext cx="156342" cy="156342"/>
              </a:xfrm>
              <a:prstGeom prst="ellipse">
                <a:avLst/>
              </a:prstGeom>
              <a:solidFill>
                <a:schemeClr val="bg1"/>
              </a:solidFill>
              <a:ln>
                <a:solidFill>
                  <a:srgbClr val="1C88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3851">
                  <a:defRPr/>
                </a:pPr>
                <a:endParaRPr lang="en-US" sz="2399" dirty="0">
                  <a:solidFill>
                    <a:srgbClr val="FFFFFF"/>
                  </a:solidFill>
                  <a:latin typeface="Arial"/>
                </a:endParaRPr>
              </a:p>
            </p:txBody>
          </p:sp>
        </p:grpSp>
        <p:grpSp>
          <p:nvGrpSpPr>
            <p:cNvPr id="32" name="Group 31"/>
            <p:cNvGrpSpPr>
              <a:grpSpLocks noChangeAspect="1"/>
            </p:cNvGrpSpPr>
            <p:nvPr/>
          </p:nvGrpSpPr>
          <p:grpSpPr>
            <a:xfrm>
              <a:off x="5355833" y="3094610"/>
              <a:ext cx="346075" cy="366702"/>
              <a:chOff x="3197225" y="4052888"/>
              <a:chExt cx="719137" cy="762000"/>
            </a:xfrm>
            <a:solidFill>
              <a:schemeClr val="bg2"/>
            </a:solidFill>
          </p:grpSpPr>
          <p:sp>
            <p:nvSpPr>
              <p:cNvPr id="33" name="Freeform 31"/>
              <p:cNvSpPr>
                <a:spLocks noEditPoints="1"/>
              </p:cNvSpPr>
              <p:nvPr/>
            </p:nvSpPr>
            <p:spPr bwMode="auto">
              <a:xfrm>
                <a:off x="3340100" y="4194175"/>
                <a:ext cx="431800" cy="487363"/>
              </a:xfrm>
              <a:custGeom>
                <a:avLst/>
                <a:gdLst>
                  <a:gd name="T0" fmla="*/ 165 w 165"/>
                  <a:gd name="T1" fmla="*/ 83 h 187"/>
                  <a:gd name="T2" fmla="*/ 83 w 165"/>
                  <a:gd name="T3" fmla="*/ 0 h 187"/>
                  <a:gd name="T4" fmla="*/ 0 w 165"/>
                  <a:gd name="T5" fmla="*/ 83 h 187"/>
                  <a:gd name="T6" fmla="*/ 35 w 165"/>
                  <a:gd name="T7" fmla="*/ 154 h 187"/>
                  <a:gd name="T8" fmla="*/ 44 w 165"/>
                  <a:gd name="T9" fmla="*/ 172 h 187"/>
                  <a:gd name="T10" fmla="*/ 40 w 165"/>
                  <a:gd name="T11" fmla="*/ 180 h 187"/>
                  <a:gd name="T12" fmla="*/ 44 w 165"/>
                  <a:gd name="T13" fmla="*/ 187 h 187"/>
                  <a:gd name="T14" fmla="*/ 121 w 165"/>
                  <a:gd name="T15" fmla="*/ 187 h 187"/>
                  <a:gd name="T16" fmla="*/ 125 w 165"/>
                  <a:gd name="T17" fmla="*/ 180 h 187"/>
                  <a:gd name="T18" fmla="*/ 121 w 165"/>
                  <a:gd name="T19" fmla="*/ 172 h 187"/>
                  <a:gd name="T20" fmla="*/ 130 w 165"/>
                  <a:gd name="T21" fmla="*/ 154 h 187"/>
                  <a:gd name="T22" fmla="*/ 165 w 165"/>
                  <a:gd name="T23" fmla="*/ 83 h 187"/>
                  <a:gd name="T24" fmla="*/ 144 w 165"/>
                  <a:gd name="T25" fmla="*/ 83 h 187"/>
                  <a:gd name="T26" fmla="*/ 114 w 165"/>
                  <a:gd name="T27" fmla="*/ 139 h 187"/>
                  <a:gd name="T28" fmla="*/ 114 w 165"/>
                  <a:gd name="T29" fmla="*/ 139 h 187"/>
                  <a:gd name="T30" fmla="*/ 99 w 165"/>
                  <a:gd name="T31" fmla="*/ 170 h 187"/>
                  <a:gd name="T32" fmla="*/ 66 w 165"/>
                  <a:gd name="T33" fmla="*/ 170 h 187"/>
                  <a:gd name="T34" fmla="*/ 51 w 165"/>
                  <a:gd name="T35" fmla="*/ 139 h 187"/>
                  <a:gd name="T36" fmla="*/ 51 w 165"/>
                  <a:gd name="T37" fmla="*/ 139 h 187"/>
                  <a:gd name="T38" fmla="*/ 21 w 165"/>
                  <a:gd name="T39" fmla="*/ 83 h 187"/>
                  <a:gd name="T40" fmla="*/ 83 w 165"/>
                  <a:gd name="T41" fmla="*/ 22 h 187"/>
                  <a:gd name="T42" fmla="*/ 144 w 165"/>
                  <a:gd name="T43" fmla="*/ 8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187">
                    <a:moveTo>
                      <a:pt x="165" y="83"/>
                    </a:moveTo>
                    <a:cubicBezTo>
                      <a:pt x="165" y="37"/>
                      <a:pt x="128" y="0"/>
                      <a:pt x="83" y="0"/>
                    </a:cubicBezTo>
                    <a:cubicBezTo>
                      <a:pt x="37" y="0"/>
                      <a:pt x="0" y="37"/>
                      <a:pt x="0" y="83"/>
                    </a:cubicBezTo>
                    <a:cubicBezTo>
                      <a:pt x="0" y="110"/>
                      <a:pt x="9" y="127"/>
                      <a:pt x="35" y="154"/>
                    </a:cubicBezTo>
                    <a:cubicBezTo>
                      <a:pt x="36" y="155"/>
                      <a:pt x="42" y="162"/>
                      <a:pt x="44" y="172"/>
                    </a:cubicBezTo>
                    <a:cubicBezTo>
                      <a:pt x="42" y="174"/>
                      <a:pt x="40" y="177"/>
                      <a:pt x="40" y="180"/>
                    </a:cubicBezTo>
                    <a:cubicBezTo>
                      <a:pt x="40" y="183"/>
                      <a:pt x="42" y="186"/>
                      <a:pt x="44" y="187"/>
                    </a:cubicBezTo>
                    <a:cubicBezTo>
                      <a:pt x="121" y="187"/>
                      <a:pt x="121" y="187"/>
                      <a:pt x="121" y="187"/>
                    </a:cubicBezTo>
                    <a:cubicBezTo>
                      <a:pt x="123" y="186"/>
                      <a:pt x="125" y="183"/>
                      <a:pt x="125" y="180"/>
                    </a:cubicBezTo>
                    <a:cubicBezTo>
                      <a:pt x="125" y="177"/>
                      <a:pt x="123" y="174"/>
                      <a:pt x="121" y="172"/>
                    </a:cubicBezTo>
                    <a:cubicBezTo>
                      <a:pt x="124" y="162"/>
                      <a:pt x="129" y="155"/>
                      <a:pt x="130" y="154"/>
                    </a:cubicBezTo>
                    <a:cubicBezTo>
                      <a:pt x="157" y="127"/>
                      <a:pt x="165" y="110"/>
                      <a:pt x="165" y="83"/>
                    </a:cubicBezTo>
                    <a:close/>
                    <a:moveTo>
                      <a:pt x="144" y="83"/>
                    </a:moveTo>
                    <a:cubicBezTo>
                      <a:pt x="144" y="101"/>
                      <a:pt x="139" y="114"/>
                      <a:pt x="114" y="139"/>
                    </a:cubicBezTo>
                    <a:cubicBezTo>
                      <a:pt x="114" y="139"/>
                      <a:pt x="114" y="139"/>
                      <a:pt x="114" y="139"/>
                    </a:cubicBezTo>
                    <a:cubicBezTo>
                      <a:pt x="113" y="140"/>
                      <a:pt x="103" y="152"/>
                      <a:pt x="99" y="170"/>
                    </a:cubicBezTo>
                    <a:cubicBezTo>
                      <a:pt x="66" y="170"/>
                      <a:pt x="66" y="170"/>
                      <a:pt x="66" y="170"/>
                    </a:cubicBezTo>
                    <a:cubicBezTo>
                      <a:pt x="62" y="152"/>
                      <a:pt x="52" y="140"/>
                      <a:pt x="51" y="139"/>
                    </a:cubicBezTo>
                    <a:cubicBezTo>
                      <a:pt x="51" y="139"/>
                      <a:pt x="51" y="139"/>
                      <a:pt x="51" y="139"/>
                    </a:cubicBezTo>
                    <a:cubicBezTo>
                      <a:pt x="26" y="114"/>
                      <a:pt x="21" y="101"/>
                      <a:pt x="21" y="83"/>
                    </a:cubicBezTo>
                    <a:cubicBezTo>
                      <a:pt x="21" y="49"/>
                      <a:pt x="49" y="22"/>
                      <a:pt x="83" y="22"/>
                    </a:cubicBezTo>
                    <a:cubicBezTo>
                      <a:pt x="116" y="22"/>
                      <a:pt x="144" y="49"/>
                      <a:pt x="144" y="83"/>
                    </a:cubicBezTo>
                    <a:close/>
                  </a:path>
                </a:pathLst>
              </a:custGeom>
              <a:grpFill/>
              <a:ln w="9525">
                <a:solidFill>
                  <a:srgbClr val="000000"/>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34" name="Freeform 32"/>
              <p:cNvSpPr>
                <a:spLocks/>
              </p:cNvSpPr>
              <p:nvPr/>
            </p:nvSpPr>
            <p:spPr bwMode="auto">
              <a:xfrm>
                <a:off x="3444875" y="4741863"/>
                <a:ext cx="222250" cy="73025"/>
              </a:xfrm>
              <a:custGeom>
                <a:avLst/>
                <a:gdLst>
                  <a:gd name="T0" fmla="*/ 81 w 85"/>
                  <a:gd name="T1" fmla="*/ 0 h 28"/>
                  <a:gd name="T2" fmla="*/ 4 w 85"/>
                  <a:gd name="T3" fmla="*/ 0 h 28"/>
                  <a:gd name="T4" fmla="*/ 0 w 85"/>
                  <a:gd name="T5" fmla="*/ 8 h 28"/>
                  <a:gd name="T6" fmla="*/ 10 w 85"/>
                  <a:gd name="T7" fmla="*/ 18 h 28"/>
                  <a:gd name="T8" fmla="*/ 18 w 85"/>
                  <a:gd name="T9" fmla="*/ 18 h 28"/>
                  <a:gd name="T10" fmla="*/ 29 w 85"/>
                  <a:gd name="T11" fmla="*/ 28 h 28"/>
                  <a:gd name="T12" fmla="*/ 56 w 85"/>
                  <a:gd name="T13" fmla="*/ 28 h 28"/>
                  <a:gd name="T14" fmla="*/ 67 w 85"/>
                  <a:gd name="T15" fmla="*/ 18 h 28"/>
                  <a:gd name="T16" fmla="*/ 75 w 85"/>
                  <a:gd name="T17" fmla="*/ 18 h 28"/>
                  <a:gd name="T18" fmla="*/ 85 w 85"/>
                  <a:gd name="T19" fmla="*/ 8 h 28"/>
                  <a:gd name="T20" fmla="*/ 81 w 85"/>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28">
                    <a:moveTo>
                      <a:pt x="81" y="0"/>
                    </a:moveTo>
                    <a:cubicBezTo>
                      <a:pt x="4" y="0"/>
                      <a:pt x="4" y="0"/>
                      <a:pt x="4" y="0"/>
                    </a:cubicBezTo>
                    <a:cubicBezTo>
                      <a:pt x="2" y="2"/>
                      <a:pt x="0" y="5"/>
                      <a:pt x="0" y="8"/>
                    </a:cubicBezTo>
                    <a:cubicBezTo>
                      <a:pt x="0" y="13"/>
                      <a:pt x="5" y="18"/>
                      <a:pt x="10" y="18"/>
                    </a:cubicBezTo>
                    <a:cubicBezTo>
                      <a:pt x="18" y="18"/>
                      <a:pt x="18" y="18"/>
                      <a:pt x="18" y="18"/>
                    </a:cubicBezTo>
                    <a:cubicBezTo>
                      <a:pt x="18" y="23"/>
                      <a:pt x="23" y="28"/>
                      <a:pt x="29" y="28"/>
                    </a:cubicBezTo>
                    <a:cubicBezTo>
                      <a:pt x="56" y="28"/>
                      <a:pt x="56" y="28"/>
                      <a:pt x="56" y="28"/>
                    </a:cubicBezTo>
                    <a:cubicBezTo>
                      <a:pt x="62" y="28"/>
                      <a:pt x="67" y="23"/>
                      <a:pt x="67" y="18"/>
                    </a:cubicBezTo>
                    <a:cubicBezTo>
                      <a:pt x="75" y="18"/>
                      <a:pt x="75" y="18"/>
                      <a:pt x="75" y="18"/>
                    </a:cubicBezTo>
                    <a:cubicBezTo>
                      <a:pt x="80" y="18"/>
                      <a:pt x="85" y="13"/>
                      <a:pt x="85" y="8"/>
                    </a:cubicBezTo>
                    <a:cubicBezTo>
                      <a:pt x="85" y="5"/>
                      <a:pt x="83" y="2"/>
                      <a:pt x="81" y="0"/>
                    </a:cubicBezTo>
                    <a:close/>
                  </a:path>
                </a:pathLst>
              </a:custGeom>
              <a:grpFill/>
              <a:ln w="9525">
                <a:solidFill>
                  <a:srgbClr val="000000"/>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35" name="Freeform 33"/>
              <p:cNvSpPr>
                <a:spLocks/>
              </p:cNvSpPr>
              <p:nvPr/>
            </p:nvSpPr>
            <p:spPr bwMode="auto">
              <a:xfrm>
                <a:off x="3444875" y="4692650"/>
                <a:ext cx="222250" cy="41275"/>
              </a:xfrm>
              <a:custGeom>
                <a:avLst/>
                <a:gdLst>
                  <a:gd name="T0" fmla="*/ 80 w 85"/>
                  <a:gd name="T1" fmla="*/ 0 h 16"/>
                  <a:gd name="T2" fmla="*/ 5 w 85"/>
                  <a:gd name="T3" fmla="*/ 0 h 16"/>
                  <a:gd name="T4" fmla="*/ 0 w 85"/>
                  <a:gd name="T5" fmla="*/ 8 h 16"/>
                  <a:gd name="T6" fmla="*/ 5 w 85"/>
                  <a:gd name="T7" fmla="*/ 16 h 16"/>
                  <a:gd name="T8" fmla="*/ 80 w 85"/>
                  <a:gd name="T9" fmla="*/ 16 h 16"/>
                  <a:gd name="T10" fmla="*/ 85 w 85"/>
                  <a:gd name="T11" fmla="*/ 8 h 16"/>
                  <a:gd name="T12" fmla="*/ 80 w 85"/>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85" h="16">
                    <a:moveTo>
                      <a:pt x="80" y="0"/>
                    </a:moveTo>
                    <a:cubicBezTo>
                      <a:pt x="5" y="0"/>
                      <a:pt x="5" y="0"/>
                      <a:pt x="5" y="0"/>
                    </a:cubicBezTo>
                    <a:cubicBezTo>
                      <a:pt x="2" y="1"/>
                      <a:pt x="0" y="4"/>
                      <a:pt x="0" y="8"/>
                    </a:cubicBezTo>
                    <a:cubicBezTo>
                      <a:pt x="0" y="11"/>
                      <a:pt x="2" y="14"/>
                      <a:pt x="5" y="16"/>
                    </a:cubicBezTo>
                    <a:cubicBezTo>
                      <a:pt x="80" y="16"/>
                      <a:pt x="80" y="16"/>
                      <a:pt x="80" y="16"/>
                    </a:cubicBezTo>
                    <a:cubicBezTo>
                      <a:pt x="83" y="14"/>
                      <a:pt x="85" y="11"/>
                      <a:pt x="85" y="8"/>
                    </a:cubicBezTo>
                    <a:cubicBezTo>
                      <a:pt x="85" y="4"/>
                      <a:pt x="83" y="1"/>
                      <a:pt x="80" y="0"/>
                    </a:cubicBezTo>
                    <a:close/>
                  </a:path>
                </a:pathLst>
              </a:custGeom>
              <a:grpFill/>
              <a:ln w="9525">
                <a:solidFill>
                  <a:srgbClr val="89C542"/>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36" name="Freeform 34"/>
              <p:cNvSpPr>
                <a:spLocks/>
              </p:cNvSpPr>
              <p:nvPr/>
            </p:nvSpPr>
            <p:spPr bwMode="auto">
              <a:xfrm>
                <a:off x="3197225" y="4381500"/>
                <a:ext cx="117475" cy="47625"/>
              </a:xfrm>
              <a:custGeom>
                <a:avLst/>
                <a:gdLst>
                  <a:gd name="T0" fmla="*/ 45 w 45"/>
                  <a:gd name="T1" fmla="*/ 9 h 18"/>
                  <a:gd name="T2" fmla="*/ 36 w 45"/>
                  <a:gd name="T3" fmla="*/ 0 h 18"/>
                  <a:gd name="T4" fmla="*/ 9 w 45"/>
                  <a:gd name="T5" fmla="*/ 0 h 18"/>
                  <a:gd name="T6" fmla="*/ 0 w 45"/>
                  <a:gd name="T7" fmla="*/ 9 h 18"/>
                  <a:gd name="T8" fmla="*/ 9 w 45"/>
                  <a:gd name="T9" fmla="*/ 18 h 18"/>
                  <a:gd name="T10" fmla="*/ 36 w 45"/>
                  <a:gd name="T11" fmla="*/ 18 h 18"/>
                  <a:gd name="T12" fmla="*/ 45 w 45"/>
                  <a:gd name="T13" fmla="*/ 9 h 18"/>
                </a:gdLst>
                <a:ahLst/>
                <a:cxnLst>
                  <a:cxn ang="0">
                    <a:pos x="T0" y="T1"/>
                  </a:cxn>
                  <a:cxn ang="0">
                    <a:pos x="T2" y="T3"/>
                  </a:cxn>
                  <a:cxn ang="0">
                    <a:pos x="T4" y="T5"/>
                  </a:cxn>
                  <a:cxn ang="0">
                    <a:pos x="T6" y="T7"/>
                  </a:cxn>
                  <a:cxn ang="0">
                    <a:pos x="T8" y="T9"/>
                  </a:cxn>
                  <a:cxn ang="0">
                    <a:pos x="T10" y="T11"/>
                  </a:cxn>
                  <a:cxn ang="0">
                    <a:pos x="T12" y="T13"/>
                  </a:cxn>
                </a:cxnLst>
                <a:rect l="0" t="0" r="r" b="b"/>
                <a:pathLst>
                  <a:path w="45" h="18">
                    <a:moveTo>
                      <a:pt x="45" y="9"/>
                    </a:moveTo>
                    <a:cubicBezTo>
                      <a:pt x="45" y="4"/>
                      <a:pt x="41" y="0"/>
                      <a:pt x="36" y="0"/>
                    </a:cubicBezTo>
                    <a:cubicBezTo>
                      <a:pt x="9" y="0"/>
                      <a:pt x="9" y="0"/>
                      <a:pt x="9" y="0"/>
                    </a:cubicBezTo>
                    <a:cubicBezTo>
                      <a:pt x="5" y="0"/>
                      <a:pt x="0" y="4"/>
                      <a:pt x="0" y="9"/>
                    </a:cubicBezTo>
                    <a:cubicBezTo>
                      <a:pt x="0" y="14"/>
                      <a:pt x="5" y="18"/>
                      <a:pt x="9" y="18"/>
                    </a:cubicBezTo>
                    <a:cubicBezTo>
                      <a:pt x="36" y="18"/>
                      <a:pt x="36" y="18"/>
                      <a:pt x="36" y="18"/>
                    </a:cubicBezTo>
                    <a:cubicBezTo>
                      <a:pt x="41" y="18"/>
                      <a:pt x="45" y="14"/>
                      <a:pt x="45" y="9"/>
                    </a:cubicBezTo>
                    <a:close/>
                  </a:path>
                </a:pathLst>
              </a:custGeom>
              <a:grpFill/>
              <a:ln w="9525">
                <a:solidFill>
                  <a:srgbClr val="89C542"/>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37" name="Freeform 35"/>
              <p:cNvSpPr>
                <a:spLocks/>
              </p:cNvSpPr>
              <p:nvPr/>
            </p:nvSpPr>
            <p:spPr bwMode="auto">
              <a:xfrm>
                <a:off x="3797300" y="4381500"/>
                <a:ext cx="119062" cy="47625"/>
              </a:xfrm>
              <a:custGeom>
                <a:avLst/>
                <a:gdLst>
                  <a:gd name="T0" fmla="*/ 36 w 45"/>
                  <a:gd name="T1" fmla="*/ 0 h 18"/>
                  <a:gd name="T2" fmla="*/ 9 w 45"/>
                  <a:gd name="T3" fmla="*/ 0 h 18"/>
                  <a:gd name="T4" fmla="*/ 0 w 45"/>
                  <a:gd name="T5" fmla="*/ 9 h 18"/>
                  <a:gd name="T6" fmla="*/ 9 w 45"/>
                  <a:gd name="T7" fmla="*/ 18 h 18"/>
                  <a:gd name="T8" fmla="*/ 36 w 45"/>
                  <a:gd name="T9" fmla="*/ 18 h 18"/>
                  <a:gd name="T10" fmla="*/ 45 w 45"/>
                  <a:gd name="T11" fmla="*/ 9 h 18"/>
                  <a:gd name="T12" fmla="*/ 36 w 45"/>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45" h="18">
                    <a:moveTo>
                      <a:pt x="36" y="0"/>
                    </a:moveTo>
                    <a:cubicBezTo>
                      <a:pt x="9" y="0"/>
                      <a:pt x="9" y="0"/>
                      <a:pt x="9" y="0"/>
                    </a:cubicBezTo>
                    <a:cubicBezTo>
                      <a:pt x="4" y="0"/>
                      <a:pt x="0" y="4"/>
                      <a:pt x="0" y="9"/>
                    </a:cubicBezTo>
                    <a:cubicBezTo>
                      <a:pt x="0" y="14"/>
                      <a:pt x="4" y="18"/>
                      <a:pt x="9" y="18"/>
                    </a:cubicBezTo>
                    <a:cubicBezTo>
                      <a:pt x="36" y="18"/>
                      <a:pt x="36" y="18"/>
                      <a:pt x="36" y="18"/>
                    </a:cubicBezTo>
                    <a:cubicBezTo>
                      <a:pt x="41" y="18"/>
                      <a:pt x="45" y="14"/>
                      <a:pt x="45" y="9"/>
                    </a:cubicBezTo>
                    <a:cubicBezTo>
                      <a:pt x="45" y="4"/>
                      <a:pt x="41" y="0"/>
                      <a:pt x="36" y="0"/>
                    </a:cubicBezTo>
                    <a:close/>
                  </a:path>
                </a:pathLst>
              </a:custGeom>
              <a:grpFill/>
              <a:ln w="9525">
                <a:solidFill>
                  <a:srgbClr val="000000"/>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38" name="Freeform 36"/>
              <p:cNvSpPr>
                <a:spLocks/>
              </p:cNvSpPr>
              <p:nvPr/>
            </p:nvSpPr>
            <p:spPr bwMode="auto">
              <a:xfrm>
                <a:off x="3290888" y="4149725"/>
                <a:ext cx="101600" cy="98425"/>
              </a:xfrm>
              <a:custGeom>
                <a:avLst/>
                <a:gdLst>
                  <a:gd name="T0" fmla="*/ 23 w 39"/>
                  <a:gd name="T1" fmla="*/ 35 h 38"/>
                  <a:gd name="T2" fmla="*/ 29 w 39"/>
                  <a:gd name="T3" fmla="*/ 38 h 38"/>
                  <a:gd name="T4" fmla="*/ 35 w 39"/>
                  <a:gd name="T5" fmla="*/ 35 h 38"/>
                  <a:gd name="T6" fmla="*/ 35 w 39"/>
                  <a:gd name="T7" fmla="*/ 23 h 38"/>
                  <a:gd name="T8" fmla="*/ 16 w 39"/>
                  <a:gd name="T9" fmla="*/ 3 h 38"/>
                  <a:gd name="T10" fmla="*/ 4 w 39"/>
                  <a:gd name="T11" fmla="*/ 3 h 38"/>
                  <a:gd name="T12" fmla="*/ 4 w 39"/>
                  <a:gd name="T13" fmla="*/ 16 h 38"/>
                  <a:gd name="T14" fmla="*/ 23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3" y="35"/>
                    </a:moveTo>
                    <a:cubicBezTo>
                      <a:pt x="24" y="37"/>
                      <a:pt x="27" y="38"/>
                      <a:pt x="29" y="38"/>
                    </a:cubicBezTo>
                    <a:cubicBezTo>
                      <a:pt x="31" y="38"/>
                      <a:pt x="34" y="37"/>
                      <a:pt x="35" y="35"/>
                    </a:cubicBezTo>
                    <a:cubicBezTo>
                      <a:pt x="39" y="32"/>
                      <a:pt x="39" y="26"/>
                      <a:pt x="35" y="23"/>
                    </a:cubicBezTo>
                    <a:cubicBezTo>
                      <a:pt x="16" y="3"/>
                      <a:pt x="16" y="3"/>
                      <a:pt x="16" y="3"/>
                    </a:cubicBezTo>
                    <a:cubicBezTo>
                      <a:pt x="13" y="0"/>
                      <a:pt x="7" y="0"/>
                      <a:pt x="4" y="3"/>
                    </a:cubicBezTo>
                    <a:cubicBezTo>
                      <a:pt x="0" y="7"/>
                      <a:pt x="0" y="13"/>
                      <a:pt x="4" y="16"/>
                    </a:cubicBezTo>
                    <a:lnTo>
                      <a:pt x="23" y="35"/>
                    </a:lnTo>
                    <a:close/>
                  </a:path>
                </a:pathLst>
              </a:custGeom>
              <a:grpFill/>
              <a:ln w="9525">
                <a:solidFill>
                  <a:srgbClr val="89C542"/>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39" name="Freeform 37"/>
              <p:cNvSpPr>
                <a:spLocks/>
              </p:cNvSpPr>
              <p:nvPr/>
            </p:nvSpPr>
            <p:spPr bwMode="auto">
              <a:xfrm>
                <a:off x="3719513" y="4559300"/>
                <a:ext cx="101600" cy="100013"/>
              </a:xfrm>
              <a:custGeom>
                <a:avLst/>
                <a:gdLst>
                  <a:gd name="T0" fmla="*/ 17 w 39"/>
                  <a:gd name="T1" fmla="*/ 4 h 38"/>
                  <a:gd name="T2" fmla="*/ 4 w 39"/>
                  <a:gd name="T3" fmla="*/ 4 h 38"/>
                  <a:gd name="T4" fmla="*/ 4 w 39"/>
                  <a:gd name="T5" fmla="*/ 16 h 38"/>
                  <a:gd name="T6" fmla="*/ 23 w 39"/>
                  <a:gd name="T7" fmla="*/ 35 h 38"/>
                  <a:gd name="T8" fmla="*/ 29 w 39"/>
                  <a:gd name="T9" fmla="*/ 38 h 38"/>
                  <a:gd name="T10" fmla="*/ 36 w 39"/>
                  <a:gd name="T11" fmla="*/ 35 h 38"/>
                  <a:gd name="T12" fmla="*/ 36 w 39"/>
                  <a:gd name="T13" fmla="*/ 23 h 38"/>
                  <a:gd name="T14" fmla="*/ 17 w 39"/>
                  <a:gd name="T15" fmla="*/ 4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17" y="4"/>
                    </a:moveTo>
                    <a:cubicBezTo>
                      <a:pt x="13" y="0"/>
                      <a:pt x="7" y="0"/>
                      <a:pt x="4" y="4"/>
                    </a:cubicBezTo>
                    <a:cubicBezTo>
                      <a:pt x="0" y="7"/>
                      <a:pt x="0" y="13"/>
                      <a:pt x="4" y="16"/>
                    </a:cubicBezTo>
                    <a:cubicBezTo>
                      <a:pt x="23" y="35"/>
                      <a:pt x="23" y="35"/>
                      <a:pt x="23" y="35"/>
                    </a:cubicBezTo>
                    <a:cubicBezTo>
                      <a:pt x="25" y="37"/>
                      <a:pt x="27" y="38"/>
                      <a:pt x="29" y="38"/>
                    </a:cubicBezTo>
                    <a:cubicBezTo>
                      <a:pt x="32" y="38"/>
                      <a:pt x="34" y="37"/>
                      <a:pt x="36" y="35"/>
                    </a:cubicBezTo>
                    <a:cubicBezTo>
                      <a:pt x="39" y="32"/>
                      <a:pt x="39" y="26"/>
                      <a:pt x="36" y="23"/>
                    </a:cubicBezTo>
                    <a:lnTo>
                      <a:pt x="17" y="4"/>
                    </a:lnTo>
                    <a:close/>
                  </a:path>
                </a:pathLst>
              </a:custGeom>
              <a:grpFill/>
              <a:ln w="9525">
                <a:solidFill>
                  <a:srgbClr val="89C542"/>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40" name="Freeform 38"/>
              <p:cNvSpPr>
                <a:spLocks/>
              </p:cNvSpPr>
              <p:nvPr/>
            </p:nvSpPr>
            <p:spPr bwMode="auto">
              <a:xfrm>
                <a:off x="3290888" y="4559300"/>
                <a:ext cx="101600" cy="100013"/>
              </a:xfrm>
              <a:custGeom>
                <a:avLst/>
                <a:gdLst>
                  <a:gd name="T0" fmla="*/ 23 w 39"/>
                  <a:gd name="T1" fmla="*/ 4 h 38"/>
                  <a:gd name="T2" fmla="*/ 4 w 39"/>
                  <a:gd name="T3" fmla="*/ 23 h 38"/>
                  <a:gd name="T4" fmla="*/ 4 w 39"/>
                  <a:gd name="T5" fmla="*/ 35 h 38"/>
                  <a:gd name="T6" fmla="*/ 10 w 39"/>
                  <a:gd name="T7" fmla="*/ 38 h 38"/>
                  <a:gd name="T8" fmla="*/ 16 w 39"/>
                  <a:gd name="T9" fmla="*/ 35 h 38"/>
                  <a:gd name="T10" fmla="*/ 35 w 39"/>
                  <a:gd name="T11" fmla="*/ 16 h 38"/>
                  <a:gd name="T12" fmla="*/ 35 w 39"/>
                  <a:gd name="T13" fmla="*/ 4 h 38"/>
                  <a:gd name="T14" fmla="*/ 23 w 39"/>
                  <a:gd name="T15" fmla="*/ 4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3" y="4"/>
                    </a:moveTo>
                    <a:cubicBezTo>
                      <a:pt x="4" y="23"/>
                      <a:pt x="4" y="23"/>
                      <a:pt x="4" y="23"/>
                    </a:cubicBezTo>
                    <a:cubicBezTo>
                      <a:pt x="0" y="26"/>
                      <a:pt x="0" y="32"/>
                      <a:pt x="4" y="35"/>
                    </a:cubicBezTo>
                    <a:cubicBezTo>
                      <a:pt x="5" y="37"/>
                      <a:pt x="8" y="38"/>
                      <a:pt x="10" y="38"/>
                    </a:cubicBezTo>
                    <a:cubicBezTo>
                      <a:pt x="12" y="38"/>
                      <a:pt x="15" y="37"/>
                      <a:pt x="16" y="35"/>
                    </a:cubicBezTo>
                    <a:cubicBezTo>
                      <a:pt x="35" y="16"/>
                      <a:pt x="35" y="16"/>
                      <a:pt x="35" y="16"/>
                    </a:cubicBezTo>
                    <a:cubicBezTo>
                      <a:pt x="39" y="13"/>
                      <a:pt x="39" y="7"/>
                      <a:pt x="35" y="4"/>
                    </a:cubicBezTo>
                    <a:cubicBezTo>
                      <a:pt x="32" y="0"/>
                      <a:pt x="26" y="0"/>
                      <a:pt x="23" y="4"/>
                    </a:cubicBezTo>
                    <a:close/>
                  </a:path>
                </a:pathLst>
              </a:custGeom>
              <a:grpFill/>
              <a:ln w="9525">
                <a:solidFill>
                  <a:srgbClr val="89C542"/>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41" name="Freeform 39"/>
              <p:cNvSpPr>
                <a:spLocks/>
              </p:cNvSpPr>
              <p:nvPr/>
            </p:nvSpPr>
            <p:spPr bwMode="auto">
              <a:xfrm>
                <a:off x="3719513" y="4149725"/>
                <a:ext cx="101600" cy="98425"/>
              </a:xfrm>
              <a:custGeom>
                <a:avLst/>
                <a:gdLst>
                  <a:gd name="T0" fmla="*/ 10 w 39"/>
                  <a:gd name="T1" fmla="*/ 38 h 38"/>
                  <a:gd name="T2" fmla="*/ 17 w 39"/>
                  <a:gd name="T3" fmla="*/ 35 h 38"/>
                  <a:gd name="T4" fmla="*/ 36 w 39"/>
                  <a:gd name="T5" fmla="*/ 16 h 38"/>
                  <a:gd name="T6" fmla="*/ 36 w 39"/>
                  <a:gd name="T7" fmla="*/ 3 h 38"/>
                  <a:gd name="T8" fmla="*/ 23 w 39"/>
                  <a:gd name="T9" fmla="*/ 3 h 38"/>
                  <a:gd name="T10" fmla="*/ 4 w 39"/>
                  <a:gd name="T11" fmla="*/ 23 h 38"/>
                  <a:gd name="T12" fmla="*/ 4 w 39"/>
                  <a:gd name="T13" fmla="*/ 35 h 38"/>
                  <a:gd name="T14" fmla="*/ 10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10" y="38"/>
                    </a:moveTo>
                    <a:cubicBezTo>
                      <a:pt x="13" y="38"/>
                      <a:pt x="15" y="37"/>
                      <a:pt x="17" y="35"/>
                    </a:cubicBezTo>
                    <a:cubicBezTo>
                      <a:pt x="36" y="16"/>
                      <a:pt x="36" y="16"/>
                      <a:pt x="36" y="16"/>
                    </a:cubicBezTo>
                    <a:cubicBezTo>
                      <a:pt x="39" y="13"/>
                      <a:pt x="39" y="7"/>
                      <a:pt x="36" y="3"/>
                    </a:cubicBezTo>
                    <a:cubicBezTo>
                      <a:pt x="32" y="0"/>
                      <a:pt x="26" y="0"/>
                      <a:pt x="23" y="3"/>
                    </a:cubicBezTo>
                    <a:cubicBezTo>
                      <a:pt x="4" y="23"/>
                      <a:pt x="4" y="23"/>
                      <a:pt x="4" y="23"/>
                    </a:cubicBezTo>
                    <a:cubicBezTo>
                      <a:pt x="0" y="26"/>
                      <a:pt x="0" y="32"/>
                      <a:pt x="4" y="35"/>
                    </a:cubicBezTo>
                    <a:cubicBezTo>
                      <a:pt x="6" y="37"/>
                      <a:pt x="8" y="38"/>
                      <a:pt x="10" y="38"/>
                    </a:cubicBezTo>
                    <a:close/>
                  </a:path>
                </a:pathLst>
              </a:custGeom>
              <a:grpFill/>
              <a:ln w="9525">
                <a:solidFill>
                  <a:srgbClr val="89C542"/>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42" name="Freeform 40"/>
              <p:cNvSpPr>
                <a:spLocks/>
              </p:cNvSpPr>
              <p:nvPr/>
            </p:nvSpPr>
            <p:spPr bwMode="auto">
              <a:xfrm>
                <a:off x="3533775" y="4052888"/>
                <a:ext cx="47625" cy="117475"/>
              </a:xfrm>
              <a:custGeom>
                <a:avLst/>
                <a:gdLst>
                  <a:gd name="T0" fmla="*/ 9 w 18"/>
                  <a:gd name="T1" fmla="*/ 45 h 45"/>
                  <a:gd name="T2" fmla="*/ 18 w 18"/>
                  <a:gd name="T3" fmla="*/ 36 h 45"/>
                  <a:gd name="T4" fmla="*/ 18 w 18"/>
                  <a:gd name="T5" fmla="*/ 9 h 45"/>
                  <a:gd name="T6" fmla="*/ 9 w 18"/>
                  <a:gd name="T7" fmla="*/ 0 h 45"/>
                  <a:gd name="T8" fmla="*/ 0 w 18"/>
                  <a:gd name="T9" fmla="*/ 9 h 45"/>
                  <a:gd name="T10" fmla="*/ 0 w 18"/>
                  <a:gd name="T11" fmla="*/ 36 h 45"/>
                  <a:gd name="T12" fmla="*/ 9 w 1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18" h="45">
                    <a:moveTo>
                      <a:pt x="9" y="45"/>
                    </a:moveTo>
                    <a:cubicBezTo>
                      <a:pt x="14" y="45"/>
                      <a:pt x="18" y="41"/>
                      <a:pt x="18" y="36"/>
                    </a:cubicBezTo>
                    <a:cubicBezTo>
                      <a:pt x="18" y="9"/>
                      <a:pt x="18" y="9"/>
                      <a:pt x="18" y="9"/>
                    </a:cubicBezTo>
                    <a:cubicBezTo>
                      <a:pt x="18" y="4"/>
                      <a:pt x="14" y="0"/>
                      <a:pt x="9" y="0"/>
                    </a:cubicBezTo>
                    <a:cubicBezTo>
                      <a:pt x="4" y="0"/>
                      <a:pt x="0" y="4"/>
                      <a:pt x="0" y="9"/>
                    </a:cubicBezTo>
                    <a:cubicBezTo>
                      <a:pt x="0" y="36"/>
                      <a:pt x="0" y="36"/>
                      <a:pt x="0" y="36"/>
                    </a:cubicBezTo>
                    <a:cubicBezTo>
                      <a:pt x="0" y="41"/>
                      <a:pt x="4" y="45"/>
                      <a:pt x="9" y="45"/>
                    </a:cubicBezTo>
                    <a:close/>
                  </a:path>
                </a:pathLst>
              </a:custGeom>
              <a:grpFill/>
              <a:ln w="9525">
                <a:solidFill>
                  <a:srgbClr val="89C542"/>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43" name="Freeform 41"/>
              <p:cNvSpPr>
                <a:spLocks/>
              </p:cNvSpPr>
              <p:nvPr/>
            </p:nvSpPr>
            <p:spPr bwMode="auto">
              <a:xfrm>
                <a:off x="3419475" y="4267200"/>
                <a:ext cx="114300" cy="158750"/>
              </a:xfrm>
              <a:custGeom>
                <a:avLst/>
                <a:gdLst>
                  <a:gd name="T0" fmla="*/ 33 w 44"/>
                  <a:gd name="T1" fmla="*/ 2 h 61"/>
                  <a:gd name="T2" fmla="*/ 0 w 44"/>
                  <a:gd name="T3" fmla="*/ 54 h 61"/>
                  <a:gd name="T4" fmla="*/ 7 w 44"/>
                  <a:gd name="T5" fmla="*/ 61 h 61"/>
                  <a:gd name="T6" fmla="*/ 14 w 44"/>
                  <a:gd name="T7" fmla="*/ 54 h 61"/>
                  <a:gd name="T8" fmla="*/ 39 w 44"/>
                  <a:gd name="T9" fmla="*/ 15 h 61"/>
                  <a:gd name="T10" fmla="*/ 43 w 44"/>
                  <a:gd name="T11" fmla="*/ 5 h 61"/>
                  <a:gd name="T12" fmla="*/ 33 w 44"/>
                  <a:gd name="T13" fmla="*/ 2 h 61"/>
                </a:gdLst>
                <a:ahLst/>
                <a:cxnLst>
                  <a:cxn ang="0">
                    <a:pos x="T0" y="T1"/>
                  </a:cxn>
                  <a:cxn ang="0">
                    <a:pos x="T2" y="T3"/>
                  </a:cxn>
                  <a:cxn ang="0">
                    <a:pos x="T4" y="T5"/>
                  </a:cxn>
                  <a:cxn ang="0">
                    <a:pos x="T6" y="T7"/>
                  </a:cxn>
                  <a:cxn ang="0">
                    <a:pos x="T8" y="T9"/>
                  </a:cxn>
                  <a:cxn ang="0">
                    <a:pos x="T10" y="T11"/>
                  </a:cxn>
                  <a:cxn ang="0">
                    <a:pos x="T12" y="T13"/>
                  </a:cxn>
                </a:cxnLst>
                <a:rect l="0" t="0" r="r" b="b"/>
                <a:pathLst>
                  <a:path w="44" h="61">
                    <a:moveTo>
                      <a:pt x="33" y="2"/>
                    </a:moveTo>
                    <a:cubicBezTo>
                      <a:pt x="13" y="11"/>
                      <a:pt x="0" y="32"/>
                      <a:pt x="0" y="54"/>
                    </a:cubicBezTo>
                    <a:cubicBezTo>
                      <a:pt x="0" y="58"/>
                      <a:pt x="3" y="61"/>
                      <a:pt x="7" y="61"/>
                    </a:cubicBezTo>
                    <a:cubicBezTo>
                      <a:pt x="11" y="61"/>
                      <a:pt x="14" y="58"/>
                      <a:pt x="14" y="54"/>
                    </a:cubicBezTo>
                    <a:cubicBezTo>
                      <a:pt x="14" y="37"/>
                      <a:pt x="24" y="22"/>
                      <a:pt x="39" y="15"/>
                    </a:cubicBezTo>
                    <a:cubicBezTo>
                      <a:pt x="43" y="13"/>
                      <a:pt x="44" y="9"/>
                      <a:pt x="43" y="5"/>
                    </a:cubicBezTo>
                    <a:cubicBezTo>
                      <a:pt x="41" y="2"/>
                      <a:pt x="37" y="0"/>
                      <a:pt x="33" y="2"/>
                    </a:cubicBezTo>
                    <a:close/>
                  </a:path>
                </a:pathLst>
              </a:custGeom>
              <a:grpFill/>
              <a:ln w="9525">
                <a:solidFill>
                  <a:srgbClr val="000000"/>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grpSp>
      </p:grpSp>
      <p:sp>
        <p:nvSpPr>
          <p:cNvPr id="48" name="Freeform 40"/>
          <p:cNvSpPr>
            <a:spLocks noEditPoints="1"/>
          </p:cNvSpPr>
          <p:nvPr/>
        </p:nvSpPr>
        <p:spPr bwMode="auto">
          <a:xfrm>
            <a:off x="1602466" y="3482123"/>
            <a:ext cx="482500" cy="254949"/>
          </a:xfrm>
          <a:custGeom>
            <a:avLst/>
            <a:gdLst>
              <a:gd name="T0" fmla="*/ 231 w 462"/>
              <a:gd name="T1" fmla="*/ 0 h 245"/>
              <a:gd name="T2" fmla="*/ 0 w 462"/>
              <a:gd name="T3" fmla="*/ 122 h 245"/>
              <a:gd name="T4" fmla="*/ 0 w 462"/>
              <a:gd name="T5" fmla="*/ 122 h 245"/>
              <a:gd name="T6" fmla="*/ 231 w 462"/>
              <a:gd name="T7" fmla="*/ 245 h 245"/>
              <a:gd name="T8" fmla="*/ 462 w 462"/>
              <a:gd name="T9" fmla="*/ 122 h 245"/>
              <a:gd name="T10" fmla="*/ 462 w 462"/>
              <a:gd name="T11" fmla="*/ 122 h 245"/>
              <a:gd name="T12" fmla="*/ 231 w 462"/>
              <a:gd name="T13" fmla="*/ 0 h 245"/>
              <a:gd name="T14" fmla="*/ 241 w 462"/>
              <a:gd name="T15" fmla="*/ 99 h 245"/>
              <a:gd name="T16" fmla="*/ 269 w 462"/>
              <a:gd name="T17" fmla="*/ 70 h 245"/>
              <a:gd name="T18" fmla="*/ 298 w 462"/>
              <a:gd name="T19" fmla="*/ 99 h 245"/>
              <a:gd name="T20" fmla="*/ 269 w 462"/>
              <a:gd name="T21" fmla="*/ 127 h 245"/>
              <a:gd name="T22" fmla="*/ 241 w 462"/>
              <a:gd name="T23" fmla="*/ 99 h 245"/>
              <a:gd name="T24" fmla="*/ 32 w 462"/>
              <a:gd name="T25" fmla="*/ 122 h 245"/>
              <a:gd name="T26" fmla="*/ 182 w 462"/>
              <a:gd name="T27" fmla="*/ 33 h 245"/>
              <a:gd name="T28" fmla="*/ 128 w 462"/>
              <a:gd name="T29" fmla="*/ 123 h 245"/>
              <a:gd name="T30" fmla="*/ 179 w 462"/>
              <a:gd name="T31" fmla="*/ 211 h 245"/>
              <a:gd name="T32" fmla="*/ 98 w 462"/>
              <a:gd name="T33" fmla="*/ 184 h 245"/>
              <a:gd name="T34" fmla="*/ 32 w 462"/>
              <a:gd name="T35" fmla="*/ 122 h 245"/>
              <a:gd name="T36" fmla="*/ 283 w 462"/>
              <a:gd name="T37" fmla="*/ 211 h 245"/>
              <a:gd name="T38" fmla="*/ 333 w 462"/>
              <a:gd name="T39" fmla="*/ 123 h 245"/>
              <a:gd name="T40" fmla="*/ 280 w 462"/>
              <a:gd name="T41" fmla="*/ 33 h 245"/>
              <a:gd name="T42" fmla="*/ 429 w 462"/>
              <a:gd name="T43" fmla="*/ 122 h 245"/>
              <a:gd name="T44" fmla="*/ 283 w 462"/>
              <a:gd name="T45" fmla="*/ 211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62" h="245">
                <a:moveTo>
                  <a:pt x="231" y="0"/>
                </a:moveTo>
                <a:cubicBezTo>
                  <a:pt x="120" y="0"/>
                  <a:pt x="27" y="52"/>
                  <a:pt x="0" y="122"/>
                </a:cubicBezTo>
                <a:cubicBezTo>
                  <a:pt x="0" y="122"/>
                  <a:pt x="0" y="122"/>
                  <a:pt x="0" y="122"/>
                </a:cubicBezTo>
                <a:cubicBezTo>
                  <a:pt x="27" y="193"/>
                  <a:pt x="120" y="245"/>
                  <a:pt x="231" y="245"/>
                </a:cubicBezTo>
                <a:cubicBezTo>
                  <a:pt x="341" y="245"/>
                  <a:pt x="434" y="193"/>
                  <a:pt x="462" y="122"/>
                </a:cubicBezTo>
                <a:cubicBezTo>
                  <a:pt x="462" y="122"/>
                  <a:pt x="462" y="122"/>
                  <a:pt x="462" y="122"/>
                </a:cubicBezTo>
                <a:cubicBezTo>
                  <a:pt x="434" y="52"/>
                  <a:pt x="341" y="0"/>
                  <a:pt x="231" y="0"/>
                </a:cubicBezTo>
                <a:close/>
                <a:moveTo>
                  <a:pt x="241" y="99"/>
                </a:moveTo>
                <a:cubicBezTo>
                  <a:pt x="241" y="83"/>
                  <a:pt x="253" y="70"/>
                  <a:pt x="269" y="70"/>
                </a:cubicBezTo>
                <a:cubicBezTo>
                  <a:pt x="285" y="70"/>
                  <a:pt x="298" y="83"/>
                  <a:pt x="298" y="99"/>
                </a:cubicBezTo>
                <a:cubicBezTo>
                  <a:pt x="298" y="114"/>
                  <a:pt x="285" y="127"/>
                  <a:pt x="269" y="127"/>
                </a:cubicBezTo>
                <a:cubicBezTo>
                  <a:pt x="253" y="127"/>
                  <a:pt x="241" y="114"/>
                  <a:pt x="241" y="99"/>
                </a:cubicBezTo>
                <a:close/>
                <a:moveTo>
                  <a:pt x="32" y="122"/>
                </a:moveTo>
                <a:cubicBezTo>
                  <a:pt x="55" y="78"/>
                  <a:pt x="113" y="44"/>
                  <a:pt x="182" y="33"/>
                </a:cubicBezTo>
                <a:cubicBezTo>
                  <a:pt x="150" y="50"/>
                  <a:pt x="128" y="84"/>
                  <a:pt x="128" y="123"/>
                </a:cubicBezTo>
                <a:cubicBezTo>
                  <a:pt x="128" y="160"/>
                  <a:pt x="149" y="193"/>
                  <a:pt x="179" y="211"/>
                </a:cubicBezTo>
                <a:cubicBezTo>
                  <a:pt x="150" y="206"/>
                  <a:pt x="122" y="197"/>
                  <a:pt x="98" y="184"/>
                </a:cubicBezTo>
                <a:cubicBezTo>
                  <a:pt x="68" y="168"/>
                  <a:pt x="45" y="146"/>
                  <a:pt x="32" y="122"/>
                </a:cubicBezTo>
                <a:close/>
                <a:moveTo>
                  <a:pt x="283" y="211"/>
                </a:moveTo>
                <a:cubicBezTo>
                  <a:pt x="313" y="193"/>
                  <a:pt x="333" y="160"/>
                  <a:pt x="333" y="123"/>
                </a:cubicBezTo>
                <a:cubicBezTo>
                  <a:pt x="333" y="84"/>
                  <a:pt x="312" y="50"/>
                  <a:pt x="280" y="33"/>
                </a:cubicBezTo>
                <a:cubicBezTo>
                  <a:pt x="348" y="44"/>
                  <a:pt x="406" y="78"/>
                  <a:pt x="429" y="122"/>
                </a:cubicBezTo>
                <a:cubicBezTo>
                  <a:pt x="406" y="166"/>
                  <a:pt x="350" y="199"/>
                  <a:pt x="283" y="211"/>
                </a:cubicBezTo>
                <a:close/>
              </a:path>
            </a:pathLst>
          </a:custGeom>
          <a:solidFill>
            <a:schemeClr val="bg2"/>
          </a:solidFill>
          <a:ln w="6350">
            <a:solidFill>
              <a:srgbClr val="89C542"/>
            </a:solidFill>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49" name="Freeform 38"/>
          <p:cNvSpPr>
            <a:spLocks noEditPoints="1"/>
          </p:cNvSpPr>
          <p:nvPr/>
        </p:nvSpPr>
        <p:spPr bwMode="auto">
          <a:xfrm>
            <a:off x="3669226" y="3408038"/>
            <a:ext cx="413307" cy="413899"/>
          </a:xfrm>
          <a:custGeom>
            <a:avLst/>
            <a:gdLst>
              <a:gd name="T0" fmla="*/ 7701 w 8456"/>
              <a:gd name="T1" fmla="*/ 2283 h 8640"/>
              <a:gd name="T2" fmla="*/ 6971 w 8456"/>
              <a:gd name="T3" fmla="*/ 872 h 8640"/>
              <a:gd name="T4" fmla="*/ 5456 w 8456"/>
              <a:gd name="T5" fmla="*/ 23 h 8640"/>
              <a:gd name="T6" fmla="*/ 4099 w 8456"/>
              <a:gd name="T7" fmla="*/ 255 h 8640"/>
              <a:gd name="T8" fmla="*/ 2558 w 8456"/>
              <a:gd name="T9" fmla="*/ 174 h 8640"/>
              <a:gd name="T10" fmla="*/ 1194 w 8456"/>
              <a:gd name="T11" fmla="*/ 1142 h 8640"/>
              <a:gd name="T12" fmla="*/ 782 w 8456"/>
              <a:gd name="T13" fmla="*/ 2640 h 8640"/>
              <a:gd name="T14" fmla="*/ 53 w 8456"/>
              <a:gd name="T15" fmla="*/ 4806 h 8640"/>
              <a:gd name="T16" fmla="*/ 577 w 8456"/>
              <a:gd name="T17" fmla="*/ 6913 h 8640"/>
              <a:gd name="T18" fmla="*/ 2668 w 8456"/>
              <a:gd name="T19" fmla="*/ 8611 h 8640"/>
              <a:gd name="T20" fmla="*/ 4419 w 8456"/>
              <a:gd name="T21" fmla="*/ 8285 h 8640"/>
              <a:gd name="T22" fmla="*/ 6517 w 8456"/>
              <a:gd name="T23" fmla="*/ 8292 h 8640"/>
              <a:gd name="T24" fmla="*/ 8138 w 8456"/>
              <a:gd name="T25" fmla="*/ 6109 h 8640"/>
              <a:gd name="T26" fmla="*/ 8456 w 8456"/>
              <a:gd name="T27" fmla="*/ 4324 h 8640"/>
              <a:gd name="T28" fmla="*/ 1739 w 8456"/>
              <a:gd name="T29" fmla="*/ 7066 h 8640"/>
              <a:gd name="T30" fmla="*/ 2248 w 8456"/>
              <a:gd name="T31" fmla="*/ 6239 h 8640"/>
              <a:gd name="T32" fmla="*/ 3123 w 8456"/>
              <a:gd name="T33" fmla="*/ 6676 h 8640"/>
              <a:gd name="T34" fmla="*/ 3350 w 8456"/>
              <a:gd name="T35" fmla="*/ 6304 h 8640"/>
              <a:gd name="T36" fmla="*/ 3510 w 8456"/>
              <a:gd name="T37" fmla="*/ 5500 h 8640"/>
              <a:gd name="T38" fmla="*/ 2471 w 8456"/>
              <a:gd name="T39" fmla="*/ 5830 h 8640"/>
              <a:gd name="T40" fmla="*/ 1384 w 8456"/>
              <a:gd name="T41" fmla="*/ 6628 h 8640"/>
              <a:gd name="T42" fmla="*/ 818 w 8456"/>
              <a:gd name="T43" fmla="*/ 5940 h 8640"/>
              <a:gd name="T44" fmla="*/ 508 w 8456"/>
              <a:gd name="T45" fmla="*/ 4444 h 8640"/>
              <a:gd name="T46" fmla="*/ 1221 w 8456"/>
              <a:gd name="T47" fmla="*/ 3341 h 8640"/>
              <a:gd name="T48" fmla="*/ 1405 w 8456"/>
              <a:gd name="T49" fmla="*/ 4860 h 8640"/>
              <a:gd name="T50" fmla="*/ 2901 w 8456"/>
              <a:gd name="T51" fmla="*/ 4886 h 8640"/>
              <a:gd name="T52" fmla="*/ 2257 w 8456"/>
              <a:gd name="T53" fmla="*/ 4836 h 8640"/>
              <a:gd name="T54" fmla="*/ 1590 w 8456"/>
              <a:gd name="T55" fmla="*/ 4012 h 8640"/>
              <a:gd name="T56" fmla="*/ 2848 w 8456"/>
              <a:gd name="T57" fmla="*/ 3733 h 8640"/>
              <a:gd name="T58" fmla="*/ 2439 w 8456"/>
              <a:gd name="T59" fmla="*/ 3452 h 8640"/>
              <a:gd name="T60" fmla="*/ 1332 w 8456"/>
              <a:gd name="T61" fmla="*/ 2752 h 8640"/>
              <a:gd name="T62" fmla="*/ 1840 w 8456"/>
              <a:gd name="T63" fmla="*/ 1238 h 8640"/>
              <a:gd name="T64" fmla="*/ 3119 w 8456"/>
              <a:gd name="T65" fmla="*/ 514 h 8640"/>
              <a:gd name="T66" fmla="*/ 3920 w 8456"/>
              <a:gd name="T67" fmla="*/ 2058 h 8640"/>
              <a:gd name="T68" fmla="*/ 2791 w 8456"/>
              <a:gd name="T69" fmla="*/ 2102 h 8640"/>
              <a:gd name="T70" fmla="*/ 2244 w 8456"/>
              <a:gd name="T71" fmla="*/ 1515 h 8640"/>
              <a:gd name="T72" fmla="*/ 3179 w 8456"/>
              <a:gd name="T73" fmla="*/ 2704 h 8640"/>
              <a:gd name="T74" fmla="*/ 3325 w 8456"/>
              <a:gd name="T75" fmla="*/ 8088 h 8640"/>
              <a:gd name="T76" fmla="*/ 6964 w 8456"/>
              <a:gd name="T77" fmla="*/ 7115 h 8640"/>
              <a:gd name="T78" fmla="*/ 6408 w 8456"/>
              <a:gd name="T79" fmla="*/ 5371 h 8640"/>
              <a:gd name="T80" fmla="*/ 5832 w 8456"/>
              <a:gd name="T81" fmla="*/ 5879 h 8640"/>
              <a:gd name="T82" fmla="*/ 4782 w 8456"/>
              <a:gd name="T83" fmla="*/ 6478 h 8640"/>
              <a:gd name="T84" fmla="*/ 5964 w 8456"/>
              <a:gd name="T85" fmla="*/ 6511 h 8640"/>
              <a:gd name="T86" fmla="*/ 6389 w 8456"/>
              <a:gd name="T87" fmla="*/ 7734 h 8640"/>
              <a:gd name="T88" fmla="*/ 4706 w 8456"/>
              <a:gd name="T89" fmla="*/ 7871 h 8640"/>
              <a:gd name="T90" fmla="*/ 4838 w 8456"/>
              <a:gd name="T91" fmla="*/ 5776 h 8640"/>
              <a:gd name="T92" fmla="*/ 5153 w 8456"/>
              <a:gd name="T93" fmla="*/ 5323 h 8640"/>
              <a:gd name="T94" fmla="*/ 5539 w 8456"/>
              <a:gd name="T95" fmla="*/ 4648 h 8640"/>
              <a:gd name="T96" fmla="*/ 4577 w 8456"/>
              <a:gd name="T97" fmla="*/ 4783 h 8640"/>
              <a:gd name="T98" fmla="*/ 5337 w 8456"/>
              <a:gd name="T99" fmla="*/ 514 h 8640"/>
              <a:gd name="T100" fmla="*/ 6616 w 8456"/>
              <a:gd name="T101" fmla="*/ 1238 h 8640"/>
              <a:gd name="T102" fmla="*/ 7069 w 8456"/>
              <a:gd name="T103" fmla="*/ 2823 h 8640"/>
              <a:gd name="T104" fmla="*/ 5895 w 8456"/>
              <a:gd name="T105" fmla="*/ 2711 h 8640"/>
              <a:gd name="T106" fmla="*/ 6289 w 8456"/>
              <a:gd name="T107" fmla="*/ 1575 h 8640"/>
              <a:gd name="T108" fmla="*/ 5029 w 8456"/>
              <a:gd name="T109" fmla="*/ 2077 h 8640"/>
              <a:gd name="T110" fmla="*/ 5030 w 8456"/>
              <a:gd name="T111" fmla="*/ 2457 h 8640"/>
              <a:gd name="T112" fmla="*/ 6117 w 8456"/>
              <a:gd name="T113" fmla="*/ 3365 h 8640"/>
              <a:gd name="T114" fmla="*/ 6444 w 8456"/>
              <a:gd name="T115" fmla="*/ 4050 h 8640"/>
              <a:gd name="T116" fmla="*/ 5656 w 8456"/>
              <a:gd name="T117" fmla="*/ 3982 h 8640"/>
              <a:gd name="T118" fmla="*/ 6489 w 8456"/>
              <a:gd name="T119" fmla="*/ 4462 h 8640"/>
              <a:gd name="T120" fmla="*/ 6979 w 8456"/>
              <a:gd name="T121" fmla="*/ 3342 h 8640"/>
              <a:gd name="T122" fmla="*/ 7951 w 8456"/>
              <a:gd name="T123" fmla="*/ 4277 h 8640"/>
              <a:gd name="T124" fmla="*/ 7622 w 8456"/>
              <a:gd name="T125" fmla="*/ 5769 h 8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456" h="8640">
                <a:moveTo>
                  <a:pt x="8456" y="4324"/>
                </a:moveTo>
                <a:lnTo>
                  <a:pt x="8456" y="4324"/>
                </a:lnTo>
                <a:lnTo>
                  <a:pt x="8455" y="4263"/>
                </a:lnTo>
                <a:lnTo>
                  <a:pt x="8453" y="4202"/>
                </a:lnTo>
                <a:lnTo>
                  <a:pt x="8448" y="4141"/>
                </a:lnTo>
                <a:lnTo>
                  <a:pt x="8442" y="4081"/>
                </a:lnTo>
                <a:lnTo>
                  <a:pt x="8434" y="4021"/>
                </a:lnTo>
                <a:lnTo>
                  <a:pt x="8426" y="3962"/>
                </a:lnTo>
                <a:lnTo>
                  <a:pt x="8415" y="3902"/>
                </a:lnTo>
                <a:lnTo>
                  <a:pt x="8402" y="3844"/>
                </a:lnTo>
                <a:lnTo>
                  <a:pt x="8389" y="3786"/>
                </a:lnTo>
                <a:lnTo>
                  <a:pt x="8373" y="3727"/>
                </a:lnTo>
                <a:lnTo>
                  <a:pt x="8355" y="3670"/>
                </a:lnTo>
                <a:lnTo>
                  <a:pt x="8337" y="3614"/>
                </a:lnTo>
                <a:lnTo>
                  <a:pt x="8318" y="3557"/>
                </a:lnTo>
                <a:lnTo>
                  <a:pt x="8296" y="3502"/>
                </a:lnTo>
                <a:lnTo>
                  <a:pt x="8273" y="3447"/>
                </a:lnTo>
                <a:lnTo>
                  <a:pt x="8248" y="3393"/>
                </a:lnTo>
                <a:lnTo>
                  <a:pt x="8222" y="3339"/>
                </a:lnTo>
                <a:lnTo>
                  <a:pt x="8195" y="3286"/>
                </a:lnTo>
                <a:lnTo>
                  <a:pt x="8166" y="3234"/>
                </a:lnTo>
                <a:lnTo>
                  <a:pt x="8136" y="3183"/>
                </a:lnTo>
                <a:lnTo>
                  <a:pt x="8104" y="3132"/>
                </a:lnTo>
                <a:lnTo>
                  <a:pt x="8072" y="3082"/>
                </a:lnTo>
                <a:lnTo>
                  <a:pt x="8037" y="3034"/>
                </a:lnTo>
                <a:lnTo>
                  <a:pt x="8003" y="2986"/>
                </a:lnTo>
                <a:lnTo>
                  <a:pt x="7966" y="2940"/>
                </a:lnTo>
                <a:lnTo>
                  <a:pt x="7928" y="2894"/>
                </a:lnTo>
                <a:lnTo>
                  <a:pt x="7888" y="2849"/>
                </a:lnTo>
                <a:lnTo>
                  <a:pt x="7848" y="2804"/>
                </a:lnTo>
                <a:lnTo>
                  <a:pt x="7806" y="2762"/>
                </a:lnTo>
                <a:lnTo>
                  <a:pt x="7763" y="2720"/>
                </a:lnTo>
                <a:lnTo>
                  <a:pt x="7718" y="2680"/>
                </a:lnTo>
                <a:lnTo>
                  <a:pt x="7674" y="2640"/>
                </a:lnTo>
                <a:lnTo>
                  <a:pt x="7674" y="2640"/>
                </a:lnTo>
                <a:lnTo>
                  <a:pt x="7680" y="2601"/>
                </a:lnTo>
                <a:lnTo>
                  <a:pt x="7686" y="2561"/>
                </a:lnTo>
                <a:lnTo>
                  <a:pt x="7690" y="2522"/>
                </a:lnTo>
                <a:lnTo>
                  <a:pt x="7694" y="2482"/>
                </a:lnTo>
                <a:lnTo>
                  <a:pt x="7698" y="2442"/>
                </a:lnTo>
                <a:lnTo>
                  <a:pt x="7700" y="2402"/>
                </a:lnTo>
                <a:lnTo>
                  <a:pt x="7701" y="2361"/>
                </a:lnTo>
                <a:lnTo>
                  <a:pt x="7702" y="2321"/>
                </a:lnTo>
                <a:lnTo>
                  <a:pt x="7702" y="2321"/>
                </a:lnTo>
                <a:lnTo>
                  <a:pt x="7701" y="2283"/>
                </a:lnTo>
                <a:lnTo>
                  <a:pt x="7700" y="2245"/>
                </a:lnTo>
                <a:lnTo>
                  <a:pt x="7698" y="2207"/>
                </a:lnTo>
                <a:lnTo>
                  <a:pt x="7695" y="2169"/>
                </a:lnTo>
                <a:lnTo>
                  <a:pt x="7691" y="2131"/>
                </a:lnTo>
                <a:lnTo>
                  <a:pt x="7687" y="2095"/>
                </a:lnTo>
                <a:lnTo>
                  <a:pt x="7682" y="2058"/>
                </a:lnTo>
                <a:lnTo>
                  <a:pt x="7676" y="2021"/>
                </a:lnTo>
                <a:lnTo>
                  <a:pt x="7669" y="1984"/>
                </a:lnTo>
                <a:lnTo>
                  <a:pt x="7662" y="1947"/>
                </a:lnTo>
                <a:lnTo>
                  <a:pt x="7654" y="1912"/>
                </a:lnTo>
                <a:lnTo>
                  <a:pt x="7646" y="1876"/>
                </a:lnTo>
                <a:lnTo>
                  <a:pt x="7636" y="1840"/>
                </a:lnTo>
                <a:lnTo>
                  <a:pt x="7626" y="1805"/>
                </a:lnTo>
                <a:lnTo>
                  <a:pt x="7615" y="1770"/>
                </a:lnTo>
                <a:lnTo>
                  <a:pt x="7603" y="1735"/>
                </a:lnTo>
                <a:lnTo>
                  <a:pt x="7590" y="1701"/>
                </a:lnTo>
                <a:lnTo>
                  <a:pt x="7578" y="1667"/>
                </a:lnTo>
                <a:lnTo>
                  <a:pt x="7565" y="1633"/>
                </a:lnTo>
                <a:lnTo>
                  <a:pt x="7550" y="1600"/>
                </a:lnTo>
                <a:lnTo>
                  <a:pt x="7535" y="1567"/>
                </a:lnTo>
                <a:lnTo>
                  <a:pt x="7519" y="1534"/>
                </a:lnTo>
                <a:lnTo>
                  <a:pt x="7503" y="1502"/>
                </a:lnTo>
                <a:lnTo>
                  <a:pt x="7487" y="1469"/>
                </a:lnTo>
                <a:lnTo>
                  <a:pt x="7469" y="1438"/>
                </a:lnTo>
                <a:lnTo>
                  <a:pt x="7451" y="1406"/>
                </a:lnTo>
                <a:lnTo>
                  <a:pt x="7431" y="1375"/>
                </a:lnTo>
                <a:lnTo>
                  <a:pt x="7413" y="1345"/>
                </a:lnTo>
                <a:lnTo>
                  <a:pt x="7393" y="1315"/>
                </a:lnTo>
                <a:lnTo>
                  <a:pt x="7372" y="1284"/>
                </a:lnTo>
                <a:lnTo>
                  <a:pt x="7351" y="1255"/>
                </a:lnTo>
                <a:lnTo>
                  <a:pt x="7330" y="1227"/>
                </a:lnTo>
                <a:lnTo>
                  <a:pt x="7307" y="1198"/>
                </a:lnTo>
                <a:lnTo>
                  <a:pt x="7284" y="1171"/>
                </a:lnTo>
                <a:lnTo>
                  <a:pt x="7262" y="1142"/>
                </a:lnTo>
                <a:lnTo>
                  <a:pt x="7238" y="1115"/>
                </a:lnTo>
                <a:lnTo>
                  <a:pt x="7213" y="1088"/>
                </a:lnTo>
                <a:lnTo>
                  <a:pt x="7188" y="1062"/>
                </a:lnTo>
                <a:lnTo>
                  <a:pt x="7162" y="1038"/>
                </a:lnTo>
                <a:lnTo>
                  <a:pt x="7136" y="1012"/>
                </a:lnTo>
                <a:lnTo>
                  <a:pt x="7110" y="988"/>
                </a:lnTo>
                <a:lnTo>
                  <a:pt x="7083" y="963"/>
                </a:lnTo>
                <a:lnTo>
                  <a:pt x="7056" y="940"/>
                </a:lnTo>
                <a:lnTo>
                  <a:pt x="7028" y="916"/>
                </a:lnTo>
                <a:lnTo>
                  <a:pt x="7000" y="895"/>
                </a:lnTo>
                <a:lnTo>
                  <a:pt x="6971" y="872"/>
                </a:lnTo>
                <a:lnTo>
                  <a:pt x="6941" y="851"/>
                </a:lnTo>
                <a:lnTo>
                  <a:pt x="6912" y="830"/>
                </a:lnTo>
                <a:lnTo>
                  <a:pt x="6882" y="810"/>
                </a:lnTo>
                <a:lnTo>
                  <a:pt x="6852" y="791"/>
                </a:lnTo>
                <a:lnTo>
                  <a:pt x="6820" y="771"/>
                </a:lnTo>
                <a:lnTo>
                  <a:pt x="6789" y="753"/>
                </a:lnTo>
                <a:lnTo>
                  <a:pt x="6756" y="736"/>
                </a:lnTo>
                <a:lnTo>
                  <a:pt x="6725" y="718"/>
                </a:lnTo>
                <a:lnTo>
                  <a:pt x="6693" y="702"/>
                </a:lnTo>
                <a:lnTo>
                  <a:pt x="6659" y="686"/>
                </a:lnTo>
                <a:lnTo>
                  <a:pt x="6625" y="671"/>
                </a:lnTo>
                <a:lnTo>
                  <a:pt x="6592" y="656"/>
                </a:lnTo>
                <a:lnTo>
                  <a:pt x="6557" y="643"/>
                </a:lnTo>
                <a:lnTo>
                  <a:pt x="6524" y="629"/>
                </a:lnTo>
                <a:lnTo>
                  <a:pt x="6488" y="617"/>
                </a:lnTo>
                <a:lnTo>
                  <a:pt x="6453" y="605"/>
                </a:lnTo>
                <a:lnTo>
                  <a:pt x="6418" y="594"/>
                </a:lnTo>
                <a:lnTo>
                  <a:pt x="6382" y="583"/>
                </a:lnTo>
                <a:lnTo>
                  <a:pt x="6382" y="583"/>
                </a:lnTo>
                <a:lnTo>
                  <a:pt x="6355" y="550"/>
                </a:lnTo>
                <a:lnTo>
                  <a:pt x="6328" y="516"/>
                </a:lnTo>
                <a:lnTo>
                  <a:pt x="6299" y="485"/>
                </a:lnTo>
                <a:lnTo>
                  <a:pt x="6270" y="453"/>
                </a:lnTo>
                <a:lnTo>
                  <a:pt x="6239" y="423"/>
                </a:lnTo>
                <a:lnTo>
                  <a:pt x="6209" y="394"/>
                </a:lnTo>
                <a:lnTo>
                  <a:pt x="6176" y="366"/>
                </a:lnTo>
                <a:lnTo>
                  <a:pt x="6144" y="339"/>
                </a:lnTo>
                <a:lnTo>
                  <a:pt x="6112" y="312"/>
                </a:lnTo>
                <a:lnTo>
                  <a:pt x="6077" y="287"/>
                </a:lnTo>
                <a:lnTo>
                  <a:pt x="6042" y="262"/>
                </a:lnTo>
                <a:lnTo>
                  <a:pt x="6008" y="238"/>
                </a:lnTo>
                <a:lnTo>
                  <a:pt x="5972" y="216"/>
                </a:lnTo>
                <a:lnTo>
                  <a:pt x="5935" y="195"/>
                </a:lnTo>
                <a:lnTo>
                  <a:pt x="5898" y="174"/>
                </a:lnTo>
                <a:lnTo>
                  <a:pt x="5861" y="155"/>
                </a:lnTo>
                <a:lnTo>
                  <a:pt x="5822" y="136"/>
                </a:lnTo>
                <a:lnTo>
                  <a:pt x="5783" y="119"/>
                </a:lnTo>
                <a:lnTo>
                  <a:pt x="5744" y="104"/>
                </a:lnTo>
                <a:lnTo>
                  <a:pt x="5704" y="89"/>
                </a:lnTo>
                <a:lnTo>
                  <a:pt x="5664" y="75"/>
                </a:lnTo>
                <a:lnTo>
                  <a:pt x="5623" y="62"/>
                </a:lnTo>
                <a:lnTo>
                  <a:pt x="5581" y="51"/>
                </a:lnTo>
                <a:lnTo>
                  <a:pt x="5540" y="40"/>
                </a:lnTo>
                <a:lnTo>
                  <a:pt x="5498" y="30"/>
                </a:lnTo>
                <a:lnTo>
                  <a:pt x="5456" y="23"/>
                </a:lnTo>
                <a:lnTo>
                  <a:pt x="5414" y="16"/>
                </a:lnTo>
                <a:lnTo>
                  <a:pt x="5370" y="10"/>
                </a:lnTo>
                <a:lnTo>
                  <a:pt x="5327" y="5"/>
                </a:lnTo>
                <a:lnTo>
                  <a:pt x="5284" y="3"/>
                </a:lnTo>
                <a:lnTo>
                  <a:pt x="5241" y="1"/>
                </a:lnTo>
                <a:lnTo>
                  <a:pt x="5196" y="0"/>
                </a:lnTo>
                <a:lnTo>
                  <a:pt x="5196" y="0"/>
                </a:lnTo>
                <a:lnTo>
                  <a:pt x="5162" y="1"/>
                </a:lnTo>
                <a:lnTo>
                  <a:pt x="5128" y="2"/>
                </a:lnTo>
                <a:lnTo>
                  <a:pt x="5094" y="3"/>
                </a:lnTo>
                <a:lnTo>
                  <a:pt x="5060" y="6"/>
                </a:lnTo>
                <a:lnTo>
                  <a:pt x="5026" y="10"/>
                </a:lnTo>
                <a:lnTo>
                  <a:pt x="4993" y="14"/>
                </a:lnTo>
                <a:lnTo>
                  <a:pt x="4960" y="18"/>
                </a:lnTo>
                <a:lnTo>
                  <a:pt x="4927" y="24"/>
                </a:lnTo>
                <a:lnTo>
                  <a:pt x="4894" y="30"/>
                </a:lnTo>
                <a:lnTo>
                  <a:pt x="4862" y="37"/>
                </a:lnTo>
                <a:lnTo>
                  <a:pt x="4830" y="44"/>
                </a:lnTo>
                <a:lnTo>
                  <a:pt x="4798" y="53"/>
                </a:lnTo>
                <a:lnTo>
                  <a:pt x="4766" y="62"/>
                </a:lnTo>
                <a:lnTo>
                  <a:pt x="4734" y="71"/>
                </a:lnTo>
                <a:lnTo>
                  <a:pt x="4704" y="82"/>
                </a:lnTo>
                <a:lnTo>
                  <a:pt x="4673" y="93"/>
                </a:lnTo>
                <a:lnTo>
                  <a:pt x="4642" y="105"/>
                </a:lnTo>
                <a:lnTo>
                  <a:pt x="4612" y="117"/>
                </a:lnTo>
                <a:lnTo>
                  <a:pt x="4583" y="130"/>
                </a:lnTo>
                <a:lnTo>
                  <a:pt x="4553" y="144"/>
                </a:lnTo>
                <a:lnTo>
                  <a:pt x="4523" y="158"/>
                </a:lnTo>
                <a:lnTo>
                  <a:pt x="4495" y="172"/>
                </a:lnTo>
                <a:lnTo>
                  <a:pt x="4466" y="188"/>
                </a:lnTo>
                <a:lnTo>
                  <a:pt x="4438" y="203"/>
                </a:lnTo>
                <a:lnTo>
                  <a:pt x="4411" y="221"/>
                </a:lnTo>
                <a:lnTo>
                  <a:pt x="4384" y="238"/>
                </a:lnTo>
                <a:lnTo>
                  <a:pt x="4357" y="255"/>
                </a:lnTo>
                <a:lnTo>
                  <a:pt x="4330" y="274"/>
                </a:lnTo>
                <a:lnTo>
                  <a:pt x="4304" y="292"/>
                </a:lnTo>
                <a:lnTo>
                  <a:pt x="4278" y="312"/>
                </a:lnTo>
                <a:lnTo>
                  <a:pt x="4253" y="332"/>
                </a:lnTo>
                <a:lnTo>
                  <a:pt x="4228" y="353"/>
                </a:lnTo>
                <a:lnTo>
                  <a:pt x="4228" y="353"/>
                </a:lnTo>
                <a:lnTo>
                  <a:pt x="4203" y="332"/>
                </a:lnTo>
                <a:lnTo>
                  <a:pt x="4178" y="312"/>
                </a:lnTo>
                <a:lnTo>
                  <a:pt x="4152" y="292"/>
                </a:lnTo>
                <a:lnTo>
                  <a:pt x="4126" y="274"/>
                </a:lnTo>
                <a:lnTo>
                  <a:pt x="4099" y="255"/>
                </a:lnTo>
                <a:lnTo>
                  <a:pt x="4072" y="238"/>
                </a:lnTo>
                <a:lnTo>
                  <a:pt x="4045" y="221"/>
                </a:lnTo>
                <a:lnTo>
                  <a:pt x="4018" y="203"/>
                </a:lnTo>
                <a:lnTo>
                  <a:pt x="3990" y="188"/>
                </a:lnTo>
                <a:lnTo>
                  <a:pt x="3961" y="172"/>
                </a:lnTo>
                <a:lnTo>
                  <a:pt x="3933" y="158"/>
                </a:lnTo>
                <a:lnTo>
                  <a:pt x="3903" y="144"/>
                </a:lnTo>
                <a:lnTo>
                  <a:pt x="3873" y="130"/>
                </a:lnTo>
                <a:lnTo>
                  <a:pt x="3844" y="117"/>
                </a:lnTo>
                <a:lnTo>
                  <a:pt x="3814" y="105"/>
                </a:lnTo>
                <a:lnTo>
                  <a:pt x="3783" y="93"/>
                </a:lnTo>
                <a:lnTo>
                  <a:pt x="3752" y="82"/>
                </a:lnTo>
                <a:lnTo>
                  <a:pt x="3722" y="71"/>
                </a:lnTo>
                <a:lnTo>
                  <a:pt x="3690" y="62"/>
                </a:lnTo>
                <a:lnTo>
                  <a:pt x="3658" y="53"/>
                </a:lnTo>
                <a:lnTo>
                  <a:pt x="3626" y="44"/>
                </a:lnTo>
                <a:lnTo>
                  <a:pt x="3594" y="37"/>
                </a:lnTo>
                <a:lnTo>
                  <a:pt x="3562" y="30"/>
                </a:lnTo>
                <a:lnTo>
                  <a:pt x="3529" y="24"/>
                </a:lnTo>
                <a:lnTo>
                  <a:pt x="3496" y="18"/>
                </a:lnTo>
                <a:lnTo>
                  <a:pt x="3463" y="14"/>
                </a:lnTo>
                <a:lnTo>
                  <a:pt x="3430" y="10"/>
                </a:lnTo>
                <a:lnTo>
                  <a:pt x="3396" y="6"/>
                </a:lnTo>
                <a:lnTo>
                  <a:pt x="3362" y="3"/>
                </a:lnTo>
                <a:lnTo>
                  <a:pt x="3328" y="2"/>
                </a:lnTo>
                <a:lnTo>
                  <a:pt x="3294" y="1"/>
                </a:lnTo>
                <a:lnTo>
                  <a:pt x="3260" y="0"/>
                </a:lnTo>
                <a:lnTo>
                  <a:pt x="3260" y="0"/>
                </a:lnTo>
                <a:lnTo>
                  <a:pt x="3215" y="1"/>
                </a:lnTo>
                <a:lnTo>
                  <a:pt x="3172" y="3"/>
                </a:lnTo>
                <a:lnTo>
                  <a:pt x="3129" y="5"/>
                </a:lnTo>
                <a:lnTo>
                  <a:pt x="3086" y="10"/>
                </a:lnTo>
                <a:lnTo>
                  <a:pt x="3042" y="16"/>
                </a:lnTo>
                <a:lnTo>
                  <a:pt x="3000" y="23"/>
                </a:lnTo>
                <a:lnTo>
                  <a:pt x="2958" y="30"/>
                </a:lnTo>
                <a:lnTo>
                  <a:pt x="2916" y="40"/>
                </a:lnTo>
                <a:lnTo>
                  <a:pt x="2875" y="51"/>
                </a:lnTo>
                <a:lnTo>
                  <a:pt x="2833" y="62"/>
                </a:lnTo>
                <a:lnTo>
                  <a:pt x="2792" y="75"/>
                </a:lnTo>
                <a:lnTo>
                  <a:pt x="2752" y="89"/>
                </a:lnTo>
                <a:lnTo>
                  <a:pt x="2712" y="104"/>
                </a:lnTo>
                <a:lnTo>
                  <a:pt x="2673" y="119"/>
                </a:lnTo>
                <a:lnTo>
                  <a:pt x="2634" y="136"/>
                </a:lnTo>
                <a:lnTo>
                  <a:pt x="2595" y="155"/>
                </a:lnTo>
                <a:lnTo>
                  <a:pt x="2558" y="174"/>
                </a:lnTo>
                <a:lnTo>
                  <a:pt x="2521" y="195"/>
                </a:lnTo>
                <a:lnTo>
                  <a:pt x="2484" y="216"/>
                </a:lnTo>
                <a:lnTo>
                  <a:pt x="2448" y="238"/>
                </a:lnTo>
                <a:lnTo>
                  <a:pt x="2414" y="262"/>
                </a:lnTo>
                <a:lnTo>
                  <a:pt x="2379" y="287"/>
                </a:lnTo>
                <a:lnTo>
                  <a:pt x="2344" y="312"/>
                </a:lnTo>
                <a:lnTo>
                  <a:pt x="2312" y="339"/>
                </a:lnTo>
                <a:lnTo>
                  <a:pt x="2280" y="366"/>
                </a:lnTo>
                <a:lnTo>
                  <a:pt x="2247" y="394"/>
                </a:lnTo>
                <a:lnTo>
                  <a:pt x="2217" y="423"/>
                </a:lnTo>
                <a:lnTo>
                  <a:pt x="2186" y="453"/>
                </a:lnTo>
                <a:lnTo>
                  <a:pt x="2157" y="485"/>
                </a:lnTo>
                <a:lnTo>
                  <a:pt x="2128" y="516"/>
                </a:lnTo>
                <a:lnTo>
                  <a:pt x="2101" y="550"/>
                </a:lnTo>
                <a:lnTo>
                  <a:pt x="2074" y="583"/>
                </a:lnTo>
                <a:lnTo>
                  <a:pt x="2074" y="583"/>
                </a:lnTo>
                <a:lnTo>
                  <a:pt x="2038" y="594"/>
                </a:lnTo>
                <a:lnTo>
                  <a:pt x="2003" y="605"/>
                </a:lnTo>
                <a:lnTo>
                  <a:pt x="1968" y="617"/>
                </a:lnTo>
                <a:lnTo>
                  <a:pt x="1932" y="629"/>
                </a:lnTo>
                <a:lnTo>
                  <a:pt x="1899" y="643"/>
                </a:lnTo>
                <a:lnTo>
                  <a:pt x="1864" y="656"/>
                </a:lnTo>
                <a:lnTo>
                  <a:pt x="1831" y="671"/>
                </a:lnTo>
                <a:lnTo>
                  <a:pt x="1797" y="686"/>
                </a:lnTo>
                <a:lnTo>
                  <a:pt x="1763" y="702"/>
                </a:lnTo>
                <a:lnTo>
                  <a:pt x="1731" y="718"/>
                </a:lnTo>
                <a:lnTo>
                  <a:pt x="1700" y="736"/>
                </a:lnTo>
                <a:lnTo>
                  <a:pt x="1667" y="753"/>
                </a:lnTo>
                <a:lnTo>
                  <a:pt x="1636" y="771"/>
                </a:lnTo>
                <a:lnTo>
                  <a:pt x="1604" y="791"/>
                </a:lnTo>
                <a:lnTo>
                  <a:pt x="1574" y="810"/>
                </a:lnTo>
                <a:lnTo>
                  <a:pt x="1544" y="830"/>
                </a:lnTo>
                <a:lnTo>
                  <a:pt x="1515" y="851"/>
                </a:lnTo>
                <a:lnTo>
                  <a:pt x="1485" y="872"/>
                </a:lnTo>
                <a:lnTo>
                  <a:pt x="1456" y="895"/>
                </a:lnTo>
                <a:lnTo>
                  <a:pt x="1428" y="916"/>
                </a:lnTo>
                <a:lnTo>
                  <a:pt x="1400" y="940"/>
                </a:lnTo>
                <a:lnTo>
                  <a:pt x="1373" y="963"/>
                </a:lnTo>
                <a:lnTo>
                  <a:pt x="1346" y="988"/>
                </a:lnTo>
                <a:lnTo>
                  <a:pt x="1320" y="1012"/>
                </a:lnTo>
                <a:lnTo>
                  <a:pt x="1294" y="1038"/>
                </a:lnTo>
                <a:lnTo>
                  <a:pt x="1268" y="1062"/>
                </a:lnTo>
                <a:lnTo>
                  <a:pt x="1243" y="1088"/>
                </a:lnTo>
                <a:lnTo>
                  <a:pt x="1218" y="1115"/>
                </a:lnTo>
                <a:lnTo>
                  <a:pt x="1194" y="1142"/>
                </a:lnTo>
                <a:lnTo>
                  <a:pt x="1172" y="1171"/>
                </a:lnTo>
                <a:lnTo>
                  <a:pt x="1149" y="1198"/>
                </a:lnTo>
                <a:lnTo>
                  <a:pt x="1126" y="1227"/>
                </a:lnTo>
                <a:lnTo>
                  <a:pt x="1105" y="1255"/>
                </a:lnTo>
                <a:lnTo>
                  <a:pt x="1084" y="1284"/>
                </a:lnTo>
                <a:lnTo>
                  <a:pt x="1063" y="1315"/>
                </a:lnTo>
                <a:lnTo>
                  <a:pt x="1043" y="1345"/>
                </a:lnTo>
                <a:lnTo>
                  <a:pt x="1025" y="1375"/>
                </a:lnTo>
                <a:lnTo>
                  <a:pt x="1005" y="1406"/>
                </a:lnTo>
                <a:lnTo>
                  <a:pt x="987" y="1438"/>
                </a:lnTo>
                <a:lnTo>
                  <a:pt x="969" y="1469"/>
                </a:lnTo>
                <a:lnTo>
                  <a:pt x="953" y="1502"/>
                </a:lnTo>
                <a:lnTo>
                  <a:pt x="937" y="1534"/>
                </a:lnTo>
                <a:lnTo>
                  <a:pt x="921" y="1567"/>
                </a:lnTo>
                <a:lnTo>
                  <a:pt x="906" y="1600"/>
                </a:lnTo>
                <a:lnTo>
                  <a:pt x="891" y="1633"/>
                </a:lnTo>
                <a:lnTo>
                  <a:pt x="878" y="1667"/>
                </a:lnTo>
                <a:lnTo>
                  <a:pt x="866" y="1701"/>
                </a:lnTo>
                <a:lnTo>
                  <a:pt x="853" y="1735"/>
                </a:lnTo>
                <a:lnTo>
                  <a:pt x="841" y="1770"/>
                </a:lnTo>
                <a:lnTo>
                  <a:pt x="830" y="1805"/>
                </a:lnTo>
                <a:lnTo>
                  <a:pt x="820" y="1840"/>
                </a:lnTo>
                <a:lnTo>
                  <a:pt x="810" y="1876"/>
                </a:lnTo>
                <a:lnTo>
                  <a:pt x="802" y="1912"/>
                </a:lnTo>
                <a:lnTo>
                  <a:pt x="794" y="1947"/>
                </a:lnTo>
                <a:lnTo>
                  <a:pt x="787" y="1984"/>
                </a:lnTo>
                <a:lnTo>
                  <a:pt x="780" y="2021"/>
                </a:lnTo>
                <a:lnTo>
                  <a:pt x="774" y="2058"/>
                </a:lnTo>
                <a:lnTo>
                  <a:pt x="769" y="2095"/>
                </a:lnTo>
                <a:lnTo>
                  <a:pt x="765" y="2131"/>
                </a:lnTo>
                <a:lnTo>
                  <a:pt x="761" y="2169"/>
                </a:lnTo>
                <a:lnTo>
                  <a:pt x="758" y="2207"/>
                </a:lnTo>
                <a:lnTo>
                  <a:pt x="756" y="2245"/>
                </a:lnTo>
                <a:lnTo>
                  <a:pt x="755" y="2283"/>
                </a:lnTo>
                <a:lnTo>
                  <a:pt x="754" y="2321"/>
                </a:lnTo>
                <a:lnTo>
                  <a:pt x="754" y="2321"/>
                </a:lnTo>
                <a:lnTo>
                  <a:pt x="755" y="2361"/>
                </a:lnTo>
                <a:lnTo>
                  <a:pt x="756" y="2402"/>
                </a:lnTo>
                <a:lnTo>
                  <a:pt x="758" y="2442"/>
                </a:lnTo>
                <a:lnTo>
                  <a:pt x="762" y="2482"/>
                </a:lnTo>
                <a:lnTo>
                  <a:pt x="766" y="2522"/>
                </a:lnTo>
                <a:lnTo>
                  <a:pt x="770" y="2561"/>
                </a:lnTo>
                <a:lnTo>
                  <a:pt x="776" y="2601"/>
                </a:lnTo>
                <a:lnTo>
                  <a:pt x="782" y="2640"/>
                </a:lnTo>
                <a:lnTo>
                  <a:pt x="782" y="2640"/>
                </a:lnTo>
                <a:lnTo>
                  <a:pt x="738" y="2680"/>
                </a:lnTo>
                <a:lnTo>
                  <a:pt x="693" y="2720"/>
                </a:lnTo>
                <a:lnTo>
                  <a:pt x="650" y="2762"/>
                </a:lnTo>
                <a:lnTo>
                  <a:pt x="608" y="2804"/>
                </a:lnTo>
                <a:lnTo>
                  <a:pt x="568" y="2849"/>
                </a:lnTo>
                <a:lnTo>
                  <a:pt x="528" y="2894"/>
                </a:lnTo>
                <a:lnTo>
                  <a:pt x="490" y="2940"/>
                </a:lnTo>
                <a:lnTo>
                  <a:pt x="453" y="2986"/>
                </a:lnTo>
                <a:lnTo>
                  <a:pt x="419" y="3034"/>
                </a:lnTo>
                <a:lnTo>
                  <a:pt x="384" y="3082"/>
                </a:lnTo>
                <a:lnTo>
                  <a:pt x="352" y="3132"/>
                </a:lnTo>
                <a:lnTo>
                  <a:pt x="320" y="3183"/>
                </a:lnTo>
                <a:lnTo>
                  <a:pt x="290" y="3234"/>
                </a:lnTo>
                <a:lnTo>
                  <a:pt x="261" y="3286"/>
                </a:lnTo>
                <a:lnTo>
                  <a:pt x="234" y="3339"/>
                </a:lnTo>
                <a:lnTo>
                  <a:pt x="208" y="3393"/>
                </a:lnTo>
                <a:lnTo>
                  <a:pt x="183" y="3447"/>
                </a:lnTo>
                <a:lnTo>
                  <a:pt x="160" y="3502"/>
                </a:lnTo>
                <a:lnTo>
                  <a:pt x="138" y="3557"/>
                </a:lnTo>
                <a:lnTo>
                  <a:pt x="119" y="3614"/>
                </a:lnTo>
                <a:lnTo>
                  <a:pt x="101" y="3670"/>
                </a:lnTo>
                <a:lnTo>
                  <a:pt x="83" y="3727"/>
                </a:lnTo>
                <a:lnTo>
                  <a:pt x="67" y="3786"/>
                </a:lnTo>
                <a:lnTo>
                  <a:pt x="54" y="3844"/>
                </a:lnTo>
                <a:lnTo>
                  <a:pt x="41" y="3902"/>
                </a:lnTo>
                <a:lnTo>
                  <a:pt x="30" y="3962"/>
                </a:lnTo>
                <a:lnTo>
                  <a:pt x="22" y="4021"/>
                </a:lnTo>
                <a:lnTo>
                  <a:pt x="14" y="4081"/>
                </a:lnTo>
                <a:lnTo>
                  <a:pt x="8" y="4141"/>
                </a:lnTo>
                <a:lnTo>
                  <a:pt x="3" y="4202"/>
                </a:lnTo>
                <a:lnTo>
                  <a:pt x="1" y="4263"/>
                </a:lnTo>
                <a:lnTo>
                  <a:pt x="0" y="4324"/>
                </a:lnTo>
                <a:lnTo>
                  <a:pt x="0" y="4324"/>
                </a:lnTo>
                <a:lnTo>
                  <a:pt x="1" y="4365"/>
                </a:lnTo>
                <a:lnTo>
                  <a:pt x="2" y="4405"/>
                </a:lnTo>
                <a:lnTo>
                  <a:pt x="3" y="4447"/>
                </a:lnTo>
                <a:lnTo>
                  <a:pt x="6" y="4487"/>
                </a:lnTo>
                <a:lnTo>
                  <a:pt x="10" y="4527"/>
                </a:lnTo>
                <a:lnTo>
                  <a:pt x="14" y="4567"/>
                </a:lnTo>
                <a:lnTo>
                  <a:pt x="18" y="4607"/>
                </a:lnTo>
                <a:lnTo>
                  <a:pt x="24" y="4647"/>
                </a:lnTo>
                <a:lnTo>
                  <a:pt x="30" y="4687"/>
                </a:lnTo>
                <a:lnTo>
                  <a:pt x="38" y="4727"/>
                </a:lnTo>
                <a:lnTo>
                  <a:pt x="45" y="4766"/>
                </a:lnTo>
                <a:lnTo>
                  <a:pt x="53" y="4806"/>
                </a:lnTo>
                <a:lnTo>
                  <a:pt x="63" y="4845"/>
                </a:lnTo>
                <a:lnTo>
                  <a:pt x="72" y="4884"/>
                </a:lnTo>
                <a:lnTo>
                  <a:pt x="83" y="4923"/>
                </a:lnTo>
                <a:lnTo>
                  <a:pt x="94" y="4960"/>
                </a:lnTo>
                <a:lnTo>
                  <a:pt x="106" y="4999"/>
                </a:lnTo>
                <a:lnTo>
                  <a:pt x="119" y="5037"/>
                </a:lnTo>
                <a:lnTo>
                  <a:pt x="132" y="5075"/>
                </a:lnTo>
                <a:lnTo>
                  <a:pt x="146" y="5112"/>
                </a:lnTo>
                <a:lnTo>
                  <a:pt x="161" y="5150"/>
                </a:lnTo>
                <a:lnTo>
                  <a:pt x="176" y="5187"/>
                </a:lnTo>
                <a:lnTo>
                  <a:pt x="193" y="5223"/>
                </a:lnTo>
                <a:lnTo>
                  <a:pt x="209" y="5260"/>
                </a:lnTo>
                <a:lnTo>
                  <a:pt x="226" y="5296"/>
                </a:lnTo>
                <a:lnTo>
                  <a:pt x="245" y="5332"/>
                </a:lnTo>
                <a:lnTo>
                  <a:pt x="263" y="5367"/>
                </a:lnTo>
                <a:lnTo>
                  <a:pt x="282" y="5403"/>
                </a:lnTo>
                <a:lnTo>
                  <a:pt x="302" y="5438"/>
                </a:lnTo>
                <a:lnTo>
                  <a:pt x="323" y="5472"/>
                </a:lnTo>
                <a:lnTo>
                  <a:pt x="344" y="5507"/>
                </a:lnTo>
                <a:lnTo>
                  <a:pt x="367" y="5540"/>
                </a:lnTo>
                <a:lnTo>
                  <a:pt x="367" y="5540"/>
                </a:lnTo>
                <a:lnTo>
                  <a:pt x="354" y="5593"/>
                </a:lnTo>
                <a:lnTo>
                  <a:pt x="343" y="5647"/>
                </a:lnTo>
                <a:lnTo>
                  <a:pt x="334" y="5700"/>
                </a:lnTo>
                <a:lnTo>
                  <a:pt x="327" y="5755"/>
                </a:lnTo>
                <a:lnTo>
                  <a:pt x="321" y="5810"/>
                </a:lnTo>
                <a:lnTo>
                  <a:pt x="317" y="5865"/>
                </a:lnTo>
                <a:lnTo>
                  <a:pt x="314" y="5919"/>
                </a:lnTo>
                <a:lnTo>
                  <a:pt x="314" y="5975"/>
                </a:lnTo>
                <a:lnTo>
                  <a:pt x="314" y="5975"/>
                </a:lnTo>
                <a:lnTo>
                  <a:pt x="315" y="6042"/>
                </a:lnTo>
                <a:lnTo>
                  <a:pt x="318" y="6109"/>
                </a:lnTo>
                <a:lnTo>
                  <a:pt x="325" y="6177"/>
                </a:lnTo>
                <a:lnTo>
                  <a:pt x="333" y="6243"/>
                </a:lnTo>
                <a:lnTo>
                  <a:pt x="344" y="6309"/>
                </a:lnTo>
                <a:lnTo>
                  <a:pt x="358" y="6372"/>
                </a:lnTo>
                <a:lnTo>
                  <a:pt x="373" y="6436"/>
                </a:lnTo>
                <a:lnTo>
                  <a:pt x="392" y="6500"/>
                </a:lnTo>
                <a:lnTo>
                  <a:pt x="411" y="6562"/>
                </a:lnTo>
                <a:lnTo>
                  <a:pt x="434" y="6623"/>
                </a:lnTo>
                <a:lnTo>
                  <a:pt x="459" y="6683"/>
                </a:lnTo>
                <a:lnTo>
                  <a:pt x="485" y="6742"/>
                </a:lnTo>
                <a:lnTo>
                  <a:pt x="514" y="6801"/>
                </a:lnTo>
                <a:lnTo>
                  <a:pt x="544" y="6858"/>
                </a:lnTo>
                <a:lnTo>
                  <a:pt x="577" y="6913"/>
                </a:lnTo>
                <a:lnTo>
                  <a:pt x="611" y="6968"/>
                </a:lnTo>
                <a:lnTo>
                  <a:pt x="648" y="7021"/>
                </a:lnTo>
                <a:lnTo>
                  <a:pt x="687" y="7073"/>
                </a:lnTo>
                <a:lnTo>
                  <a:pt x="727" y="7123"/>
                </a:lnTo>
                <a:lnTo>
                  <a:pt x="769" y="7173"/>
                </a:lnTo>
                <a:lnTo>
                  <a:pt x="812" y="7221"/>
                </a:lnTo>
                <a:lnTo>
                  <a:pt x="858" y="7266"/>
                </a:lnTo>
                <a:lnTo>
                  <a:pt x="904" y="7310"/>
                </a:lnTo>
                <a:lnTo>
                  <a:pt x="954" y="7354"/>
                </a:lnTo>
                <a:lnTo>
                  <a:pt x="1004" y="7395"/>
                </a:lnTo>
                <a:lnTo>
                  <a:pt x="1056" y="7434"/>
                </a:lnTo>
                <a:lnTo>
                  <a:pt x="1109" y="7472"/>
                </a:lnTo>
                <a:lnTo>
                  <a:pt x="1164" y="7506"/>
                </a:lnTo>
                <a:lnTo>
                  <a:pt x="1220" y="7540"/>
                </a:lnTo>
                <a:lnTo>
                  <a:pt x="1278" y="7572"/>
                </a:lnTo>
                <a:lnTo>
                  <a:pt x="1337" y="7601"/>
                </a:lnTo>
                <a:lnTo>
                  <a:pt x="1397" y="7630"/>
                </a:lnTo>
                <a:lnTo>
                  <a:pt x="1397" y="7630"/>
                </a:lnTo>
                <a:lnTo>
                  <a:pt x="1425" y="7686"/>
                </a:lnTo>
                <a:lnTo>
                  <a:pt x="1454" y="7740"/>
                </a:lnTo>
                <a:lnTo>
                  <a:pt x="1485" y="7794"/>
                </a:lnTo>
                <a:lnTo>
                  <a:pt x="1519" y="7847"/>
                </a:lnTo>
                <a:lnTo>
                  <a:pt x="1554" y="7898"/>
                </a:lnTo>
                <a:lnTo>
                  <a:pt x="1590" y="7948"/>
                </a:lnTo>
                <a:lnTo>
                  <a:pt x="1628" y="7996"/>
                </a:lnTo>
                <a:lnTo>
                  <a:pt x="1668" y="8043"/>
                </a:lnTo>
                <a:lnTo>
                  <a:pt x="1709" y="8088"/>
                </a:lnTo>
                <a:lnTo>
                  <a:pt x="1753" y="8133"/>
                </a:lnTo>
                <a:lnTo>
                  <a:pt x="1797" y="8175"/>
                </a:lnTo>
                <a:lnTo>
                  <a:pt x="1842" y="8216"/>
                </a:lnTo>
                <a:lnTo>
                  <a:pt x="1890" y="8255"/>
                </a:lnTo>
                <a:lnTo>
                  <a:pt x="1939" y="8292"/>
                </a:lnTo>
                <a:lnTo>
                  <a:pt x="1989" y="8327"/>
                </a:lnTo>
                <a:lnTo>
                  <a:pt x="2039" y="8362"/>
                </a:lnTo>
                <a:lnTo>
                  <a:pt x="2091" y="8394"/>
                </a:lnTo>
                <a:lnTo>
                  <a:pt x="2145" y="8425"/>
                </a:lnTo>
                <a:lnTo>
                  <a:pt x="2199" y="8453"/>
                </a:lnTo>
                <a:lnTo>
                  <a:pt x="2255" y="8480"/>
                </a:lnTo>
                <a:lnTo>
                  <a:pt x="2311" y="8505"/>
                </a:lnTo>
                <a:lnTo>
                  <a:pt x="2368" y="8527"/>
                </a:lnTo>
                <a:lnTo>
                  <a:pt x="2427" y="8548"/>
                </a:lnTo>
                <a:lnTo>
                  <a:pt x="2486" y="8568"/>
                </a:lnTo>
                <a:lnTo>
                  <a:pt x="2546" y="8584"/>
                </a:lnTo>
                <a:lnTo>
                  <a:pt x="2606" y="8599"/>
                </a:lnTo>
                <a:lnTo>
                  <a:pt x="2668" y="8611"/>
                </a:lnTo>
                <a:lnTo>
                  <a:pt x="2730" y="8622"/>
                </a:lnTo>
                <a:lnTo>
                  <a:pt x="2792" y="8629"/>
                </a:lnTo>
                <a:lnTo>
                  <a:pt x="2855" y="8636"/>
                </a:lnTo>
                <a:lnTo>
                  <a:pt x="2919" y="8639"/>
                </a:lnTo>
                <a:lnTo>
                  <a:pt x="2983" y="8640"/>
                </a:lnTo>
                <a:lnTo>
                  <a:pt x="2983" y="8640"/>
                </a:lnTo>
                <a:lnTo>
                  <a:pt x="3028" y="8639"/>
                </a:lnTo>
                <a:lnTo>
                  <a:pt x="3074" y="8638"/>
                </a:lnTo>
                <a:lnTo>
                  <a:pt x="3118" y="8635"/>
                </a:lnTo>
                <a:lnTo>
                  <a:pt x="3162" y="8630"/>
                </a:lnTo>
                <a:lnTo>
                  <a:pt x="3207" y="8626"/>
                </a:lnTo>
                <a:lnTo>
                  <a:pt x="3251" y="8619"/>
                </a:lnTo>
                <a:lnTo>
                  <a:pt x="3294" y="8612"/>
                </a:lnTo>
                <a:lnTo>
                  <a:pt x="3338" y="8603"/>
                </a:lnTo>
                <a:lnTo>
                  <a:pt x="3381" y="8595"/>
                </a:lnTo>
                <a:lnTo>
                  <a:pt x="3423" y="8584"/>
                </a:lnTo>
                <a:lnTo>
                  <a:pt x="3465" y="8572"/>
                </a:lnTo>
                <a:lnTo>
                  <a:pt x="3506" y="8560"/>
                </a:lnTo>
                <a:lnTo>
                  <a:pt x="3549" y="8546"/>
                </a:lnTo>
                <a:lnTo>
                  <a:pt x="3589" y="8532"/>
                </a:lnTo>
                <a:lnTo>
                  <a:pt x="3629" y="8516"/>
                </a:lnTo>
                <a:lnTo>
                  <a:pt x="3669" y="8499"/>
                </a:lnTo>
                <a:lnTo>
                  <a:pt x="3708" y="8482"/>
                </a:lnTo>
                <a:lnTo>
                  <a:pt x="3747" y="8464"/>
                </a:lnTo>
                <a:lnTo>
                  <a:pt x="3786" y="8444"/>
                </a:lnTo>
                <a:lnTo>
                  <a:pt x="3822" y="8425"/>
                </a:lnTo>
                <a:lnTo>
                  <a:pt x="3860" y="8403"/>
                </a:lnTo>
                <a:lnTo>
                  <a:pt x="3897" y="8381"/>
                </a:lnTo>
                <a:lnTo>
                  <a:pt x="3933" y="8359"/>
                </a:lnTo>
                <a:lnTo>
                  <a:pt x="3968" y="8335"/>
                </a:lnTo>
                <a:lnTo>
                  <a:pt x="4003" y="8311"/>
                </a:lnTo>
                <a:lnTo>
                  <a:pt x="4037" y="8285"/>
                </a:lnTo>
                <a:lnTo>
                  <a:pt x="4070" y="8259"/>
                </a:lnTo>
                <a:lnTo>
                  <a:pt x="4104" y="8233"/>
                </a:lnTo>
                <a:lnTo>
                  <a:pt x="4136" y="8205"/>
                </a:lnTo>
                <a:lnTo>
                  <a:pt x="4167" y="8177"/>
                </a:lnTo>
                <a:lnTo>
                  <a:pt x="4198" y="8148"/>
                </a:lnTo>
                <a:lnTo>
                  <a:pt x="4228" y="8117"/>
                </a:lnTo>
                <a:lnTo>
                  <a:pt x="4228" y="8117"/>
                </a:lnTo>
                <a:lnTo>
                  <a:pt x="4258" y="8148"/>
                </a:lnTo>
                <a:lnTo>
                  <a:pt x="4289" y="8177"/>
                </a:lnTo>
                <a:lnTo>
                  <a:pt x="4320" y="8205"/>
                </a:lnTo>
                <a:lnTo>
                  <a:pt x="4352" y="8233"/>
                </a:lnTo>
                <a:lnTo>
                  <a:pt x="4386" y="8259"/>
                </a:lnTo>
                <a:lnTo>
                  <a:pt x="4419" y="8285"/>
                </a:lnTo>
                <a:lnTo>
                  <a:pt x="4453" y="8311"/>
                </a:lnTo>
                <a:lnTo>
                  <a:pt x="4488" y="8335"/>
                </a:lnTo>
                <a:lnTo>
                  <a:pt x="4523" y="8359"/>
                </a:lnTo>
                <a:lnTo>
                  <a:pt x="4559" y="8381"/>
                </a:lnTo>
                <a:lnTo>
                  <a:pt x="4596" y="8403"/>
                </a:lnTo>
                <a:lnTo>
                  <a:pt x="4634" y="8425"/>
                </a:lnTo>
                <a:lnTo>
                  <a:pt x="4670" y="8444"/>
                </a:lnTo>
                <a:lnTo>
                  <a:pt x="4709" y="8464"/>
                </a:lnTo>
                <a:lnTo>
                  <a:pt x="4748" y="8482"/>
                </a:lnTo>
                <a:lnTo>
                  <a:pt x="4787" y="8499"/>
                </a:lnTo>
                <a:lnTo>
                  <a:pt x="4827" y="8516"/>
                </a:lnTo>
                <a:lnTo>
                  <a:pt x="4867" y="8532"/>
                </a:lnTo>
                <a:lnTo>
                  <a:pt x="4907" y="8546"/>
                </a:lnTo>
                <a:lnTo>
                  <a:pt x="4950" y="8560"/>
                </a:lnTo>
                <a:lnTo>
                  <a:pt x="4991" y="8572"/>
                </a:lnTo>
                <a:lnTo>
                  <a:pt x="5033" y="8584"/>
                </a:lnTo>
                <a:lnTo>
                  <a:pt x="5075" y="8595"/>
                </a:lnTo>
                <a:lnTo>
                  <a:pt x="5118" y="8603"/>
                </a:lnTo>
                <a:lnTo>
                  <a:pt x="5162" y="8612"/>
                </a:lnTo>
                <a:lnTo>
                  <a:pt x="5205" y="8619"/>
                </a:lnTo>
                <a:lnTo>
                  <a:pt x="5249" y="8626"/>
                </a:lnTo>
                <a:lnTo>
                  <a:pt x="5293" y="8630"/>
                </a:lnTo>
                <a:lnTo>
                  <a:pt x="5338" y="8635"/>
                </a:lnTo>
                <a:lnTo>
                  <a:pt x="5382" y="8638"/>
                </a:lnTo>
                <a:lnTo>
                  <a:pt x="5428" y="8639"/>
                </a:lnTo>
                <a:lnTo>
                  <a:pt x="5473" y="8640"/>
                </a:lnTo>
                <a:lnTo>
                  <a:pt x="5473" y="8640"/>
                </a:lnTo>
                <a:lnTo>
                  <a:pt x="5537" y="8639"/>
                </a:lnTo>
                <a:lnTo>
                  <a:pt x="5601" y="8636"/>
                </a:lnTo>
                <a:lnTo>
                  <a:pt x="5664" y="8629"/>
                </a:lnTo>
                <a:lnTo>
                  <a:pt x="5726" y="8622"/>
                </a:lnTo>
                <a:lnTo>
                  <a:pt x="5788" y="8611"/>
                </a:lnTo>
                <a:lnTo>
                  <a:pt x="5850" y="8599"/>
                </a:lnTo>
                <a:lnTo>
                  <a:pt x="5910" y="8584"/>
                </a:lnTo>
                <a:lnTo>
                  <a:pt x="5970" y="8568"/>
                </a:lnTo>
                <a:lnTo>
                  <a:pt x="6029" y="8548"/>
                </a:lnTo>
                <a:lnTo>
                  <a:pt x="6088" y="8527"/>
                </a:lnTo>
                <a:lnTo>
                  <a:pt x="6145" y="8505"/>
                </a:lnTo>
                <a:lnTo>
                  <a:pt x="6201" y="8480"/>
                </a:lnTo>
                <a:lnTo>
                  <a:pt x="6257" y="8453"/>
                </a:lnTo>
                <a:lnTo>
                  <a:pt x="6311" y="8425"/>
                </a:lnTo>
                <a:lnTo>
                  <a:pt x="6365" y="8394"/>
                </a:lnTo>
                <a:lnTo>
                  <a:pt x="6417" y="8362"/>
                </a:lnTo>
                <a:lnTo>
                  <a:pt x="6467" y="8327"/>
                </a:lnTo>
                <a:lnTo>
                  <a:pt x="6517" y="8292"/>
                </a:lnTo>
                <a:lnTo>
                  <a:pt x="6566" y="8255"/>
                </a:lnTo>
                <a:lnTo>
                  <a:pt x="6614" y="8216"/>
                </a:lnTo>
                <a:lnTo>
                  <a:pt x="6659" y="8175"/>
                </a:lnTo>
                <a:lnTo>
                  <a:pt x="6703" y="8133"/>
                </a:lnTo>
                <a:lnTo>
                  <a:pt x="6747" y="8088"/>
                </a:lnTo>
                <a:lnTo>
                  <a:pt x="6788" y="8043"/>
                </a:lnTo>
                <a:lnTo>
                  <a:pt x="6828" y="7996"/>
                </a:lnTo>
                <a:lnTo>
                  <a:pt x="6866" y="7948"/>
                </a:lnTo>
                <a:lnTo>
                  <a:pt x="6902" y="7898"/>
                </a:lnTo>
                <a:lnTo>
                  <a:pt x="6937" y="7847"/>
                </a:lnTo>
                <a:lnTo>
                  <a:pt x="6971" y="7794"/>
                </a:lnTo>
                <a:lnTo>
                  <a:pt x="7002" y="7740"/>
                </a:lnTo>
                <a:lnTo>
                  <a:pt x="7031" y="7686"/>
                </a:lnTo>
                <a:lnTo>
                  <a:pt x="7059" y="7630"/>
                </a:lnTo>
                <a:lnTo>
                  <a:pt x="7059" y="7630"/>
                </a:lnTo>
                <a:lnTo>
                  <a:pt x="7119" y="7601"/>
                </a:lnTo>
                <a:lnTo>
                  <a:pt x="7178" y="7572"/>
                </a:lnTo>
                <a:lnTo>
                  <a:pt x="7236" y="7540"/>
                </a:lnTo>
                <a:lnTo>
                  <a:pt x="7292" y="7506"/>
                </a:lnTo>
                <a:lnTo>
                  <a:pt x="7347" y="7472"/>
                </a:lnTo>
                <a:lnTo>
                  <a:pt x="7400" y="7434"/>
                </a:lnTo>
                <a:lnTo>
                  <a:pt x="7452" y="7395"/>
                </a:lnTo>
                <a:lnTo>
                  <a:pt x="7502" y="7354"/>
                </a:lnTo>
                <a:lnTo>
                  <a:pt x="7552" y="7310"/>
                </a:lnTo>
                <a:lnTo>
                  <a:pt x="7598" y="7266"/>
                </a:lnTo>
                <a:lnTo>
                  <a:pt x="7644" y="7221"/>
                </a:lnTo>
                <a:lnTo>
                  <a:pt x="7687" y="7173"/>
                </a:lnTo>
                <a:lnTo>
                  <a:pt x="7729" y="7123"/>
                </a:lnTo>
                <a:lnTo>
                  <a:pt x="7769" y="7073"/>
                </a:lnTo>
                <a:lnTo>
                  <a:pt x="7808" y="7021"/>
                </a:lnTo>
                <a:lnTo>
                  <a:pt x="7845" y="6968"/>
                </a:lnTo>
                <a:lnTo>
                  <a:pt x="7879" y="6913"/>
                </a:lnTo>
                <a:lnTo>
                  <a:pt x="7912" y="6858"/>
                </a:lnTo>
                <a:lnTo>
                  <a:pt x="7942" y="6801"/>
                </a:lnTo>
                <a:lnTo>
                  <a:pt x="7971" y="6742"/>
                </a:lnTo>
                <a:lnTo>
                  <a:pt x="7997" y="6683"/>
                </a:lnTo>
                <a:lnTo>
                  <a:pt x="8022" y="6623"/>
                </a:lnTo>
                <a:lnTo>
                  <a:pt x="8045" y="6562"/>
                </a:lnTo>
                <a:lnTo>
                  <a:pt x="8064" y="6500"/>
                </a:lnTo>
                <a:lnTo>
                  <a:pt x="8083" y="6436"/>
                </a:lnTo>
                <a:lnTo>
                  <a:pt x="8098" y="6372"/>
                </a:lnTo>
                <a:lnTo>
                  <a:pt x="8112" y="6309"/>
                </a:lnTo>
                <a:lnTo>
                  <a:pt x="8123" y="6243"/>
                </a:lnTo>
                <a:lnTo>
                  <a:pt x="8131" y="6177"/>
                </a:lnTo>
                <a:lnTo>
                  <a:pt x="8138" y="6109"/>
                </a:lnTo>
                <a:lnTo>
                  <a:pt x="8141" y="6042"/>
                </a:lnTo>
                <a:lnTo>
                  <a:pt x="8142" y="5975"/>
                </a:lnTo>
                <a:lnTo>
                  <a:pt x="8142" y="5975"/>
                </a:lnTo>
                <a:lnTo>
                  <a:pt x="8142" y="5919"/>
                </a:lnTo>
                <a:lnTo>
                  <a:pt x="8139" y="5865"/>
                </a:lnTo>
                <a:lnTo>
                  <a:pt x="8135" y="5810"/>
                </a:lnTo>
                <a:lnTo>
                  <a:pt x="8129" y="5755"/>
                </a:lnTo>
                <a:lnTo>
                  <a:pt x="8122" y="5700"/>
                </a:lnTo>
                <a:lnTo>
                  <a:pt x="8113" y="5647"/>
                </a:lnTo>
                <a:lnTo>
                  <a:pt x="8102" y="5593"/>
                </a:lnTo>
                <a:lnTo>
                  <a:pt x="8089" y="5540"/>
                </a:lnTo>
                <a:lnTo>
                  <a:pt x="8089" y="5540"/>
                </a:lnTo>
                <a:lnTo>
                  <a:pt x="8112" y="5507"/>
                </a:lnTo>
                <a:lnTo>
                  <a:pt x="8133" y="5472"/>
                </a:lnTo>
                <a:lnTo>
                  <a:pt x="8154" y="5438"/>
                </a:lnTo>
                <a:lnTo>
                  <a:pt x="8174" y="5403"/>
                </a:lnTo>
                <a:lnTo>
                  <a:pt x="8193" y="5367"/>
                </a:lnTo>
                <a:lnTo>
                  <a:pt x="8211" y="5332"/>
                </a:lnTo>
                <a:lnTo>
                  <a:pt x="8230" y="5296"/>
                </a:lnTo>
                <a:lnTo>
                  <a:pt x="8247" y="5260"/>
                </a:lnTo>
                <a:lnTo>
                  <a:pt x="8263" y="5223"/>
                </a:lnTo>
                <a:lnTo>
                  <a:pt x="8280" y="5187"/>
                </a:lnTo>
                <a:lnTo>
                  <a:pt x="8295" y="5150"/>
                </a:lnTo>
                <a:lnTo>
                  <a:pt x="8310" y="5112"/>
                </a:lnTo>
                <a:lnTo>
                  <a:pt x="8324" y="5075"/>
                </a:lnTo>
                <a:lnTo>
                  <a:pt x="8337" y="5037"/>
                </a:lnTo>
                <a:lnTo>
                  <a:pt x="8350" y="4999"/>
                </a:lnTo>
                <a:lnTo>
                  <a:pt x="8362" y="4960"/>
                </a:lnTo>
                <a:lnTo>
                  <a:pt x="8373" y="4923"/>
                </a:lnTo>
                <a:lnTo>
                  <a:pt x="8384" y="4884"/>
                </a:lnTo>
                <a:lnTo>
                  <a:pt x="8393" y="4845"/>
                </a:lnTo>
                <a:lnTo>
                  <a:pt x="8403" y="4806"/>
                </a:lnTo>
                <a:lnTo>
                  <a:pt x="8411" y="4766"/>
                </a:lnTo>
                <a:lnTo>
                  <a:pt x="8418" y="4727"/>
                </a:lnTo>
                <a:lnTo>
                  <a:pt x="8426" y="4687"/>
                </a:lnTo>
                <a:lnTo>
                  <a:pt x="8432" y="4647"/>
                </a:lnTo>
                <a:lnTo>
                  <a:pt x="8438" y="4607"/>
                </a:lnTo>
                <a:lnTo>
                  <a:pt x="8442" y="4567"/>
                </a:lnTo>
                <a:lnTo>
                  <a:pt x="8446" y="4527"/>
                </a:lnTo>
                <a:lnTo>
                  <a:pt x="8450" y="4487"/>
                </a:lnTo>
                <a:lnTo>
                  <a:pt x="8453" y="4447"/>
                </a:lnTo>
                <a:lnTo>
                  <a:pt x="8454" y="4405"/>
                </a:lnTo>
                <a:lnTo>
                  <a:pt x="8455" y="4365"/>
                </a:lnTo>
                <a:lnTo>
                  <a:pt x="8456" y="4324"/>
                </a:lnTo>
                <a:lnTo>
                  <a:pt x="8456" y="4324"/>
                </a:lnTo>
                <a:close/>
                <a:moveTo>
                  <a:pt x="2983" y="8136"/>
                </a:moveTo>
                <a:lnTo>
                  <a:pt x="2983" y="8136"/>
                </a:lnTo>
                <a:lnTo>
                  <a:pt x="2930" y="8135"/>
                </a:lnTo>
                <a:lnTo>
                  <a:pt x="2877" y="8132"/>
                </a:lnTo>
                <a:lnTo>
                  <a:pt x="2825" y="8126"/>
                </a:lnTo>
                <a:lnTo>
                  <a:pt x="2774" y="8119"/>
                </a:lnTo>
                <a:lnTo>
                  <a:pt x="2723" y="8109"/>
                </a:lnTo>
                <a:lnTo>
                  <a:pt x="2673" y="8097"/>
                </a:lnTo>
                <a:lnTo>
                  <a:pt x="2625" y="8084"/>
                </a:lnTo>
                <a:lnTo>
                  <a:pt x="2576" y="8068"/>
                </a:lnTo>
                <a:lnTo>
                  <a:pt x="2528" y="8050"/>
                </a:lnTo>
                <a:lnTo>
                  <a:pt x="2483" y="8031"/>
                </a:lnTo>
                <a:lnTo>
                  <a:pt x="2437" y="8010"/>
                </a:lnTo>
                <a:lnTo>
                  <a:pt x="2393" y="7988"/>
                </a:lnTo>
                <a:lnTo>
                  <a:pt x="2349" y="7963"/>
                </a:lnTo>
                <a:lnTo>
                  <a:pt x="2307" y="7937"/>
                </a:lnTo>
                <a:lnTo>
                  <a:pt x="2265" y="7909"/>
                </a:lnTo>
                <a:lnTo>
                  <a:pt x="2225" y="7879"/>
                </a:lnTo>
                <a:lnTo>
                  <a:pt x="2188" y="7848"/>
                </a:lnTo>
                <a:lnTo>
                  <a:pt x="2150" y="7816"/>
                </a:lnTo>
                <a:lnTo>
                  <a:pt x="2114" y="7782"/>
                </a:lnTo>
                <a:lnTo>
                  <a:pt x="2079" y="7747"/>
                </a:lnTo>
                <a:lnTo>
                  <a:pt x="2046" y="7711"/>
                </a:lnTo>
                <a:lnTo>
                  <a:pt x="2013" y="7673"/>
                </a:lnTo>
                <a:lnTo>
                  <a:pt x="1983" y="7634"/>
                </a:lnTo>
                <a:lnTo>
                  <a:pt x="1955" y="7593"/>
                </a:lnTo>
                <a:lnTo>
                  <a:pt x="1928" y="7552"/>
                </a:lnTo>
                <a:lnTo>
                  <a:pt x="1902" y="7508"/>
                </a:lnTo>
                <a:lnTo>
                  <a:pt x="1878" y="7465"/>
                </a:lnTo>
                <a:lnTo>
                  <a:pt x="1855" y="7421"/>
                </a:lnTo>
                <a:lnTo>
                  <a:pt x="1835" y="7374"/>
                </a:lnTo>
                <a:lnTo>
                  <a:pt x="1816" y="7328"/>
                </a:lnTo>
                <a:lnTo>
                  <a:pt x="1800" y="7280"/>
                </a:lnTo>
                <a:lnTo>
                  <a:pt x="1785" y="7231"/>
                </a:lnTo>
                <a:lnTo>
                  <a:pt x="1785" y="7231"/>
                </a:lnTo>
                <a:lnTo>
                  <a:pt x="1784" y="7231"/>
                </a:lnTo>
                <a:lnTo>
                  <a:pt x="1784" y="7231"/>
                </a:lnTo>
                <a:lnTo>
                  <a:pt x="1782" y="7223"/>
                </a:lnTo>
                <a:lnTo>
                  <a:pt x="1782" y="7223"/>
                </a:lnTo>
                <a:lnTo>
                  <a:pt x="1772" y="7196"/>
                </a:lnTo>
                <a:lnTo>
                  <a:pt x="1763" y="7170"/>
                </a:lnTo>
                <a:lnTo>
                  <a:pt x="1756" y="7144"/>
                </a:lnTo>
                <a:lnTo>
                  <a:pt x="1749" y="7118"/>
                </a:lnTo>
                <a:lnTo>
                  <a:pt x="1744" y="7092"/>
                </a:lnTo>
                <a:lnTo>
                  <a:pt x="1739" y="7066"/>
                </a:lnTo>
                <a:lnTo>
                  <a:pt x="1734" y="7040"/>
                </a:lnTo>
                <a:lnTo>
                  <a:pt x="1730" y="7014"/>
                </a:lnTo>
                <a:lnTo>
                  <a:pt x="1728" y="6989"/>
                </a:lnTo>
                <a:lnTo>
                  <a:pt x="1726" y="6964"/>
                </a:lnTo>
                <a:lnTo>
                  <a:pt x="1725" y="6939"/>
                </a:lnTo>
                <a:lnTo>
                  <a:pt x="1723" y="6914"/>
                </a:lnTo>
                <a:lnTo>
                  <a:pt x="1725" y="6889"/>
                </a:lnTo>
                <a:lnTo>
                  <a:pt x="1726" y="6866"/>
                </a:lnTo>
                <a:lnTo>
                  <a:pt x="1727" y="6842"/>
                </a:lnTo>
                <a:lnTo>
                  <a:pt x="1730" y="6818"/>
                </a:lnTo>
                <a:lnTo>
                  <a:pt x="1733" y="6794"/>
                </a:lnTo>
                <a:lnTo>
                  <a:pt x="1738" y="6770"/>
                </a:lnTo>
                <a:lnTo>
                  <a:pt x="1743" y="6748"/>
                </a:lnTo>
                <a:lnTo>
                  <a:pt x="1748" y="6725"/>
                </a:lnTo>
                <a:lnTo>
                  <a:pt x="1755" y="6702"/>
                </a:lnTo>
                <a:lnTo>
                  <a:pt x="1762" y="6681"/>
                </a:lnTo>
                <a:lnTo>
                  <a:pt x="1771" y="6659"/>
                </a:lnTo>
                <a:lnTo>
                  <a:pt x="1780" y="6637"/>
                </a:lnTo>
                <a:lnTo>
                  <a:pt x="1789" y="6616"/>
                </a:lnTo>
                <a:lnTo>
                  <a:pt x="1800" y="6595"/>
                </a:lnTo>
                <a:lnTo>
                  <a:pt x="1811" y="6575"/>
                </a:lnTo>
                <a:lnTo>
                  <a:pt x="1823" y="6554"/>
                </a:lnTo>
                <a:lnTo>
                  <a:pt x="1836" y="6535"/>
                </a:lnTo>
                <a:lnTo>
                  <a:pt x="1850" y="6515"/>
                </a:lnTo>
                <a:lnTo>
                  <a:pt x="1864" y="6496"/>
                </a:lnTo>
                <a:lnTo>
                  <a:pt x="1879" y="6477"/>
                </a:lnTo>
                <a:lnTo>
                  <a:pt x="1879" y="6477"/>
                </a:lnTo>
                <a:lnTo>
                  <a:pt x="1895" y="6459"/>
                </a:lnTo>
                <a:lnTo>
                  <a:pt x="1913" y="6441"/>
                </a:lnTo>
                <a:lnTo>
                  <a:pt x="1930" y="6423"/>
                </a:lnTo>
                <a:lnTo>
                  <a:pt x="1948" y="6406"/>
                </a:lnTo>
                <a:lnTo>
                  <a:pt x="1967" y="6390"/>
                </a:lnTo>
                <a:lnTo>
                  <a:pt x="1986" y="6375"/>
                </a:lnTo>
                <a:lnTo>
                  <a:pt x="2006" y="6359"/>
                </a:lnTo>
                <a:lnTo>
                  <a:pt x="2026" y="6344"/>
                </a:lnTo>
                <a:lnTo>
                  <a:pt x="2047" y="6331"/>
                </a:lnTo>
                <a:lnTo>
                  <a:pt x="2067" y="6318"/>
                </a:lnTo>
                <a:lnTo>
                  <a:pt x="2089" y="6305"/>
                </a:lnTo>
                <a:lnTo>
                  <a:pt x="2111" y="6294"/>
                </a:lnTo>
                <a:lnTo>
                  <a:pt x="2132" y="6284"/>
                </a:lnTo>
                <a:lnTo>
                  <a:pt x="2155" y="6273"/>
                </a:lnTo>
                <a:lnTo>
                  <a:pt x="2178" y="6263"/>
                </a:lnTo>
                <a:lnTo>
                  <a:pt x="2201" y="6254"/>
                </a:lnTo>
                <a:lnTo>
                  <a:pt x="2224" y="6247"/>
                </a:lnTo>
                <a:lnTo>
                  <a:pt x="2248" y="6239"/>
                </a:lnTo>
                <a:lnTo>
                  <a:pt x="2272" y="6233"/>
                </a:lnTo>
                <a:lnTo>
                  <a:pt x="2296" y="6227"/>
                </a:lnTo>
                <a:lnTo>
                  <a:pt x="2320" y="6222"/>
                </a:lnTo>
                <a:lnTo>
                  <a:pt x="2344" y="6218"/>
                </a:lnTo>
                <a:lnTo>
                  <a:pt x="2368" y="6214"/>
                </a:lnTo>
                <a:lnTo>
                  <a:pt x="2393" y="6211"/>
                </a:lnTo>
                <a:lnTo>
                  <a:pt x="2418" y="6209"/>
                </a:lnTo>
                <a:lnTo>
                  <a:pt x="2443" y="6208"/>
                </a:lnTo>
                <a:lnTo>
                  <a:pt x="2467" y="6208"/>
                </a:lnTo>
                <a:lnTo>
                  <a:pt x="2492" y="6209"/>
                </a:lnTo>
                <a:lnTo>
                  <a:pt x="2516" y="6210"/>
                </a:lnTo>
                <a:lnTo>
                  <a:pt x="2541" y="6212"/>
                </a:lnTo>
                <a:lnTo>
                  <a:pt x="2566" y="6215"/>
                </a:lnTo>
                <a:lnTo>
                  <a:pt x="2590" y="6219"/>
                </a:lnTo>
                <a:lnTo>
                  <a:pt x="2590" y="6219"/>
                </a:lnTo>
                <a:lnTo>
                  <a:pt x="2614" y="6224"/>
                </a:lnTo>
                <a:lnTo>
                  <a:pt x="2638" y="6230"/>
                </a:lnTo>
                <a:lnTo>
                  <a:pt x="2660" y="6235"/>
                </a:lnTo>
                <a:lnTo>
                  <a:pt x="2683" y="6243"/>
                </a:lnTo>
                <a:lnTo>
                  <a:pt x="2705" y="6250"/>
                </a:lnTo>
                <a:lnTo>
                  <a:pt x="2727" y="6259"/>
                </a:lnTo>
                <a:lnTo>
                  <a:pt x="2748" y="6267"/>
                </a:lnTo>
                <a:lnTo>
                  <a:pt x="2770" y="6278"/>
                </a:lnTo>
                <a:lnTo>
                  <a:pt x="2790" y="6289"/>
                </a:lnTo>
                <a:lnTo>
                  <a:pt x="2811" y="6300"/>
                </a:lnTo>
                <a:lnTo>
                  <a:pt x="2830" y="6312"/>
                </a:lnTo>
                <a:lnTo>
                  <a:pt x="2850" y="6325"/>
                </a:lnTo>
                <a:lnTo>
                  <a:pt x="2869" y="6339"/>
                </a:lnTo>
                <a:lnTo>
                  <a:pt x="2888" y="6353"/>
                </a:lnTo>
                <a:lnTo>
                  <a:pt x="2906" y="6368"/>
                </a:lnTo>
                <a:lnTo>
                  <a:pt x="2923" y="6384"/>
                </a:lnTo>
                <a:lnTo>
                  <a:pt x="2941" y="6400"/>
                </a:lnTo>
                <a:lnTo>
                  <a:pt x="2958" y="6418"/>
                </a:lnTo>
                <a:lnTo>
                  <a:pt x="2974" y="6436"/>
                </a:lnTo>
                <a:lnTo>
                  <a:pt x="2990" y="6455"/>
                </a:lnTo>
                <a:lnTo>
                  <a:pt x="3005" y="6474"/>
                </a:lnTo>
                <a:lnTo>
                  <a:pt x="3021" y="6494"/>
                </a:lnTo>
                <a:lnTo>
                  <a:pt x="3036" y="6514"/>
                </a:lnTo>
                <a:lnTo>
                  <a:pt x="3050" y="6536"/>
                </a:lnTo>
                <a:lnTo>
                  <a:pt x="3063" y="6557"/>
                </a:lnTo>
                <a:lnTo>
                  <a:pt x="3076" y="6580"/>
                </a:lnTo>
                <a:lnTo>
                  <a:pt x="3089" y="6603"/>
                </a:lnTo>
                <a:lnTo>
                  <a:pt x="3101" y="6627"/>
                </a:lnTo>
                <a:lnTo>
                  <a:pt x="3113" y="6651"/>
                </a:lnTo>
                <a:lnTo>
                  <a:pt x="3123" y="6676"/>
                </a:lnTo>
                <a:lnTo>
                  <a:pt x="3134" y="6701"/>
                </a:lnTo>
                <a:lnTo>
                  <a:pt x="3144" y="6728"/>
                </a:lnTo>
                <a:lnTo>
                  <a:pt x="3144" y="6728"/>
                </a:lnTo>
                <a:lnTo>
                  <a:pt x="3152" y="6746"/>
                </a:lnTo>
                <a:lnTo>
                  <a:pt x="3160" y="6762"/>
                </a:lnTo>
                <a:lnTo>
                  <a:pt x="3171" y="6778"/>
                </a:lnTo>
                <a:lnTo>
                  <a:pt x="3183" y="6792"/>
                </a:lnTo>
                <a:lnTo>
                  <a:pt x="3196" y="6805"/>
                </a:lnTo>
                <a:lnTo>
                  <a:pt x="3210" y="6816"/>
                </a:lnTo>
                <a:lnTo>
                  <a:pt x="3225" y="6826"/>
                </a:lnTo>
                <a:lnTo>
                  <a:pt x="3241" y="6834"/>
                </a:lnTo>
                <a:lnTo>
                  <a:pt x="3258" y="6842"/>
                </a:lnTo>
                <a:lnTo>
                  <a:pt x="3276" y="6846"/>
                </a:lnTo>
                <a:lnTo>
                  <a:pt x="3293" y="6851"/>
                </a:lnTo>
                <a:lnTo>
                  <a:pt x="3312" y="6852"/>
                </a:lnTo>
                <a:lnTo>
                  <a:pt x="3330" y="6853"/>
                </a:lnTo>
                <a:lnTo>
                  <a:pt x="3348" y="6851"/>
                </a:lnTo>
                <a:lnTo>
                  <a:pt x="3367" y="6846"/>
                </a:lnTo>
                <a:lnTo>
                  <a:pt x="3386" y="6841"/>
                </a:lnTo>
                <a:lnTo>
                  <a:pt x="3386" y="6841"/>
                </a:lnTo>
                <a:lnTo>
                  <a:pt x="3404" y="6833"/>
                </a:lnTo>
                <a:lnTo>
                  <a:pt x="3420" y="6825"/>
                </a:lnTo>
                <a:lnTo>
                  <a:pt x="3436" y="6814"/>
                </a:lnTo>
                <a:lnTo>
                  <a:pt x="3450" y="6802"/>
                </a:lnTo>
                <a:lnTo>
                  <a:pt x="3463" y="6789"/>
                </a:lnTo>
                <a:lnTo>
                  <a:pt x="3474" y="6775"/>
                </a:lnTo>
                <a:lnTo>
                  <a:pt x="3484" y="6760"/>
                </a:lnTo>
                <a:lnTo>
                  <a:pt x="3492" y="6743"/>
                </a:lnTo>
                <a:lnTo>
                  <a:pt x="3500" y="6726"/>
                </a:lnTo>
                <a:lnTo>
                  <a:pt x="3504" y="6709"/>
                </a:lnTo>
                <a:lnTo>
                  <a:pt x="3509" y="6692"/>
                </a:lnTo>
                <a:lnTo>
                  <a:pt x="3510" y="6673"/>
                </a:lnTo>
                <a:lnTo>
                  <a:pt x="3511" y="6655"/>
                </a:lnTo>
                <a:lnTo>
                  <a:pt x="3509" y="6636"/>
                </a:lnTo>
                <a:lnTo>
                  <a:pt x="3504" y="6617"/>
                </a:lnTo>
                <a:lnTo>
                  <a:pt x="3499" y="6598"/>
                </a:lnTo>
                <a:lnTo>
                  <a:pt x="3499" y="6598"/>
                </a:lnTo>
                <a:lnTo>
                  <a:pt x="3484" y="6558"/>
                </a:lnTo>
                <a:lnTo>
                  <a:pt x="3467" y="6519"/>
                </a:lnTo>
                <a:lnTo>
                  <a:pt x="3450" y="6481"/>
                </a:lnTo>
                <a:lnTo>
                  <a:pt x="3432" y="6444"/>
                </a:lnTo>
                <a:lnTo>
                  <a:pt x="3412" y="6407"/>
                </a:lnTo>
                <a:lnTo>
                  <a:pt x="3393" y="6372"/>
                </a:lnTo>
                <a:lnTo>
                  <a:pt x="3371" y="6338"/>
                </a:lnTo>
                <a:lnTo>
                  <a:pt x="3350" y="6304"/>
                </a:lnTo>
                <a:lnTo>
                  <a:pt x="3326" y="6272"/>
                </a:lnTo>
                <a:lnTo>
                  <a:pt x="3302" y="6240"/>
                </a:lnTo>
                <a:lnTo>
                  <a:pt x="3277" y="6210"/>
                </a:lnTo>
                <a:lnTo>
                  <a:pt x="3252" y="6180"/>
                </a:lnTo>
                <a:lnTo>
                  <a:pt x="3225" y="6152"/>
                </a:lnTo>
                <a:lnTo>
                  <a:pt x="3198" y="6125"/>
                </a:lnTo>
                <a:lnTo>
                  <a:pt x="3170" y="6099"/>
                </a:lnTo>
                <a:lnTo>
                  <a:pt x="3142" y="6074"/>
                </a:lnTo>
                <a:lnTo>
                  <a:pt x="3142" y="6074"/>
                </a:lnTo>
                <a:lnTo>
                  <a:pt x="3176" y="6058"/>
                </a:lnTo>
                <a:lnTo>
                  <a:pt x="3211" y="6040"/>
                </a:lnTo>
                <a:lnTo>
                  <a:pt x="3246" y="6022"/>
                </a:lnTo>
                <a:lnTo>
                  <a:pt x="3278" y="6003"/>
                </a:lnTo>
                <a:lnTo>
                  <a:pt x="3311" y="5983"/>
                </a:lnTo>
                <a:lnTo>
                  <a:pt x="3342" y="5962"/>
                </a:lnTo>
                <a:lnTo>
                  <a:pt x="3372" y="5941"/>
                </a:lnTo>
                <a:lnTo>
                  <a:pt x="3401" y="5918"/>
                </a:lnTo>
                <a:lnTo>
                  <a:pt x="3430" y="5894"/>
                </a:lnTo>
                <a:lnTo>
                  <a:pt x="3457" y="5869"/>
                </a:lnTo>
                <a:lnTo>
                  <a:pt x="3482" y="5844"/>
                </a:lnTo>
                <a:lnTo>
                  <a:pt x="3506" y="5818"/>
                </a:lnTo>
                <a:lnTo>
                  <a:pt x="3528" y="5791"/>
                </a:lnTo>
                <a:lnTo>
                  <a:pt x="3550" y="5764"/>
                </a:lnTo>
                <a:lnTo>
                  <a:pt x="3569" y="5736"/>
                </a:lnTo>
                <a:lnTo>
                  <a:pt x="3586" y="5707"/>
                </a:lnTo>
                <a:lnTo>
                  <a:pt x="3586" y="5707"/>
                </a:lnTo>
                <a:lnTo>
                  <a:pt x="3594" y="5694"/>
                </a:lnTo>
                <a:lnTo>
                  <a:pt x="3598" y="5681"/>
                </a:lnTo>
                <a:lnTo>
                  <a:pt x="3603" y="5667"/>
                </a:lnTo>
                <a:lnTo>
                  <a:pt x="3605" y="5654"/>
                </a:lnTo>
                <a:lnTo>
                  <a:pt x="3606" y="5640"/>
                </a:lnTo>
                <a:lnTo>
                  <a:pt x="3606" y="5626"/>
                </a:lnTo>
                <a:lnTo>
                  <a:pt x="3605" y="5613"/>
                </a:lnTo>
                <a:lnTo>
                  <a:pt x="3602" y="5599"/>
                </a:lnTo>
                <a:lnTo>
                  <a:pt x="3597" y="5586"/>
                </a:lnTo>
                <a:lnTo>
                  <a:pt x="3592" y="5574"/>
                </a:lnTo>
                <a:lnTo>
                  <a:pt x="3585" y="5562"/>
                </a:lnTo>
                <a:lnTo>
                  <a:pt x="3578" y="5550"/>
                </a:lnTo>
                <a:lnTo>
                  <a:pt x="3569" y="5539"/>
                </a:lnTo>
                <a:lnTo>
                  <a:pt x="3558" y="5530"/>
                </a:lnTo>
                <a:lnTo>
                  <a:pt x="3547" y="5521"/>
                </a:lnTo>
                <a:lnTo>
                  <a:pt x="3536" y="5512"/>
                </a:lnTo>
                <a:lnTo>
                  <a:pt x="3536" y="5512"/>
                </a:lnTo>
                <a:lnTo>
                  <a:pt x="3523" y="5506"/>
                </a:lnTo>
                <a:lnTo>
                  <a:pt x="3510" y="5500"/>
                </a:lnTo>
                <a:lnTo>
                  <a:pt x="3496" y="5497"/>
                </a:lnTo>
                <a:lnTo>
                  <a:pt x="3482" y="5494"/>
                </a:lnTo>
                <a:lnTo>
                  <a:pt x="3469" y="5493"/>
                </a:lnTo>
                <a:lnTo>
                  <a:pt x="3454" y="5494"/>
                </a:lnTo>
                <a:lnTo>
                  <a:pt x="3441" y="5495"/>
                </a:lnTo>
                <a:lnTo>
                  <a:pt x="3427" y="5498"/>
                </a:lnTo>
                <a:lnTo>
                  <a:pt x="3414" y="5503"/>
                </a:lnTo>
                <a:lnTo>
                  <a:pt x="3403" y="5508"/>
                </a:lnTo>
                <a:lnTo>
                  <a:pt x="3390" y="5514"/>
                </a:lnTo>
                <a:lnTo>
                  <a:pt x="3379" y="5522"/>
                </a:lnTo>
                <a:lnTo>
                  <a:pt x="3368" y="5531"/>
                </a:lnTo>
                <a:lnTo>
                  <a:pt x="3358" y="5540"/>
                </a:lnTo>
                <a:lnTo>
                  <a:pt x="3348" y="5552"/>
                </a:lnTo>
                <a:lnTo>
                  <a:pt x="3341" y="5564"/>
                </a:lnTo>
                <a:lnTo>
                  <a:pt x="3341" y="5564"/>
                </a:lnTo>
                <a:lnTo>
                  <a:pt x="3332" y="5578"/>
                </a:lnTo>
                <a:lnTo>
                  <a:pt x="3322" y="5592"/>
                </a:lnTo>
                <a:lnTo>
                  <a:pt x="3312" y="5606"/>
                </a:lnTo>
                <a:lnTo>
                  <a:pt x="3301" y="5620"/>
                </a:lnTo>
                <a:lnTo>
                  <a:pt x="3289" y="5635"/>
                </a:lnTo>
                <a:lnTo>
                  <a:pt x="3276" y="5647"/>
                </a:lnTo>
                <a:lnTo>
                  <a:pt x="3249" y="5673"/>
                </a:lnTo>
                <a:lnTo>
                  <a:pt x="3219" y="5698"/>
                </a:lnTo>
                <a:lnTo>
                  <a:pt x="3187" y="5722"/>
                </a:lnTo>
                <a:lnTo>
                  <a:pt x="3153" y="5745"/>
                </a:lnTo>
                <a:lnTo>
                  <a:pt x="3117" y="5766"/>
                </a:lnTo>
                <a:lnTo>
                  <a:pt x="3080" y="5786"/>
                </a:lnTo>
                <a:lnTo>
                  <a:pt x="3041" y="5805"/>
                </a:lnTo>
                <a:lnTo>
                  <a:pt x="3001" y="5822"/>
                </a:lnTo>
                <a:lnTo>
                  <a:pt x="2961" y="5837"/>
                </a:lnTo>
                <a:lnTo>
                  <a:pt x="2920" y="5851"/>
                </a:lnTo>
                <a:lnTo>
                  <a:pt x="2878" y="5863"/>
                </a:lnTo>
                <a:lnTo>
                  <a:pt x="2836" y="5873"/>
                </a:lnTo>
                <a:lnTo>
                  <a:pt x="2793" y="5881"/>
                </a:lnTo>
                <a:lnTo>
                  <a:pt x="2793" y="5881"/>
                </a:lnTo>
                <a:lnTo>
                  <a:pt x="2760" y="5870"/>
                </a:lnTo>
                <a:lnTo>
                  <a:pt x="2725" y="5862"/>
                </a:lnTo>
                <a:lnTo>
                  <a:pt x="2692" y="5854"/>
                </a:lnTo>
                <a:lnTo>
                  <a:pt x="2656" y="5847"/>
                </a:lnTo>
                <a:lnTo>
                  <a:pt x="2656" y="5847"/>
                </a:lnTo>
                <a:lnTo>
                  <a:pt x="2619" y="5841"/>
                </a:lnTo>
                <a:lnTo>
                  <a:pt x="2582" y="5837"/>
                </a:lnTo>
                <a:lnTo>
                  <a:pt x="2546" y="5834"/>
                </a:lnTo>
                <a:lnTo>
                  <a:pt x="2509" y="5831"/>
                </a:lnTo>
                <a:lnTo>
                  <a:pt x="2471" y="5830"/>
                </a:lnTo>
                <a:lnTo>
                  <a:pt x="2434" y="5830"/>
                </a:lnTo>
                <a:lnTo>
                  <a:pt x="2397" y="5832"/>
                </a:lnTo>
                <a:lnTo>
                  <a:pt x="2361" y="5836"/>
                </a:lnTo>
                <a:lnTo>
                  <a:pt x="2324" y="5839"/>
                </a:lnTo>
                <a:lnTo>
                  <a:pt x="2287" y="5844"/>
                </a:lnTo>
                <a:lnTo>
                  <a:pt x="2250" y="5851"/>
                </a:lnTo>
                <a:lnTo>
                  <a:pt x="2215" y="5858"/>
                </a:lnTo>
                <a:lnTo>
                  <a:pt x="2178" y="5867"/>
                </a:lnTo>
                <a:lnTo>
                  <a:pt x="2142" y="5877"/>
                </a:lnTo>
                <a:lnTo>
                  <a:pt x="2108" y="5889"/>
                </a:lnTo>
                <a:lnTo>
                  <a:pt x="2072" y="5901"/>
                </a:lnTo>
                <a:lnTo>
                  <a:pt x="2037" y="5914"/>
                </a:lnTo>
                <a:lnTo>
                  <a:pt x="2004" y="5928"/>
                </a:lnTo>
                <a:lnTo>
                  <a:pt x="1970" y="5943"/>
                </a:lnTo>
                <a:lnTo>
                  <a:pt x="1937" y="5959"/>
                </a:lnTo>
                <a:lnTo>
                  <a:pt x="1904" y="5976"/>
                </a:lnTo>
                <a:lnTo>
                  <a:pt x="1872" y="5996"/>
                </a:lnTo>
                <a:lnTo>
                  <a:pt x="1840" y="6015"/>
                </a:lnTo>
                <a:lnTo>
                  <a:pt x="1810" y="6036"/>
                </a:lnTo>
                <a:lnTo>
                  <a:pt x="1780" y="6056"/>
                </a:lnTo>
                <a:lnTo>
                  <a:pt x="1750" y="6079"/>
                </a:lnTo>
                <a:lnTo>
                  <a:pt x="1721" y="6103"/>
                </a:lnTo>
                <a:lnTo>
                  <a:pt x="1693" y="6127"/>
                </a:lnTo>
                <a:lnTo>
                  <a:pt x="1666" y="6153"/>
                </a:lnTo>
                <a:lnTo>
                  <a:pt x="1640" y="6179"/>
                </a:lnTo>
                <a:lnTo>
                  <a:pt x="1614" y="6206"/>
                </a:lnTo>
                <a:lnTo>
                  <a:pt x="1590" y="6234"/>
                </a:lnTo>
                <a:lnTo>
                  <a:pt x="1590" y="6234"/>
                </a:lnTo>
                <a:lnTo>
                  <a:pt x="1573" y="6254"/>
                </a:lnTo>
                <a:lnTo>
                  <a:pt x="1557" y="6276"/>
                </a:lnTo>
                <a:lnTo>
                  <a:pt x="1541" y="6298"/>
                </a:lnTo>
                <a:lnTo>
                  <a:pt x="1525" y="6319"/>
                </a:lnTo>
                <a:lnTo>
                  <a:pt x="1511" y="6341"/>
                </a:lnTo>
                <a:lnTo>
                  <a:pt x="1497" y="6364"/>
                </a:lnTo>
                <a:lnTo>
                  <a:pt x="1483" y="6386"/>
                </a:lnTo>
                <a:lnTo>
                  <a:pt x="1471" y="6409"/>
                </a:lnTo>
                <a:lnTo>
                  <a:pt x="1458" y="6433"/>
                </a:lnTo>
                <a:lnTo>
                  <a:pt x="1448" y="6456"/>
                </a:lnTo>
                <a:lnTo>
                  <a:pt x="1437" y="6479"/>
                </a:lnTo>
                <a:lnTo>
                  <a:pt x="1426" y="6504"/>
                </a:lnTo>
                <a:lnTo>
                  <a:pt x="1416" y="6528"/>
                </a:lnTo>
                <a:lnTo>
                  <a:pt x="1408" y="6553"/>
                </a:lnTo>
                <a:lnTo>
                  <a:pt x="1399" y="6577"/>
                </a:lnTo>
                <a:lnTo>
                  <a:pt x="1391" y="6603"/>
                </a:lnTo>
                <a:lnTo>
                  <a:pt x="1384" y="6628"/>
                </a:lnTo>
                <a:lnTo>
                  <a:pt x="1377" y="6653"/>
                </a:lnTo>
                <a:lnTo>
                  <a:pt x="1372" y="6679"/>
                </a:lnTo>
                <a:lnTo>
                  <a:pt x="1366" y="6704"/>
                </a:lnTo>
                <a:lnTo>
                  <a:pt x="1361" y="6730"/>
                </a:lnTo>
                <a:lnTo>
                  <a:pt x="1358" y="6756"/>
                </a:lnTo>
                <a:lnTo>
                  <a:pt x="1351" y="6808"/>
                </a:lnTo>
                <a:lnTo>
                  <a:pt x="1348" y="6862"/>
                </a:lnTo>
                <a:lnTo>
                  <a:pt x="1347" y="6917"/>
                </a:lnTo>
                <a:lnTo>
                  <a:pt x="1348" y="6971"/>
                </a:lnTo>
                <a:lnTo>
                  <a:pt x="1352" y="7026"/>
                </a:lnTo>
                <a:lnTo>
                  <a:pt x="1352" y="7026"/>
                </a:lnTo>
                <a:lnTo>
                  <a:pt x="1322" y="7003"/>
                </a:lnTo>
                <a:lnTo>
                  <a:pt x="1293" y="6979"/>
                </a:lnTo>
                <a:lnTo>
                  <a:pt x="1264" y="6955"/>
                </a:lnTo>
                <a:lnTo>
                  <a:pt x="1236" y="6930"/>
                </a:lnTo>
                <a:lnTo>
                  <a:pt x="1208" y="6905"/>
                </a:lnTo>
                <a:lnTo>
                  <a:pt x="1182" y="6878"/>
                </a:lnTo>
                <a:lnTo>
                  <a:pt x="1157" y="6851"/>
                </a:lnTo>
                <a:lnTo>
                  <a:pt x="1132" y="6822"/>
                </a:lnTo>
                <a:lnTo>
                  <a:pt x="1108" y="6793"/>
                </a:lnTo>
                <a:lnTo>
                  <a:pt x="1084" y="6764"/>
                </a:lnTo>
                <a:lnTo>
                  <a:pt x="1062" y="6734"/>
                </a:lnTo>
                <a:lnTo>
                  <a:pt x="1041" y="6703"/>
                </a:lnTo>
                <a:lnTo>
                  <a:pt x="1020" y="6671"/>
                </a:lnTo>
                <a:lnTo>
                  <a:pt x="1000" y="6640"/>
                </a:lnTo>
                <a:lnTo>
                  <a:pt x="981" y="6607"/>
                </a:lnTo>
                <a:lnTo>
                  <a:pt x="963" y="6574"/>
                </a:lnTo>
                <a:lnTo>
                  <a:pt x="947" y="6539"/>
                </a:lnTo>
                <a:lnTo>
                  <a:pt x="930" y="6505"/>
                </a:lnTo>
                <a:lnTo>
                  <a:pt x="915" y="6470"/>
                </a:lnTo>
                <a:lnTo>
                  <a:pt x="901" y="6435"/>
                </a:lnTo>
                <a:lnTo>
                  <a:pt x="888" y="6398"/>
                </a:lnTo>
                <a:lnTo>
                  <a:pt x="876" y="6363"/>
                </a:lnTo>
                <a:lnTo>
                  <a:pt x="866" y="6325"/>
                </a:lnTo>
                <a:lnTo>
                  <a:pt x="856" y="6288"/>
                </a:lnTo>
                <a:lnTo>
                  <a:pt x="847" y="6250"/>
                </a:lnTo>
                <a:lnTo>
                  <a:pt x="840" y="6212"/>
                </a:lnTo>
                <a:lnTo>
                  <a:pt x="832" y="6173"/>
                </a:lnTo>
                <a:lnTo>
                  <a:pt x="828" y="6134"/>
                </a:lnTo>
                <a:lnTo>
                  <a:pt x="823" y="6095"/>
                </a:lnTo>
                <a:lnTo>
                  <a:pt x="820" y="6055"/>
                </a:lnTo>
                <a:lnTo>
                  <a:pt x="818" y="6015"/>
                </a:lnTo>
                <a:lnTo>
                  <a:pt x="818" y="5975"/>
                </a:lnTo>
                <a:lnTo>
                  <a:pt x="818" y="5975"/>
                </a:lnTo>
                <a:lnTo>
                  <a:pt x="818" y="5940"/>
                </a:lnTo>
                <a:lnTo>
                  <a:pt x="819" y="5905"/>
                </a:lnTo>
                <a:lnTo>
                  <a:pt x="821" y="5870"/>
                </a:lnTo>
                <a:lnTo>
                  <a:pt x="824" y="5836"/>
                </a:lnTo>
                <a:lnTo>
                  <a:pt x="829" y="5802"/>
                </a:lnTo>
                <a:lnTo>
                  <a:pt x="834" y="5769"/>
                </a:lnTo>
                <a:lnTo>
                  <a:pt x="840" y="5735"/>
                </a:lnTo>
                <a:lnTo>
                  <a:pt x="846" y="5702"/>
                </a:lnTo>
                <a:lnTo>
                  <a:pt x="854" y="5669"/>
                </a:lnTo>
                <a:lnTo>
                  <a:pt x="862" y="5636"/>
                </a:lnTo>
                <a:lnTo>
                  <a:pt x="872" y="5604"/>
                </a:lnTo>
                <a:lnTo>
                  <a:pt x="882" y="5572"/>
                </a:lnTo>
                <a:lnTo>
                  <a:pt x="893" y="5540"/>
                </a:lnTo>
                <a:lnTo>
                  <a:pt x="903" y="5509"/>
                </a:lnTo>
                <a:lnTo>
                  <a:pt x="916" y="5479"/>
                </a:lnTo>
                <a:lnTo>
                  <a:pt x="929" y="5448"/>
                </a:lnTo>
                <a:lnTo>
                  <a:pt x="929" y="5448"/>
                </a:lnTo>
                <a:lnTo>
                  <a:pt x="904" y="5419"/>
                </a:lnTo>
                <a:lnTo>
                  <a:pt x="881" y="5391"/>
                </a:lnTo>
                <a:lnTo>
                  <a:pt x="858" y="5361"/>
                </a:lnTo>
                <a:lnTo>
                  <a:pt x="835" y="5332"/>
                </a:lnTo>
                <a:lnTo>
                  <a:pt x="814" y="5301"/>
                </a:lnTo>
                <a:lnTo>
                  <a:pt x="792" y="5270"/>
                </a:lnTo>
                <a:lnTo>
                  <a:pt x="771" y="5239"/>
                </a:lnTo>
                <a:lnTo>
                  <a:pt x="751" y="5206"/>
                </a:lnTo>
                <a:lnTo>
                  <a:pt x="732" y="5175"/>
                </a:lnTo>
                <a:lnTo>
                  <a:pt x="714" y="5141"/>
                </a:lnTo>
                <a:lnTo>
                  <a:pt x="696" y="5108"/>
                </a:lnTo>
                <a:lnTo>
                  <a:pt x="678" y="5074"/>
                </a:lnTo>
                <a:lnTo>
                  <a:pt x="662" y="5041"/>
                </a:lnTo>
                <a:lnTo>
                  <a:pt x="647" y="5006"/>
                </a:lnTo>
                <a:lnTo>
                  <a:pt x="632" y="4970"/>
                </a:lnTo>
                <a:lnTo>
                  <a:pt x="618" y="4936"/>
                </a:lnTo>
                <a:lnTo>
                  <a:pt x="605" y="4900"/>
                </a:lnTo>
                <a:lnTo>
                  <a:pt x="592" y="4863"/>
                </a:lnTo>
                <a:lnTo>
                  <a:pt x="580" y="4827"/>
                </a:lnTo>
                <a:lnTo>
                  <a:pt x="569" y="4791"/>
                </a:lnTo>
                <a:lnTo>
                  <a:pt x="559" y="4753"/>
                </a:lnTo>
                <a:lnTo>
                  <a:pt x="550" y="4715"/>
                </a:lnTo>
                <a:lnTo>
                  <a:pt x="541" y="4677"/>
                </a:lnTo>
                <a:lnTo>
                  <a:pt x="533" y="4639"/>
                </a:lnTo>
                <a:lnTo>
                  <a:pt x="527" y="4601"/>
                </a:lnTo>
                <a:lnTo>
                  <a:pt x="521" y="4562"/>
                </a:lnTo>
                <a:lnTo>
                  <a:pt x="516" y="4523"/>
                </a:lnTo>
                <a:lnTo>
                  <a:pt x="512" y="4483"/>
                </a:lnTo>
                <a:lnTo>
                  <a:pt x="508" y="4444"/>
                </a:lnTo>
                <a:lnTo>
                  <a:pt x="506" y="4404"/>
                </a:lnTo>
                <a:lnTo>
                  <a:pt x="505" y="4364"/>
                </a:lnTo>
                <a:lnTo>
                  <a:pt x="504" y="4324"/>
                </a:lnTo>
                <a:lnTo>
                  <a:pt x="504" y="4324"/>
                </a:lnTo>
                <a:lnTo>
                  <a:pt x="505" y="4278"/>
                </a:lnTo>
                <a:lnTo>
                  <a:pt x="506" y="4232"/>
                </a:lnTo>
                <a:lnTo>
                  <a:pt x="510" y="4186"/>
                </a:lnTo>
                <a:lnTo>
                  <a:pt x="514" y="4141"/>
                </a:lnTo>
                <a:lnTo>
                  <a:pt x="519" y="4096"/>
                </a:lnTo>
                <a:lnTo>
                  <a:pt x="526" y="4052"/>
                </a:lnTo>
                <a:lnTo>
                  <a:pt x="534" y="4007"/>
                </a:lnTo>
                <a:lnTo>
                  <a:pt x="543" y="3963"/>
                </a:lnTo>
                <a:lnTo>
                  <a:pt x="553" y="3920"/>
                </a:lnTo>
                <a:lnTo>
                  <a:pt x="564" y="3878"/>
                </a:lnTo>
                <a:lnTo>
                  <a:pt x="576" y="3834"/>
                </a:lnTo>
                <a:lnTo>
                  <a:pt x="590" y="3792"/>
                </a:lnTo>
                <a:lnTo>
                  <a:pt x="604" y="3751"/>
                </a:lnTo>
                <a:lnTo>
                  <a:pt x="619" y="3710"/>
                </a:lnTo>
                <a:lnTo>
                  <a:pt x="635" y="3669"/>
                </a:lnTo>
                <a:lnTo>
                  <a:pt x="652" y="3629"/>
                </a:lnTo>
                <a:lnTo>
                  <a:pt x="671" y="3590"/>
                </a:lnTo>
                <a:lnTo>
                  <a:pt x="690" y="3551"/>
                </a:lnTo>
                <a:lnTo>
                  <a:pt x="711" y="3512"/>
                </a:lnTo>
                <a:lnTo>
                  <a:pt x="731" y="3475"/>
                </a:lnTo>
                <a:lnTo>
                  <a:pt x="754" y="3437"/>
                </a:lnTo>
                <a:lnTo>
                  <a:pt x="777" y="3400"/>
                </a:lnTo>
                <a:lnTo>
                  <a:pt x="801" y="3365"/>
                </a:lnTo>
                <a:lnTo>
                  <a:pt x="825" y="3330"/>
                </a:lnTo>
                <a:lnTo>
                  <a:pt x="851" y="3295"/>
                </a:lnTo>
                <a:lnTo>
                  <a:pt x="877" y="3261"/>
                </a:lnTo>
                <a:lnTo>
                  <a:pt x="906" y="3227"/>
                </a:lnTo>
                <a:lnTo>
                  <a:pt x="934" y="3195"/>
                </a:lnTo>
                <a:lnTo>
                  <a:pt x="963" y="3163"/>
                </a:lnTo>
                <a:lnTo>
                  <a:pt x="992" y="3132"/>
                </a:lnTo>
                <a:lnTo>
                  <a:pt x="1022" y="3102"/>
                </a:lnTo>
                <a:lnTo>
                  <a:pt x="1054" y="3073"/>
                </a:lnTo>
                <a:lnTo>
                  <a:pt x="1054" y="3073"/>
                </a:lnTo>
                <a:lnTo>
                  <a:pt x="1072" y="3109"/>
                </a:lnTo>
                <a:lnTo>
                  <a:pt x="1091" y="3144"/>
                </a:lnTo>
                <a:lnTo>
                  <a:pt x="1110" y="3180"/>
                </a:lnTo>
                <a:lnTo>
                  <a:pt x="1131" y="3213"/>
                </a:lnTo>
                <a:lnTo>
                  <a:pt x="1152" y="3247"/>
                </a:lnTo>
                <a:lnTo>
                  <a:pt x="1174" y="3279"/>
                </a:lnTo>
                <a:lnTo>
                  <a:pt x="1198" y="3311"/>
                </a:lnTo>
                <a:lnTo>
                  <a:pt x="1221" y="3341"/>
                </a:lnTo>
                <a:lnTo>
                  <a:pt x="1245" y="3371"/>
                </a:lnTo>
                <a:lnTo>
                  <a:pt x="1270" y="3400"/>
                </a:lnTo>
                <a:lnTo>
                  <a:pt x="1297" y="3429"/>
                </a:lnTo>
                <a:lnTo>
                  <a:pt x="1323" y="3457"/>
                </a:lnTo>
                <a:lnTo>
                  <a:pt x="1351" y="3483"/>
                </a:lnTo>
                <a:lnTo>
                  <a:pt x="1379" y="3509"/>
                </a:lnTo>
                <a:lnTo>
                  <a:pt x="1409" y="3533"/>
                </a:lnTo>
                <a:lnTo>
                  <a:pt x="1438" y="3557"/>
                </a:lnTo>
                <a:lnTo>
                  <a:pt x="1438" y="3557"/>
                </a:lnTo>
                <a:lnTo>
                  <a:pt x="1419" y="3580"/>
                </a:lnTo>
                <a:lnTo>
                  <a:pt x="1401" y="3602"/>
                </a:lnTo>
                <a:lnTo>
                  <a:pt x="1383" y="3624"/>
                </a:lnTo>
                <a:lnTo>
                  <a:pt x="1366" y="3646"/>
                </a:lnTo>
                <a:lnTo>
                  <a:pt x="1350" y="3669"/>
                </a:lnTo>
                <a:lnTo>
                  <a:pt x="1335" y="3691"/>
                </a:lnTo>
                <a:lnTo>
                  <a:pt x="1320" y="3714"/>
                </a:lnTo>
                <a:lnTo>
                  <a:pt x="1307" y="3737"/>
                </a:lnTo>
                <a:lnTo>
                  <a:pt x="1293" y="3760"/>
                </a:lnTo>
                <a:lnTo>
                  <a:pt x="1281" y="3782"/>
                </a:lnTo>
                <a:lnTo>
                  <a:pt x="1269" y="3805"/>
                </a:lnTo>
                <a:lnTo>
                  <a:pt x="1258" y="3829"/>
                </a:lnTo>
                <a:lnTo>
                  <a:pt x="1238" y="3874"/>
                </a:lnTo>
                <a:lnTo>
                  <a:pt x="1220" y="3921"/>
                </a:lnTo>
                <a:lnTo>
                  <a:pt x="1205" y="3967"/>
                </a:lnTo>
                <a:lnTo>
                  <a:pt x="1193" y="4014"/>
                </a:lnTo>
                <a:lnTo>
                  <a:pt x="1184" y="4060"/>
                </a:lnTo>
                <a:lnTo>
                  <a:pt x="1176" y="4107"/>
                </a:lnTo>
                <a:lnTo>
                  <a:pt x="1172" y="4153"/>
                </a:lnTo>
                <a:lnTo>
                  <a:pt x="1168" y="4200"/>
                </a:lnTo>
                <a:lnTo>
                  <a:pt x="1168" y="4245"/>
                </a:lnTo>
                <a:lnTo>
                  <a:pt x="1171" y="4291"/>
                </a:lnTo>
                <a:lnTo>
                  <a:pt x="1175" y="4336"/>
                </a:lnTo>
                <a:lnTo>
                  <a:pt x="1181" y="4381"/>
                </a:lnTo>
                <a:lnTo>
                  <a:pt x="1190" y="4425"/>
                </a:lnTo>
                <a:lnTo>
                  <a:pt x="1200" y="4468"/>
                </a:lnTo>
                <a:lnTo>
                  <a:pt x="1213" y="4511"/>
                </a:lnTo>
                <a:lnTo>
                  <a:pt x="1227" y="4554"/>
                </a:lnTo>
                <a:lnTo>
                  <a:pt x="1243" y="4596"/>
                </a:lnTo>
                <a:lnTo>
                  <a:pt x="1261" y="4636"/>
                </a:lnTo>
                <a:lnTo>
                  <a:pt x="1281" y="4676"/>
                </a:lnTo>
                <a:lnTo>
                  <a:pt x="1303" y="4715"/>
                </a:lnTo>
                <a:lnTo>
                  <a:pt x="1326" y="4753"/>
                </a:lnTo>
                <a:lnTo>
                  <a:pt x="1350" y="4790"/>
                </a:lnTo>
                <a:lnTo>
                  <a:pt x="1377" y="4825"/>
                </a:lnTo>
                <a:lnTo>
                  <a:pt x="1405" y="4860"/>
                </a:lnTo>
                <a:lnTo>
                  <a:pt x="1435" y="4893"/>
                </a:lnTo>
                <a:lnTo>
                  <a:pt x="1465" y="4925"/>
                </a:lnTo>
                <a:lnTo>
                  <a:pt x="1465" y="4925"/>
                </a:lnTo>
                <a:lnTo>
                  <a:pt x="1499" y="4958"/>
                </a:lnTo>
                <a:lnTo>
                  <a:pt x="1536" y="4990"/>
                </a:lnTo>
                <a:lnTo>
                  <a:pt x="1574" y="5020"/>
                </a:lnTo>
                <a:lnTo>
                  <a:pt x="1613" y="5048"/>
                </a:lnTo>
                <a:lnTo>
                  <a:pt x="1654" y="5074"/>
                </a:lnTo>
                <a:lnTo>
                  <a:pt x="1695" y="5099"/>
                </a:lnTo>
                <a:lnTo>
                  <a:pt x="1739" y="5122"/>
                </a:lnTo>
                <a:lnTo>
                  <a:pt x="1783" y="5141"/>
                </a:lnTo>
                <a:lnTo>
                  <a:pt x="1827" y="5160"/>
                </a:lnTo>
                <a:lnTo>
                  <a:pt x="1874" y="5176"/>
                </a:lnTo>
                <a:lnTo>
                  <a:pt x="1920" y="5190"/>
                </a:lnTo>
                <a:lnTo>
                  <a:pt x="1968" y="5201"/>
                </a:lnTo>
                <a:lnTo>
                  <a:pt x="2016" y="5209"/>
                </a:lnTo>
                <a:lnTo>
                  <a:pt x="2064" y="5217"/>
                </a:lnTo>
                <a:lnTo>
                  <a:pt x="2089" y="5219"/>
                </a:lnTo>
                <a:lnTo>
                  <a:pt x="2114" y="5220"/>
                </a:lnTo>
                <a:lnTo>
                  <a:pt x="2139" y="5221"/>
                </a:lnTo>
                <a:lnTo>
                  <a:pt x="2164" y="5221"/>
                </a:lnTo>
                <a:lnTo>
                  <a:pt x="2164" y="5221"/>
                </a:lnTo>
                <a:lnTo>
                  <a:pt x="2209" y="5220"/>
                </a:lnTo>
                <a:lnTo>
                  <a:pt x="2255" y="5217"/>
                </a:lnTo>
                <a:lnTo>
                  <a:pt x="2301" y="5211"/>
                </a:lnTo>
                <a:lnTo>
                  <a:pt x="2347" y="5203"/>
                </a:lnTo>
                <a:lnTo>
                  <a:pt x="2393" y="5193"/>
                </a:lnTo>
                <a:lnTo>
                  <a:pt x="2440" y="5179"/>
                </a:lnTo>
                <a:lnTo>
                  <a:pt x="2485" y="5164"/>
                </a:lnTo>
                <a:lnTo>
                  <a:pt x="2532" y="5145"/>
                </a:lnTo>
                <a:lnTo>
                  <a:pt x="2577" y="5125"/>
                </a:lnTo>
                <a:lnTo>
                  <a:pt x="2622" y="5101"/>
                </a:lnTo>
                <a:lnTo>
                  <a:pt x="2668" y="5075"/>
                </a:lnTo>
                <a:lnTo>
                  <a:pt x="2691" y="5061"/>
                </a:lnTo>
                <a:lnTo>
                  <a:pt x="2713" y="5046"/>
                </a:lnTo>
                <a:lnTo>
                  <a:pt x="2735" y="5030"/>
                </a:lnTo>
                <a:lnTo>
                  <a:pt x="2758" y="5013"/>
                </a:lnTo>
                <a:lnTo>
                  <a:pt x="2779" y="4996"/>
                </a:lnTo>
                <a:lnTo>
                  <a:pt x="2801" y="4979"/>
                </a:lnTo>
                <a:lnTo>
                  <a:pt x="2824" y="4960"/>
                </a:lnTo>
                <a:lnTo>
                  <a:pt x="2845" y="4941"/>
                </a:lnTo>
                <a:lnTo>
                  <a:pt x="2866" y="4920"/>
                </a:lnTo>
                <a:lnTo>
                  <a:pt x="2888" y="4900"/>
                </a:lnTo>
                <a:lnTo>
                  <a:pt x="2888" y="4900"/>
                </a:lnTo>
                <a:lnTo>
                  <a:pt x="2901" y="4886"/>
                </a:lnTo>
                <a:lnTo>
                  <a:pt x="2912" y="4870"/>
                </a:lnTo>
                <a:lnTo>
                  <a:pt x="2921" y="4854"/>
                </a:lnTo>
                <a:lnTo>
                  <a:pt x="2930" y="4837"/>
                </a:lnTo>
                <a:lnTo>
                  <a:pt x="2935" y="4820"/>
                </a:lnTo>
                <a:lnTo>
                  <a:pt x="2939" y="4803"/>
                </a:lnTo>
                <a:lnTo>
                  <a:pt x="2943" y="4784"/>
                </a:lnTo>
                <a:lnTo>
                  <a:pt x="2943" y="4766"/>
                </a:lnTo>
                <a:lnTo>
                  <a:pt x="2943" y="4748"/>
                </a:lnTo>
                <a:lnTo>
                  <a:pt x="2939" y="4730"/>
                </a:lnTo>
                <a:lnTo>
                  <a:pt x="2935" y="4713"/>
                </a:lnTo>
                <a:lnTo>
                  <a:pt x="2930" y="4695"/>
                </a:lnTo>
                <a:lnTo>
                  <a:pt x="2921" y="4678"/>
                </a:lnTo>
                <a:lnTo>
                  <a:pt x="2912" y="4662"/>
                </a:lnTo>
                <a:lnTo>
                  <a:pt x="2901" y="4647"/>
                </a:lnTo>
                <a:lnTo>
                  <a:pt x="2888" y="4633"/>
                </a:lnTo>
                <a:lnTo>
                  <a:pt x="2888" y="4633"/>
                </a:lnTo>
                <a:lnTo>
                  <a:pt x="2873" y="4620"/>
                </a:lnTo>
                <a:lnTo>
                  <a:pt x="2858" y="4608"/>
                </a:lnTo>
                <a:lnTo>
                  <a:pt x="2842" y="4599"/>
                </a:lnTo>
                <a:lnTo>
                  <a:pt x="2825" y="4590"/>
                </a:lnTo>
                <a:lnTo>
                  <a:pt x="2807" y="4585"/>
                </a:lnTo>
                <a:lnTo>
                  <a:pt x="2790" y="4581"/>
                </a:lnTo>
                <a:lnTo>
                  <a:pt x="2772" y="4577"/>
                </a:lnTo>
                <a:lnTo>
                  <a:pt x="2754" y="4577"/>
                </a:lnTo>
                <a:lnTo>
                  <a:pt x="2736" y="4577"/>
                </a:lnTo>
                <a:lnTo>
                  <a:pt x="2718" y="4581"/>
                </a:lnTo>
                <a:lnTo>
                  <a:pt x="2700" y="4585"/>
                </a:lnTo>
                <a:lnTo>
                  <a:pt x="2683" y="4590"/>
                </a:lnTo>
                <a:lnTo>
                  <a:pt x="2666" y="4599"/>
                </a:lnTo>
                <a:lnTo>
                  <a:pt x="2650" y="4608"/>
                </a:lnTo>
                <a:lnTo>
                  <a:pt x="2634" y="4620"/>
                </a:lnTo>
                <a:lnTo>
                  <a:pt x="2620" y="4633"/>
                </a:lnTo>
                <a:lnTo>
                  <a:pt x="2620" y="4633"/>
                </a:lnTo>
                <a:lnTo>
                  <a:pt x="2591" y="4661"/>
                </a:lnTo>
                <a:lnTo>
                  <a:pt x="2561" y="4687"/>
                </a:lnTo>
                <a:lnTo>
                  <a:pt x="2531" y="4711"/>
                </a:lnTo>
                <a:lnTo>
                  <a:pt x="2500" y="4733"/>
                </a:lnTo>
                <a:lnTo>
                  <a:pt x="2470" y="4753"/>
                </a:lnTo>
                <a:lnTo>
                  <a:pt x="2440" y="4770"/>
                </a:lnTo>
                <a:lnTo>
                  <a:pt x="2409" y="4786"/>
                </a:lnTo>
                <a:lnTo>
                  <a:pt x="2379" y="4799"/>
                </a:lnTo>
                <a:lnTo>
                  <a:pt x="2348" y="4811"/>
                </a:lnTo>
                <a:lnTo>
                  <a:pt x="2317" y="4821"/>
                </a:lnTo>
                <a:lnTo>
                  <a:pt x="2287" y="4830"/>
                </a:lnTo>
                <a:lnTo>
                  <a:pt x="2257" y="4836"/>
                </a:lnTo>
                <a:lnTo>
                  <a:pt x="2228" y="4840"/>
                </a:lnTo>
                <a:lnTo>
                  <a:pt x="2197" y="4844"/>
                </a:lnTo>
                <a:lnTo>
                  <a:pt x="2168" y="4845"/>
                </a:lnTo>
                <a:lnTo>
                  <a:pt x="2139" y="4844"/>
                </a:lnTo>
                <a:lnTo>
                  <a:pt x="2110" y="4843"/>
                </a:lnTo>
                <a:lnTo>
                  <a:pt x="2080" y="4838"/>
                </a:lnTo>
                <a:lnTo>
                  <a:pt x="2052" y="4834"/>
                </a:lnTo>
                <a:lnTo>
                  <a:pt x="2024" y="4827"/>
                </a:lnTo>
                <a:lnTo>
                  <a:pt x="1997" y="4820"/>
                </a:lnTo>
                <a:lnTo>
                  <a:pt x="1970" y="4811"/>
                </a:lnTo>
                <a:lnTo>
                  <a:pt x="1943" y="4800"/>
                </a:lnTo>
                <a:lnTo>
                  <a:pt x="1917" y="4788"/>
                </a:lnTo>
                <a:lnTo>
                  <a:pt x="1891" y="4777"/>
                </a:lnTo>
                <a:lnTo>
                  <a:pt x="1866" y="4762"/>
                </a:lnTo>
                <a:lnTo>
                  <a:pt x="1842" y="4747"/>
                </a:lnTo>
                <a:lnTo>
                  <a:pt x="1819" y="4731"/>
                </a:lnTo>
                <a:lnTo>
                  <a:pt x="1796" y="4715"/>
                </a:lnTo>
                <a:lnTo>
                  <a:pt x="1774" y="4696"/>
                </a:lnTo>
                <a:lnTo>
                  <a:pt x="1753" y="4678"/>
                </a:lnTo>
                <a:lnTo>
                  <a:pt x="1732" y="4658"/>
                </a:lnTo>
                <a:lnTo>
                  <a:pt x="1732" y="4658"/>
                </a:lnTo>
                <a:lnTo>
                  <a:pt x="1713" y="4637"/>
                </a:lnTo>
                <a:lnTo>
                  <a:pt x="1693" y="4616"/>
                </a:lnTo>
                <a:lnTo>
                  <a:pt x="1676" y="4594"/>
                </a:lnTo>
                <a:lnTo>
                  <a:pt x="1659" y="4571"/>
                </a:lnTo>
                <a:lnTo>
                  <a:pt x="1642" y="4547"/>
                </a:lnTo>
                <a:lnTo>
                  <a:pt x="1627" y="4523"/>
                </a:lnTo>
                <a:lnTo>
                  <a:pt x="1614" y="4499"/>
                </a:lnTo>
                <a:lnTo>
                  <a:pt x="1601" y="4473"/>
                </a:lnTo>
                <a:lnTo>
                  <a:pt x="1589" y="4447"/>
                </a:lnTo>
                <a:lnTo>
                  <a:pt x="1580" y="4421"/>
                </a:lnTo>
                <a:lnTo>
                  <a:pt x="1570" y="4394"/>
                </a:lnTo>
                <a:lnTo>
                  <a:pt x="1562" y="4365"/>
                </a:lnTo>
                <a:lnTo>
                  <a:pt x="1556" y="4337"/>
                </a:lnTo>
                <a:lnTo>
                  <a:pt x="1551" y="4309"/>
                </a:lnTo>
                <a:lnTo>
                  <a:pt x="1548" y="4281"/>
                </a:lnTo>
                <a:lnTo>
                  <a:pt x="1546" y="4252"/>
                </a:lnTo>
                <a:lnTo>
                  <a:pt x="1545" y="4223"/>
                </a:lnTo>
                <a:lnTo>
                  <a:pt x="1547" y="4192"/>
                </a:lnTo>
                <a:lnTo>
                  <a:pt x="1549" y="4163"/>
                </a:lnTo>
                <a:lnTo>
                  <a:pt x="1554" y="4133"/>
                </a:lnTo>
                <a:lnTo>
                  <a:pt x="1560" y="4103"/>
                </a:lnTo>
                <a:lnTo>
                  <a:pt x="1569" y="4072"/>
                </a:lnTo>
                <a:lnTo>
                  <a:pt x="1578" y="4042"/>
                </a:lnTo>
                <a:lnTo>
                  <a:pt x="1590" y="4012"/>
                </a:lnTo>
                <a:lnTo>
                  <a:pt x="1603" y="3980"/>
                </a:lnTo>
                <a:lnTo>
                  <a:pt x="1620" y="3950"/>
                </a:lnTo>
                <a:lnTo>
                  <a:pt x="1637" y="3920"/>
                </a:lnTo>
                <a:lnTo>
                  <a:pt x="1657" y="3889"/>
                </a:lnTo>
                <a:lnTo>
                  <a:pt x="1679" y="3859"/>
                </a:lnTo>
                <a:lnTo>
                  <a:pt x="1703" y="3829"/>
                </a:lnTo>
                <a:lnTo>
                  <a:pt x="1729" y="3800"/>
                </a:lnTo>
                <a:lnTo>
                  <a:pt x="1757" y="3769"/>
                </a:lnTo>
                <a:lnTo>
                  <a:pt x="1757" y="3769"/>
                </a:lnTo>
                <a:lnTo>
                  <a:pt x="1767" y="3760"/>
                </a:lnTo>
                <a:lnTo>
                  <a:pt x="1775" y="3749"/>
                </a:lnTo>
                <a:lnTo>
                  <a:pt x="1775" y="3749"/>
                </a:lnTo>
                <a:lnTo>
                  <a:pt x="1806" y="3760"/>
                </a:lnTo>
                <a:lnTo>
                  <a:pt x="1836" y="3770"/>
                </a:lnTo>
                <a:lnTo>
                  <a:pt x="1867" y="3780"/>
                </a:lnTo>
                <a:lnTo>
                  <a:pt x="1898" y="3790"/>
                </a:lnTo>
                <a:lnTo>
                  <a:pt x="1929" y="3799"/>
                </a:lnTo>
                <a:lnTo>
                  <a:pt x="1960" y="3806"/>
                </a:lnTo>
                <a:lnTo>
                  <a:pt x="1993" y="3813"/>
                </a:lnTo>
                <a:lnTo>
                  <a:pt x="2024" y="3819"/>
                </a:lnTo>
                <a:lnTo>
                  <a:pt x="2057" y="3824"/>
                </a:lnTo>
                <a:lnTo>
                  <a:pt x="2088" y="3829"/>
                </a:lnTo>
                <a:lnTo>
                  <a:pt x="2120" y="3833"/>
                </a:lnTo>
                <a:lnTo>
                  <a:pt x="2153" y="3836"/>
                </a:lnTo>
                <a:lnTo>
                  <a:pt x="2185" y="3839"/>
                </a:lnTo>
                <a:lnTo>
                  <a:pt x="2218" y="3841"/>
                </a:lnTo>
                <a:lnTo>
                  <a:pt x="2251" y="3842"/>
                </a:lnTo>
                <a:lnTo>
                  <a:pt x="2284" y="3842"/>
                </a:lnTo>
                <a:lnTo>
                  <a:pt x="2284" y="3842"/>
                </a:lnTo>
                <a:lnTo>
                  <a:pt x="2320" y="3842"/>
                </a:lnTo>
                <a:lnTo>
                  <a:pt x="2355" y="3841"/>
                </a:lnTo>
                <a:lnTo>
                  <a:pt x="2390" y="3839"/>
                </a:lnTo>
                <a:lnTo>
                  <a:pt x="2426" y="3835"/>
                </a:lnTo>
                <a:lnTo>
                  <a:pt x="2461" y="3831"/>
                </a:lnTo>
                <a:lnTo>
                  <a:pt x="2497" y="3827"/>
                </a:lnTo>
                <a:lnTo>
                  <a:pt x="2533" y="3821"/>
                </a:lnTo>
                <a:lnTo>
                  <a:pt x="2568" y="3815"/>
                </a:lnTo>
                <a:lnTo>
                  <a:pt x="2603" y="3807"/>
                </a:lnTo>
                <a:lnTo>
                  <a:pt x="2639" y="3800"/>
                </a:lnTo>
                <a:lnTo>
                  <a:pt x="2673" y="3790"/>
                </a:lnTo>
                <a:lnTo>
                  <a:pt x="2709" y="3780"/>
                </a:lnTo>
                <a:lnTo>
                  <a:pt x="2744" y="3769"/>
                </a:lnTo>
                <a:lnTo>
                  <a:pt x="2778" y="3758"/>
                </a:lnTo>
                <a:lnTo>
                  <a:pt x="2813" y="3746"/>
                </a:lnTo>
                <a:lnTo>
                  <a:pt x="2848" y="3733"/>
                </a:lnTo>
                <a:lnTo>
                  <a:pt x="2848" y="3733"/>
                </a:lnTo>
                <a:lnTo>
                  <a:pt x="2865" y="3725"/>
                </a:lnTo>
                <a:lnTo>
                  <a:pt x="2881" y="3715"/>
                </a:lnTo>
                <a:lnTo>
                  <a:pt x="2896" y="3703"/>
                </a:lnTo>
                <a:lnTo>
                  <a:pt x="2910" y="3691"/>
                </a:lnTo>
                <a:lnTo>
                  <a:pt x="2922" y="3677"/>
                </a:lnTo>
                <a:lnTo>
                  <a:pt x="2933" y="3663"/>
                </a:lnTo>
                <a:lnTo>
                  <a:pt x="2943" y="3648"/>
                </a:lnTo>
                <a:lnTo>
                  <a:pt x="2950" y="3631"/>
                </a:lnTo>
                <a:lnTo>
                  <a:pt x="2957" y="3615"/>
                </a:lnTo>
                <a:lnTo>
                  <a:pt x="2961" y="3597"/>
                </a:lnTo>
                <a:lnTo>
                  <a:pt x="2964" y="3579"/>
                </a:lnTo>
                <a:lnTo>
                  <a:pt x="2965" y="3561"/>
                </a:lnTo>
                <a:lnTo>
                  <a:pt x="2965" y="3542"/>
                </a:lnTo>
                <a:lnTo>
                  <a:pt x="2962" y="3524"/>
                </a:lnTo>
                <a:lnTo>
                  <a:pt x="2958" y="3505"/>
                </a:lnTo>
                <a:lnTo>
                  <a:pt x="2952" y="3487"/>
                </a:lnTo>
                <a:lnTo>
                  <a:pt x="2952" y="3487"/>
                </a:lnTo>
                <a:lnTo>
                  <a:pt x="2944" y="3470"/>
                </a:lnTo>
                <a:lnTo>
                  <a:pt x="2934" y="3452"/>
                </a:lnTo>
                <a:lnTo>
                  <a:pt x="2923" y="3437"/>
                </a:lnTo>
                <a:lnTo>
                  <a:pt x="2910" y="3424"/>
                </a:lnTo>
                <a:lnTo>
                  <a:pt x="2897" y="3411"/>
                </a:lnTo>
                <a:lnTo>
                  <a:pt x="2882" y="3400"/>
                </a:lnTo>
                <a:lnTo>
                  <a:pt x="2867" y="3391"/>
                </a:lnTo>
                <a:lnTo>
                  <a:pt x="2851" y="3383"/>
                </a:lnTo>
                <a:lnTo>
                  <a:pt x="2833" y="3377"/>
                </a:lnTo>
                <a:lnTo>
                  <a:pt x="2816" y="3372"/>
                </a:lnTo>
                <a:lnTo>
                  <a:pt x="2798" y="3369"/>
                </a:lnTo>
                <a:lnTo>
                  <a:pt x="2780" y="3368"/>
                </a:lnTo>
                <a:lnTo>
                  <a:pt x="2761" y="3369"/>
                </a:lnTo>
                <a:lnTo>
                  <a:pt x="2743" y="3371"/>
                </a:lnTo>
                <a:lnTo>
                  <a:pt x="2724" y="3376"/>
                </a:lnTo>
                <a:lnTo>
                  <a:pt x="2706" y="3382"/>
                </a:lnTo>
                <a:lnTo>
                  <a:pt x="2706" y="3382"/>
                </a:lnTo>
                <a:lnTo>
                  <a:pt x="2680" y="3392"/>
                </a:lnTo>
                <a:lnTo>
                  <a:pt x="2654" y="3401"/>
                </a:lnTo>
                <a:lnTo>
                  <a:pt x="2628" y="3410"/>
                </a:lnTo>
                <a:lnTo>
                  <a:pt x="2601" y="3418"/>
                </a:lnTo>
                <a:lnTo>
                  <a:pt x="2574" y="3425"/>
                </a:lnTo>
                <a:lnTo>
                  <a:pt x="2547" y="3432"/>
                </a:lnTo>
                <a:lnTo>
                  <a:pt x="2520" y="3438"/>
                </a:lnTo>
                <a:lnTo>
                  <a:pt x="2493" y="3444"/>
                </a:lnTo>
                <a:lnTo>
                  <a:pt x="2466" y="3448"/>
                </a:lnTo>
                <a:lnTo>
                  <a:pt x="2439" y="3452"/>
                </a:lnTo>
                <a:lnTo>
                  <a:pt x="2412" y="3456"/>
                </a:lnTo>
                <a:lnTo>
                  <a:pt x="2383" y="3459"/>
                </a:lnTo>
                <a:lnTo>
                  <a:pt x="2356" y="3461"/>
                </a:lnTo>
                <a:lnTo>
                  <a:pt x="2329" y="3462"/>
                </a:lnTo>
                <a:lnTo>
                  <a:pt x="2302" y="3463"/>
                </a:lnTo>
                <a:lnTo>
                  <a:pt x="2274" y="3463"/>
                </a:lnTo>
                <a:lnTo>
                  <a:pt x="2247" y="3462"/>
                </a:lnTo>
                <a:lnTo>
                  <a:pt x="2220" y="3461"/>
                </a:lnTo>
                <a:lnTo>
                  <a:pt x="2193" y="3459"/>
                </a:lnTo>
                <a:lnTo>
                  <a:pt x="2166" y="3457"/>
                </a:lnTo>
                <a:lnTo>
                  <a:pt x="2139" y="3453"/>
                </a:lnTo>
                <a:lnTo>
                  <a:pt x="2113" y="3450"/>
                </a:lnTo>
                <a:lnTo>
                  <a:pt x="2086" y="3445"/>
                </a:lnTo>
                <a:lnTo>
                  <a:pt x="2060" y="3440"/>
                </a:lnTo>
                <a:lnTo>
                  <a:pt x="2034" y="3434"/>
                </a:lnTo>
                <a:lnTo>
                  <a:pt x="2008" y="3427"/>
                </a:lnTo>
                <a:lnTo>
                  <a:pt x="1983" y="3420"/>
                </a:lnTo>
                <a:lnTo>
                  <a:pt x="1957" y="3412"/>
                </a:lnTo>
                <a:lnTo>
                  <a:pt x="1932" y="3404"/>
                </a:lnTo>
                <a:lnTo>
                  <a:pt x="1907" y="3395"/>
                </a:lnTo>
                <a:lnTo>
                  <a:pt x="1884" y="3385"/>
                </a:lnTo>
                <a:lnTo>
                  <a:pt x="1860" y="3374"/>
                </a:lnTo>
                <a:lnTo>
                  <a:pt x="1860" y="3374"/>
                </a:lnTo>
                <a:lnTo>
                  <a:pt x="1819" y="3355"/>
                </a:lnTo>
                <a:lnTo>
                  <a:pt x="1779" y="3333"/>
                </a:lnTo>
                <a:lnTo>
                  <a:pt x="1740" y="3310"/>
                </a:lnTo>
                <a:lnTo>
                  <a:pt x="1702" y="3284"/>
                </a:lnTo>
                <a:lnTo>
                  <a:pt x="1666" y="3256"/>
                </a:lnTo>
                <a:lnTo>
                  <a:pt x="1631" y="3227"/>
                </a:lnTo>
                <a:lnTo>
                  <a:pt x="1599" y="3196"/>
                </a:lnTo>
                <a:lnTo>
                  <a:pt x="1567" y="3163"/>
                </a:lnTo>
                <a:lnTo>
                  <a:pt x="1536" y="3130"/>
                </a:lnTo>
                <a:lnTo>
                  <a:pt x="1507" y="3094"/>
                </a:lnTo>
                <a:lnTo>
                  <a:pt x="1480" y="3056"/>
                </a:lnTo>
                <a:lnTo>
                  <a:pt x="1454" y="3017"/>
                </a:lnTo>
                <a:lnTo>
                  <a:pt x="1430" y="2976"/>
                </a:lnTo>
                <a:lnTo>
                  <a:pt x="1408" y="2934"/>
                </a:lnTo>
                <a:lnTo>
                  <a:pt x="1386" y="2890"/>
                </a:lnTo>
                <a:lnTo>
                  <a:pt x="1366" y="2844"/>
                </a:lnTo>
                <a:lnTo>
                  <a:pt x="1366" y="2844"/>
                </a:lnTo>
                <a:lnTo>
                  <a:pt x="1369" y="2843"/>
                </a:lnTo>
                <a:lnTo>
                  <a:pt x="1369" y="2843"/>
                </a:lnTo>
                <a:lnTo>
                  <a:pt x="1356" y="2813"/>
                </a:lnTo>
                <a:lnTo>
                  <a:pt x="1344" y="2783"/>
                </a:lnTo>
                <a:lnTo>
                  <a:pt x="1332" y="2752"/>
                </a:lnTo>
                <a:lnTo>
                  <a:pt x="1321" y="2721"/>
                </a:lnTo>
                <a:lnTo>
                  <a:pt x="1311" y="2689"/>
                </a:lnTo>
                <a:lnTo>
                  <a:pt x="1303" y="2657"/>
                </a:lnTo>
                <a:lnTo>
                  <a:pt x="1294" y="2625"/>
                </a:lnTo>
                <a:lnTo>
                  <a:pt x="1287" y="2592"/>
                </a:lnTo>
                <a:lnTo>
                  <a:pt x="1280" y="2559"/>
                </a:lnTo>
                <a:lnTo>
                  <a:pt x="1274" y="2526"/>
                </a:lnTo>
                <a:lnTo>
                  <a:pt x="1270" y="2493"/>
                </a:lnTo>
                <a:lnTo>
                  <a:pt x="1266" y="2458"/>
                </a:lnTo>
                <a:lnTo>
                  <a:pt x="1263" y="2425"/>
                </a:lnTo>
                <a:lnTo>
                  <a:pt x="1260" y="2390"/>
                </a:lnTo>
                <a:lnTo>
                  <a:pt x="1259" y="2355"/>
                </a:lnTo>
                <a:lnTo>
                  <a:pt x="1258" y="2321"/>
                </a:lnTo>
                <a:lnTo>
                  <a:pt x="1258" y="2321"/>
                </a:lnTo>
                <a:lnTo>
                  <a:pt x="1259" y="2290"/>
                </a:lnTo>
                <a:lnTo>
                  <a:pt x="1260" y="2259"/>
                </a:lnTo>
                <a:lnTo>
                  <a:pt x="1261" y="2229"/>
                </a:lnTo>
                <a:lnTo>
                  <a:pt x="1264" y="2198"/>
                </a:lnTo>
                <a:lnTo>
                  <a:pt x="1267" y="2169"/>
                </a:lnTo>
                <a:lnTo>
                  <a:pt x="1271" y="2139"/>
                </a:lnTo>
                <a:lnTo>
                  <a:pt x="1276" y="2110"/>
                </a:lnTo>
                <a:lnTo>
                  <a:pt x="1281" y="2080"/>
                </a:lnTo>
                <a:lnTo>
                  <a:pt x="1286" y="2051"/>
                </a:lnTo>
                <a:lnTo>
                  <a:pt x="1293" y="2022"/>
                </a:lnTo>
                <a:lnTo>
                  <a:pt x="1300" y="1993"/>
                </a:lnTo>
                <a:lnTo>
                  <a:pt x="1308" y="1965"/>
                </a:lnTo>
                <a:lnTo>
                  <a:pt x="1316" y="1937"/>
                </a:lnTo>
                <a:lnTo>
                  <a:pt x="1325" y="1908"/>
                </a:lnTo>
                <a:lnTo>
                  <a:pt x="1335" y="1881"/>
                </a:lnTo>
                <a:lnTo>
                  <a:pt x="1345" y="1854"/>
                </a:lnTo>
                <a:lnTo>
                  <a:pt x="1356" y="1827"/>
                </a:lnTo>
                <a:lnTo>
                  <a:pt x="1366" y="1800"/>
                </a:lnTo>
                <a:lnTo>
                  <a:pt x="1391" y="1748"/>
                </a:lnTo>
                <a:lnTo>
                  <a:pt x="1418" y="1696"/>
                </a:lnTo>
                <a:lnTo>
                  <a:pt x="1446" y="1647"/>
                </a:lnTo>
                <a:lnTo>
                  <a:pt x="1478" y="1598"/>
                </a:lnTo>
                <a:lnTo>
                  <a:pt x="1510" y="1551"/>
                </a:lnTo>
                <a:lnTo>
                  <a:pt x="1545" y="1506"/>
                </a:lnTo>
                <a:lnTo>
                  <a:pt x="1582" y="1463"/>
                </a:lnTo>
                <a:lnTo>
                  <a:pt x="1621" y="1421"/>
                </a:lnTo>
                <a:lnTo>
                  <a:pt x="1662" y="1380"/>
                </a:lnTo>
                <a:lnTo>
                  <a:pt x="1704" y="1342"/>
                </a:lnTo>
                <a:lnTo>
                  <a:pt x="1747" y="1305"/>
                </a:lnTo>
                <a:lnTo>
                  <a:pt x="1793" y="1270"/>
                </a:lnTo>
                <a:lnTo>
                  <a:pt x="1840" y="1238"/>
                </a:lnTo>
                <a:lnTo>
                  <a:pt x="1889" y="1206"/>
                </a:lnTo>
                <a:lnTo>
                  <a:pt x="1939" y="1178"/>
                </a:lnTo>
                <a:lnTo>
                  <a:pt x="1990" y="1152"/>
                </a:lnTo>
                <a:lnTo>
                  <a:pt x="2043" y="1127"/>
                </a:lnTo>
                <a:lnTo>
                  <a:pt x="2070" y="1117"/>
                </a:lnTo>
                <a:lnTo>
                  <a:pt x="2097" y="1106"/>
                </a:lnTo>
                <a:lnTo>
                  <a:pt x="2124" y="1096"/>
                </a:lnTo>
                <a:lnTo>
                  <a:pt x="2152" y="1086"/>
                </a:lnTo>
                <a:lnTo>
                  <a:pt x="2179" y="1078"/>
                </a:lnTo>
                <a:lnTo>
                  <a:pt x="2207" y="1069"/>
                </a:lnTo>
                <a:lnTo>
                  <a:pt x="2236" y="1061"/>
                </a:lnTo>
                <a:lnTo>
                  <a:pt x="2264" y="1055"/>
                </a:lnTo>
                <a:lnTo>
                  <a:pt x="2294" y="1048"/>
                </a:lnTo>
                <a:lnTo>
                  <a:pt x="2323" y="1043"/>
                </a:lnTo>
                <a:lnTo>
                  <a:pt x="2352" y="1038"/>
                </a:lnTo>
                <a:lnTo>
                  <a:pt x="2381" y="1033"/>
                </a:lnTo>
                <a:lnTo>
                  <a:pt x="2381" y="1033"/>
                </a:lnTo>
                <a:lnTo>
                  <a:pt x="2397" y="1004"/>
                </a:lnTo>
                <a:lnTo>
                  <a:pt x="2415" y="975"/>
                </a:lnTo>
                <a:lnTo>
                  <a:pt x="2433" y="948"/>
                </a:lnTo>
                <a:lnTo>
                  <a:pt x="2452" y="920"/>
                </a:lnTo>
                <a:lnTo>
                  <a:pt x="2471" y="894"/>
                </a:lnTo>
                <a:lnTo>
                  <a:pt x="2492" y="868"/>
                </a:lnTo>
                <a:lnTo>
                  <a:pt x="2513" y="842"/>
                </a:lnTo>
                <a:lnTo>
                  <a:pt x="2536" y="818"/>
                </a:lnTo>
                <a:lnTo>
                  <a:pt x="2559" y="794"/>
                </a:lnTo>
                <a:lnTo>
                  <a:pt x="2582" y="771"/>
                </a:lnTo>
                <a:lnTo>
                  <a:pt x="2607" y="749"/>
                </a:lnTo>
                <a:lnTo>
                  <a:pt x="2632" y="727"/>
                </a:lnTo>
                <a:lnTo>
                  <a:pt x="2658" y="706"/>
                </a:lnTo>
                <a:lnTo>
                  <a:pt x="2685" y="687"/>
                </a:lnTo>
                <a:lnTo>
                  <a:pt x="2712" y="669"/>
                </a:lnTo>
                <a:lnTo>
                  <a:pt x="2740" y="650"/>
                </a:lnTo>
                <a:lnTo>
                  <a:pt x="2769" y="634"/>
                </a:lnTo>
                <a:lnTo>
                  <a:pt x="2799" y="618"/>
                </a:lnTo>
                <a:lnTo>
                  <a:pt x="2828" y="603"/>
                </a:lnTo>
                <a:lnTo>
                  <a:pt x="2858" y="589"/>
                </a:lnTo>
                <a:lnTo>
                  <a:pt x="2890" y="576"/>
                </a:lnTo>
                <a:lnTo>
                  <a:pt x="2921" y="564"/>
                </a:lnTo>
                <a:lnTo>
                  <a:pt x="2952" y="553"/>
                </a:lnTo>
                <a:lnTo>
                  <a:pt x="2985" y="543"/>
                </a:lnTo>
                <a:lnTo>
                  <a:pt x="3018" y="533"/>
                </a:lnTo>
                <a:lnTo>
                  <a:pt x="3052" y="526"/>
                </a:lnTo>
                <a:lnTo>
                  <a:pt x="3086" y="519"/>
                </a:lnTo>
                <a:lnTo>
                  <a:pt x="3119" y="514"/>
                </a:lnTo>
                <a:lnTo>
                  <a:pt x="3154" y="510"/>
                </a:lnTo>
                <a:lnTo>
                  <a:pt x="3189" y="506"/>
                </a:lnTo>
                <a:lnTo>
                  <a:pt x="3224" y="505"/>
                </a:lnTo>
                <a:lnTo>
                  <a:pt x="3260" y="504"/>
                </a:lnTo>
                <a:lnTo>
                  <a:pt x="3260" y="504"/>
                </a:lnTo>
                <a:lnTo>
                  <a:pt x="3287" y="504"/>
                </a:lnTo>
                <a:lnTo>
                  <a:pt x="3315" y="505"/>
                </a:lnTo>
                <a:lnTo>
                  <a:pt x="3342" y="507"/>
                </a:lnTo>
                <a:lnTo>
                  <a:pt x="3369" y="511"/>
                </a:lnTo>
                <a:lnTo>
                  <a:pt x="3396" y="514"/>
                </a:lnTo>
                <a:lnTo>
                  <a:pt x="3422" y="517"/>
                </a:lnTo>
                <a:lnTo>
                  <a:pt x="3448" y="523"/>
                </a:lnTo>
                <a:lnTo>
                  <a:pt x="3474" y="528"/>
                </a:lnTo>
                <a:lnTo>
                  <a:pt x="3500" y="533"/>
                </a:lnTo>
                <a:lnTo>
                  <a:pt x="3526" y="540"/>
                </a:lnTo>
                <a:lnTo>
                  <a:pt x="3551" y="547"/>
                </a:lnTo>
                <a:lnTo>
                  <a:pt x="3576" y="556"/>
                </a:lnTo>
                <a:lnTo>
                  <a:pt x="3601" y="565"/>
                </a:lnTo>
                <a:lnTo>
                  <a:pt x="3625" y="573"/>
                </a:lnTo>
                <a:lnTo>
                  <a:pt x="3649" y="583"/>
                </a:lnTo>
                <a:lnTo>
                  <a:pt x="3673" y="594"/>
                </a:lnTo>
                <a:lnTo>
                  <a:pt x="3697" y="605"/>
                </a:lnTo>
                <a:lnTo>
                  <a:pt x="3720" y="617"/>
                </a:lnTo>
                <a:lnTo>
                  <a:pt x="3742" y="629"/>
                </a:lnTo>
                <a:lnTo>
                  <a:pt x="3765" y="642"/>
                </a:lnTo>
                <a:lnTo>
                  <a:pt x="3787" y="656"/>
                </a:lnTo>
                <a:lnTo>
                  <a:pt x="3808" y="670"/>
                </a:lnTo>
                <a:lnTo>
                  <a:pt x="3829" y="684"/>
                </a:lnTo>
                <a:lnTo>
                  <a:pt x="3850" y="699"/>
                </a:lnTo>
                <a:lnTo>
                  <a:pt x="3871" y="714"/>
                </a:lnTo>
                <a:lnTo>
                  <a:pt x="3890" y="730"/>
                </a:lnTo>
                <a:lnTo>
                  <a:pt x="3910" y="747"/>
                </a:lnTo>
                <a:lnTo>
                  <a:pt x="3929" y="764"/>
                </a:lnTo>
                <a:lnTo>
                  <a:pt x="3948" y="781"/>
                </a:lnTo>
                <a:lnTo>
                  <a:pt x="3966" y="800"/>
                </a:lnTo>
                <a:lnTo>
                  <a:pt x="3983" y="818"/>
                </a:lnTo>
                <a:lnTo>
                  <a:pt x="4001" y="837"/>
                </a:lnTo>
                <a:lnTo>
                  <a:pt x="4001" y="1910"/>
                </a:lnTo>
                <a:lnTo>
                  <a:pt x="4001" y="1910"/>
                </a:lnTo>
                <a:lnTo>
                  <a:pt x="3990" y="1937"/>
                </a:lnTo>
                <a:lnTo>
                  <a:pt x="3977" y="1963"/>
                </a:lnTo>
                <a:lnTo>
                  <a:pt x="3964" y="1987"/>
                </a:lnTo>
                <a:lnTo>
                  <a:pt x="3950" y="2011"/>
                </a:lnTo>
                <a:lnTo>
                  <a:pt x="3935" y="2035"/>
                </a:lnTo>
                <a:lnTo>
                  <a:pt x="3920" y="2058"/>
                </a:lnTo>
                <a:lnTo>
                  <a:pt x="3903" y="2079"/>
                </a:lnTo>
                <a:lnTo>
                  <a:pt x="3886" y="2100"/>
                </a:lnTo>
                <a:lnTo>
                  <a:pt x="3868" y="2119"/>
                </a:lnTo>
                <a:lnTo>
                  <a:pt x="3849" y="2138"/>
                </a:lnTo>
                <a:lnTo>
                  <a:pt x="3831" y="2156"/>
                </a:lnTo>
                <a:lnTo>
                  <a:pt x="3810" y="2174"/>
                </a:lnTo>
                <a:lnTo>
                  <a:pt x="3791" y="2190"/>
                </a:lnTo>
                <a:lnTo>
                  <a:pt x="3770" y="2205"/>
                </a:lnTo>
                <a:lnTo>
                  <a:pt x="3749" y="2219"/>
                </a:lnTo>
                <a:lnTo>
                  <a:pt x="3727" y="2233"/>
                </a:lnTo>
                <a:lnTo>
                  <a:pt x="3704" y="2246"/>
                </a:lnTo>
                <a:lnTo>
                  <a:pt x="3682" y="2258"/>
                </a:lnTo>
                <a:lnTo>
                  <a:pt x="3659" y="2269"/>
                </a:lnTo>
                <a:lnTo>
                  <a:pt x="3636" y="2278"/>
                </a:lnTo>
                <a:lnTo>
                  <a:pt x="3612" y="2288"/>
                </a:lnTo>
                <a:lnTo>
                  <a:pt x="3588" y="2297"/>
                </a:lnTo>
                <a:lnTo>
                  <a:pt x="3564" y="2304"/>
                </a:lnTo>
                <a:lnTo>
                  <a:pt x="3539" y="2311"/>
                </a:lnTo>
                <a:lnTo>
                  <a:pt x="3514" y="2317"/>
                </a:lnTo>
                <a:lnTo>
                  <a:pt x="3489" y="2323"/>
                </a:lnTo>
                <a:lnTo>
                  <a:pt x="3464" y="2327"/>
                </a:lnTo>
                <a:lnTo>
                  <a:pt x="3439" y="2330"/>
                </a:lnTo>
                <a:lnTo>
                  <a:pt x="3413" y="2334"/>
                </a:lnTo>
                <a:lnTo>
                  <a:pt x="3388" y="2335"/>
                </a:lnTo>
                <a:lnTo>
                  <a:pt x="3362" y="2337"/>
                </a:lnTo>
                <a:lnTo>
                  <a:pt x="3338" y="2337"/>
                </a:lnTo>
                <a:lnTo>
                  <a:pt x="3338" y="2337"/>
                </a:lnTo>
                <a:lnTo>
                  <a:pt x="3304" y="2336"/>
                </a:lnTo>
                <a:lnTo>
                  <a:pt x="3269" y="2334"/>
                </a:lnTo>
                <a:lnTo>
                  <a:pt x="3236" y="2330"/>
                </a:lnTo>
                <a:lnTo>
                  <a:pt x="3202" y="2326"/>
                </a:lnTo>
                <a:lnTo>
                  <a:pt x="3170" y="2320"/>
                </a:lnTo>
                <a:lnTo>
                  <a:pt x="3136" y="2312"/>
                </a:lnTo>
                <a:lnTo>
                  <a:pt x="3104" y="2302"/>
                </a:lnTo>
                <a:lnTo>
                  <a:pt x="3073" y="2291"/>
                </a:lnTo>
                <a:lnTo>
                  <a:pt x="3040" y="2280"/>
                </a:lnTo>
                <a:lnTo>
                  <a:pt x="3010" y="2265"/>
                </a:lnTo>
                <a:lnTo>
                  <a:pt x="2980" y="2250"/>
                </a:lnTo>
                <a:lnTo>
                  <a:pt x="2949" y="2234"/>
                </a:lnTo>
                <a:lnTo>
                  <a:pt x="2921" y="2216"/>
                </a:lnTo>
                <a:lnTo>
                  <a:pt x="2893" y="2196"/>
                </a:lnTo>
                <a:lnTo>
                  <a:pt x="2866" y="2175"/>
                </a:lnTo>
                <a:lnTo>
                  <a:pt x="2840" y="2152"/>
                </a:lnTo>
                <a:lnTo>
                  <a:pt x="2815" y="2128"/>
                </a:lnTo>
                <a:lnTo>
                  <a:pt x="2791" y="2102"/>
                </a:lnTo>
                <a:lnTo>
                  <a:pt x="2769" y="2075"/>
                </a:lnTo>
                <a:lnTo>
                  <a:pt x="2747" y="2046"/>
                </a:lnTo>
                <a:lnTo>
                  <a:pt x="2727" y="2016"/>
                </a:lnTo>
                <a:lnTo>
                  <a:pt x="2708" y="1983"/>
                </a:lnTo>
                <a:lnTo>
                  <a:pt x="2691" y="1950"/>
                </a:lnTo>
                <a:lnTo>
                  <a:pt x="2675" y="1914"/>
                </a:lnTo>
                <a:lnTo>
                  <a:pt x="2661" y="1877"/>
                </a:lnTo>
                <a:lnTo>
                  <a:pt x="2648" y="1838"/>
                </a:lnTo>
                <a:lnTo>
                  <a:pt x="2638" y="1798"/>
                </a:lnTo>
                <a:lnTo>
                  <a:pt x="2629" y="1756"/>
                </a:lnTo>
                <a:lnTo>
                  <a:pt x="2622" y="1713"/>
                </a:lnTo>
                <a:lnTo>
                  <a:pt x="2617" y="1667"/>
                </a:lnTo>
                <a:lnTo>
                  <a:pt x="2614" y="1620"/>
                </a:lnTo>
                <a:lnTo>
                  <a:pt x="2613" y="1571"/>
                </a:lnTo>
                <a:lnTo>
                  <a:pt x="2613" y="1571"/>
                </a:lnTo>
                <a:lnTo>
                  <a:pt x="2612" y="1551"/>
                </a:lnTo>
                <a:lnTo>
                  <a:pt x="2610" y="1533"/>
                </a:lnTo>
                <a:lnTo>
                  <a:pt x="2604" y="1515"/>
                </a:lnTo>
                <a:lnTo>
                  <a:pt x="2598" y="1497"/>
                </a:lnTo>
                <a:lnTo>
                  <a:pt x="2590" y="1481"/>
                </a:lnTo>
                <a:lnTo>
                  <a:pt x="2580" y="1465"/>
                </a:lnTo>
                <a:lnTo>
                  <a:pt x="2569" y="1451"/>
                </a:lnTo>
                <a:lnTo>
                  <a:pt x="2558" y="1438"/>
                </a:lnTo>
                <a:lnTo>
                  <a:pt x="2545" y="1425"/>
                </a:lnTo>
                <a:lnTo>
                  <a:pt x="2529" y="1414"/>
                </a:lnTo>
                <a:lnTo>
                  <a:pt x="2514" y="1405"/>
                </a:lnTo>
                <a:lnTo>
                  <a:pt x="2497" y="1397"/>
                </a:lnTo>
                <a:lnTo>
                  <a:pt x="2480" y="1390"/>
                </a:lnTo>
                <a:lnTo>
                  <a:pt x="2462" y="1386"/>
                </a:lnTo>
                <a:lnTo>
                  <a:pt x="2443" y="1383"/>
                </a:lnTo>
                <a:lnTo>
                  <a:pt x="2423" y="1382"/>
                </a:lnTo>
                <a:lnTo>
                  <a:pt x="2423" y="1382"/>
                </a:lnTo>
                <a:lnTo>
                  <a:pt x="2405" y="1383"/>
                </a:lnTo>
                <a:lnTo>
                  <a:pt x="2386" y="1386"/>
                </a:lnTo>
                <a:lnTo>
                  <a:pt x="2367" y="1390"/>
                </a:lnTo>
                <a:lnTo>
                  <a:pt x="2350" y="1397"/>
                </a:lnTo>
                <a:lnTo>
                  <a:pt x="2334" y="1405"/>
                </a:lnTo>
                <a:lnTo>
                  <a:pt x="2318" y="1414"/>
                </a:lnTo>
                <a:lnTo>
                  <a:pt x="2303" y="1425"/>
                </a:lnTo>
                <a:lnTo>
                  <a:pt x="2290" y="1438"/>
                </a:lnTo>
                <a:lnTo>
                  <a:pt x="2278" y="1451"/>
                </a:lnTo>
                <a:lnTo>
                  <a:pt x="2268" y="1465"/>
                </a:lnTo>
                <a:lnTo>
                  <a:pt x="2258" y="1481"/>
                </a:lnTo>
                <a:lnTo>
                  <a:pt x="2249" y="1497"/>
                </a:lnTo>
                <a:lnTo>
                  <a:pt x="2244" y="1515"/>
                </a:lnTo>
                <a:lnTo>
                  <a:pt x="2238" y="1533"/>
                </a:lnTo>
                <a:lnTo>
                  <a:pt x="2236" y="1551"/>
                </a:lnTo>
                <a:lnTo>
                  <a:pt x="2235" y="1571"/>
                </a:lnTo>
                <a:lnTo>
                  <a:pt x="2235" y="1571"/>
                </a:lnTo>
                <a:lnTo>
                  <a:pt x="2235" y="1612"/>
                </a:lnTo>
                <a:lnTo>
                  <a:pt x="2237" y="1652"/>
                </a:lnTo>
                <a:lnTo>
                  <a:pt x="2239" y="1691"/>
                </a:lnTo>
                <a:lnTo>
                  <a:pt x="2243" y="1728"/>
                </a:lnTo>
                <a:lnTo>
                  <a:pt x="2248" y="1766"/>
                </a:lnTo>
                <a:lnTo>
                  <a:pt x="2254" y="1801"/>
                </a:lnTo>
                <a:lnTo>
                  <a:pt x="2260" y="1836"/>
                </a:lnTo>
                <a:lnTo>
                  <a:pt x="2267" y="1870"/>
                </a:lnTo>
                <a:lnTo>
                  <a:pt x="2274" y="1903"/>
                </a:lnTo>
                <a:lnTo>
                  <a:pt x="2283" y="1936"/>
                </a:lnTo>
                <a:lnTo>
                  <a:pt x="2293" y="1966"/>
                </a:lnTo>
                <a:lnTo>
                  <a:pt x="2302" y="1996"/>
                </a:lnTo>
                <a:lnTo>
                  <a:pt x="2313" y="2026"/>
                </a:lnTo>
                <a:lnTo>
                  <a:pt x="2325" y="2055"/>
                </a:lnTo>
                <a:lnTo>
                  <a:pt x="2337" y="2082"/>
                </a:lnTo>
                <a:lnTo>
                  <a:pt x="2349" y="2109"/>
                </a:lnTo>
                <a:lnTo>
                  <a:pt x="2362" y="2135"/>
                </a:lnTo>
                <a:lnTo>
                  <a:pt x="2375" y="2159"/>
                </a:lnTo>
                <a:lnTo>
                  <a:pt x="2388" y="2183"/>
                </a:lnTo>
                <a:lnTo>
                  <a:pt x="2402" y="2207"/>
                </a:lnTo>
                <a:lnTo>
                  <a:pt x="2416" y="2230"/>
                </a:lnTo>
                <a:lnTo>
                  <a:pt x="2431" y="2251"/>
                </a:lnTo>
                <a:lnTo>
                  <a:pt x="2460" y="2293"/>
                </a:lnTo>
                <a:lnTo>
                  <a:pt x="2490" y="2330"/>
                </a:lnTo>
                <a:lnTo>
                  <a:pt x="2521" y="2365"/>
                </a:lnTo>
                <a:lnTo>
                  <a:pt x="2551" y="2396"/>
                </a:lnTo>
                <a:lnTo>
                  <a:pt x="2580" y="2426"/>
                </a:lnTo>
                <a:lnTo>
                  <a:pt x="2580" y="2426"/>
                </a:lnTo>
                <a:lnTo>
                  <a:pt x="2619" y="2459"/>
                </a:lnTo>
                <a:lnTo>
                  <a:pt x="2659" y="2492"/>
                </a:lnTo>
                <a:lnTo>
                  <a:pt x="2700" y="2522"/>
                </a:lnTo>
                <a:lnTo>
                  <a:pt x="2744" y="2550"/>
                </a:lnTo>
                <a:lnTo>
                  <a:pt x="2787" y="2575"/>
                </a:lnTo>
                <a:lnTo>
                  <a:pt x="2832" y="2599"/>
                </a:lnTo>
                <a:lnTo>
                  <a:pt x="2879" y="2620"/>
                </a:lnTo>
                <a:lnTo>
                  <a:pt x="2926" y="2640"/>
                </a:lnTo>
                <a:lnTo>
                  <a:pt x="2975" y="2657"/>
                </a:lnTo>
                <a:lnTo>
                  <a:pt x="3025" y="2672"/>
                </a:lnTo>
                <a:lnTo>
                  <a:pt x="3075" y="2685"/>
                </a:lnTo>
                <a:lnTo>
                  <a:pt x="3127" y="2696"/>
                </a:lnTo>
                <a:lnTo>
                  <a:pt x="3179" y="2704"/>
                </a:lnTo>
                <a:lnTo>
                  <a:pt x="3231" y="2710"/>
                </a:lnTo>
                <a:lnTo>
                  <a:pt x="3284" y="2713"/>
                </a:lnTo>
                <a:lnTo>
                  <a:pt x="3338" y="2714"/>
                </a:lnTo>
                <a:lnTo>
                  <a:pt x="3338" y="2714"/>
                </a:lnTo>
                <a:lnTo>
                  <a:pt x="3382" y="2714"/>
                </a:lnTo>
                <a:lnTo>
                  <a:pt x="3425" y="2711"/>
                </a:lnTo>
                <a:lnTo>
                  <a:pt x="3470" y="2707"/>
                </a:lnTo>
                <a:lnTo>
                  <a:pt x="3513" y="2701"/>
                </a:lnTo>
                <a:lnTo>
                  <a:pt x="3556" y="2694"/>
                </a:lnTo>
                <a:lnTo>
                  <a:pt x="3599" y="2684"/>
                </a:lnTo>
                <a:lnTo>
                  <a:pt x="3643" y="2673"/>
                </a:lnTo>
                <a:lnTo>
                  <a:pt x="3685" y="2661"/>
                </a:lnTo>
                <a:lnTo>
                  <a:pt x="3727" y="2646"/>
                </a:lnTo>
                <a:lnTo>
                  <a:pt x="3768" y="2631"/>
                </a:lnTo>
                <a:lnTo>
                  <a:pt x="3809" y="2613"/>
                </a:lnTo>
                <a:lnTo>
                  <a:pt x="3849" y="2594"/>
                </a:lnTo>
                <a:lnTo>
                  <a:pt x="3888" y="2573"/>
                </a:lnTo>
                <a:lnTo>
                  <a:pt x="3927" y="2551"/>
                </a:lnTo>
                <a:lnTo>
                  <a:pt x="3964" y="2526"/>
                </a:lnTo>
                <a:lnTo>
                  <a:pt x="4001" y="2501"/>
                </a:lnTo>
                <a:lnTo>
                  <a:pt x="4001" y="7607"/>
                </a:lnTo>
                <a:lnTo>
                  <a:pt x="4001" y="7607"/>
                </a:lnTo>
                <a:lnTo>
                  <a:pt x="3979" y="7636"/>
                </a:lnTo>
                <a:lnTo>
                  <a:pt x="3958" y="7665"/>
                </a:lnTo>
                <a:lnTo>
                  <a:pt x="3934" y="7693"/>
                </a:lnTo>
                <a:lnTo>
                  <a:pt x="3910" y="7721"/>
                </a:lnTo>
                <a:lnTo>
                  <a:pt x="3885" y="7749"/>
                </a:lnTo>
                <a:lnTo>
                  <a:pt x="3859" y="7774"/>
                </a:lnTo>
                <a:lnTo>
                  <a:pt x="3833" y="7799"/>
                </a:lnTo>
                <a:lnTo>
                  <a:pt x="3806" y="7824"/>
                </a:lnTo>
                <a:lnTo>
                  <a:pt x="3778" y="7848"/>
                </a:lnTo>
                <a:lnTo>
                  <a:pt x="3750" y="7871"/>
                </a:lnTo>
                <a:lnTo>
                  <a:pt x="3721" y="7893"/>
                </a:lnTo>
                <a:lnTo>
                  <a:pt x="3691" y="7915"/>
                </a:lnTo>
                <a:lnTo>
                  <a:pt x="3660" y="7935"/>
                </a:lnTo>
                <a:lnTo>
                  <a:pt x="3630" y="7955"/>
                </a:lnTo>
                <a:lnTo>
                  <a:pt x="3597" y="7974"/>
                </a:lnTo>
                <a:lnTo>
                  <a:pt x="3565" y="7991"/>
                </a:lnTo>
                <a:lnTo>
                  <a:pt x="3532" y="8008"/>
                </a:lnTo>
                <a:lnTo>
                  <a:pt x="3499" y="8024"/>
                </a:lnTo>
                <a:lnTo>
                  <a:pt x="3465" y="8038"/>
                </a:lnTo>
                <a:lnTo>
                  <a:pt x="3431" y="8053"/>
                </a:lnTo>
                <a:lnTo>
                  <a:pt x="3396" y="8066"/>
                </a:lnTo>
                <a:lnTo>
                  <a:pt x="3360" y="8077"/>
                </a:lnTo>
                <a:lnTo>
                  <a:pt x="3325" y="8088"/>
                </a:lnTo>
                <a:lnTo>
                  <a:pt x="3288" y="8098"/>
                </a:lnTo>
                <a:lnTo>
                  <a:pt x="3251" y="8107"/>
                </a:lnTo>
                <a:lnTo>
                  <a:pt x="3213" y="8114"/>
                </a:lnTo>
                <a:lnTo>
                  <a:pt x="3176" y="8121"/>
                </a:lnTo>
                <a:lnTo>
                  <a:pt x="3139" y="8126"/>
                </a:lnTo>
                <a:lnTo>
                  <a:pt x="3100" y="8130"/>
                </a:lnTo>
                <a:lnTo>
                  <a:pt x="3061" y="8134"/>
                </a:lnTo>
                <a:lnTo>
                  <a:pt x="3022" y="8135"/>
                </a:lnTo>
                <a:lnTo>
                  <a:pt x="2983" y="8136"/>
                </a:lnTo>
                <a:lnTo>
                  <a:pt x="2983" y="8136"/>
                </a:lnTo>
                <a:close/>
                <a:moveTo>
                  <a:pt x="7638" y="5975"/>
                </a:moveTo>
                <a:lnTo>
                  <a:pt x="7638" y="5975"/>
                </a:lnTo>
                <a:lnTo>
                  <a:pt x="7638" y="6021"/>
                </a:lnTo>
                <a:lnTo>
                  <a:pt x="7636" y="6066"/>
                </a:lnTo>
                <a:lnTo>
                  <a:pt x="7632" y="6112"/>
                </a:lnTo>
                <a:lnTo>
                  <a:pt x="7626" y="6156"/>
                </a:lnTo>
                <a:lnTo>
                  <a:pt x="7619" y="6200"/>
                </a:lnTo>
                <a:lnTo>
                  <a:pt x="7611" y="6244"/>
                </a:lnTo>
                <a:lnTo>
                  <a:pt x="7601" y="6287"/>
                </a:lnTo>
                <a:lnTo>
                  <a:pt x="7589" y="6329"/>
                </a:lnTo>
                <a:lnTo>
                  <a:pt x="7578" y="6371"/>
                </a:lnTo>
                <a:lnTo>
                  <a:pt x="7563" y="6412"/>
                </a:lnTo>
                <a:lnTo>
                  <a:pt x="7548" y="6452"/>
                </a:lnTo>
                <a:lnTo>
                  <a:pt x="7531" y="6492"/>
                </a:lnTo>
                <a:lnTo>
                  <a:pt x="7514" y="6532"/>
                </a:lnTo>
                <a:lnTo>
                  <a:pt x="7494" y="6570"/>
                </a:lnTo>
                <a:lnTo>
                  <a:pt x="7474" y="6608"/>
                </a:lnTo>
                <a:lnTo>
                  <a:pt x="7452" y="6646"/>
                </a:lnTo>
                <a:lnTo>
                  <a:pt x="7429" y="6682"/>
                </a:lnTo>
                <a:lnTo>
                  <a:pt x="7405" y="6717"/>
                </a:lnTo>
                <a:lnTo>
                  <a:pt x="7381" y="6752"/>
                </a:lnTo>
                <a:lnTo>
                  <a:pt x="7355" y="6786"/>
                </a:lnTo>
                <a:lnTo>
                  <a:pt x="7327" y="6819"/>
                </a:lnTo>
                <a:lnTo>
                  <a:pt x="7298" y="6851"/>
                </a:lnTo>
                <a:lnTo>
                  <a:pt x="7269" y="6882"/>
                </a:lnTo>
                <a:lnTo>
                  <a:pt x="7239" y="6912"/>
                </a:lnTo>
                <a:lnTo>
                  <a:pt x="7208" y="6941"/>
                </a:lnTo>
                <a:lnTo>
                  <a:pt x="7176" y="6970"/>
                </a:lnTo>
                <a:lnTo>
                  <a:pt x="7143" y="6996"/>
                </a:lnTo>
                <a:lnTo>
                  <a:pt x="7109" y="7021"/>
                </a:lnTo>
                <a:lnTo>
                  <a:pt x="7073" y="7046"/>
                </a:lnTo>
                <a:lnTo>
                  <a:pt x="7038" y="7070"/>
                </a:lnTo>
                <a:lnTo>
                  <a:pt x="7002" y="7093"/>
                </a:lnTo>
                <a:lnTo>
                  <a:pt x="6964" y="7115"/>
                </a:lnTo>
                <a:lnTo>
                  <a:pt x="6964" y="7115"/>
                </a:lnTo>
                <a:lnTo>
                  <a:pt x="6949" y="7068"/>
                </a:lnTo>
                <a:lnTo>
                  <a:pt x="6931" y="7021"/>
                </a:lnTo>
                <a:lnTo>
                  <a:pt x="6911" y="6974"/>
                </a:lnTo>
                <a:lnTo>
                  <a:pt x="6889" y="6926"/>
                </a:lnTo>
                <a:lnTo>
                  <a:pt x="6866" y="6879"/>
                </a:lnTo>
                <a:lnTo>
                  <a:pt x="6841" y="6831"/>
                </a:lnTo>
                <a:lnTo>
                  <a:pt x="6813" y="6783"/>
                </a:lnTo>
                <a:lnTo>
                  <a:pt x="6783" y="6737"/>
                </a:lnTo>
                <a:lnTo>
                  <a:pt x="6783" y="6737"/>
                </a:lnTo>
                <a:lnTo>
                  <a:pt x="6749" y="6685"/>
                </a:lnTo>
                <a:lnTo>
                  <a:pt x="6712" y="6635"/>
                </a:lnTo>
                <a:lnTo>
                  <a:pt x="6675" y="6588"/>
                </a:lnTo>
                <a:lnTo>
                  <a:pt x="6636" y="6542"/>
                </a:lnTo>
                <a:lnTo>
                  <a:pt x="6596" y="6498"/>
                </a:lnTo>
                <a:lnTo>
                  <a:pt x="6555" y="6456"/>
                </a:lnTo>
                <a:lnTo>
                  <a:pt x="6513" y="6417"/>
                </a:lnTo>
                <a:lnTo>
                  <a:pt x="6470" y="6379"/>
                </a:lnTo>
                <a:lnTo>
                  <a:pt x="6426" y="6343"/>
                </a:lnTo>
                <a:lnTo>
                  <a:pt x="6381" y="6310"/>
                </a:lnTo>
                <a:lnTo>
                  <a:pt x="6334" y="6278"/>
                </a:lnTo>
                <a:lnTo>
                  <a:pt x="6288" y="6249"/>
                </a:lnTo>
                <a:lnTo>
                  <a:pt x="6239" y="6222"/>
                </a:lnTo>
                <a:lnTo>
                  <a:pt x="6192" y="6197"/>
                </a:lnTo>
                <a:lnTo>
                  <a:pt x="6142" y="6175"/>
                </a:lnTo>
                <a:lnTo>
                  <a:pt x="6092" y="6155"/>
                </a:lnTo>
                <a:lnTo>
                  <a:pt x="6092" y="6155"/>
                </a:lnTo>
                <a:lnTo>
                  <a:pt x="6128" y="6115"/>
                </a:lnTo>
                <a:lnTo>
                  <a:pt x="6161" y="6073"/>
                </a:lnTo>
                <a:lnTo>
                  <a:pt x="6194" y="6030"/>
                </a:lnTo>
                <a:lnTo>
                  <a:pt x="6223" y="5987"/>
                </a:lnTo>
                <a:lnTo>
                  <a:pt x="6251" y="5943"/>
                </a:lnTo>
                <a:lnTo>
                  <a:pt x="6276" y="5898"/>
                </a:lnTo>
                <a:lnTo>
                  <a:pt x="6300" y="5852"/>
                </a:lnTo>
                <a:lnTo>
                  <a:pt x="6321" y="5805"/>
                </a:lnTo>
                <a:lnTo>
                  <a:pt x="6340" y="5758"/>
                </a:lnTo>
                <a:lnTo>
                  <a:pt x="6357" y="5710"/>
                </a:lnTo>
                <a:lnTo>
                  <a:pt x="6371" y="5662"/>
                </a:lnTo>
                <a:lnTo>
                  <a:pt x="6384" y="5612"/>
                </a:lnTo>
                <a:lnTo>
                  <a:pt x="6394" y="5562"/>
                </a:lnTo>
                <a:lnTo>
                  <a:pt x="6402" y="5511"/>
                </a:lnTo>
                <a:lnTo>
                  <a:pt x="6407" y="5460"/>
                </a:lnTo>
                <a:lnTo>
                  <a:pt x="6411" y="5408"/>
                </a:lnTo>
                <a:lnTo>
                  <a:pt x="6411" y="5408"/>
                </a:lnTo>
                <a:lnTo>
                  <a:pt x="6410" y="5390"/>
                </a:lnTo>
                <a:lnTo>
                  <a:pt x="6408" y="5371"/>
                </a:lnTo>
                <a:lnTo>
                  <a:pt x="6405" y="5352"/>
                </a:lnTo>
                <a:lnTo>
                  <a:pt x="6399" y="5335"/>
                </a:lnTo>
                <a:lnTo>
                  <a:pt x="6392" y="5318"/>
                </a:lnTo>
                <a:lnTo>
                  <a:pt x="6383" y="5302"/>
                </a:lnTo>
                <a:lnTo>
                  <a:pt x="6372" y="5287"/>
                </a:lnTo>
                <a:lnTo>
                  <a:pt x="6361" y="5273"/>
                </a:lnTo>
                <a:lnTo>
                  <a:pt x="6348" y="5260"/>
                </a:lnTo>
                <a:lnTo>
                  <a:pt x="6334" y="5248"/>
                </a:lnTo>
                <a:lnTo>
                  <a:pt x="6319" y="5239"/>
                </a:lnTo>
                <a:lnTo>
                  <a:pt x="6303" y="5230"/>
                </a:lnTo>
                <a:lnTo>
                  <a:pt x="6286" y="5223"/>
                </a:lnTo>
                <a:lnTo>
                  <a:pt x="6267" y="5218"/>
                </a:lnTo>
                <a:lnTo>
                  <a:pt x="6249" y="5214"/>
                </a:lnTo>
                <a:lnTo>
                  <a:pt x="6229" y="5213"/>
                </a:lnTo>
                <a:lnTo>
                  <a:pt x="6229" y="5213"/>
                </a:lnTo>
                <a:lnTo>
                  <a:pt x="6210" y="5213"/>
                </a:lnTo>
                <a:lnTo>
                  <a:pt x="6192" y="5214"/>
                </a:lnTo>
                <a:lnTo>
                  <a:pt x="6173" y="5218"/>
                </a:lnTo>
                <a:lnTo>
                  <a:pt x="6156" y="5223"/>
                </a:lnTo>
                <a:lnTo>
                  <a:pt x="6139" y="5231"/>
                </a:lnTo>
                <a:lnTo>
                  <a:pt x="6123" y="5240"/>
                </a:lnTo>
                <a:lnTo>
                  <a:pt x="6108" y="5249"/>
                </a:lnTo>
                <a:lnTo>
                  <a:pt x="6094" y="5261"/>
                </a:lnTo>
                <a:lnTo>
                  <a:pt x="6081" y="5274"/>
                </a:lnTo>
                <a:lnTo>
                  <a:pt x="6069" y="5288"/>
                </a:lnTo>
                <a:lnTo>
                  <a:pt x="6060" y="5303"/>
                </a:lnTo>
                <a:lnTo>
                  <a:pt x="6051" y="5320"/>
                </a:lnTo>
                <a:lnTo>
                  <a:pt x="6043" y="5337"/>
                </a:lnTo>
                <a:lnTo>
                  <a:pt x="6038" y="5355"/>
                </a:lnTo>
                <a:lnTo>
                  <a:pt x="6035" y="5374"/>
                </a:lnTo>
                <a:lnTo>
                  <a:pt x="6033" y="5393"/>
                </a:lnTo>
                <a:lnTo>
                  <a:pt x="6033" y="5393"/>
                </a:lnTo>
                <a:lnTo>
                  <a:pt x="6030" y="5434"/>
                </a:lnTo>
                <a:lnTo>
                  <a:pt x="6025" y="5474"/>
                </a:lnTo>
                <a:lnTo>
                  <a:pt x="6019" y="5514"/>
                </a:lnTo>
                <a:lnTo>
                  <a:pt x="6009" y="5553"/>
                </a:lnTo>
                <a:lnTo>
                  <a:pt x="5998" y="5592"/>
                </a:lnTo>
                <a:lnTo>
                  <a:pt x="5985" y="5630"/>
                </a:lnTo>
                <a:lnTo>
                  <a:pt x="5969" y="5668"/>
                </a:lnTo>
                <a:lnTo>
                  <a:pt x="5951" y="5705"/>
                </a:lnTo>
                <a:lnTo>
                  <a:pt x="5932" y="5741"/>
                </a:lnTo>
                <a:lnTo>
                  <a:pt x="5910" y="5776"/>
                </a:lnTo>
                <a:lnTo>
                  <a:pt x="5887" y="5811"/>
                </a:lnTo>
                <a:lnTo>
                  <a:pt x="5861" y="5845"/>
                </a:lnTo>
                <a:lnTo>
                  <a:pt x="5832" y="5879"/>
                </a:lnTo>
                <a:lnTo>
                  <a:pt x="5803" y="5911"/>
                </a:lnTo>
                <a:lnTo>
                  <a:pt x="5771" y="5943"/>
                </a:lnTo>
                <a:lnTo>
                  <a:pt x="5736" y="5974"/>
                </a:lnTo>
                <a:lnTo>
                  <a:pt x="5736" y="5974"/>
                </a:lnTo>
                <a:lnTo>
                  <a:pt x="5712" y="5995"/>
                </a:lnTo>
                <a:lnTo>
                  <a:pt x="5689" y="6015"/>
                </a:lnTo>
                <a:lnTo>
                  <a:pt x="5664" y="6035"/>
                </a:lnTo>
                <a:lnTo>
                  <a:pt x="5638" y="6053"/>
                </a:lnTo>
                <a:lnTo>
                  <a:pt x="5612" y="6071"/>
                </a:lnTo>
                <a:lnTo>
                  <a:pt x="5586" y="6088"/>
                </a:lnTo>
                <a:lnTo>
                  <a:pt x="5560" y="6104"/>
                </a:lnTo>
                <a:lnTo>
                  <a:pt x="5534" y="6119"/>
                </a:lnTo>
                <a:lnTo>
                  <a:pt x="5507" y="6134"/>
                </a:lnTo>
                <a:lnTo>
                  <a:pt x="5481" y="6148"/>
                </a:lnTo>
                <a:lnTo>
                  <a:pt x="5428" y="6175"/>
                </a:lnTo>
                <a:lnTo>
                  <a:pt x="5375" y="6199"/>
                </a:lnTo>
                <a:lnTo>
                  <a:pt x="5323" y="6220"/>
                </a:lnTo>
                <a:lnTo>
                  <a:pt x="5272" y="6237"/>
                </a:lnTo>
                <a:lnTo>
                  <a:pt x="5223" y="6253"/>
                </a:lnTo>
                <a:lnTo>
                  <a:pt x="5177" y="6265"/>
                </a:lnTo>
                <a:lnTo>
                  <a:pt x="5131" y="6275"/>
                </a:lnTo>
                <a:lnTo>
                  <a:pt x="5090" y="6283"/>
                </a:lnTo>
                <a:lnTo>
                  <a:pt x="5051" y="6287"/>
                </a:lnTo>
                <a:lnTo>
                  <a:pt x="5017" y="6288"/>
                </a:lnTo>
                <a:lnTo>
                  <a:pt x="5002" y="6288"/>
                </a:lnTo>
                <a:lnTo>
                  <a:pt x="4986" y="6287"/>
                </a:lnTo>
                <a:lnTo>
                  <a:pt x="4986" y="6287"/>
                </a:lnTo>
                <a:lnTo>
                  <a:pt x="4967" y="6287"/>
                </a:lnTo>
                <a:lnTo>
                  <a:pt x="4949" y="6288"/>
                </a:lnTo>
                <a:lnTo>
                  <a:pt x="4930" y="6291"/>
                </a:lnTo>
                <a:lnTo>
                  <a:pt x="4912" y="6296"/>
                </a:lnTo>
                <a:lnTo>
                  <a:pt x="4894" y="6302"/>
                </a:lnTo>
                <a:lnTo>
                  <a:pt x="4878" y="6311"/>
                </a:lnTo>
                <a:lnTo>
                  <a:pt x="4863" y="6320"/>
                </a:lnTo>
                <a:lnTo>
                  <a:pt x="4849" y="6331"/>
                </a:lnTo>
                <a:lnTo>
                  <a:pt x="4835" y="6343"/>
                </a:lnTo>
                <a:lnTo>
                  <a:pt x="4823" y="6357"/>
                </a:lnTo>
                <a:lnTo>
                  <a:pt x="4812" y="6371"/>
                </a:lnTo>
                <a:lnTo>
                  <a:pt x="4804" y="6387"/>
                </a:lnTo>
                <a:lnTo>
                  <a:pt x="4795" y="6404"/>
                </a:lnTo>
                <a:lnTo>
                  <a:pt x="4789" y="6422"/>
                </a:lnTo>
                <a:lnTo>
                  <a:pt x="4785" y="6441"/>
                </a:lnTo>
                <a:lnTo>
                  <a:pt x="4782" y="6460"/>
                </a:lnTo>
                <a:lnTo>
                  <a:pt x="4782" y="6460"/>
                </a:lnTo>
                <a:lnTo>
                  <a:pt x="4782" y="6478"/>
                </a:lnTo>
                <a:lnTo>
                  <a:pt x="4783" y="6498"/>
                </a:lnTo>
                <a:lnTo>
                  <a:pt x="4786" y="6516"/>
                </a:lnTo>
                <a:lnTo>
                  <a:pt x="4791" y="6534"/>
                </a:lnTo>
                <a:lnTo>
                  <a:pt x="4797" y="6551"/>
                </a:lnTo>
                <a:lnTo>
                  <a:pt x="4806" y="6567"/>
                </a:lnTo>
                <a:lnTo>
                  <a:pt x="4815" y="6583"/>
                </a:lnTo>
                <a:lnTo>
                  <a:pt x="4826" y="6597"/>
                </a:lnTo>
                <a:lnTo>
                  <a:pt x="4838" y="6610"/>
                </a:lnTo>
                <a:lnTo>
                  <a:pt x="4852" y="6622"/>
                </a:lnTo>
                <a:lnTo>
                  <a:pt x="4866" y="6633"/>
                </a:lnTo>
                <a:lnTo>
                  <a:pt x="4883" y="6643"/>
                </a:lnTo>
                <a:lnTo>
                  <a:pt x="4900" y="6650"/>
                </a:lnTo>
                <a:lnTo>
                  <a:pt x="4917" y="6657"/>
                </a:lnTo>
                <a:lnTo>
                  <a:pt x="4936" y="6661"/>
                </a:lnTo>
                <a:lnTo>
                  <a:pt x="4955" y="6663"/>
                </a:lnTo>
                <a:lnTo>
                  <a:pt x="4955" y="6663"/>
                </a:lnTo>
                <a:lnTo>
                  <a:pt x="4981" y="6666"/>
                </a:lnTo>
                <a:lnTo>
                  <a:pt x="5009" y="6666"/>
                </a:lnTo>
                <a:lnTo>
                  <a:pt x="5009" y="6666"/>
                </a:lnTo>
                <a:lnTo>
                  <a:pt x="5045" y="6664"/>
                </a:lnTo>
                <a:lnTo>
                  <a:pt x="5082" y="6662"/>
                </a:lnTo>
                <a:lnTo>
                  <a:pt x="5121" y="6658"/>
                </a:lnTo>
                <a:lnTo>
                  <a:pt x="5161" y="6653"/>
                </a:lnTo>
                <a:lnTo>
                  <a:pt x="5202" y="6645"/>
                </a:lnTo>
                <a:lnTo>
                  <a:pt x="5245" y="6636"/>
                </a:lnTo>
                <a:lnTo>
                  <a:pt x="5288" y="6626"/>
                </a:lnTo>
                <a:lnTo>
                  <a:pt x="5333" y="6614"/>
                </a:lnTo>
                <a:lnTo>
                  <a:pt x="5378" y="6600"/>
                </a:lnTo>
                <a:lnTo>
                  <a:pt x="5423" y="6584"/>
                </a:lnTo>
                <a:lnTo>
                  <a:pt x="5470" y="6567"/>
                </a:lnTo>
                <a:lnTo>
                  <a:pt x="5517" y="6549"/>
                </a:lnTo>
                <a:lnTo>
                  <a:pt x="5563" y="6528"/>
                </a:lnTo>
                <a:lnTo>
                  <a:pt x="5610" y="6507"/>
                </a:lnTo>
                <a:lnTo>
                  <a:pt x="5656" y="6483"/>
                </a:lnTo>
                <a:lnTo>
                  <a:pt x="5703" y="6458"/>
                </a:lnTo>
                <a:lnTo>
                  <a:pt x="5703" y="6458"/>
                </a:lnTo>
                <a:lnTo>
                  <a:pt x="5724" y="6460"/>
                </a:lnTo>
                <a:lnTo>
                  <a:pt x="5724" y="6460"/>
                </a:lnTo>
                <a:lnTo>
                  <a:pt x="5761" y="6462"/>
                </a:lnTo>
                <a:lnTo>
                  <a:pt x="5798" y="6466"/>
                </a:lnTo>
                <a:lnTo>
                  <a:pt x="5832" y="6473"/>
                </a:lnTo>
                <a:lnTo>
                  <a:pt x="5867" y="6479"/>
                </a:lnTo>
                <a:lnTo>
                  <a:pt x="5901" y="6489"/>
                </a:lnTo>
                <a:lnTo>
                  <a:pt x="5933" y="6499"/>
                </a:lnTo>
                <a:lnTo>
                  <a:pt x="5964" y="6511"/>
                </a:lnTo>
                <a:lnTo>
                  <a:pt x="5996" y="6523"/>
                </a:lnTo>
                <a:lnTo>
                  <a:pt x="6026" y="6537"/>
                </a:lnTo>
                <a:lnTo>
                  <a:pt x="6055" y="6551"/>
                </a:lnTo>
                <a:lnTo>
                  <a:pt x="6083" y="6567"/>
                </a:lnTo>
                <a:lnTo>
                  <a:pt x="6110" y="6583"/>
                </a:lnTo>
                <a:lnTo>
                  <a:pt x="6136" y="6601"/>
                </a:lnTo>
                <a:lnTo>
                  <a:pt x="6162" y="6618"/>
                </a:lnTo>
                <a:lnTo>
                  <a:pt x="6187" y="6636"/>
                </a:lnTo>
                <a:lnTo>
                  <a:pt x="6211" y="6655"/>
                </a:lnTo>
                <a:lnTo>
                  <a:pt x="6234" y="6674"/>
                </a:lnTo>
                <a:lnTo>
                  <a:pt x="6255" y="6694"/>
                </a:lnTo>
                <a:lnTo>
                  <a:pt x="6277" y="6713"/>
                </a:lnTo>
                <a:lnTo>
                  <a:pt x="6297" y="6733"/>
                </a:lnTo>
                <a:lnTo>
                  <a:pt x="6334" y="6772"/>
                </a:lnTo>
                <a:lnTo>
                  <a:pt x="6368" y="6811"/>
                </a:lnTo>
                <a:lnTo>
                  <a:pt x="6398" y="6847"/>
                </a:lnTo>
                <a:lnTo>
                  <a:pt x="6424" y="6882"/>
                </a:lnTo>
                <a:lnTo>
                  <a:pt x="6447" y="6914"/>
                </a:lnTo>
                <a:lnTo>
                  <a:pt x="6466" y="6943"/>
                </a:lnTo>
                <a:lnTo>
                  <a:pt x="6466" y="6943"/>
                </a:lnTo>
                <a:lnTo>
                  <a:pt x="6485" y="6972"/>
                </a:lnTo>
                <a:lnTo>
                  <a:pt x="6502" y="7002"/>
                </a:lnTo>
                <a:lnTo>
                  <a:pt x="6518" y="7031"/>
                </a:lnTo>
                <a:lnTo>
                  <a:pt x="6533" y="7059"/>
                </a:lnTo>
                <a:lnTo>
                  <a:pt x="6548" y="7087"/>
                </a:lnTo>
                <a:lnTo>
                  <a:pt x="6561" y="7116"/>
                </a:lnTo>
                <a:lnTo>
                  <a:pt x="6572" y="7142"/>
                </a:lnTo>
                <a:lnTo>
                  <a:pt x="6583" y="7169"/>
                </a:lnTo>
                <a:lnTo>
                  <a:pt x="6592" y="7194"/>
                </a:lnTo>
                <a:lnTo>
                  <a:pt x="6601" y="7218"/>
                </a:lnTo>
                <a:lnTo>
                  <a:pt x="6608" y="7242"/>
                </a:lnTo>
                <a:lnTo>
                  <a:pt x="6615" y="7265"/>
                </a:lnTo>
                <a:lnTo>
                  <a:pt x="6625" y="7307"/>
                </a:lnTo>
                <a:lnTo>
                  <a:pt x="6632" y="7346"/>
                </a:lnTo>
                <a:lnTo>
                  <a:pt x="6632" y="7346"/>
                </a:lnTo>
                <a:lnTo>
                  <a:pt x="6615" y="7389"/>
                </a:lnTo>
                <a:lnTo>
                  <a:pt x="6595" y="7430"/>
                </a:lnTo>
                <a:lnTo>
                  <a:pt x="6575" y="7473"/>
                </a:lnTo>
                <a:lnTo>
                  <a:pt x="6552" y="7513"/>
                </a:lnTo>
                <a:lnTo>
                  <a:pt x="6528" y="7552"/>
                </a:lnTo>
                <a:lnTo>
                  <a:pt x="6503" y="7591"/>
                </a:lnTo>
                <a:lnTo>
                  <a:pt x="6476" y="7628"/>
                </a:lnTo>
                <a:lnTo>
                  <a:pt x="6448" y="7664"/>
                </a:lnTo>
                <a:lnTo>
                  <a:pt x="6420" y="7700"/>
                </a:lnTo>
                <a:lnTo>
                  <a:pt x="6389" y="7734"/>
                </a:lnTo>
                <a:lnTo>
                  <a:pt x="6357" y="7767"/>
                </a:lnTo>
                <a:lnTo>
                  <a:pt x="6325" y="7799"/>
                </a:lnTo>
                <a:lnTo>
                  <a:pt x="6290" y="7830"/>
                </a:lnTo>
                <a:lnTo>
                  <a:pt x="6255" y="7859"/>
                </a:lnTo>
                <a:lnTo>
                  <a:pt x="6220" y="7887"/>
                </a:lnTo>
                <a:lnTo>
                  <a:pt x="6182" y="7914"/>
                </a:lnTo>
                <a:lnTo>
                  <a:pt x="6144" y="7940"/>
                </a:lnTo>
                <a:lnTo>
                  <a:pt x="6105" y="7964"/>
                </a:lnTo>
                <a:lnTo>
                  <a:pt x="6065" y="7987"/>
                </a:lnTo>
                <a:lnTo>
                  <a:pt x="6024" y="8008"/>
                </a:lnTo>
                <a:lnTo>
                  <a:pt x="5982" y="8028"/>
                </a:lnTo>
                <a:lnTo>
                  <a:pt x="5940" y="8046"/>
                </a:lnTo>
                <a:lnTo>
                  <a:pt x="5895" y="8062"/>
                </a:lnTo>
                <a:lnTo>
                  <a:pt x="5851" y="8077"/>
                </a:lnTo>
                <a:lnTo>
                  <a:pt x="5806" y="8090"/>
                </a:lnTo>
                <a:lnTo>
                  <a:pt x="5760" y="8102"/>
                </a:lnTo>
                <a:lnTo>
                  <a:pt x="5715" y="8112"/>
                </a:lnTo>
                <a:lnTo>
                  <a:pt x="5667" y="8121"/>
                </a:lnTo>
                <a:lnTo>
                  <a:pt x="5619" y="8127"/>
                </a:lnTo>
                <a:lnTo>
                  <a:pt x="5572" y="8132"/>
                </a:lnTo>
                <a:lnTo>
                  <a:pt x="5523" y="8135"/>
                </a:lnTo>
                <a:lnTo>
                  <a:pt x="5473" y="8136"/>
                </a:lnTo>
                <a:lnTo>
                  <a:pt x="5473" y="8136"/>
                </a:lnTo>
                <a:lnTo>
                  <a:pt x="5434" y="8135"/>
                </a:lnTo>
                <a:lnTo>
                  <a:pt x="5395" y="8134"/>
                </a:lnTo>
                <a:lnTo>
                  <a:pt x="5356" y="8130"/>
                </a:lnTo>
                <a:lnTo>
                  <a:pt x="5317" y="8126"/>
                </a:lnTo>
                <a:lnTo>
                  <a:pt x="5280" y="8121"/>
                </a:lnTo>
                <a:lnTo>
                  <a:pt x="5243" y="8114"/>
                </a:lnTo>
                <a:lnTo>
                  <a:pt x="5205" y="8107"/>
                </a:lnTo>
                <a:lnTo>
                  <a:pt x="5168" y="8098"/>
                </a:lnTo>
                <a:lnTo>
                  <a:pt x="5131" y="8088"/>
                </a:lnTo>
                <a:lnTo>
                  <a:pt x="5096" y="8077"/>
                </a:lnTo>
                <a:lnTo>
                  <a:pt x="5060" y="8066"/>
                </a:lnTo>
                <a:lnTo>
                  <a:pt x="5025" y="8053"/>
                </a:lnTo>
                <a:lnTo>
                  <a:pt x="4991" y="8038"/>
                </a:lnTo>
                <a:lnTo>
                  <a:pt x="4957" y="8024"/>
                </a:lnTo>
                <a:lnTo>
                  <a:pt x="4924" y="8008"/>
                </a:lnTo>
                <a:lnTo>
                  <a:pt x="4891" y="7991"/>
                </a:lnTo>
                <a:lnTo>
                  <a:pt x="4859" y="7974"/>
                </a:lnTo>
                <a:lnTo>
                  <a:pt x="4826" y="7955"/>
                </a:lnTo>
                <a:lnTo>
                  <a:pt x="4796" y="7935"/>
                </a:lnTo>
                <a:lnTo>
                  <a:pt x="4765" y="7915"/>
                </a:lnTo>
                <a:lnTo>
                  <a:pt x="4735" y="7893"/>
                </a:lnTo>
                <a:lnTo>
                  <a:pt x="4706" y="7871"/>
                </a:lnTo>
                <a:lnTo>
                  <a:pt x="4678" y="7848"/>
                </a:lnTo>
                <a:lnTo>
                  <a:pt x="4650" y="7824"/>
                </a:lnTo>
                <a:lnTo>
                  <a:pt x="4623" y="7799"/>
                </a:lnTo>
                <a:lnTo>
                  <a:pt x="4597" y="7774"/>
                </a:lnTo>
                <a:lnTo>
                  <a:pt x="4571" y="7749"/>
                </a:lnTo>
                <a:lnTo>
                  <a:pt x="4546" y="7721"/>
                </a:lnTo>
                <a:lnTo>
                  <a:pt x="4522" y="7693"/>
                </a:lnTo>
                <a:lnTo>
                  <a:pt x="4498" y="7665"/>
                </a:lnTo>
                <a:lnTo>
                  <a:pt x="4477" y="7636"/>
                </a:lnTo>
                <a:lnTo>
                  <a:pt x="4455" y="7607"/>
                </a:lnTo>
                <a:lnTo>
                  <a:pt x="4455" y="5154"/>
                </a:lnTo>
                <a:lnTo>
                  <a:pt x="4455" y="5154"/>
                </a:lnTo>
                <a:lnTo>
                  <a:pt x="4494" y="5175"/>
                </a:lnTo>
                <a:lnTo>
                  <a:pt x="4533" y="5194"/>
                </a:lnTo>
                <a:lnTo>
                  <a:pt x="4572" y="5211"/>
                </a:lnTo>
                <a:lnTo>
                  <a:pt x="4612" y="5227"/>
                </a:lnTo>
                <a:lnTo>
                  <a:pt x="4652" y="5241"/>
                </a:lnTo>
                <a:lnTo>
                  <a:pt x="4693" y="5252"/>
                </a:lnTo>
                <a:lnTo>
                  <a:pt x="4733" y="5261"/>
                </a:lnTo>
                <a:lnTo>
                  <a:pt x="4773" y="5268"/>
                </a:lnTo>
                <a:lnTo>
                  <a:pt x="4773" y="5268"/>
                </a:lnTo>
                <a:lnTo>
                  <a:pt x="4767" y="5294"/>
                </a:lnTo>
                <a:lnTo>
                  <a:pt x="4761" y="5321"/>
                </a:lnTo>
                <a:lnTo>
                  <a:pt x="4756" y="5347"/>
                </a:lnTo>
                <a:lnTo>
                  <a:pt x="4753" y="5374"/>
                </a:lnTo>
                <a:lnTo>
                  <a:pt x="4749" y="5400"/>
                </a:lnTo>
                <a:lnTo>
                  <a:pt x="4747" y="5427"/>
                </a:lnTo>
                <a:lnTo>
                  <a:pt x="4746" y="5453"/>
                </a:lnTo>
                <a:lnTo>
                  <a:pt x="4746" y="5480"/>
                </a:lnTo>
                <a:lnTo>
                  <a:pt x="4747" y="5506"/>
                </a:lnTo>
                <a:lnTo>
                  <a:pt x="4749" y="5533"/>
                </a:lnTo>
                <a:lnTo>
                  <a:pt x="4752" y="5559"/>
                </a:lnTo>
                <a:lnTo>
                  <a:pt x="4756" y="5585"/>
                </a:lnTo>
                <a:lnTo>
                  <a:pt x="4760" y="5612"/>
                </a:lnTo>
                <a:lnTo>
                  <a:pt x="4766" y="5638"/>
                </a:lnTo>
                <a:lnTo>
                  <a:pt x="4773" y="5664"/>
                </a:lnTo>
                <a:lnTo>
                  <a:pt x="4781" y="5690"/>
                </a:lnTo>
                <a:lnTo>
                  <a:pt x="4781" y="5690"/>
                </a:lnTo>
                <a:lnTo>
                  <a:pt x="4786" y="5704"/>
                </a:lnTo>
                <a:lnTo>
                  <a:pt x="4793" y="5718"/>
                </a:lnTo>
                <a:lnTo>
                  <a:pt x="4799" y="5732"/>
                </a:lnTo>
                <a:lnTo>
                  <a:pt x="4808" y="5744"/>
                </a:lnTo>
                <a:lnTo>
                  <a:pt x="4818" y="5756"/>
                </a:lnTo>
                <a:lnTo>
                  <a:pt x="4827" y="5766"/>
                </a:lnTo>
                <a:lnTo>
                  <a:pt x="4838" y="5776"/>
                </a:lnTo>
                <a:lnTo>
                  <a:pt x="4850" y="5786"/>
                </a:lnTo>
                <a:lnTo>
                  <a:pt x="4862" y="5794"/>
                </a:lnTo>
                <a:lnTo>
                  <a:pt x="4875" y="5801"/>
                </a:lnTo>
                <a:lnTo>
                  <a:pt x="4888" y="5807"/>
                </a:lnTo>
                <a:lnTo>
                  <a:pt x="4902" y="5812"/>
                </a:lnTo>
                <a:lnTo>
                  <a:pt x="4916" y="5816"/>
                </a:lnTo>
                <a:lnTo>
                  <a:pt x="4931" y="5820"/>
                </a:lnTo>
                <a:lnTo>
                  <a:pt x="4945" y="5821"/>
                </a:lnTo>
                <a:lnTo>
                  <a:pt x="4960" y="5822"/>
                </a:lnTo>
                <a:lnTo>
                  <a:pt x="4960" y="5822"/>
                </a:lnTo>
                <a:lnTo>
                  <a:pt x="4974" y="5821"/>
                </a:lnTo>
                <a:lnTo>
                  <a:pt x="4990" y="5820"/>
                </a:lnTo>
                <a:lnTo>
                  <a:pt x="5004" y="5816"/>
                </a:lnTo>
                <a:lnTo>
                  <a:pt x="5018" y="5813"/>
                </a:lnTo>
                <a:lnTo>
                  <a:pt x="5018" y="5813"/>
                </a:lnTo>
                <a:lnTo>
                  <a:pt x="5036" y="5805"/>
                </a:lnTo>
                <a:lnTo>
                  <a:pt x="5052" y="5798"/>
                </a:lnTo>
                <a:lnTo>
                  <a:pt x="5069" y="5788"/>
                </a:lnTo>
                <a:lnTo>
                  <a:pt x="5084" y="5776"/>
                </a:lnTo>
                <a:lnTo>
                  <a:pt x="5097" y="5763"/>
                </a:lnTo>
                <a:lnTo>
                  <a:pt x="5109" y="5750"/>
                </a:lnTo>
                <a:lnTo>
                  <a:pt x="5119" y="5735"/>
                </a:lnTo>
                <a:lnTo>
                  <a:pt x="5128" y="5720"/>
                </a:lnTo>
                <a:lnTo>
                  <a:pt x="5136" y="5703"/>
                </a:lnTo>
                <a:lnTo>
                  <a:pt x="5142" y="5686"/>
                </a:lnTo>
                <a:lnTo>
                  <a:pt x="5147" y="5668"/>
                </a:lnTo>
                <a:lnTo>
                  <a:pt x="5149" y="5650"/>
                </a:lnTo>
                <a:lnTo>
                  <a:pt x="5150" y="5631"/>
                </a:lnTo>
                <a:lnTo>
                  <a:pt x="5149" y="5613"/>
                </a:lnTo>
                <a:lnTo>
                  <a:pt x="5145" y="5594"/>
                </a:lnTo>
                <a:lnTo>
                  <a:pt x="5141" y="5575"/>
                </a:lnTo>
                <a:lnTo>
                  <a:pt x="5141" y="5575"/>
                </a:lnTo>
                <a:lnTo>
                  <a:pt x="5136" y="5557"/>
                </a:lnTo>
                <a:lnTo>
                  <a:pt x="5131" y="5537"/>
                </a:lnTo>
                <a:lnTo>
                  <a:pt x="5128" y="5519"/>
                </a:lnTo>
                <a:lnTo>
                  <a:pt x="5126" y="5499"/>
                </a:lnTo>
                <a:lnTo>
                  <a:pt x="5125" y="5480"/>
                </a:lnTo>
                <a:lnTo>
                  <a:pt x="5125" y="5460"/>
                </a:lnTo>
                <a:lnTo>
                  <a:pt x="5125" y="5441"/>
                </a:lnTo>
                <a:lnTo>
                  <a:pt x="5127" y="5421"/>
                </a:lnTo>
                <a:lnTo>
                  <a:pt x="5130" y="5402"/>
                </a:lnTo>
                <a:lnTo>
                  <a:pt x="5135" y="5382"/>
                </a:lnTo>
                <a:lnTo>
                  <a:pt x="5140" y="5363"/>
                </a:lnTo>
                <a:lnTo>
                  <a:pt x="5147" y="5343"/>
                </a:lnTo>
                <a:lnTo>
                  <a:pt x="5153" y="5323"/>
                </a:lnTo>
                <a:lnTo>
                  <a:pt x="5162" y="5303"/>
                </a:lnTo>
                <a:lnTo>
                  <a:pt x="5171" y="5283"/>
                </a:lnTo>
                <a:lnTo>
                  <a:pt x="5181" y="5263"/>
                </a:lnTo>
                <a:lnTo>
                  <a:pt x="5181" y="5263"/>
                </a:lnTo>
                <a:lnTo>
                  <a:pt x="5198" y="5234"/>
                </a:lnTo>
                <a:lnTo>
                  <a:pt x="5216" y="5207"/>
                </a:lnTo>
                <a:lnTo>
                  <a:pt x="5235" y="5181"/>
                </a:lnTo>
                <a:lnTo>
                  <a:pt x="5255" y="5156"/>
                </a:lnTo>
                <a:lnTo>
                  <a:pt x="5275" y="5133"/>
                </a:lnTo>
                <a:lnTo>
                  <a:pt x="5297" y="5111"/>
                </a:lnTo>
                <a:lnTo>
                  <a:pt x="5317" y="5090"/>
                </a:lnTo>
                <a:lnTo>
                  <a:pt x="5339" y="5072"/>
                </a:lnTo>
                <a:lnTo>
                  <a:pt x="5360" y="5055"/>
                </a:lnTo>
                <a:lnTo>
                  <a:pt x="5380" y="5038"/>
                </a:lnTo>
                <a:lnTo>
                  <a:pt x="5400" y="5025"/>
                </a:lnTo>
                <a:lnTo>
                  <a:pt x="5418" y="5012"/>
                </a:lnTo>
                <a:lnTo>
                  <a:pt x="5436" y="5003"/>
                </a:lnTo>
                <a:lnTo>
                  <a:pt x="5452" y="4994"/>
                </a:lnTo>
                <a:lnTo>
                  <a:pt x="5467" y="4989"/>
                </a:lnTo>
                <a:lnTo>
                  <a:pt x="5479" y="4984"/>
                </a:lnTo>
                <a:lnTo>
                  <a:pt x="5479" y="4984"/>
                </a:lnTo>
                <a:lnTo>
                  <a:pt x="5497" y="4978"/>
                </a:lnTo>
                <a:lnTo>
                  <a:pt x="5514" y="4970"/>
                </a:lnTo>
                <a:lnTo>
                  <a:pt x="5531" y="4962"/>
                </a:lnTo>
                <a:lnTo>
                  <a:pt x="5546" y="4951"/>
                </a:lnTo>
                <a:lnTo>
                  <a:pt x="5560" y="4939"/>
                </a:lnTo>
                <a:lnTo>
                  <a:pt x="5573" y="4926"/>
                </a:lnTo>
                <a:lnTo>
                  <a:pt x="5584" y="4911"/>
                </a:lnTo>
                <a:lnTo>
                  <a:pt x="5593" y="4896"/>
                </a:lnTo>
                <a:lnTo>
                  <a:pt x="5602" y="4879"/>
                </a:lnTo>
                <a:lnTo>
                  <a:pt x="5608" y="4863"/>
                </a:lnTo>
                <a:lnTo>
                  <a:pt x="5614" y="4846"/>
                </a:lnTo>
                <a:lnTo>
                  <a:pt x="5617" y="4827"/>
                </a:lnTo>
                <a:lnTo>
                  <a:pt x="5618" y="4809"/>
                </a:lnTo>
                <a:lnTo>
                  <a:pt x="5618" y="4791"/>
                </a:lnTo>
                <a:lnTo>
                  <a:pt x="5616" y="4771"/>
                </a:lnTo>
                <a:lnTo>
                  <a:pt x="5612" y="4753"/>
                </a:lnTo>
                <a:lnTo>
                  <a:pt x="5612" y="4753"/>
                </a:lnTo>
                <a:lnTo>
                  <a:pt x="5606" y="4734"/>
                </a:lnTo>
                <a:lnTo>
                  <a:pt x="5599" y="4717"/>
                </a:lnTo>
                <a:lnTo>
                  <a:pt x="5589" y="4701"/>
                </a:lnTo>
                <a:lnTo>
                  <a:pt x="5578" y="4686"/>
                </a:lnTo>
                <a:lnTo>
                  <a:pt x="5566" y="4672"/>
                </a:lnTo>
                <a:lnTo>
                  <a:pt x="5553" y="4659"/>
                </a:lnTo>
                <a:lnTo>
                  <a:pt x="5539" y="4648"/>
                </a:lnTo>
                <a:lnTo>
                  <a:pt x="5524" y="4638"/>
                </a:lnTo>
                <a:lnTo>
                  <a:pt x="5508" y="4629"/>
                </a:lnTo>
                <a:lnTo>
                  <a:pt x="5491" y="4623"/>
                </a:lnTo>
                <a:lnTo>
                  <a:pt x="5473" y="4618"/>
                </a:lnTo>
                <a:lnTo>
                  <a:pt x="5455" y="4614"/>
                </a:lnTo>
                <a:lnTo>
                  <a:pt x="5436" y="4613"/>
                </a:lnTo>
                <a:lnTo>
                  <a:pt x="5418" y="4613"/>
                </a:lnTo>
                <a:lnTo>
                  <a:pt x="5399" y="4615"/>
                </a:lnTo>
                <a:lnTo>
                  <a:pt x="5380" y="4620"/>
                </a:lnTo>
                <a:lnTo>
                  <a:pt x="5380" y="4620"/>
                </a:lnTo>
                <a:lnTo>
                  <a:pt x="5359" y="4626"/>
                </a:lnTo>
                <a:lnTo>
                  <a:pt x="5336" y="4634"/>
                </a:lnTo>
                <a:lnTo>
                  <a:pt x="5313" y="4643"/>
                </a:lnTo>
                <a:lnTo>
                  <a:pt x="5289" y="4654"/>
                </a:lnTo>
                <a:lnTo>
                  <a:pt x="5264" y="4666"/>
                </a:lnTo>
                <a:lnTo>
                  <a:pt x="5240" y="4680"/>
                </a:lnTo>
                <a:lnTo>
                  <a:pt x="5215" y="4695"/>
                </a:lnTo>
                <a:lnTo>
                  <a:pt x="5190" y="4712"/>
                </a:lnTo>
                <a:lnTo>
                  <a:pt x="5165" y="4729"/>
                </a:lnTo>
                <a:lnTo>
                  <a:pt x="5139" y="4747"/>
                </a:lnTo>
                <a:lnTo>
                  <a:pt x="5114" y="4768"/>
                </a:lnTo>
                <a:lnTo>
                  <a:pt x="5089" y="4788"/>
                </a:lnTo>
                <a:lnTo>
                  <a:pt x="5063" y="4811"/>
                </a:lnTo>
                <a:lnTo>
                  <a:pt x="5039" y="4834"/>
                </a:lnTo>
                <a:lnTo>
                  <a:pt x="5015" y="4859"/>
                </a:lnTo>
                <a:lnTo>
                  <a:pt x="4991" y="4885"/>
                </a:lnTo>
                <a:lnTo>
                  <a:pt x="4991" y="4885"/>
                </a:lnTo>
                <a:lnTo>
                  <a:pt x="4965" y="4891"/>
                </a:lnTo>
                <a:lnTo>
                  <a:pt x="4940" y="4896"/>
                </a:lnTo>
                <a:lnTo>
                  <a:pt x="4915" y="4898"/>
                </a:lnTo>
                <a:lnTo>
                  <a:pt x="4890" y="4899"/>
                </a:lnTo>
                <a:lnTo>
                  <a:pt x="4865" y="4898"/>
                </a:lnTo>
                <a:lnTo>
                  <a:pt x="4841" y="4896"/>
                </a:lnTo>
                <a:lnTo>
                  <a:pt x="4818" y="4892"/>
                </a:lnTo>
                <a:lnTo>
                  <a:pt x="4795" y="4888"/>
                </a:lnTo>
                <a:lnTo>
                  <a:pt x="4772" y="4882"/>
                </a:lnTo>
                <a:lnTo>
                  <a:pt x="4751" y="4875"/>
                </a:lnTo>
                <a:lnTo>
                  <a:pt x="4730" y="4867"/>
                </a:lnTo>
                <a:lnTo>
                  <a:pt x="4709" y="4859"/>
                </a:lnTo>
                <a:lnTo>
                  <a:pt x="4690" y="4850"/>
                </a:lnTo>
                <a:lnTo>
                  <a:pt x="4672" y="4841"/>
                </a:lnTo>
                <a:lnTo>
                  <a:pt x="4637" y="4822"/>
                </a:lnTo>
                <a:lnTo>
                  <a:pt x="4637" y="4822"/>
                </a:lnTo>
                <a:lnTo>
                  <a:pt x="4607" y="4804"/>
                </a:lnTo>
                <a:lnTo>
                  <a:pt x="4577" y="4783"/>
                </a:lnTo>
                <a:lnTo>
                  <a:pt x="4551" y="4762"/>
                </a:lnTo>
                <a:lnTo>
                  <a:pt x="4528" y="4742"/>
                </a:lnTo>
                <a:lnTo>
                  <a:pt x="4506" y="4721"/>
                </a:lnTo>
                <a:lnTo>
                  <a:pt x="4487" y="4702"/>
                </a:lnTo>
                <a:lnTo>
                  <a:pt x="4469" y="4682"/>
                </a:lnTo>
                <a:lnTo>
                  <a:pt x="4455" y="4664"/>
                </a:lnTo>
                <a:lnTo>
                  <a:pt x="4455" y="837"/>
                </a:lnTo>
                <a:lnTo>
                  <a:pt x="4455" y="837"/>
                </a:lnTo>
                <a:lnTo>
                  <a:pt x="4473" y="818"/>
                </a:lnTo>
                <a:lnTo>
                  <a:pt x="4490" y="800"/>
                </a:lnTo>
                <a:lnTo>
                  <a:pt x="4508" y="781"/>
                </a:lnTo>
                <a:lnTo>
                  <a:pt x="4527" y="764"/>
                </a:lnTo>
                <a:lnTo>
                  <a:pt x="4546" y="747"/>
                </a:lnTo>
                <a:lnTo>
                  <a:pt x="4566" y="730"/>
                </a:lnTo>
                <a:lnTo>
                  <a:pt x="4585" y="714"/>
                </a:lnTo>
                <a:lnTo>
                  <a:pt x="4606" y="699"/>
                </a:lnTo>
                <a:lnTo>
                  <a:pt x="4627" y="684"/>
                </a:lnTo>
                <a:lnTo>
                  <a:pt x="4648" y="670"/>
                </a:lnTo>
                <a:lnTo>
                  <a:pt x="4669" y="656"/>
                </a:lnTo>
                <a:lnTo>
                  <a:pt x="4691" y="642"/>
                </a:lnTo>
                <a:lnTo>
                  <a:pt x="4714" y="629"/>
                </a:lnTo>
                <a:lnTo>
                  <a:pt x="4736" y="617"/>
                </a:lnTo>
                <a:lnTo>
                  <a:pt x="4759" y="605"/>
                </a:lnTo>
                <a:lnTo>
                  <a:pt x="4783" y="594"/>
                </a:lnTo>
                <a:lnTo>
                  <a:pt x="4807" y="583"/>
                </a:lnTo>
                <a:lnTo>
                  <a:pt x="4831" y="573"/>
                </a:lnTo>
                <a:lnTo>
                  <a:pt x="4855" y="565"/>
                </a:lnTo>
                <a:lnTo>
                  <a:pt x="4880" y="556"/>
                </a:lnTo>
                <a:lnTo>
                  <a:pt x="4905" y="547"/>
                </a:lnTo>
                <a:lnTo>
                  <a:pt x="4930" y="540"/>
                </a:lnTo>
                <a:lnTo>
                  <a:pt x="4956" y="533"/>
                </a:lnTo>
                <a:lnTo>
                  <a:pt x="4982" y="528"/>
                </a:lnTo>
                <a:lnTo>
                  <a:pt x="5008" y="523"/>
                </a:lnTo>
                <a:lnTo>
                  <a:pt x="5034" y="517"/>
                </a:lnTo>
                <a:lnTo>
                  <a:pt x="5060" y="514"/>
                </a:lnTo>
                <a:lnTo>
                  <a:pt x="5087" y="511"/>
                </a:lnTo>
                <a:lnTo>
                  <a:pt x="5114" y="507"/>
                </a:lnTo>
                <a:lnTo>
                  <a:pt x="5141" y="505"/>
                </a:lnTo>
                <a:lnTo>
                  <a:pt x="5169" y="504"/>
                </a:lnTo>
                <a:lnTo>
                  <a:pt x="5196" y="504"/>
                </a:lnTo>
                <a:lnTo>
                  <a:pt x="5196" y="504"/>
                </a:lnTo>
                <a:lnTo>
                  <a:pt x="5232" y="505"/>
                </a:lnTo>
                <a:lnTo>
                  <a:pt x="5267" y="506"/>
                </a:lnTo>
                <a:lnTo>
                  <a:pt x="5302" y="510"/>
                </a:lnTo>
                <a:lnTo>
                  <a:pt x="5337" y="514"/>
                </a:lnTo>
                <a:lnTo>
                  <a:pt x="5370" y="519"/>
                </a:lnTo>
                <a:lnTo>
                  <a:pt x="5404" y="526"/>
                </a:lnTo>
                <a:lnTo>
                  <a:pt x="5438" y="533"/>
                </a:lnTo>
                <a:lnTo>
                  <a:pt x="5471" y="543"/>
                </a:lnTo>
                <a:lnTo>
                  <a:pt x="5504" y="553"/>
                </a:lnTo>
                <a:lnTo>
                  <a:pt x="5535" y="564"/>
                </a:lnTo>
                <a:lnTo>
                  <a:pt x="5566" y="576"/>
                </a:lnTo>
                <a:lnTo>
                  <a:pt x="5598" y="589"/>
                </a:lnTo>
                <a:lnTo>
                  <a:pt x="5628" y="603"/>
                </a:lnTo>
                <a:lnTo>
                  <a:pt x="5657" y="618"/>
                </a:lnTo>
                <a:lnTo>
                  <a:pt x="5687" y="634"/>
                </a:lnTo>
                <a:lnTo>
                  <a:pt x="5716" y="650"/>
                </a:lnTo>
                <a:lnTo>
                  <a:pt x="5744" y="669"/>
                </a:lnTo>
                <a:lnTo>
                  <a:pt x="5771" y="687"/>
                </a:lnTo>
                <a:lnTo>
                  <a:pt x="5798" y="706"/>
                </a:lnTo>
                <a:lnTo>
                  <a:pt x="5824" y="727"/>
                </a:lnTo>
                <a:lnTo>
                  <a:pt x="5849" y="749"/>
                </a:lnTo>
                <a:lnTo>
                  <a:pt x="5874" y="771"/>
                </a:lnTo>
                <a:lnTo>
                  <a:pt x="5897" y="794"/>
                </a:lnTo>
                <a:lnTo>
                  <a:pt x="5920" y="818"/>
                </a:lnTo>
                <a:lnTo>
                  <a:pt x="5943" y="842"/>
                </a:lnTo>
                <a:lnTo>
                  <a:pt x="5964" y="868"/>
                </a:lnTo>
                <a:lnTo>
                  <a:pt x="5985" y="894"/>
                </a:lnTo>
                <a:lnTo>
                  <a:pt x="6004" y="920"/>
                </a:lnTo>
                <a:lnTo>
                  <a:pt x="6023" y="948"/>
                </a:lnTo>
                <a:lnTo>
                  <a:pt x="6041" y="975"/>
                </a:lnTo>
                <a:lnTo>
                  <a:pt x="6059" y="1004"/>
                </a:lnTo>
                <a:lnTo>
                  <a:pt x="6075" y="1033"/>
                </a:lnTo>
                <a:lnTo>
                  <a:pt x="6075" y="1033"/>
                </a:lnTo>
                <a:lnTo>
                  <a:pt x="6104" y="1038"/>
                </a:lnTo>
                <a:lnTo>
                  <a:pt x="6133" y="1043"/>
                </a:lnTo>
                <a:lnTo>
                  <a:pt x="6162" y="1048"/>
                </a:lnTo>
                <a:lnTo>
                  <a:pt x="6192" y="1055"/>
                </a:lnTo>
                <a:lnTo>
                  <a:pt x="6220" y="1061"/>
                </a:lnTo>
                <a:lnTo>
                  <a:pt x="6249" y="1069"/>
                </a:lnTo>
                <a:lnTo>
                  <a:pt x="6277" y="1078"/>
                </a:lnTo>
                <a:lnTo>
                  <a:pt x="6304" y="1086"/>
                </a:lnTo>
                <a:lnTo>
                  <a:pt x="6332" y="1096"/>
                </a:lnTo>
                <a:lnTo>
                  <a:pt x="6359" y="1106"/>
                </a:lnTo>
                <a:lnTo>
                  <a:pt x="6386" y="1117"/>
                </a:lnTo>
                <a:lnTo>
                  <a:pt x="6413" y="1127"/>
                </a:lnTo>
                <a:lnTo>
                  <a:pt x="6466" y="1152"/>
                </a:lnTo>
                <a:lnTo>
                  <a:pt x="6517" y="1178"/>
                </a:lnTo>
                <a:lnTo>
                  <a:pt x="6567" y="1206"/>
                </a:lnTo>
                <a:lnTo>
                  <a:pt x="6616" y="1238"/>
                </a:lnTo>
                <a:lnTo>
                  <a:pt x="6663" y="1270"/>
                </a:lnTo>
                <a:lnTo>
                  <a:pt x="6709" y="1305"/>
                </a:lnTo>
                <a:lnTo>
                  <a:pt x="6752" y="1342"/>
                </a:lnTo>
                <a:lnTo>
                  <a:pt x="6794" y="1380"/>
                </a:lnTo>
                <a:lnTo>
                  <a:pt x="6835" y="1421"/>
                </a:lnTo>
                <a:lnTo>
                  <a:pt x="6874" y="1463"/>
                </a:lnTo>
                <a:lnTo>
                  <a:pt x="6911" y="1506"/>
                </a:lnTo>
                <a:lnTo>
                  <a:pt x="6946" y="1551"/>
                </a:lnTo>
                <a:lnTo>
                  <a:pt x="6978" y="1598"/>
                </a:lnTo>
                <a:lnTo>
                  <a:pt x="7010" y="1647"/>
                </a:lnTo>
                <a:lnTo>
                  <a:pt x="7038" y="1696"/>
                </a:lnTo>
                <a:lnTo>
                  <a:pt x="7065" y="1748"/>
                </a:lnTo>
                <a:lnTo>
                  <a:pt x="7090" y="1800"/>
                </a:lnTo>
                <a:lnTo>
                  <a:pt x="7100" y="1827"/>
                </a:lnTo>
                <a:lnTo>
                  <a:pt x="7111" y="1854"/>
                </a:lnTo>
                <a:lnTo>
                  <a:pt x="7121" y="1881"/>
                </a:lnTo>
                <a:lnTo>
                  <a:pt x="7131" y="1908"/>
                </a:lnTo>
                <a:lnTo>
                  <a:pt x="7140" y="1937"/>
                </a:lnTo>
                <a:lnTo>
                  <a:pt x="7148" y="1965"/>
                </a:lnTo>
                <a:lnTo>
                  <a:pt x="7156" y="1993"/>
                </a:lnTo>
                <a:lnTo>
                  <a:pt x="7163" y="2022"/>
                </a:lnTo>
                <a:lnTo>
                  <a:pt x="7170" y="2051"/>
                </a:lnTo>
                <a:lnTo>
                  <a:pt x="7175" y="2080"/>
                </a:lnTo>
                <a:lnTo>
                  <a:pt x="7180" y="2110"/>
                </a:lnTo>
                <a:lnTo>
                  <a:pt x="7185" y="2139"/>
                </a:lnTo>
                <a:lnTo>
                  <a:pt x="7189" y="2169"/>
                </a:lnTo>
                <a:lnTo>
                  <a:pt x="7192" y="2198"/>
                </a:lnTo>
                <a:lnTo>
                  <a:pt x="7195" y="2229"/>
                </a:lnTo>
                <a:lnTo>
                  <a:pt x="7196" y="2259"/>
                </a:lnTo>
                <a:lnTo>
                  <a:pt x="7197" y="2290"/>
                </a:lnTo>
                <a:lnTo>
                  <a:pt x="7198" y="2321"/>
                </a:lnTo>
                <a:lnTo>
                  <a:pt x="7198" y="2321"/>
                </a:lnTo>
                <a:lnTo>
                  <a:pt x="7197" y="2377"/>
                </a:lnTo>
                <a:lnTo>
                  <a:pt x="7192" y="2432"/>
                </a:lnTo>
                <a:lnTo>
                  <a:pt x="7187" y="2486"/>
                </a:lnTo>
                <a:lnTo>
                  <a:pt x="7178" y="2540"/>
                </a:lnTo>
                <a:lnTo>
                  <a:pt x="7169" y="2593"/>
                </a:lnTo>
                <a:lnTo>
                  <a:pt x="7156" y="2645"/>
                </a:lnTo>
                <a:lnTo>
                  <a:pt x="7142" y="2697"/>
                </a:lnTo>
                <a:lnTo>
                  <a:pt x="7125" y="2748"/>
                </a:lnTo>
                <a:lnTo>
                  <a:pt x="7125" y="2748"/>
                </a:lnTo>
                <a:lnTo>
                  <a:pt x="7112" y="2767"/>
                </a:lnTo>
                <a:lnTo>
                  <a:pt x="7098" y="2786"/>
                </a:lnTo>
                <a:lnTo>
                  <a:pt x="7084" y="2804"/>
                </a:lnTo>
                <a:lnTo>
                  <a:pt x="7069" y="2823"/>
                </a:lnTo>
                <a:lnTo>
                  <a:pt x="7054" y="2839"/>
                </a:lnTo>
                <a:lnTo>
                  <a:pt x="7039" y="2855"/>
                </a:lnTo>
                <a:lnTo>
                  <a:pt x="7023" y="2871"/>
                </a:lnTo>
                <a:lnTo>
                  <a:pt x="7005" y="2886"/>
                </a:lnTo>
                <a:lnTo>
                  <a:pt x="6989" y="2901"/>
                </a:lnTo>
                <a:lnTo>
                  <a:pt x="6972" y="2915"/>
                </a:lnTo>
                <a:lnTo>
                  <a:pt x="6953" y="2928"/>
                </a:lnTo>
                <a:lnTo>
                  <a:pt x="6935" y="2940"/>
                </a:lnTo>
                <a:lnTo>
                  <a:pt x="6916" y="2951"/>
                </a:lnTo>
                <a:lnTo>
                  <a:pt x="6898" y="2962"/>
                </a:lnTo>
                <a:lnTo>
                  <a:pt x="6879" y="2973"/>
                </a:lnTo>
                <a:lnTo>
                  <a:pt x="6859" y="2983"/>
                </a:lnTo>
                <a:lnTo>
                  <a:pt x="6840" y="2993"/>
                </a:lnTo>
                <a:lnTo>
                  <a:pt x="6819" y="3001"/>
                </a:lnTo>
                <a:lnTo>
                  <a:pt x="6799" y="3010"/>
                </a:lnTo>
                <a:lnTo>
                  <a:pt x="6779" y="3016"/>
                </a:lnTo>
                <a:lnTo>
                  <a:pt x="6737" y="3030"/>
                </a:lnTo>
                <a:lnTo>
                  <a:pt x="6695" y="3040"/>
                </a:lnTo>
                <a:lnTo>
                  <a:pt x="6651" y="3049"/>
                </a:lnTo>
                <a:lnTo>
                  <a:pt x="6608" y="3054"/>
                </a:lnTo>
                <a:lnTo>
                  <a:pt x="6565" y="3059"/>
                </a:lnTo>
                <a:lnTo>
                  <a:pt x="6522" y="3060"/>
                </a:lnTo>
                <a:lnTo>
                  <a:pt x="6522" y="3060"/>
                </a:lnTo>
                <a:lnTo>
                  <a:pt x="6488" y="3059"/>
                </a:lnTo>
                <a:lnTo>
                  <a:pt x="6455" y="3056"/>
                </a:lnTo>
                <a:lnTo>
                  <a:pt x="6421" y="3053"/>
                </a:lnTo>
                <a:lnTo>
                  <a:pt x="6387" y="3049"/>
                </a:lnTo>
                <a:lnTo>
                  <a:pt x="6355" y="3042"/>
                </a:lnTo>
                <a:lnTo>
                  <a:pt x="6323" y="3035"/>
                </a:lnTo>
                <a:lnTo>
                  <a:pt x="6290" y="3025"/>
                </a:lnTo>
                <a:lnTo>
                  <a:pt x="6258" y="3015"/>
                </a:lnTo>
                <a:lnTo>
                  <a:pt x="6226" y="3003"/>
                </a:lnTo>
                <a:lnTo>
                  <a:pt x="6196" y="2989"/>
                </a:lnTo>
                <a:lnTo>
                  <a:pt x="6166" y="2974"/>
                </a:lnTo>
                <a:lnTo>
                  <a:pt x="6136" y="2958"/>
                </a:lnTo>
                <a:lnTo>
                  <a:pt x="6108" y="2941"/>
                </a:lnTo>
                <a:lnTo>
                  <a:pt x="6080" y="2921"/>
                </a:lnTo>
                <a:lnTo>
                  <a:pt x="6053" y="2901"/>
                </a:lnTo>
                <a:lnTo>
                  <a:pt x="6027" y="2878"/>
                </a:lnTo>
                <a:lnTo>
                  <a:pt x="6002" y="2854"/>
                </a:lnTo>
                <a:lnTo>
                  <a:pt x="5978" y="2829"/>
                </a:lnTo>
                <a:lnTo>
                  <a:pt x="5956" y="2802"/>
                </a:lnTo>
                <a:lnTo>
                  <a:pt x="5934" y="2773"/>
                </a:lnTo>
                <a:lnTo>
                  <a:pt x="5915" y="2744"/>
                </a:lnTo>
                <a:lnTo>
                  <a:pt x="5895" y="2711"/>
                </a:lnTo>
                <a:lnTo>
                  <a:pt x="5878" y="2679"/>
                </a:lnTo>
                <a:lnTo>
                  <a:pt x="5863" y="2644"/>
                </a:lnTo>
                <a:lnTo>
                  <a:pt x="5848" y="2607"/>
                </a:lnTo>
                <a:lnTo>
                  <a:pt x="5836" y="2569"/>
                </a:lnTo>
                <a:lnTo>
                  <a:pt x="5825" y="2529"/>
                </a:lnTo>
                <a:lnTo>
                  <a:pt x="5815" y="2488"/>
                </a:lnTo>
                <a:lnTo>
                  <a:pt x="5808" y="2445"/>
                </a:lnTo>
                <a:lnTo>
                  <a:pt x="5802" y="2401"/>
                </a:lnTo>
                <a:lnTo>
                  <a:pt x="5799" y="2355"/>
                </a:lnTo>
                <a:lnTo>
                  <a:pt x="5797" y="2307"/>
                </a:lnTo>
                <a:lnTo>
                  <a:pt x="5797" y="2307"/>
                </a:lnTo>
                <a:lnTo>
                  <a:pt x="5841" y="2286"/>
                </a:lnTo>
                <a:lnTo>
                  <a:pt x="5885" y="2263"/>
                </a:lnTo>
                <a:lnTo>
                  <a:pt x="5928" y="2240"/>
                </a:lnTo>
                <a:lnTo>
                  <a:pt x="5969" y="2215"/>
                </a:lnTo>
                <a:lnTo>
                  <a:pt x="6010" y="2188"/>
                </a:lnTo>
                <a:lnTo>
                  <a:pt x="6049" y="2161"/>
                </a:lnTo>
                <a:lnTo>
                  <a:pt x="6087" y="2132"/>
                </a:lnTo>
                <a:lnTo>
                  <a:pt x="6123" y="2103"/>
                </a:lnTo>
                <a:lnTo>
                  <a:pt x="6158" y="2073"/>
                </a:lnTo>
                <a:lnTo>
                  <a:pt x="6193" y="2042"/>
                </a:lnTo>
                <a:lnTo>
                  <a:pt x="6224" y="2009"/>
                </a:lnTo>
                <a:lnTo>
                  <a:pt x="6254" y="1976"/>
                </a:lnTo>
                <a:lnTo>
                  <a:pt x="6282" y="1942"/>
                </a:lnTo>
                <a:lnTo>
                  <a:pt x="6310" y="1906"/>
                </a:lnTo>
                <a:lnTo>
                  <a:pt x="6334" y="1871"/>
                </a:lnTo>
                <a:lnTo>
                  <a:pt x="6357" y="1834"/>
                </a:lnTo>
                <a:lnTo>
                  <a:pt x="6357" y="1834"/>
                </a:lnTo>
                <a:lnTo>
                  <a:pt x="6366" y="1816"/>
                </a:lnTo>
                <a:lnTo>
                  <a:pt x="6372" y="1799"/>
                </a:lnTo>
                <a:lnTo>
                  <a:pt x="6378" y="1781"/>
                </a:lnTo>
                <a:lnTo>
                  <a:pt x="6381" y="1763"/>
                </a:lnTo>
                <a:lnTo>
                  <a:pt x="6382" y="1745"/>
                </a:lnTo>
                <a:lnTo>
                  <a:pt x="6382" y="1727"/>
                </a:lnTo>
                <a:lnTo>
                  <a:pt x="6380" y="1708"/>
                </a:lnTo>
                <a:lnTo>
                  <a:pt x="6377" y="1691"/>
                </a:lnTo>
                <a:lnTo>
                  <a:pt x="6371" y="1674"/>
                </a:lnTo>
                <a:lnTo>
                  <a:pt x="6364" y="1656"/>
                </a:lnTo>
                <a:lnTo>
                  <a:pt x="6355" y="1641"/>
                </a:lnTo>
                <a:lnTo>
                  <a:pt x="6345" y="1626"/>
                </a:lnTo>
                <a:lnTo>
                  <a:pt x="6333" y="1611"/>
                </a:lnTo>
                <a:lnTo>
                  <a:pt x="6319" y="1598"/>
                </a:lnTo>
                <a:lnTo>
                  <a:pt x="6305" y="1586"/>
                </a:lnTo>
                <a:lnTo>
                  <a:pt x="6289" y="1575"/>
                </a:lnTo>
                <a:lnTo>
                  <a:pt x="6289" y="1575"/>
                </a:lnTo>
                <a:lnTo>
                  <a:pt x="6272" y="1567"/>
                </a:lnTo>
                <a:lnTo>
                  <a:pt x="6253" y="1560"/>
                </a:lnTo>
                <a:lnTo>
                  <a:pt x="6236" y="1555"/>
                </a:lnTo>
                <a:lnTo>
                  <a:pt x="6218" y="1551"/>
                </a:lnTo>
                <a:lnTo>
                  <a:pt x="6199" y="1550"/>
                </a:lnTo>
                <a:lnTo>
                  <a:pt x="6181" y="1550"/>
                </a:lnTo>
                <a:lnTo>
                  <a:pt x="6163" y="1553"/>
                </a:lnTo>
                <a:lnTo>
                  <a:pt x="6145" y="1557"/>
                </a:lnTo>
                <a:lnTo>
                  <a:pt x="6128" y="1562"/>
                </a:lnTo>
                <a:lnTo>
                  <a:pt x="6112" y="1569"/>
                </a:lnTo>
                <a:lnTo>
                  <a:pt x="6095" y="1577"/>
                </a:lnTo>
                <a:lnTo>
                  <a:pt x="6080" y="1588"/>
                </a:lnTo>
                <a:lnTo>
                  <a:pt x="6066" y="1600"/>
                </a:lnTo>
                <a:lnTo>
                  <a:pt x="6053" y="1613"/>
                </a:lnTo>
                <a:lnTo>
                  <a:pt x="6041" y="1628"/>
                </a:lnTo>
                <a:lnTo>
                  <a:pt x="6030" y="1644"/>
                </a:lnTo>
                <a:lnTo>
                  <a:pt x="6030" y="1644"/>
                </a:lnTo>
                <a:lnTo>
                  <a:pt x="6012" y="1673"/>
                </a:lnTo>
                <a:lnTo>
                  <a:pt x="5991" y="1701"/>
                </a:lnTo>
                <a:lnTo>
                  <a:pt x="5969" y="1729"/>
                </a:lnTo>
                <a:lnTo>
                  <a:pt x="5944" y="1756"/>
                </a:lnTo>
                <a:lnTo>
                  <a:pt x="5917" y="1782"/>
                </a:lnTo>
                <a:lnTo>
                  <a:pt x="5888" y="1807"/>
                </a:lnTo>
                <a:lnTo>
                  <a:pt x="5857" y="1832"/>
                </a:lnTo>
                <a:lnTo>
                  <a:pt x="5825" y="1855"/>
                </a:lnTo>
                <a:lnTo>
                  <a:pt x="5791" y="1878"/>
                </a:lnTo>
                <a:lnTo>
                  <a:pt x="5756" y="1900"/>
                </a:lnTo>
                <a:lnTo>
                  <a:pt x="5719" y="1920"/>
                </a:lnTo>
                <a:lnTo>
                  <a:pt x="5682" y="1941"/>
                </a:lnTo>
                <a:lnTo>
                  <a:pt x="5643" y="1959"/>
                </a:lnTo>
                <a:lnTo>
                  <a:pt x="5603" y="1977"/>
                </a:lnTo>
                <a:lnTo>
                  <a:pt x="5563" y="1993"/>
                </a:lnTo>
                <a:lnTo>
                  <a:pt x="5522" y="2008"/>
                </a:lnTo>
                <a:lnTo>
                  <a:pt x="5481" y="2022"/>
                </a:lnTo>
                <a:lnTo>
                  <a:pt x="5440" y="2034"/>
                </a:lnTo>
                <a:lnTo>
                  <a:pt x="5398" y="2046"/>
                </a:lnTo>
                <a:lnTo>
                  <a:pt x="5355" y="2056"/>
                </a:lnTo>
                <a:lnTo>
                  <a:pt x="5313" y="2063"/>
                </a:lnTo>
                <a:lnTo>
                  <a:pt x="5271" y="2071"/>
                </a:lnTo>
                <a:lnTo>
                  <a:pt x="5229" y="2075"/>
                </a:lnTo>
                <a:lnTo>
                  <a:pt x="5188" y="2079"/>
                </a:lnTo>
                <a:lnTo>
                  <a:pt x="5147" y="2082"/>
                </a:lnTo>
                <a:lnTo>
                  <a:pt x="5106" y="2082"/>
                </a:lnTo>
                <a:lnTo>
                  <a:pt x="5068" y="2080"/>
                </a:lnTo>
                <a:lnTo>
                  <a:pt x="5029" y="2077"/>
                </a:lnTo>
                <a:lnTo>
                  <a:pt x="4991" y="2072"/>
                </a:lnTo>
                <a:lnTo>
                  <a:pt x="4954" y="2065"/>
                </a:lnTo>
                <a:lnTo>
                  <a:pt x="4919" y="2057"/>
                </a:lnTo>
                <a:lnTo>
                  <a:pt x="4885" y="2046"/>
                </a:lnTo>
                <a:lnTo>
                  <a:pt x="4885" y="2046"/>
                </a:lnTo>
                <a:lnTo>
                  <a:pt x="4866" y="2040"/>
                </a:lnTo>
                <a:lnTo>
                  <a:pt x="4848" y="2037"/>
                </a:lnTo>
                <a:lnTo>
                  <a:pt x="4830" y="2036"/>
                </a:lnTo>
                <a:lnTo>
                  <a:pt x="4810" y="2036"/>
                </a:lnTo>
                <a:lnTo>
                  <a:pt x="4793" y="2038"/>
                </a:lnTo>
                <a:lnTo>
                  <a:pt x="4774" y="2042"/>
                </a:lnTo>
                <a:lnTo>
                  <a:pt x="4757" y="2047"/>
                </a:lnTo>
                <a:lnTo>
                  <a:pt x="4741" y="2055"/>
                </a:lnTo>
                <a:lnTo>
                  <a:pt x="4725" y="2063"/>
                </a:lnTo>
                <a:lnTo>
                  <a:pt x="4709" y="2073"/>
                </a:lnTo>
                <a:lnTo>
                  <a:pt x="4695" y="2085"/>
                </a:lnTo>
                <a:lnTo>
                  <a:pt x="4682" y="2098"/>
                </a:lnTo>
                <a:lnTo>
                  <a:pt x="4670" y="2112"/>
                </a:lnTo>
                <a:lnTo>
                  <a:pt x="4661" y="2128"/>
                </a:lnTo>
                <a:lnTo>
                  <a:pt x="4651" y="2144"/>
                </a:lnTo>
                <a:lnTo>
                  <a:pt x="4645" y="2163"/>
                </a:lnTo>
                <a:lnTo>
                  <a:pt x="4645" y="2163"/>
                </a:lnTo>
                <a:lnTo>
                  <a:pt x="4639" y="2181"/>
                </a:lnTo>
                <a:lnTo>
                  <a:pt x="4636" y="2199"/>
                </a:lnTo>
                <a:lnTo>
                  <a:pt x="4634" y="2218"/>
                </a:lnTo>
                <a:lnTo>
                  <a:pt x="4634" y="2237"/>
                </a:lnTo>
                <a:lnTo>
                  <a:pt x="4636" y="2255"/>
                </a:lnTo>
                <a:lnTo>
                  <a:pt x="4640" y="2273"/>
                </a:lnTo>
                <a:lnTo>
                  <a:pt x="4646" y="2290"/>
                </a:lnTo>
                <a:lnTo>
                  <a:pt x="4652" y="2307"/>
                </a:lnTo>
                <a:lnTo>
                  <a:pt x="4661" y="2323"/>
                </a:lnTo>
                <a:lnTo>
                  <a:pt x="4672" y="2338"/>
                </a:lnTo>
                <a:lnTo>
                  <a:pt x="4683" y="2352"/>
                </a:lnTo>
                <a:lnTo>
                  <a:pt x="4696" y="2365"/>
                </a:lnTo>
                <a:lnTo>
                  <a:pt x="4711" y="2377"/>
                </a:lnTo>
                <a:lnTo>
                  <a:pt x="4726" y="2387"/>
                </a:lnTo>
                <a:lnTo>
                  <a:pt x="4743" y="2396"/>
                </a:lnTo>
                <a:lnTo>
                  <a:pt x="4760" y="2403"/>
                </a:lnTo>
                <a:lnTo>
                  <a:pt x="4760" y="2403"/>
                </a:lnTo>
                <a:lnTo>
                  <a:pt x="4804" y="2417"/>
                </a:lnTo>
                <a:lnTo>
                  <a:pt x="4847" y="2429"/>
                </a:lnTo>
                <a:lnTo>
                  <a:pt x="4891" y="2439"/>
                </a:lnTo>
                <a:lnTo>
                  <a:pt x="4937" y="2446"/>
                </a:lnTo>
                <a:lnTo>
                  <a:pt x="4983" y="2453"/>
                </a:lnTo>
                <a:lnTo>
                  <a:pt x="5030" y="2457"/>
                </a:lnTo>
                <a:lnTo>
                  <a:pt x="5077" y="2459"/>
                </a:lnTo>
                <a:lnTo>
                  <a:pt x="5125" y="2460"/>
                </a:lnTo>
                <a:lnTo>
                  <a:pt x="5125" y="2460"/>
                </a:lnTo>
                <a:lnTo>
                  <a:pt x="5162" y="2460"/>
                </a:lnTo>
                <a:lnTo>
                  <a:pt x="5200" y="2458"/>
                </a:lnTo>
                <a:lnTo>
                  <a:pt x="5236" y="2456"/>
                </a:lnTo>
                <a:lnTo>
                  <a:pt x="5274" y="2453"/>
                </a:lnTo>
                <a:lnTo>
                  <a:pt x="5312" y="2448"/>
                </a:lnTo>
                <a:lnTo>
                  <a:pt x="5350" y="2443"/>
                </a:lnTo>
                <a:lnTo>
                  <a:pt x="5388" y="2436"/>
                </a:lnTo>
                <a:lnTo>
                  <a:pt x="5426" y="2429"/>
                </a:lnTo>
                <a:lnTo>
                  <a:pt x="5426" y="2429"/>
                </a:lnTo>
                <a:lnTo>
                  <a:pt x="5429" y="2462"/>
                </a:lnTo>
                <a:lnTo>
                  <a:pt x="5433" y="2495"/>
                </a:lnTo>
                <a:lnTo>
                  <a:pt x="5438" y="2527"/>
                </a:lnTo>
                <a:lnTo>
                  <a:pt x="5444" y="2558"/>
                </a:lnTo>
                <a:lnTo>
                  <a:pt x="5451" y="2589"/>
                </a:lnTo>
                <a:lnTo>
                  <a:pt x="5457" y="2618"/>
                </a:lnTo>
                <a:lnTo>
                  <a:pt x="5465" y="2647"/>
                </a:lnTo>
                <a:lnTo>
                  <a:pt x="5472" y="2676"/>
                </a:lnTo>
                <a:lnTo>
                  <a:pt x="5481" y="2703"/>
                </a:lnTo>
                <a:lnTo>
                  <a:pt x="5491" y="2730"/>
                </a:lnTo>
                <a:lnTo>
                  <a:pt x="5500" y="2756"/>
                </a:lnTo>
                <a:lnTo>
                  <a:pt x="5510" y="2780"/>
                </a:lnTo>
                <a:lnTo>
                  <a:pt x="5521" y="2805"/>
                </a:lnTo>
                <a:lnTo>
                  <a:pt x="5532" y="2829"/>
                </a:lnTo>
                <a:lnTo>
                  <a:pt x="5554" y="2875"/>
                </a:lnTo>
                <a:lnTo>
                  <a:pt x="5579" y="2918"/>
                </a:lnTo>
                <a:lnTo>
                  <a:pt x="5604" y="2958"/>
                </a:lnTo>
                <a:lnTo>
                  <a:pt x="5630" y="2996"/>
                </a:lnTo>
                <a:lnTo>
                  <a:pt x="5657" y="3031"/>
                </a:lnTo>
                <a:lnTo>
                  <a:pt x="5684" y="3064"/>
                </a:lnTo>
                <a:lnTo>
                  <a:pt x="5711" y="3094"/>
                </a:lnTo>
                <a:lnTo>
                  <a:pt x="5738" y="3122"/>
                </a:lnTo>
                <a:lnTo>
                  <a:pt x="5764" y="3148"/>
                </a:lnTo>
                <a:lnTo>
                  <a:pt x="5764" y="3148"/>
                </a:lnTo>
                <a:lnTo>
                  <a:pt x="5799" y="3179"/>
                </a:lnTo>
                <a:lnTo>
                  <a:pt x="5836" y="3208"/>
                </a:lnTo>
                <a:lnTo>
                  <a:pt x="5872" y="3236"/>
                </a:lnTo>
                <a:lnTo>
                  <a:pt x="5910" y="3262"/>
                </a:lnTo>
                <a:lnTo>
                  <a:pt x="5950" y="3286"/>
                </a:lnTo>
                <a:lnTo>
                  <a:pt x="5990" y="3308"/>
                </a:lnTo>
                <a:lnTo>
                  <a:pt x="6031" y="3329"/>
                </a:lnTo>
                <a:lnTo>
                  <a:pt x="6075" y="3348"/>
                </a:lnTo>
                <a:lnTo>
                  <a:pt x="6117" y="3365"/>
                </a:lnTo>
                <a:lnTo>
                  <a:pt x="6161" y="3381"/>
                </a:lnTo>
                <a:lnTo>
                  <a:pt x="6207" y="3394"/>
                </a:lnTo>
                <a:lnTo>
                  <a:pt x="6252" y="3406"/>
                </a:lnTo>
                <a:lnTo>
                  <a:pt x="6298" y="3416"/>
                </a:lnTo>
                <a:lnTo>
                  <a:pt x="6345" y="3424"/>
                </a:lnTo>
                <a:lnTo>
                  <a:pt x="6392" y="3430"/>
                </a:lnTo>
                <a:lnTo>
                  <a:pt x="6440" y="3434"/>
                </a:lnTo>
                <a:lnTo>
                  <a:pt x="6440" y="3434"/>
                </a:lnTo>
                <a:lnTo>
                  <a:pt x="6452" y="3448"/>
                </a:lnTo>
                <a:lnTo>
                  <a:pt x="6452" y="3448"/>
                </a:lnTo>
                <a:lnTo>
                  <a:pt x="6471" y="3467"/>
                </a:lnTo>
                <a:lnTo>
                  <a:pt x="6488" y="3487"/>
                </a:lnTo>
                <a:lnTo>
                  <a:pt x="6503" y="3506"/>
                </a:lnTo>
                <a:lnTo>
                  <a:pt x="6518" y="3526"/>
                </a:lnTo>
                <a:lnTo>
                  <a:pt x="6531" y="3545"/>
                </a:lnTo>
                <a:lnTo>
                  <a:pt x="6542" y="3566"/>
                </a:lnTo>
                <a:lnTo>
                  <a:pt x="6553" y="3585"/>
                </a:lnTo>
                <a:lnTo>
                  <a:pt x="6562" y="3605"/>
                </a:lnTo>
                <a:lnTo>
                  <a:pt x="6569" y="3625"/>
                </a:lnTo>
                <a:lnTo>
                  <a:pt x="6576" y="3645"/>
                </a:lnTo>
                <a:lnTo>
                  <a:pt x="6581" y="3664"/>
                </a:lnTo>
                <a:lnTo>
                  <a:pt x="6585" y="3684"/>
                </a:lnTo>
                <a:lnTo>
                  <a:pt x="6589" y="3703"/>
                </a:lnTo>
                <a:lnTo>
                  <a:pt x="6590" y="3723"/>
                </a:lnTo>
                <a:lnTo>
                  <a:pt x="6591" y="3742"/>
                </a:lnTo>
                <a:lnTo>
                  <a:pt x="6591" y="3762"/>
                </a:lnTo>
                <a:lnTo>
                  <a:pt x="6590" y="3780"/>
                </a:lnTo>
                <a:lnTo>
                  <a:pt x="6588" y="3799"/>
                </a:lnTo>
                <a:lnTo>
                  <a:pt x="6584" y="3817"/>
                </a:lnTo>
                <a:lnTo>
                  <a:pt x="6580" y="3835"/>
                </a:lnTo>
                <a:lnTo>
                  <a:pt x="6576" y="3854"/>
                </a:lnTo>
                <a:lnTo>
                  <a:pt x="6569" y="3871"/>
                </a:lnTo>
                <a:lnTo>
                  <a:pt x="6563" y="3888"/>
                </a:lnTo>
                <a:lnTo>
                  <a:pt x="6555" y="3905"/>
                </a:lnTo>
                <a:lnTo>
                  <a:pt x="6548" y="3922"/>
                </a:lnTo>
                <a:lnTo>
                  <a:pt x="6539" y="3938"/>
                </a:lnTo>
                <a:lnTo>
                  <a:pt x="6529" y="3953"/>
                </a:lnTo>
                <a:lnTo>
                  <a:pt x="6518" y="3968"/>
                </a:lnTo>
                <a:lnTo>
                  <a:pt x="6508" y="3984"/>
                </a:lnTo>
                <a:lnTo>
                  <a:pt x="6496" y="3998"/>
                </a:lnTo>
                <a:lnTo>
                  <a:pt x="6484" y="4012"/>
                </a:lnTo>
                <a:lnTo>
                  <a:pt x="6471" y="4025"/>
                </a:lnTo>
                <a:lnTo>
                  <a:pt x="6471" y="4025"/>
                </a:lnTo>
                <a:lnTo>
                  <a:pt x="6458" y="4038"/>
                </a:lnTo>
                <a:lnTo>
                  <a:pt x="6444" y="4050"/>
                </a:lnTo>
                <a:lnTo>
                  <a:pt x="6430" y="4061"/>
                </a:lnTo>
                <a:lnTo>
                  <a:pt x="6414" y="4072"/>
                </a:lnTo>
                <a:lnTo>
                  <a:pt x="6399" y="4083"/>
                </a:lnTo>
                <a:lnTo>
                  <a:pt x="6384" y="4093"/>
                </a:lnTo>
                <a:lnTo>
                  <a:pt x="6368" y="4101"/>
                </a:lnTo>
                <a:lnTo>
                  <a:pt x="6351" y="4109"/>
                </a:lnTo>
                <a:lnTo>
                  <a:pt x="6334" y="4117"/>
                </a:lnTo>
                <a:lnTo>
                  <a:pt x="6317" y="4123"/>
                </a:lnTo>
                <a:lnTo>
                  <a:pt x="6300" y="4130"/>
                </a:lnTo>
                <a:lnTo>
                  <a:pt x="6281" y="4134"/>
                </a:lnTo>
                <a:lnTo>
                  <a:pt x="6263" y="4138"/>
                </a:lnTo>
                <a:lnTo>
                  <a:pt x="6245" y="4141"/>
                </a:lnTo>
                <a:lnTo>
                  <a:pt x="6226" y="4144"/>
                </a:lnTo>
                <a:lnTo>
                  <a:pt x="6208" y="4145"/>
                </a:lnTo>
                <a:lnTo>
                  <a:pt x="6188" y="4145"/>
                </a:lnTo>
                <a:lnTo>
                  <a:pt x="6169" y="4144"/>
                </a:lnTo>
                <a:lnTo>
                  <a:pt x="6149" y="4143"/>
                </a:lnTo>
                <a:lnTo>
                  <a:pt x="6130" y="4139"/>
                </a:lnTo>
                <a:lnTo>
                  <a:pt x="6110" y="4135"/>
                </a:lnTo>
                <a:lnTo>
                  <a:pt x="6091" y="4130"/>
                </a:lnTo>
                <a:lnTo>
                  <a:pt x="6072" y="4123"/>
                </a:lnTo>
                <a:lnTo>
                  <a:pt x="6051" y="4116"/>
                </a:lnTo>
                <a:lnTo>
                  <a:pt x="6031" y="4107"/>
                </a:lnTo>
                <a:lnTo>
                  <a:pt x="6012" y="4096"/>
                </a:lnTo>
                <a:lnTo>
                  <a:pt x="5991" y="4085"/>
                </a:lnTo>
                <a:lnTo>
                  <a:pt x="5972" y="4072"/>
                </a:lnTo>
                <a:lnTo>
                  <a:pt x="5953" y="4057"/>
                </a:lnTo>
                <a:lnTo>
                  <a:pt x="5933" y="4042"/>
                </a:lnTo>
                <a:lnTo>
                  <a:pt x="5914" y="4025"/>
                </a:lnTo>
                <a:lnTo>
                  <a:pt x="5894" y="4006"/>
                </a:lnTo>
                <a:lnTo>
                  <a:pt x="5894" y="4006"/>
                </a:lnTo>
                <a:lnTo>
                  <a:pt x="5880" y="3993"/>
                </a:lnTo>
                <a:lnTo>
                  <a:pt x="5864" y="3982"/>
                </a:lnTo>
                <a:lnTo>
                  <a:pt x="5849" y="3973"/>
                </a:lnTo>
                <a:lnTo>
                  <a:pt x="5831" y="3965"/>
                </a:lnTo>
                <a:lnTo>
                  <a:pt x="5814" y="3959"/>
                </a:lnTo>
                <a:lnTo>
                  <a:pt x="5797" y="3954"/>
                </a:lnTo>
                <a:lnTo>
                  <a:pt x="5778" y="3952"/>
                </a:lnTo>
                <a:lnTo>
                  <a:pt x="5760" y="3951"/>
                </a:lnTo>
                <a:lnTo>
                  <a:pt x="5743" y="3952"/>
                </a:lnTo>
                <a:lnTo>
                  <a:pt x="5724" y="3954"/>
                </a:lnTo>
                <a:lnTo>
                  <a:pt x="5707" y="3959"/>
                </a:lnTo>
                <a:lnTo>
                  <a:pt x="5690" y="3965"/>
                </a:lnTo>
                <a:lnTo>
                  <a:pt x="5672" y="3973"/>
                </a:lnTo>
                <a:lnTo>
                  <a:pt x="5656" y="3982"/>
                </a:lnTo>
                <a:lnTo>
                  <a:pt x="5641" y="3993"/>
                </a:lnTo>
                <a:lnTo>
                  <a:pt x="5627" y="4006"/>
                </a:lnTo>
                <a:lnTo>
                  <a:pt x="5627" y="4006"/>
                </a:lnTo>
                <a:lnTo>
                  <a:pt x="5614" y="4020"/>
                </a:lnTo>
                <a:lnTo>
                  <a:pt x="5602" y="4035"/>
                </a:lnTo>
                <a:lnTo>
                  <a:pt x="5593" y="4052"/>
                </a:lnTo>
                <a:lnTo>
                  <a:pt x="5585" y="4069"/>
                </a:lnTo>
                <a:lnTo>
                  <a:pt x="5579" y="4086"/>
                </a:lnTo>
                <a:lnTo>
                  <a:pt x="5575" y="4104"/>
                </a:lnTo>
                <a:lnTo>
                  <a:pt x="5572" y="4122"/>
                </a:lnTo>
                <a:lnTo>
                  <a:pt x="5572" y="4140"/>
                </a:lnTo>
                <a:lnTo>
                  <a:pt x="5572" y="4158"/>
                </a:lnTo>
                <a:lnTo>
                  <a:pt x="5575" y="4176"/>
                </a:lnTo>
                <a:lnTo>
                  <a:pt x="5579" y="4193"/>
                </a:lnTo>
                <a:lnTo>
                  <a:pt x="5585" y="4211"/>
                </a:lnTo>
                <a:lnTo>
                  <a:pt x="5593" y="4228"/>
                </a:lnTo>
                <a:lnTo>
                  <a:pt x="5602" y="4244"/>
                </a:lnTo>
                <a:lnTo>
                  <a:pt x="5614" y="4259"/>
                </a:lnTo>
                <a:lnTo>
                  <a:pt x="5627" y="4273"/>
                </a:lnTo>
                <a:lnTo>
                  <a:pt x="5627" y="4273"/>
                </a:lnTo>
                <a:lnTo>
                  <a:pt x="5660" y="4306"/>
                </a:lnTo>
                <a:lnTo>
                  <a:pt x="5694" y="4335"/>
                </a:lnTo>
                <a:lnTo>
                  <a:pt x="5729" y="4362"/>
                </a:lnTo>
                <a:lnTo>
                  <a:pt x="5763" y="4387"/>
                </a:lnTo>
                <a:lnTo>
                  <a:pt x="5798" y="4410"/>
                </a:lnTo>
                <a:lnTo>
                  <a:pt x="5834" y="4430"/>
                </a:lnTo>
                <a:lnTo>
                  <a:pt x="5868" y="4449"/>
                </a:lnTo>
                <a:lnTo>
                  <a:pt x="5904" y="4465"/>
                </a:lnTo>
                <a:lnTo>
                  <a:pt x="5940" y="4479"/>
                </a:lnTo>
                <a:lnTo>
                  <a:pt x="5976" y="4492"/>
                </a:lnTo>
                <a:lnTo>
                  <a:pt x="6012" y="4502"/>
                </a:lnTo>
                <a:lnTo>
                  <a:pt x="6048" y="4510"/>
                </a:lnTo>
                <a:lnTo>
                  <a:pt x="6085" y="4517"/>
                </a:lnTo>
                <a:lnTo>
                  <a:pt x="6120" y="4521"/>
                </a:lnTo>
                <a:lnTo>
                  <a:pt x="6156" y="4523"/>
                </a:lnTo>
                <a:lnTo>
                  <a:pt x="6192" y="4524"/>
                </a:lnTo>
                <a:lnTo>
                  <a:pt x="6192" y="4524"/>
                </a:lnTo>
                <a:lnTo>
                  <a:pt x="6231" y="4523"/>
                </a:lnTo>
                <a:lnTo>
                  <a:pt x="6268" y="4520"/>
                </a:lnTo>
                <a:lnTo>
                  <a:pt x="6306" y="4515"/>
                </a:lnTo>
                <a:lnTo>
                  <a:pt x="6344" y="4508"/>
                </a:lnTo>
                <a:lnTo>
                  <a:pt x="6382" y="4500"/>
                </a:lnTo>
                <a:lnTo>
                  <a:pt x="6419" y="4489"/>
                </a:lnTo>
                <a:lnTo>
                  <a:pt x="6455" y="4476"/>
                </a:lnTo>
                <a:lnTo>
                  <a:pt x="6489" y="4462"/>
                </a:lnTo>
                <a:lnTo>
                  <a:pt x="6524" y="4445"/>
                </a:lnTo>
                <a:lnTo>
                  <a:pt x="6557" y="4428"/>
                </a:lnTo>
                <a:lnTo>
                  <a:pt x="6590" y="4409"/>
                </a:lnTo>
                <a:lnTo>
                  <a:pt x="6622" y="4388"/>
                </a:lnTo>
                <a:lnTo>
                  <a:pt x="6653" y="4367"/>
                </a:lnTo>
                <a:lnTo>
                  <a:pt x="6683" y="4343"/>
                </a:lnTo>
                <a:lnTo>
                  <a:pt x="6711" y="4318"/>
                </a:lnTo>
                <a:lnTo>
                  <a:pt x="6738" y="4292"/>
                </a:lnTo>
                <a:lnTo>
                  <a:pt x="6738" y="4292"/>
                </a:lnTo>
                <a:lnTo>
                  <a:pt x="6759" y="4271"/>
                </a:lnTo>
                <a:lnTo>
                  <a:pt x="6779" y="4249"/>
                </a:lnTo>
                <a:lnTo>
                  <a:pt x="6797" y="4226"/>
                </a:lnTo>
                <a:lnTo>
                  <a:pt x="6816" y="4202"/>
                </a:lnTo>
                <a:lnTo>
                  <a:pt x="6833" y="4178"/>
                </a:lnTo>
                <a:lnTo>
                  <a:pt x="6849" y="4153"/>
                </a:lnTo>
                <a:lnTo>
                  <a:pt x="6866" y="4127"/>
                </a:lnTo>
                <a:lnTo>
                  <a:pt x="6880" y="4101"/>
                </a:lnTo>
                <a:lnTo>
                  <a:pt x="6894" y="4074"/>
                </a:lnTo>
                <a:lnTo>
                  <a:pt x="6906" y="4047"/>
                </a:lnTo>
                <a:lnTo>
                  <a:pt x="6918" y="4020"/>
                </a:lnTo>
                <a:lnTo>
                  <a:pt x="6927" y="3992"/>
                </a:lnTo>
                <a:lnTo>
                  <a:pt x="6937" y="3963"/>
                </a:lnTo>
                <a:lnTo>
                  <a:pt x="6946" y="3935"/>
                </a:lnTo>
                <a:lnTo>
                  <a:pt x="6952" y="3906"/>
                </a:lnTo>
                <a:lnTo>
                  <a:pt x="6959" y="3875"/>
                </a:lnTo>
                <a:lnTo>
                  <a:pt x="6963" y="3846"/>
                </a:lnTo>
                <a:lnTo>
                  <a:pt x="6967" y="3816"/>
                </a:lnTo>
                <a:lnTo>
                  <a:pt x="6969" y="3786"/>
                </a:lnTo>
                <a:lnTo>
                  <a:pt x="6971" y="3754"/>
                </a:lnTo>
                <a:lnTo>
                  <a:pt x="6969" y="3724"/>
                </a:lnTo>
                <a:lnTo>
                  <a:pt x="6968" y="3693"/>
                </a:lnTo>
                <a:lnTo>
                  <a:pt x="6965" y="3662"/>
                </a:lnTo>
                <a:lnTo>
                  <a:pt x="6961" y="3631"/>
                </a:lnTo>
                <a:lnTo>
                  <a:pt x="6955" y="3599"/>
                </a:lnTo>
                <a:lnTo>
                  <a:pt x="6948" y="3568"/>
                </a:lnTo>
                <a:lnTo>
                  <a:pt x="6939" y="3537"/>
                </a:lnTo>
                <a:lnTo>
                  <a:pt x="6929" y="3505"/>
                </a:lnTo>
                <a:lnTo>
                  <a:pt x="6918" y="3475"/>
                </a:lnTo>
                <a:lnTo>
                  <a:pt x="6905" y="3444"/>
                </a:lnTo>
                <a:lnTo>
                  <a:pt x="6889" y="3412"/>
                </a:lnTo>
                <a:lnTo>
                  <a:pt x="6873" y="3382"/>
                </a:lnTo>
                <a:lnTo>
                  <a:pt x="6873" y="3382"/>
                </a:lnTo>
                <a:lnTo>
                  <a:pt x="6909" y="3370"/>
                </a:lnTo>
                <a:lnTo>
                  <a:pt x="6945" y="3356"/>
                </a:lnTo>
                <a:lnTo>
                  <a:pt x="6979" y="3342"/>
                </a:lnTo>
                <a:lnTo>
                  <a:pt x="7013" y="3326"/>
                </a:lnTo>
                <a:lnTo>
                  <a:pt x="7047" y="3310"/>
                </a:lnTo>
                <a:lnTo>
                  <a:pt x="7080" y="3291"/>
                </a:lnTo>
                <a:lnTo>
                  <a:pt x="7112" y="3272"/>
                </a:lnTo>
                <a:lnTo>
                  <a:pt x="7145" y="3252"/>
                </a:lnTo>
                <a:lnTo>
                  <a:pt x="7176" y="3231"/>
                </a:lnTo>
                <a:lnTo>
                  <a:pt x="7206" y="3208"/>
                </a:lnTo>
                <a:lnTo>
                  <a:pt x="7236" y="3183"/>
                </a:lnTo>
                <a:lnTo>
                  <a:pt x="7265" y="3158"/>
                </a:lnTo>
                <a:lnTo>
                  <a:pt x="7293" y="3132"/>
                </a:lnTo>
                <a:lnTo>
                  <a:pt x="7321" y="3105"/>
                </a:lnTo>
                <a:lnTo>
                  <a:pt x="7347" y="3076"/>
                </a:lnTo>
                <a:lnTo>
                  <a:pt x="7372" y="3047"/>
                </a:lnTo>
                <a:lnTo>
                  <a:pt x="7372" y="3047"/>
                </a:lnTo>
                <a:lnTo>
                  <a:pt x="7405" y="3076"/>
                </a:lnTo>
                <a:lnTo>
                  <a:pt x="7438" y="3106"/>
                </a:lnTo>
                <a:lnTo>
                  <a:pt x="7468" y="3137"/>
                </a:lnTo>
                <a:lnTo>
                  <a:pt x="7500" y="3170"/>
                </a:lnTo>
                <a:lnTo>
                  <a:pt x="7529" y="3202"/>
                </a:lnTo>
                <a:lnTo>
                  <a:pt x="7558" y="3236"/>
                </a:lnTo>
                <a:lnTo>
                  <a:pt x="7585" y="3271"/>
                </a:lnTo>
                <a:lnTo>
                  <a:pt x="7612" y="3306"/>
                </a:lnTo>
                <a:lnTo>
                  <a:pt x="7639" y="3342"/>
                </a:lnTo>
                <a:lnTo>
                  <a:pt x="7664" y="3378"/>
                </a:lnTo>
                <a:lnTo>
                  <a:pt x="7688" y="3416"/>
                </a:lnTo>
                <a:lnTo>
                  <a:pt x="7712" y="3453"/>
                </a:lnTo>
                <a:lnTo>
                  <a:pt x="7734" y="3491"/>
                </a:lnTo>
                <a:lnTo>
                  <a:pt x="7755" y="3531"/>
                </a:lnTo>
                <a:lnTo>
                  <a:pt x="7775" y="3570"/>
                </a:lnTo>
                <a:lnTo>
                  <a:pt x="7795" y="3611"/>
                </a:lnTo>
                <a:lnTo>
                  <a:pt x="7813" y="3652"/>
                </a:lnTo>
                <a:lnTo>
                  <a:pt x="7831" y="3694"/>
                </a:lnTo>
                <a:lnTo>
                  <a:pt x="7847" y="3736"/>
                </a:lnTo>
                <a:lnTo>
                  <a:pt x="7862" y="3778"/>
                </a:lnTo>
                <a:lnTo>
                  <a:pt x="7876" y="3821"/>
                </a:lnTo>
                <a:lnTo>
                  <a:pt x="7889" y="3865"/>
                </a:lnTo>
                <a:lnTo>
                  <a:pt x="7901" y="3909"/>
                </a:lnTo>
                <a:lnTo>
                  <a:pt x="7911" y="3953"/>
                </a:lnTo>
                <a:lnTo>
                  <a:pt x="7920" y="3999"/>
                </a:lnTo>
                <a:lnTo>
                  <a:pt x="7928" y="4044"/>
                </a:lnTo>
                <a:lnTo>
                  <a:pt x="7936" y="4090"/>
                </a:lnTo>
                <a:lnTo>
                  <a:pt x="7941" y="4136"/>
                </a:lnTo>
                <a:lnTo>
                  <a:pt x="7945" y="4183"/>
                </a:lnTo>
                <a:lnTo>
                  <a:pt x="7949" y="4229"/>
                </a:lnTo>
                <a:lnTo>
                  <a:pt x="7951" y="4277"/>
                </a:lnTo>
                <a:lnTo>
                  <a:pt x="7952" y="4324"/>
                </a:lnTo>
                <a:lnTo>
                  <a:pt x="7952" y="4324"/>
                </a:lnTo>
                <a:lnTo>
                  <a:pt x="7951" y="4364"/>
                </a:lnTo>
                <a:lnTo>
                  <a:pt x="7950" y="4404"/>
                </a:lnTo>
                <a:lnTo>
                  <a:pt x="7948" y="4444"/>
                </a:lnTo>
                <a:lnTo>
                  <a:pt x="7944" y="4483"/>
                </a:lnTo>
                <a:lnTo>
                  <a:pt x="7940" y="4523"/>
                </a:lnTo>
                <a:lnTo>
                  <a:pt x="7935" y="4562"/>
                </a:lnTo>
                <a:lnTo>
                  <a:pt x="7929" y="4601"/>
                </a:lnTo>
                <a:lnTo>
                  <a:pt x="7923" y="4639"/>
                </a:lnTo>
                <a:lnTo>
                  <a:pt x="7915" y="4677"/>
                </a:lnTo>
                <a:lnTo>
                  <a:pt x="7906" y="4715"/>
                </a:lnTo>
                <a:lnTo>
                  <a:pt x="7897" y="4753"/>
                </a:lnTo>
                <a:lnTo>
                  <a:pt x="7887" y="4791"/>
                </a:lnTo>
                <a:lnTo>
                  <a:pt x="7876" y="4827"/>
                </a:lnTo>
                <a:lnTo>
                  <a:pt x="7864" y="4863"/>
                </a:lnTo>
                <a:lnTo>
                  <a:pt x="7851" y="4900"/>
                </a:lnTo>
                <a:lnTo>
                  <a:pt x="7838" y="4936"/>
                </a:lnTo>
                <a:lnTo>
                  <a:pt x="7824" y="4970"/>
                </a:lnTo>
                <a:lnTo>
                  <a:pt x="7809" y="5006"/>
                </a:lnTo>
                <a:lnTo>
                  <a:pt x="7794" y="5041"/>
                </a:lnTo>
                <a:lnTo>
                  <a:pt x="7778" y="5074"/>
                </a:lnTo>
                <a:lnTo>
                  <a:pt x="7760" y="5108"/>
                </a:lnTo>
                <a:lnTo>
                  <a:pt x="7742" y="5141"/>
                </a:lnTo>
                <a:lnTo>
                  <a:pt x="7724" y="5175"/>
                </a:lnTo>
                <a:lnTo>
                  <a:pt x="7705" y="5206"/>
                </a:lnTo>
                <a:lnTo>
                  <a:pt x="7685" y="5239"/>
                </a:lnTo>
                <a:lnTo>
                  <a:pt x="7664" y="5270"/>
                </a:lnTo>
                <a:lnTo>
                  <a:pt x="7642" y="5301"/>
                </a:lnTo>
                <a:lnTo>
                  <a:pt x="7621" y="5332"/>
                </a:lnTo>
                <a:lnTo>
                  <a:pt x="7598" y="5361"/>
                </a:lnTo>
                <a:lnTo>
                  <a:pt x="7575" y="5391"/>
                </a:lnTo>
                <a:lnTo>
                  <a:pt x="7552" y="5419"/>
                </a:lnTo>
                <a:lnTo>
                  <a:pt x="7527" y="5448"/>
                </a:lnTo>
                <a:lnTo>
                  <a:pt x="7527" y="5448"/>
                </a:lnTo>
                <a:lnTo>
                  <a:pt x="7540" y="5479"/>
                </a:lnTo>
                <a:lnTo>
                  <a:pt x="7553" y="5509"/>
                </a:lnTo>
                <a:lnTo>
                  <a:pt x="7563" y="5540"/>
                </a:lnTo>
                <a:lnTo>
                  <a:pt x="7574" y="5572"/>
                </a:lnTo>
                <a:lnTo>
                  <a:pt x="7584" y="5604"/>
                </a:lnTo>
                <a:lnTo>
                  <a:pt x="7594" y="5636"/>
                </a:lnTo>
                <a:lnTo>
                  <a:pt x="7602" y="5669"/>
                </a:lnTo>
                <a:lnTo>
                  <a:pt x="7610" y="5702"/>
                </a:lnTo>
                <a:lnTo>
                  <a:pt x="7616" y="5735"/>
                </a:lnTo>
                <a:lnTo>
                  <a:pt x="7622" y="5769"/>
                </a:lnTo>
                <a:lnTo>
                  <a:pt x="7627" y="5802"/>
                </a:lnTo>
                <a:lnTo>
                  <a:pt x="7632" y="5836"/>
                </a:lnTo>
                <a:lnTo>
                  <a:pt x="7635" y="5870"/>
                </a:lnTo>
                <a:lnTo>
                  <a:pt x="7637" y="5905"/>
                </a:lnTo>
                <a:lnTo>
                  <a:pt x="7638" y="5940"/>
                </a:lnTo>
                <a:lnTo>
                  <a:pt x="7638" y="5975"/>
                </a:lnTo>
                <a:lnTo>
                  <a:pt x="7638" y="5975"/>
                </a:lnTo>
                <a:close/>
              </a:path>
            </a:pathLst>
          </a:custGeom>
          <a:solidFill>
            <a:schemeClr val="bg2"/>
          </a:solidFill>
          <a:ln w="3175">
            <a:solidFill>
              <a:srgbClr val="89C542"/>
            </a:solidFill>
          </a:ln>
        </p:spPr>
        <p:txBody>
          <a:bodyPr vert="horz" wrap="square" lIns="121844" tIns="60922" rIns="121844" bIns="60922" numCol="1" anchor="t" anchorCtr="0" compatLnSpc="1">
            <a:prstTxWarp prst="textNoShape">
              <a:avLst/>
            </a:prstTxWarp>
          </a:bodyPr>
          <a:lstStyle/>
          <a:p>
            <a:pPr defTabSz="913851">
              <a:defRPr/>
            </a:pPr>
            <a:endParaRPr lang="en-US" sz="2399" kern="0" dirty="0">
              <a:solidFill>
                <a:prstClr val="black"/>
              </a:solidFill>
              <a:latin typeface="Arial"/>
            </a:endParaRPr>
          </a:p>
        </p:txBody>
      </p:sp>
      <p:grpSp>
        <p:nvGrpSpPr>
          <p:cNvPr id="50" name="Group 49"/>
          <p:cNvGrpSpPr>
            <a:grpSpLocks noChangeAspect="1"/>
          </p:cNvGrpSpPr>
          <p:nvPr/>
        </p:nvGrpSpPr>
        <p:grpSpPr>
          <a:xfrm>
            <a:off x="5749267" y="3395351"/>
            <a:ext cx="397828" cy="411737"/>
            <a:chOff x="668338" y="2692401"/>
            <a:chExt cx="681038" cy="704850"/>
          </a:xfrm>
          <a:solidFill>
            <a:schemeClr val="bg2"/>
          </a:solidFill>
        </p:grpSpPr>
        <p:sp>
          <p:nvSpPr>
            <p:cNvPr id="51" name="Freeform 25"/>
            <p:cNvSpPr>
              <a:spLocks/>
            </p:cNvSpPr>
            <p:nvPr/>
          </p:nvSpPr>
          <p:spPr bwMode="auto">
            <a:xfrm>
              <a:off x="728663" y="2692401"/>
              <a:ext cx="431800" cy="704850"/>
            </a:xfrm>
            <a:custGeom>
              <a:avLst/>
              <a:gdLst>
                <a:gd name="T0" fmla="*/ 109 w 146"/>
                <a:gd name="T1" fmla="*/ 24 h 238"/>
                <a:gd name="T2" fmla="*/ 72 w 146"/>
                <a:gd name="T3" fmla="*/ 1 h 238"/>
                <a:gd name="T4" fmla="*/ 63 w 146"/>
                <a:gd name="T5" fmla="*/ 1 h 238"/>
                <a:gd name="T6" fmla="*/ 57 w 146"/>
                <a:gd name="T7" fmla="*/ 7 h 238"/>
                <a:gd name="T8" fmla="*/ 42 w 146"/>
                <a:gd name="T9" fmla="*/ 47 h 238"/>
                <a:gd name="T10" fmla="*/ 44 w 146"/>
                <a:gd name="T11" fmla="*/ 58 h 238"/>
                <a:gd name="T12" fmla="*/ 52 w 146"/>
                <a:gd name="T13" fmla="*/ 61 h 238"/>
                <a:gd name="T14" fmla="*/ 55 w 146"/>
                <a:gd name="T15" fmla="*/ 60 h 238"/>
                <a:gd name="T16" fmla="*/ 70 w 146"/>
                <a:gd name="T17" fmla="*/ 55 h 238"/>
                <a:gd name="T18" fmla="*/ 71 w 146"/>
                <a:gd name="T19" fmla="*/ 57 h 238"/>
                <a:gd name="T20" fmla="*/ 8 w 146"/>
                <a:gd name="T21" fmla="*/ 217 h 238"/>
                <a:gd name="T22" fmla="*/ 3 w 146"/>
                <a:gd name="T23" fmla="*/ 232 h 238"/>
                <a:gd name="T24" fmla="*/ 13 w 146"/>
                <a:gd name="T25" fmla="*/ 238 h 238"/>
                <a:gd name="T26" fmla="*/ 18 w 146"/>
                <a:gd name="T27" fmla="*/ 237 h 238"/>
                <a:gd name="T28" fmla="*/ 91 w 146"/>
                <a:gd name="T29" fmla="*/ 48 h 238"/>
                <a:gd name="T30" fmla="*/ 91 w 146"/>
                <a:gd name="T31" fmla="*/ 48 h 238"/>
                <a:gd name="T32" fmla="*/ 107 w 146"/>
                <a:gd name="T33" fmla="*/ 42 h 238"/>
                <a:gd name="T34" fmla="*/ 114 w 146"/>
                <a:gd name="T35" fmla="*/ 34 h 238"/>
                <a:gd name="T36" fmla="*/ 109 w 146"/>
                <a:gd name="T37" fmla="*/ 2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6" h="238">
                  <a:moveTo>
                    <a:pt x="109" y="24"/>
                  </a:moveTo>
                  <a:cubicBezTo>
                    <a:pt x="72" y="1"/>
                    <a:pt x="72" y="1"/>
                    <a:pt x="72" y="1"/>
                  </a:cubicBezTo>
                  <a:cubicBezTo>
                    <a:pt x="70" y="0"/>
                    <a:pt x="66" y="0"/>
                    <a:pt x="63" y="1"/>
                  </a:cubicBezTo>
                  <a:cubicBezTo>
                    <a:pt x="60" y="2"/>
                    <a:pt x="58" y="4"/>
                    <a:pt x="57" y="7"/>
                  </a:cubicBezTo>
                  <a:cubicBezTo>
                    <a:pt x="42" y="47"/>
                    <a:pt x="42" y="47"/>
                    <a:pt x="42" y="47"/>
                  </a:cubicBezTo>
                  <a:cubicBezTo>
                    <a:pt x="40" y="50"/>
                    <a:pt x="41" y="55"/>
                    <a:pt x="44" y="58"/>
                  </a:cubicBezTo>
                  <a:cubicBezTo>
                    <a:pt x="46" y="60"/>
                    <a:pt x="49" y="61"/>
                    <a:pt x="52" y="61"/>
                  </a:cubicBezTo>
                  <a:cubicBezTo>
                    <a:pt x="53" y="61"/>
                    <a:pt x="54" y="61"/>
                    <a:pt x="55" y="60"/>
                  </a:cubicBezTo>
                  <a:cubicBezTo>
                    <a:pt x="70" y="55"/>
                    <a:pt x="70" y="55"/>
                    <a:pt x="70" y="55"/>
                  </a:cubicBezTo>
                  <a:cubicBezTo>
                    <a:pt x="70" y="56"/>
                    <a:pt x="70" y="56"/>
                    <a:pt x="71" y="57"/>
                  </a:cubicBezTo>
                  <a:cubicBezTo>
                    <a:pt x="72" y="61"/>
                    <a:pt x="116" y="166"/>
                    <a:pt x="8" y="217"/>
                  </a:cubicBezTo>
                  <a:cubicBezTo>
                    <a:pt x="3" y="219"/>
                    <a:pt x="0" y="226"/>
                    <a:pt x="3" y="232"/>
                  </a:cubicBezTo>
                  <a:cubicBezTo>
                    <a:pt x="5" y="236"/>
                    <a:pt x="9" y="238"/>
                    <a:pt x="13" y="238"/>
                  </a:cubicBezTo>
                  <a:cubicBezTo>
                    <a:pt x="14" y="238"/>
                    <a:pt x="16" y="238"/>
                    <a:pt x="18" y="237"/>
                  </a:cubicBezTo>
                  <a:cubicBezTo>
                    <a:pt x="146" y="177"/>
                    <a:pt x="91" y="49"/>
                    <a:pt x="91" y="48"/>
                  </a:cubicBezTo>
                  <a:cubicBezTo>
                    <a:pt x="91" y="48"/>
                    <a:pt x="91" y="48"/>
                    <a:pt x="91" y="48"/>
                  </a:cubicBezTo>
                  <a:cubicBezTo>
                    <a:pt x="107" y="42"/>
                    <a:pt x="107" y="42"/>
                    <a:pt x="107" y="42"/>
                  </a:cubicBezTo>
                  <a:cubicBezTo>
                    <a:pt x="110" y="41"/>
                    <a:pt x="113" y="38"/>
                    <a:pt x="114" y="34"/>
                  </a:cubicBezTo>
                  <a:cubicBezTo>
                    <a:pt x="114" y="30"/>
                    <a:pt x="112" y="26"/>
                    <a:pt x="109" y="24"/>
                  </a:cubicBezTo>
                  <a:close/>
                </a:path>
              </a:pathLst>
            </a:custGeom>
            <a:grpFill/>
            <a:ln w="9525">
              <a:solidFill>
                <a:srgbClr val="89C542"/>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52" name="Freeform 26"/>
            <p:cNvSpPr>
              <a:spLocks/>
            </p:cNvSpPr>
            <p:nvPr/>
          </p:nvSpPr>
          <p:spPr bwMode="auto">
            <a:xfrm>
              <a:off x="668338" y="2952751"/>
              <a:ext cx="211138" cy="211138"/>
            </a:xfrm>
            <a:custGeom>
              <a:avLst/>
              <a:gdLst>
                <a:gd name="T0" fmla="*/ 51 w 71"/>
                <a:gd name="T1" fmla="*/ 36 h 71"/>
                <a:gd name="T2" fmla="*/ 67 w 71"/>
                <a:gd name="T3" fmla="*/ 20 h 71"/>
                <a:gd name="T4" fmla="*/ 67 w 71"/>
                <a:gd name="T5" fmla="*/ 5 h 71"/>
                <a:gd name="T6" fmla="*/ 51 w 71"/>
                <a:gd name="T7" fmla="*/ 5 h 71"/>
                <a:gd name="T8" fmla="*/ 36 w 71"/>
                <a:gd name="T9" fmla="*/ 20 h 71"/>
                <a:gd name="T10" fmla="*/ 20 w 71"/>
                <a:gd name="T11" fmla="*/ 5 h 71"/>
                <a:gd name="T12" fmla="*/ 4 w 71"/>
                <a:gd name="T13" fmla="*/ 5 h 71"/>
                <a:gd name="T14" fmla="*/ 4 w 71"/>
                <a:gd name="T15" fmla="*/ 20 h 71"/>
                <a:gd name="T16" fmla="*/ 20 w 71"/>
                <a:gd name="T17" fmla="*/ 36 h 71"/>
                <a:gd name="T18" fmla="*/ 4 w 71"/>
                <a:gd name="T19" fmla="*/ 52 h 71"/>
                <a:gd name="T20" fmla="*/ 4 w 71"/>
                <a:gd name="T21" fmla="*/ 68 h 71"/>
                <a:gd name="T22" fmla="*/ 12 w 71"/>
                <a:gd name="T23" fmla="*/ 71 h 71"/>
                <a:gd name="T24" fmla="*/ 20 w 71"/>
                <a:gd name="T25" fmla="*/ 68 h 71"/>
                <a:gd name="T26" fmla="*/ 36 w 71"/>
                <a:gd name="T27" fmla="*/ 52 h 71"/>
                <a:gd name="T28" fmla="*/ 51 w 71"/>
                <a:gd name="T29" fmla="*/ 68 h 71"/>
                <a:gd name="T30" fmla="*/ 59 w 71"/>
                <a:gd name="T31" fmla="*/ 71 h 71"/>
                <a:gd name="T32" fmla="*/ 67 w 71"/>
                <a:gd name="T33" fmla="*/ 68 h 71"/>
                <a:gd name="T34" fmla="*/ 67 w 71"/>
                <a:gd name="T35" fmla="*/ 52 h 71"/>
                <a:gd name="T36" fmla="*/ 51 w 71"/>
                <a:gd name="T37" fmla="*/ 36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1" h="71">
                  <a:moveTo>
                    <a:pt x="51" y="36"/>
                  </a:moveTo>
                  <a:cubicBezTo>
                    <a:pt x="67" y="20"/>
                    <a:pt x="67" y="20"/>
                    <a:pt x="67" y="20"/>
                  </a:cubicBezTo>
                  <a:cubicBezTo>
                    <a:pt x="71" y="16"/>
                    <a:pt x="71" y="9"/>
                    <a:pt x="67" y="5"/>
                  </a:cubicBezTo>
                  <a:cubicBezTo>
                    <a:pt x="63" y="0"/>
                    <a:pt x="56" y="0"/>
                    <a:pt x="51" y="5"/>
                  </a:cubicBezTo>
                  <a:cubicBezTo>
                    <a:pt x="36" y="20"/>
                    <a:pt x="36" y="20"/>
                    <a:pt x="36" y="20"/>
                  </a:cubicBezTo>
                  <a:cubicBezTo>
                    <a:pt x="20" y="5"/>
                    <a:pt x="20" y="5"/>
                    <a:pt x="20" y="5"/>
                  </a:cubicBezTo>
                  <a:cubicBezTo>
                    <a:pt x="15" y="0"/>
                    <a:pt x="8" y="0"/>
                    <a:pt x="4" y="5"/>
                  </a:cubicBezTo>
                  <a:cubicBezTo>
                    <a:pt x="0" y="9"/>
                    <a:pt x="0" y="16"/>
                    <a:pt x="4" y="20"/>
                  </a:cubicBezTo>
                  <a:cubicBezTo>
                    <a:pt x="20" y="36"/>
                    <a:pt x="20" y="36"/>
                    <a:pt x="20" y="36"/>
                  </a:cubicBezTo>
                  <a:cubicBezTo>
                    <a:pt x="4" y="52"/>
                    <a:pt x="4" y="52"/>
                    <a:pt x="4" y="52"/>
                  </a:cubicBezTo>
                  <a:cubicBezTo>
                    <a:pt x="0" y="56"/>
                    <a:pt x="0" y="63"/>
                    <a:pt x="4" y="68"/>
                  </a:cubicBezTo>
                  <a:cubicBezTo>
                    <a:pt x="6" y="70"/>
                    <a:pt x="9" y="71"/>
                    <a:pt x="12" y="71"/>
                  </a:cubicBezTo>
                  <a:cubicBezTo>
                    <a:pt x="15" y="71"/>
                    <a:pt x="18" y="70"/>
                    <a:pt x="20" y="68"/>
                  </a:cubicBezTo>
                  <a:cubicBezTo>
                    <a:pt x="36" y="52"/>
                    <a:pt x="36" y="52"/>
                    <a:pt x="36" y="52"/>
                  </a:cubicBezTo>
                  <a:cubicBezTo>
                    <a:pt x="51" y="68"/>
                    <a:pt x="51" y="68"/>
                    <a:pt x="51" y="68"/>
                  </a:cubicBezTo>
                  <a:cubicBezTo>
                    <a:pt x="53" y="70"/>
                    <a:pt x="56" y="71"/>
                    <a:pt x="59" y="71"/>
                  </a:cubicBezTo>
                  <a:cubicBezTo>
                    <a:pt x="62" y="71"/>
                    <a:pt x="65" y="70"/>
                    <a:pt x="67" y="68"/>
                  </a:cubicBezTo>
                  <a:cubicBezTo>
                    <a:pt x="71" y="63"/>
                    <a:pt x="71" y="56"/>
                    <a:pt x="67" y="52"/>
                  </a:cubicBezTo>
                  <a:lnTo>
                    <a:pt x="51" y="36"/>
                  </a:lnTo>
                  <a:close/>
                </a:path>
              </a:pathLst>
            </a:custGeom>
            <a:grpFill/>
            <a:ln w="9525">
              <a:solidFill>
                <a:srgbClr val="89C542"/>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53" name="Freeform 27"/>
            <p:cNvSpPr>
              <a:spLocks/>
            </p:cNvSpPr>
            <p:nvPr/>
          </p:nvSpPr>
          <p:spPr bwMode="auto">
            <a:xfrm>
              <a:off x="1050926" y="3175001"/>
              <a:ext cx="212725" cy="207963"/>
            </a:xfrm>
            <a:custGeom>
              <a:avLst/>
              <a:gdLst>
                <a:gd name="T0" fmla="*/ 52 w 72"/>
                <a:gd name="T1" fmla="*/ 36 h 70"/>
                <a:gd name="T2" fmla="*/ 67 w 72"/>
                <a:gd name="T3" fmla="*/ 20 h 70"/>
                <a:gd name="T4" fmla="*/ 67 w 72"/>
                <a:gd name="T5" fmla="*/ 4 h 70"/>
                <a:gd name="T6" fmla="*/ 52 w 72"/>
                <a:gd name="T7" fmla="*/ 4 h 70"/>
                <a:gd name="T8" fmla="*/ 36 w 72"/>
                <a:gd name="T9" fmla="*/ 20 h 70"/>
                <a:gd name="T10" fmla="*/ 20 w 72"/>
                <a:gd name="T11" fmla="*/ 4 h 70"/>
                <a:gd name="T12" fmla="*/ 4 w 72"/>
                <a:gd name="T13" fmla="*/ 4 h 70"/>
                <a:gd name="T14" fmla="*/ 4 w 72"/>
                <a:gd name="T15" fmla="*/ 20 h 70"/>
                <a:gd name="T16" fmla="*/ 20 w 72"/>
                <a:gd name="T17" fmla="*/ 36 h 70"/>
                <a:gd name="T18" fmla="*/ 4 w 72"/>
                <a:gd name="T19" fmla="*/ 51 h 70"/>
                <a:gd name="T20" fmla="*/ 4 w 72"/>
                <a:gd name="T21" fmla="*/ 67 h 70"/>
                <a:gd name="T22" fmla="*/ 12 w 72"/>
                <a:gd name="T23" fmla="*/ 70 h 70"/>
                <a:gd name="T24" fmla="*/ 20 w 72"/>
                <a:gd name="T25" fmla="*/ 67 h 70"/>
                <a:gd name="T26" fmla="*/ 36 w 72"/>
                <a:gd name="T27" fmla="*/ 51 h 70"/>
                <a:gd name="T28" fmla="*/ 52 w 72"/>
                <a:gd name="T29" fmla="*/ 67 h 70"/>
                <a:gd name="T30" fmla="*/ 60 w 72"/>
                <a:gd name="T31" fmla="*/ 70 h 70"/>
                <a:gd name="T32" fmla="*/ 67 w 72"/>
                <a:gd name="T33" fmla="*/ 67 h 70"/>
                <a:gd name="T34" fmla="*/ 67 w 72"/>
                <a:gd name="T35" fmla="*/ 51 h 70"/>
                <a:gd name="T36" fmla="*/ 52 w 72"/>
                <a:gd name="T37" fmla="*/ 3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2" h="70">
                  <a:moveTo>
                    <a:pt x="52" y="36"/>
                  </a:moveTo>
                  <a:cubicBezTo>
                    <a:pt x="67" y="20"/>
                    <a:pt x="67" y="20"/>
                    <a:pt x="67" y="20"/>
                  </a:cubicBezTo>
                  <a:cubicBezTo>
                    <a:pt x="72" y="15"/>
                    <a:pt x="72" y="8"/>
                    <a:pt x="67" y="4"/>
                  </a:cubicBezTo>
                  <a:cubicBezTo>
                    <a:pt x="63" y="0"/>
                    <a:pt x="56" y="0"/>
                    <a:pt x="52" y="4"/>
                  </a:cubicBezTo>
                  <a:cubicBezTo>
                    <a:pt x="36" y="20"/>
                    <a:pt x="36" y="20"/>
                    <a:pt x="36" y="20"/>
                  </a:cubicBezTo>
                  <a:cubicBezTo>
                    <a:pt x="20" y="4"/>
                    <a:pt x="20" y="4"/>
                    <a:pt x="20" y="4"/>
                  </a:cubicBezTo>
                  <a:cubicBezTo>
                    <a:pt x="16" y="0"/>
                    <a:pt x="9" y="0"/>
                    <a:pt x="4" y="4"/>
                  </a:cubicBezTo>
                  <a:cubicBezTo>
                    <a:pt x="0" y="8"/>
                    <a:pt x="0" y="15"/>
                    <a:pt x="4" y="20"/>
                  </a:cubicBezTo>
                  <a:cubicBezTo>
                    <a:pt x="20" y="36"/>
                    <a:pt x="20" y="36"/>
                    <a:pt x="20" y="36"/>
                  </a:cubicBezTo>
                  <a:cubicBezTo>
                    <a:pt x="4" y="51"/>
                    <a:pt x="4" y="51"/>
                    <a:pt x="4" y="51"/>
                  </a:cubicBezTo>
                  <a:cubicBezTo>
                    <a:pt x="0" y="56"/>
                    <a:pt x="0" y="63"/>
                    <a:pt x="4" y="67"/>
                  </a:cubicBezTo>
                  <a:cubicBezTo>
                    <a:pt x="7" y="69"/>
                    <a:pt x="9" y="70"/>
                    <a:pt x="12" y="70"/>
                  </a:cubicBezTo>
                  <a:cubicBezTo>
                    <a:pt x="15" y="70"/>
                    <a:pt x="18" y="69"/>
                    <a:pt x="20" y="67"/>
                  </a:cubicBezTo>
                  <a:cubicBezTo>
                    <a:pt x="36" y="51"/>
                    <a:pt x="36" y="51"/>
                    <a:pt x="36" y="51"/>
                  </a:cubicBezTo>
                  <a:cubicBezTo>
                    <a:pt x="52" y="67"/>
                    <a:pt x="52" y="67"/>
                    <a:pt x="52" y="67"/>
                  </a:cubicBezTo>
                  <a:cubicBezTo>
                    <a:pt x="54" y="69"/>
                    <a:pt x="57" y="70"/>
                    <a:pt x="60" y="70"/>
                  </a:cubicBezTo>
                  <a:cubicBezTo>
                    <a:pt x="62" y="70"/>
                    <a:pt x="65" y="69"/>
                    <a:pt x="67" y="67"/>
                  </a:cubicBezTo>
                  <a:cubicBezTo>
                    <a:pt x="72" y="63"/>
                    <a:pt x="72" y="56"/>
                    <a:pt x="67" y="51"/>
                  </a:cubicBezTo>
                  <a:lnTo>
                    <a:pt x="52" y="36"/>
                  </a:lnTo>
                  <a:close/>
                </a:path>
              </a:pathLst>
            </a:custGeom>
            <a:grpFill/>
            <a:ln w="9525">
              <a:solidFill>
                <a:srgbClr val="89C542"/>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sp>
          <p:nvSpPr>
            <p:cNvPr id="54" name="Freeform 28"/>
            <p:cNvSpPr>
              <a:spLocks noEditPoints="1"/>
            </p:cNvSpPr>
            <p:nvPr/>
          </p:nvSpPr>
          <p:spPr bwMode="auto">
            <a:xfrm>
              <a:off x="1112838" y="2884488"/>
              <a:ext cx="236538" cy="236538"/>
            </a:xfrm>
            <a:custGeom>
              <a:avLst/>
              <a:gdLst>
                <a:gd name="T0" fmla="*/ 40 w 80"/>
                <a:gd name="T1" fmla="*/ 80 h 80"/>
                <a:gd name="T2" fmla="*/ 0 w 80"/>
                <a:gd name="T3" fmla="*/ 40 h 80"/>
                <a:gd name="T4" fmla="*/ 40 w 80"/>
                <a:gd name="T5" fmla="*/ 0 h 80"/>
                <a:gd name="T6" fmla="*/ 80 w 80"/>
                <a:gd name="T7" fmla="*/ 40 h 80"/>
                <a:gd name="T8" fmla="*/ 40 w 80"/>
                <a:gd name="T9" fmla="*/ 80 h 80"/>
                <a:gd name="T10" fmla="*/ 40 w 80"/>
                <a:gd name="T11" fmla="*/ 21 h 80"/>
                <a:gd name="T12" fmla="*/ 21 w 80"/>
                <a:gd name="T13" fmla="*/ 40 h 80"/>
                <a:gd name="T14" fmla="*/ 40 w 80"/>
                <a:gd name="T15" fmla="*/ 60 h 80"/>
                <a:gd name="T16" fmla="*/ 59 w 80"/>
                <a:gd name="T17" fmla="*/ 40 h 80"/>
                <a:gd name="T18" fmla="*/ 40 w 80"/>
                <a:gd name="T19" fmla="*/ 2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40" y="80"/>
                  </a:moveTo>
                  <a:cubicBezTo>
                    <a:pt x="18" y="80"/>
                    <a:pt x="0" y="62"/>
                    <a:pt x="0" y="40"/>
                  </a:cubicBezTo>
                  <a:cubicBezTo>
                    <a:pt x="0" y="18"/>
                    <a:pt x="18" y="0"/>
                    <a:pt x="40" y="0"/>
                  </a:cubicBezTo>
                  <a:cubicBezTo>
                    <a:pt x="62" y="0"/>
                    <a:pt x="80" y="18"/>
                    <a:pt x="80" y="40"/>
                  </a:cubicBezTo>
                  <a:cubicBezTo>
                    <a:pt x="80" y="62"/>
                    <a:pt x="62" y="80"/>
                    <a:pt x="40" y="80"/>
                  </a:cubicBezTo>
                  <a:close/>
                  <a:moveTo>
                    <a:pt x="40" y="21"/>
                  </a:moveTo>
                  <a:cubicBezTo>
                    <a:pt x="29" y="21"/>
                    <a:pt x="21" y="30"/>
                    <a:pt x="21" y="40"/>
                  </a:cubicBezTo>
                  <a:cubicBezTo>
                    <a:pt x="21" y="51"/>
                    <a:pt x="29" y="60"/>
                    <a:pt x="40" y="60"/>
                  </a:cubicBezTo>
                  <a:cubicBezTo>
                    <a:pt x="50" y="60"/>
                    <a:pt x="59" y="51"/>
                    <a:pt x="59" y="40"/>
                  </a:cubicBezTo>
                  <a:cubicBezTo>
                    <a:pt x="59" y="30"/>
                    <a:pt x="50" y="21"/>
                    <a:pt x="40" y="21"/>
                  </a:cubicBezTo>
                  <a:close/>
                </a:path>
              </a:pathLst>
            </a:custGeom>
            <a:grpFill/>
            <a:ln w="9525">
              <a:solidFill>
                <a:srgbClr val="89C542"/>
              </a:solidFill>
              <a:round/>
              <a:headEnd/>
              <a:tailEnd/>
            </a:ln>
            <a:extLst/>
          </p:spPr>
          <p:txBody>
            <a:bodyPr vert="horz" wrap="square" lIns="121844" tIns="60922" rIns="121844" bIns="60922" numCol="1" anchor="t" anchorCtr="0" compatLnSpc="1">
              <a:prstTxWarp prst="textNoShape">
                <a:avLst/>
              </a:prstTxWarp>
            </a:bodyPr>
            <a:lstStyle/>
            <a:p>
              <a:pPr defTabSz="913851">
                <a:defRPr/>
              </a:pPr>
              <a:endParaRPr lang="en-IE" sz="2399" dirty="0">
                <a:solidFill>
                  <a:srgbClr val="000000"/>
                </a:solidFill>
                <a:latin typeface="Arial"/>
              </a:endParaRPr>
            </a:p>
          </p:txBody>
        </p:sp>
      </p:grpSp>
      <p:sp>
        <p:nvSpPr>
          <p:cNvPr id="55" name="Slide Number Placeholder 4">
            <a:extLst>
              <a:ext uri="{FF2B5EF4-FFF2-40B4-BE49-F238E27FC236}">
                <a16:creationId xmlns:a16="http://schemas.microsoft.com/office/drawing/2014/main" id="{0FDB2B86-1077-DD47-9496-C3C3C433CA8B}"/>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6</a:t>
            </a:fld>
            <a:endParaRPr lang="en-US" sz="1400" dirty="0">
              <a:solidFill>
                <a:schemeClr val="bg1"/>
              </a:solidFill>
            </a:endParaRPr>
          </a:p>
        </p:txBody>
      </p:sp>
      <p:sp>
        <p:nvSpPr>
          <p:cNvPr id="5" name="TextBox 4">
            <a:extLst>
              <a:ext uri="{FF2B5EF4-FFF2-40B4-BE49-F238E27FC236}">
                <a16:creationId xmlns:a16="http://schemas.microsoft.com/office/drawing/2014/main" id="{7E0815F8-E0BA-0743-8FF3-DDC706A2014D}"/>
              </a:ext>
            </a:extLst>
          </p:cNvPr>
          <p:cNvSpPr txBox="1"/>
          <p:nvPr/>
        </p:nvSpPr>
        <p:spPr>
          <a:xfrm>
            <a:off x="9471323" y="5007368"/>
            <a:ext cx="2698153" cy="954107"/>
          </a:xfrm>
          <a:prstGeom prst="rect">
            <a:avLst/>
          </a:prstGeom>
          <a:noFill/>
        </p:spPr>
        <p:txBody>
          <a:bodyPr wrap="square" rtlCol="0">
            <a:spAutoFit/>
          </a:bodyPr>
          <a:lstStyle/>
          <a:p>
            <a:endParaRPr lang="en-CA" sz="1400" dirty="0">
              <a:solidFill>
                <a:schemeClr val="bg1"/>
              </a:solidFill>
              <a:hlinkClick r:id="rId2">
                <a:extLst>
                  <a:ext uri="{A12FA001-AC4F-418D-AE19-62706E023703}">
                    <ahyp:hlinkClr xmlns:ahyp="http://schemas.microsoft.com/office/drawing/2018/hyperlinkcolor" val="tx"/>
                  </a:ext>
                </a:extLst>
              </a:hlinkClick>
            </a:endParaRPr>
          </a:p>
          <a:p>
            <a:r>
              <a:rPr lang="en-CA" sz="1400" u="sng" dirty="0">
                <a:solidFill>
                  <a:srgbClr val="FFFF00"/>
                </a:solidFill>
                <a:hlinkClick r:id="rId2">
                  <a:extLst>
                    <a:ext uri="{A12FA001-AC4F-418D-AE19-62706E023703}">
                      <ahyp:hlinkClr xmlns:ahyp="http://schemas.microsoft.com/office/drawing/2018/hyperlinkcolor" val="tx"/>
                    </a:ext>
                  </a:extLst>
                </a:hlinkClick>
              </a:rPr>
              <a:t>Source: </a:t>
            </a:r>
          </a:p>
          <a:p>
            <a:r>
              <a:rPr lang="en-CA" sz="1400" dirty="0">
                <a:solidFill>
                  <a:schemeClr val="bg1"/>
                </a:solidFill>
                <a:hlinkClick r:id="rId2">
                  <a:extLst>
                    <a:ext uri="{A12FA001-AC4F-418D-AE19-62706E023703}">
                      <ahyp:hlinkClr xmlns:ahyp="http://schemas.microsoft.com/office/drawing/2018/hyperlinkcolor" val="tx"/>
                    </a:ext>
                  </a:extLst>
                </a:hlinkClick>
              </a:rPr>
              <a:t>https://www.youtube.com/watch?v=-RiiXVUrAdc&amp;feature=youtu.be</a:t>
            </a:r>
            <a:endParaRPr lang="en-US" sz="1400" dirty="0">
              <a:solidFill>
                <a:schemeClr val="bg1"/>
              </a:solidFill>
            </a:endParaRPr>
          </a:p>
        </p:txBody>
      </p:sp>
      <p:sp>
        <p:nvSpPr>
          <p:cNvPr id="6" name="TextBox 5">
            <a:extLst>
              <a:ext uri="{FF2B5EF4-FFF2-40B4-BE49-F238E27FC236}">
                <a16:creationId xmlns:a16="http://schemas.microsoft.com/office/drawing/2014/main" id="{9922B157-AB41-6A4E-A2F1-502E2D91193E}"/>
              </a:ext>
            </a:extLst>
          </p:cNvPr>
          <p:cNvSpPr txBox="1"/>
          <p:nvPr/>
        </p:nvSpPr>
        <p:spPr>
          <a:xfrm>
            <a:off x="9493846" y="4161401"/>
            <a:ext cx="2840670" cy="923330"/>
          </a:xfrm>
          <a:prstGeom prst="rect">
            <a:avLst/>
          </a:prstGeom>
          <a:noFill/>
        </p:spPr>
        <p:txBody>
          <a:bodyPr wrap="square" rtlCol="0">
            <a:spAutoFit/>
          </a:bodyPr>
          <a:lstStyle/>
          <a:p>
            <a:r>
              <a:rPr lang="en-US" b="1" dirty="0">
                <a:solidFill>
                  <a:schemeClr val="bg1"/>
                </a:solidFill>
              </a:rPr>
              <a:t>Watch A Short Video</a:t>
            </a:r>
          </a:p>
          <a:p>
            <a:r>
              <a:rPr lang="en-US" b="1" dirty="0">
                <a:solidFill>
                  <a:schemeClr val="bg1"/>
                </a:solidFill>
              </a:rPr>
              <a:t>“The 3 Break-throughs that Enabled AI” (2Min)</a:t>
            </a:r>
          </a:p>
        </p:txBody>
      </p:sp>
    </p:spTree>
    <p:extLst>
      <p:ext uri="{BB962C8B-B14F-4D97-AF65-F5344CB8AC3E}">
        <p14:creationId xmlns:p14="http://schemas.microsoft.com/office/powerpoint/2010/main" val="1232807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0E6FBB-5124-414F-B435-C39A45F018CA}"/>
              </a:ext>
            </a:extLst>
          </p:cNvPr>
          <p:cNvSpPr/>
          <p:nvPr/>
        </p:nvSpPr>
        <p:spPr>
          <a:xfrm>
            <a:off x="3934207" y="1258037"/>
            <a:ext cx="8004313" cy="4832092"/>
          </a:xfrm>
          <a:prstGeom prst="rect">
            <a:avLst/>
          </a:prstGeom>
        </p:spPr>
        <p:txBody>
          <a:bodyPr wrap="square">
            <a:spAutoFit/>
          </a:bodyPr>
          <a:lstStyle/>
          <a:p>
            <a:r>
              <a:rPr lang="en-CA" sz="2800" dirty="0">
                <a:solidFill>
                  <a:schemeClr val="bg1"/>
                </a:solidFill>
              </a:rPr>
              <a:t>According to a 2022 Forbes Insights survey of 300-plus executives, </a:t>
            </a:r>
            <a:r>
              <a:rPr lang="en-CA" sz="2800" b="1" dirty="0">
                <a:solidFill>
                  <a:schemeClr val="bg1"/>
                </a:solidFill>
              </a:rPr>
              <a:t>95% believe that AI will play an important role in their responsibilities in the near-future. </a:t>
            </a:r>
          </a:p>
          <a:p>
            <a:endParaRPr lang="en-CA" sz="2800" b="1" dirty="0">
              <a:solidFill>
                <a:schemeClr val="bg1"/>
              </a:solidFill>
            </a:endParaRPr>
          </a:p>
          <a:p>
            <a:r>
              <a:rPr lang="en-CA" sz="2800" dirty="0">
                <a:solidFill>
                  <a:schemeClr val="bg1"/>
                </a:solidFill>
              </a:rPr>
              <a:t>The most-cited business benefits from AI  are:</a:t>
            </a:r>
          </a:p>
          <a:p>
            <a:endParaRPr lang="en-CA" sz="2800" dirty="0">
              <a:solidFill>
                <a:schemeClr val="bg1"/>
              </a:solidFill>
            </a:endParaRPr>
          </a:p>
          <a:p>
            <a:pPr lvl="1">
              <a:buFont typeface="Arial" panose="020B0604020202020204" pitchFamily="34" charset="0"/>
              <a:buChar char="•"/>
            </a:pPr>
            <a:r>
              <a:rPr lang="en-CA" sz="2800" dirty="0">
                <a:solidFill>
                  <a:schemeClr val="bg1"/>
                </a:solidFill>
              </a:rPr>
              <a:t> 40%: Increased productivity</a:t>
            </a:r>
          </a:p>
          <a:p>
            <a:pPr lvl="1">
              <a:buFont typeface="Arial" panose="020B0604020202020204" pitchFamily="34" charset="0"/>
              <a:buChar char="•"/>
            </a:pPr>
            <a:r>
              <a:rPr lang="en-CA" sz="2800" dirty="0">
                <a:solidFill>
                  <a:schemeClr val="bg1"/>
                </a:solidFill>
              </a:rPr>
              <a:t> 28%: Reduced operating costs</a:t>
            </a:r>
          </a:p>
          <a:p>
            <a:pPr lvl="1">
              <a:buFont typeface="Arial" panose="020B0604020202020204" pitchFamily="34" charset="0"/>
              <a:buChar char="•"/>
            </a:pPr>
            <a:r>
              <a:rPr lang="en-CA" sz="2800" dirty="0">
                <a:solidFill>
                  <a:schemeClr val="bg1"/>
                </a:solidFill>
              </a:rPr>
              <a:t> 21%: Improved speed to market</a:t>
            </a:r>
          </a:p>
          <a:p>
            <a:pPr lvl="1">
              <a:buFont typeface="Arial" panose="020B0604020202020204" pitchFamily="34" charset="0"/>
              <a:buChar char="•"/>
            </a:pPr>
            <a:r>
              <a:rPr lang="en-CA" sz="2800" dirty="0">
                <a:solidFill>
                  <a:schemeClr val="bg1"/>
                </a:solidFill>
              </a:rPr>
              <a:t> 20%: Transformed business and operating models</a:t>
            </a:r>
          </a:p>
        </p:txBody>
      </p:sp>
      <p:sp>
        <p:nvSpPr>
          <p:cNvPr id="3" name="Rectangle 2">
            <a:extLst>
              <a:ext uri="{FF2B5EF4-FFF2-40B4-BE49-F238E27FC236}">
                <a16:creationId xmlns:a16="http://schemas.microsoft.com/office/drawing/2014/main" id="{17AF5E65-5D64-4445-B377-B4A4A143E8CB}"/>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4" name="Title 1">
            <a:extLst>
              <a:ext uri="{FF2B5EF4-FFF2-40B4-BE49-F238E27FC236}">
                <a16:creationId xmlns:a16="http://schemas.microsoft.com/office/drawing/2014/main" id="{90BFE679-55DE-FE46-8A3D-4759DC98BC8A}"/>
              </a:ext>
            </a:extLst>
          </p:cNvPr>
          <p:cNvSpPr txBox="1">
            <a:spLocks/>
          </p:cNvSpPr>
          <p:nvPr/>
        </p:nvSpPr>
        <p:spPr>
          <a:xfrm>
            <a:off x="626366" y="74507"/>
            <a:ext cx="10673542" cy="768957"/>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0" dirty="0">
                <a:solidFill>
                  <a:prstClr val="white"/>
                </a:solidFill>
                <a:latin typeface="Perpetua Titling MT Light" charset="0"/>
                <a:ea typeface="Perpetua Titling MT Light" charset="0"/>
                <a:cs typeface="Perpetua Titling MT Light" charset="0"/>
              </a:rPr>
              <a:t>AI IS A BUSINESS IMPERATIVE</a:t>
            </a:r>
          </a:p>
        </p:txBody>
      </p:sp>
      <p:pic>
        <p:nvPicPr>
          <p:cNvPr id="5" name="Picture 4">
            <a:extLst>
              <a:ext uri="{FF2B5EF4-FFF2-40B4-BE49-F238E27FC236}">
                <a16:creationId xmlns:a16="http://schemas.microsoft.com/office/drawing/2014/main" id="{ABFE6973-94BC-BE48-9C56-CD553B6D7853}"/>
              </a:ext>
            </a:extLst>
          </p:cNvPr>
          <p:cNvPicPr>
            <a:picLocks noChangeAspect="1"/>
          </p:cNvPicPr>
          <p:nvPr/>
        </p:nvPicPr>
        <p:blipFill>
          <a:blip r:embed="rId2"/>
          <a:stretch>
            <a:fillRect/>
          </a:stretch>
        </p:blipFill>
        <p:spPr>
          <a:xfrm>
            <a:off x="226390" y="1142631"/>
            <a:ext cx="3626065" cy="4754585"/>
          </a:xfrm>
          <a:prstGeom prst="rect">
            <a:avLst/>
          </a:prstGeom>
        </p:spPr>
      </p:pic>
      <p:sp>
        <p:nvSpPr>
          <p:cNvPr id="6" name="Slide Number Placeholder 4">
            <a:extLst>
              <a:ext uri="{FF2B5EF4-FFF2-40B4-BE49-F238E27FC236}">
                <a16:creationId xmlns:a16="http://schemas.microsoft.com/office/drawing/2014/main" id="{64D3546E-A8E1-5348-9175-543E305D9D7C}"/>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7</a:t>
            </a:fld>
            <a:endParaRPr lang="en-US" sz="1400" dirty="0">
              <a:solidFill>
                <a:schemeClr val="bg1"/>
              </a:solidFill>
            </a:endParaRPr>
          </a:p>
        </p:txBody>
      </p:sp>
    </p:spTree>
    <p:extLst>
      <p:ext uri="{BB962C8B-B14F-4D97-AF65-F5344CB8AC3E}">
        <p14:creationId xmlns:p14="http://schemas.microsoft.com/office/powerpoint/2010/main" val="1755136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9D58526-87BC-494A-B223-393795D76A95}"/>
              </a:ext>
            </a:extLst>
          </p:cNvPr>
          <p:cNvSpPr/>
          <p:nvPr/>
        </p:nvSpPr>
        <p:spPr>
          <a:xfrm>
            <a:off x="463296" y="1152174"/>
            <a:ext cx="11423904" cy="4832092"/>
          </a:xfrm>
          <a:prstGeom prst="rect">
            <a:avLst/>
          </a:prstGeom>
        </p:spPr>
        <p:txBody>
          <a:bodyPr wrap="square">
            <a:spAutoFit/>
          </a:bodyPr>
          <a:lstStyle/>
          <a:p>
            <a:pPr marL="342900" indent="-342900">
              <a:buFont typeface="Arial" panose="020B0604020202020204" pitchFamily="34" charset="0"/>
              <a:buChar char="•"/>
            </a:pPr>
            <a:r>
              <a:rPr lang="en-CA" sz="2800" b="1" dirty="0">
                <a:solidFill>
                  <a:srgbClr val="FFFF00"/>
                </a:solidFill>
                <a:latin typeface="Garamond" panose="02020404030301010803" pitchFamily="18" charset="0"/>
                <a:cs typeface="Arial" panose="020B0604020202020204" pitchFamily="34" charset="0"/>
              </a:rPr>
              <a:t>Worldwide business spending on AI is expected to hit $50 billion this year and $110 billion annually by 2024</a:t>
            </a:r>
            <a:r>
              <a:rPr lang="en-CA" sz="2800" dirty="0">
                <a:solidFill>
                  <a:schemeClr val="bg1"/>
                </a:solidFill>
                <a:latin typeface="Garamond" panose="02020404030301010803" pitchFamily="18" charset="0"/>
                <a:cs typeface="Arial" panose="020B0604020202020204" pitchFamily="34" charset="0"/>
              </a:rPr>
              <a:t>, even after the global economic slump caused by the COVID-19 pandemic, according to a </a:t>
            </a:r>
            <a:r>
              <a:rPr lang="en-CA" sz="2800" dirty="0">
                <a:solidFill>
                  <a:schemeClr val="bg1"/>
                </a:solidFill>
                <a:latin typeface="Garamond" panose="02020404030301010803" pitchFamily="18" charset="0"/>
                <a:cs typeface="Arial" panose="020B0604020202020204" pitchFamily="34" charset="0"/>
                <a:hlinkClick r:id="rId2">
                  <a:extLst>
                    <a:ext uri="{A12FA001-AC4F-418D-AE19-62706E023703}">
                      <ahyp:hlinkClr xmlns:ahyp="http://schemas.microsoft.com/office/drawing/2018/hyperlinkcolor" val="tx"/>
                    </a:ext>
                  </a:extLst>
                </a:hlinkClick>
              </a:rPr>
              <a:t>forecast</a:t>
            </a:r>
            <a:r>
              <a:rPr lang="en-CA" sz="2800" dirty="0">
                <a:solidFill>
                  <a:schemeClr val="bg1"/>
                </a:solidFill>
                <a:latin typeface="Garamond" panose="02020404030301010803" pitchFamily="18" charset="0"/>
                <a:cs typeface="Arial" panose="020B0604020202020204" pitchFamily="34" charset="0"/>
              </a:rPr>
              <a:t> released in August by technology research firm IDC.</a:t>
            </a:r>
          </a:p>
          <a:p>
            <a:r>
              <a:rPr lang="en-CA" sz="2800" dirty="0">
                <a:solidFill>
                  <a:schemeClr val="bg1"/>
                </a:solidFill>
                <a:latin typeface="Garamond" panose="02020404030301010803" pitchFamily="18" charset="0"/>
                <a:cs typeface="Arial" panose="020B0604020202020204" pitchFamily="34" charset="0"/>
              </a:rPr>
              <a:t> </a:t>
            </a:r>
          </a:p>
          <a:p>
            <a:pPr marL="342900" indent="-342900">
              <a:buFont typeface="Arial" panose="020B0604020202020204" pitchFamily="34" charset="0"/>
              <a:buChar char="•"/>
            </a:pPr>
            <a:r>
              <a:rPr lang="en-CA" sz="2800" b="1" dirty="0">
                <a:solidFill>
                  <a:srgbClr val="FFFF00"/>
                </a:solidFill>
                <a:latin typeface="Garamond" panose="02020404030301010803" pitchFamily="18" charset="0"/>
                <a:cs typeface="Arial" panose="020B0604020202020204" pitchFamily="34" charset="0"/>
              </a:rPr>
              <a:t>Retail and banking industries spent the most this year</a:t>
            </a:r>
            <a:r>
              <a:rPr lang="en-CA" sz="2800" dirty="0">
                <a:solidFill>
                  <a:schemeClr val="bg1"/>
                </a:solidFill>
                <a:latin typeface="Garamond" panose="02020404030301010803" pitchFamily="18" charset="0"/>
                <a:cs typeface="Arial" panose="020B0604020202020204" pitchFamily="34" charset="0"/>
              </a:rPr>
              <a:t>, at more than $5 billion each. </a:t>
            </a:r>
          </a:p>
          <a:p>
            <a:endParaRPr lang="en-CA" sz="2800" dirty="0">
              <a:solidFill>
                <a:schemeClr val="bg1"/>
              </a:solidFill>
              <a:latin typeface="Garamond" panose="02020404030301010803" pitchFamily="18" charset="0"/>
              <a:cs typeface="Arial" panose="020B0604020202020204" pitchFamily="34" charset="0"/>
            </a:endParaRPr>
          </a:p>
          <a:p>
            <a:pPr marL="342900" indent="-342900">
              <a:buFont typeface="Arial" panose="020B0604020202020204" pitchFamily="34" charset="0"/>
              <a:buChar char="•"/>
            </a:pPr>
            <a:r>
              <a:rPr lang="en-CA" sz="2800" dirty="0">
                <a:solidFill>
                  <a:schemeClr val="bg1"/>
                </a:solidFill>
                <a:latin typeface="Garamond" panose="02020404030301010803" pitchFamily="18" charset="0"/>
                <a:cs typeface="Arial" panose="020B0604020202020204" pitchFamily="34" charset="0"/>
              </a:rPr>
              <a:t>IDC expects the media industry and federal and central governments will invest most heavily between 2018 and 2023 and predicts that </a:t>
            </a:r>
            <a:r>
              <a:rPr lang="en-CA" sz="2800" b="1" dirty="0">
                <a:solidFill>
                  <a:srgbClr val="FFFF00"/>
                </a:solidFill>
                <a:latin typeface="Garamond" panose="02020404030301010803" pitchFamily="18" charset="0"/>
                <a:cs typeface="Arial" panose="020B0604020202020204" pitchFamily="34" charset="0"/>
              </a:rPr>
              <a:t>AI will be “the disrupting influence changing entire industries over the next decade</a:t>
            </a:r>
            <a:r>
              <a:rPr lang="en-CA" sz="2800" dirty="0">
                <a:solidFill>
                  <a:srgbClr val="FFFF00"/>
                </a:solidFill>
                <a:latin typeface="Garamond" panose="02020404030301010803" pitchFamily="18" charset="0"/>
                <a:cs typeface="Arial" panose="020B0604020202020204" pitchFamily="34" charset="0"/>
              </a:rPr>
              <a:t>.”</a:t>
            </a:r>
            <a:endParaRPr lang="en-US" sz="2800" dirty="0">
              <a:solidFill>
                <a:srgbClr val="FFFF00"/>
              </a:solidFill>
              <a:latin typeface="Garamond" panose="02020404030301010803" pitchFamily="18" charset="0"/>
              <a:cs typeface="Arial" panose="020B0604020202020204" pitchFamily="34" charset="0"/>
            </a:endParaRPr>
          </a:p>
        </p:txBody>
      </p:sp>
      <p:sp>
        <p:nvSpPr>
          <p:cNvPr id="3" name="Rectangle 2">
            <a:extLst>
              <a:ext uri="{FF2B5EF4-FFF2-40B4-BE49-F238E27FC236}">
                <a16:creationId xmlns:a16="http://schemas.microsoft.com/office/drawing/2014/main" id="{30127037-EE9F-CB40-9EA3-2EB53EF98918}"/>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4" name="Title 1">
            <a:extLst>
              <a:ext uri="{FF2B5EF4-FFF2-40B4-BE49-F238E27FC236}">
                <a16:creationId xmlns:a16="http://schemas.microsoft.com/office/drawing/2014/main" id="{1FFD5C17-3A60-2C4D-85AB-2D2C931539C2}"/>
              </a:ext>
            </a:extLst>
          </p:cNvPr>
          <p:cNvSpPr txBox="1">
            <a:spLocks/>
          </p:cNvSpPr>
          <p:nvPr/>
        </p:nvSpPr>
        <p:spPr>
          <a:xfrm>
            <a:off x="626366" y="74507"/>
            <a:ext cx="10673542" cy="768957"/>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0" dirty="0">
                <a:solidFill>
                  <a:prstClr val="white"/>
                </a:solidFill>
                <a:latin typeface="Perpetua Titling MT Light" charset="0"/>
                <a:ea typeface="Perpetua Titling MT Light" charset="0"/>
                <a:cs typeface="Perpetua Titling MT Light" charset="0"/>
              </a:rPr>
              <a:t>AI IS BIG BUSINESS</a:t>
            </a:r>
          </a:p>
        </p:txBody>
      </p:sp>
      <p:sp>
        <p:nvSpPr>
          <p:cNvPr id="5" name="Slide Number Placeholder 4">
            <a:extLst>
              <a:ext uri="{FF2B5EF4-FFF2-40B4-BE49-F238E27FC236}">
                <a16:creationId xmlns:a16="http://schemas.microsoft.com/office/drawing/2014/main" id="{C43AE79F-9CE0-6D47-813C-061139C734ED}"/>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8</a:t>
            </a:fld>
            <a:endParaRPr lang="en-US" sz="1400" dirty="0">
              <a:solidFill>
                <a:schemeClr val="bg1"/>
              </a:solidFill>
            </a:endParaRPr>
          </a:p>
        </p:txBody>
      </p:sp>
    </p:spTree>
    <p:extLst>
      <p:ext uri="{BB962C8B-B14F-4D97-AF65-F5344CB8AC3E}">
        <p14:creationId xmlns:p14="http://schemas.microsoft.com/office/powerpoint/2010/main" val="1737726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2"/>
            </p:custDataLst>
          </p:nvPr>
        </p:nvGraphicFramePr>
        <p:xfrm>
          <a:off x="1588" y="3373"/>
          <a:ext cx="1587" cy="1587"/>
        </p:xfrm>
        <a:graphic>
          <a:graphicData uri="http://schemas.openxmlformats.org/presentationml/2006/ole">
            <mc:AlternateContent xmlns:mc="http://schemas.openxmlformats.org/markup-compatibility/2006">
              <mc:Choice xmlns:v="urn:schemas-microsoft-com:vml" Requires="v">
                <p:oleObj spid="_x0000_s17436" name="think-cell Slide" r:id="rId6" imgW="352" imgH="318" progId="TCLayout.ActiveDocument.1">
                  <p:embed/>
                </p:oleObj>
              </mc:Choice>
              <mc:Fallback>
                <p:oleObj name="think-cell Slide" r:id="rId6" imgW="352" imgH="318" progId="TCLayout.ActiveDocument.1">
                  <p:embed/>
                  <p:pic>
                    <p:nvPicPr>
                      <p:cNvPr id="4" name="Objekt 3" hidden="1"/>
                      <p:cNvPicPr/>
                      <p:nvPr/>
                    </p:nvPicPr>
                    <p:blipFill>
                      <a:blip r:embed="rId7"/>
                      <a:stretch>
                        <a:fillRect/>
                      </a:stretch>
                    </p:blipFill>
                    <p:spPr>
                      <a:xfrm>
                        <a:off x="1588" y="3373"/>
                        <a:ext cx="1587" cy="1587"/>
                      </a:xfrm>
                      <a:prstGeom prst="rect">
                        <a:avLst/>
                      </a:prstGeom>
                    </p:spPr>
                  </p:pic>
                </p:oleObj>
              </mc:Fallback>
            </mc:AlternateContent>
          </a:graphicData>
        </a:graphic>
      </p:graphicFrame>
      <p:sp>
        <p:nvSpPr>
          <p:cNvPr id="3" name="Rechteck 2" hidden="1"/>
          <p:cNvSpPr/>
          <p:nvPr>
            <p:custDataLst>
              <p:tags r:id="rId3"/>
            </p:custDataLst>
          </p:nvPr>
        </p:nvSpPr>
        <p:spPr>
          <a:xfrm>
            <a:off x="1" y="1786"/>
            <a:ext cx="158667" cy="158667"/>
          </a:xfrm>
          <a:prstGeom prst="rect">
            <a:avLst/>
          </a:prstGeom>
          <a:solidFill>
            <a:srgbClr val="D2D2DA"/>
          </a:solidFill>
          <a:ln w="12700" cap="sq" cmpd="sng" algn="ctr">
            <a:noFill/>
            <a:prstDash val="solid"/>
            <a:miter lim="800000"/>
            <a:tailEnd type="none"/>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13958">
              <a:spcBef>
                <a:spcPct val="0"/>
              </a:spcBef>
              <a:spcAft>
                <a:spcPct val="0"/>
              </a:spcAft>
              <a:defRPr/>
            </a:pPr>
            <a:endParaRPr lang="en-US" sz="2399" kern="0" dirty="0">
              <a:solidFill>
                <a:srgbClr val="2E2E38"/>
              </a:solidFill>
              <a:latin typeface="EYInterstate Light" panose="02000506000000020004" pitchFamily="2" charset="0"/>
              <a:cs typeface="Arial" panose="020B0604020202020204" pitchFamily="34" charset="0"/>
              <a:sym typeface="EYInterstate Light" panose="02000506000000020004" pitchFamily="2" charset="0"/>
            </a:endParaRPr>
          </a:p>
        </p:txBody>
      </p:sp>
      <p:sp>
        <p:nvSpPr>
          <p:cNvPr id="25" name="Text Placeholder 5">
            <a:extLst>
              <a:ext uri="{FF2B5EF4-FFF2-40B4-BE49-F238E27FC236}">
                <a16:creationId xmlns:a16="http://schemas.microsoft.com/office/drawing/2014/main" id="{942441DD-82A1-4679-A1D4-25594F841680}"/>
              </a:ext>
            </a:extLst>
          </p:cNvPr>
          <p:cNvSpPr txBox="1">
            <a:spLocks/>
          </p:cNvSpPr>
          <p:nvPr/>
        </p:nvSpPr>
        <p:spPr>
          <a:xfrm>
            <a:off x="609600" y="429407"/>
            <a:ext cx="10972800" cy="859952"/>
          </a:xfrm>
          <a:prstGeom prst="rect">
            <a:avLst/>
          </a:prstGeom>
        </p:spPr>
        <p:txBody>
          <a:bodyPr anchor="ctr"/>
          <a:lstStyle>
            <a:lvl1pPr marL="0" marR="0" indent="0" algn="l" defTabSz="914400" rtl="0" eaLnBrk="1" fontAlgn="auto" latinLnBrk="0" hangingPunct="1">
              <a:lnSpc>
                <a:spcPct val="100000"/>
              </a:lnSpc>
              <a:spcBef>
                <a:spcPct val="20000"/>
              </a:spcBef>
              <a:spcAft>
                <a:spcPts val="0"/>
              </a:spcAft>
              <a:buClr>
                <a:schemeClr val="accent2"/>
              </a:buClr>
              <a:buSzPct val="70000"/>
              <a:buFont typeface="Arial" pitchFamily="34" charset="0"/>
              <a:buNone/>
              <a:tabLst/>
              <a:defRPr kumimoji="0" lang="de-CH" sz="2400" b="1" i="0" u="none" strike="noStrike" kern="1200" cap="none" spc="0" normalizeH="0" baseline="0" noProof="0" smtClean="0">
                <a:ln>
                  <a:noFill/>
                </a:ln>
                <a:solidFill>
                  <a:srgbClr val="FFFFFF"/>
                </a:solidFill>
                <a:effectLst/>
                <a:uLnTx/>
                <a:uFillTx/>
                <a:latin typeface="EYInterstate " charset="0"/>
                <a:ea typeface="+mn-ea"/>
                <a:cs typeface="Arial" pitchFamily="34" charset="0"/>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3958">
              <a:buClr>
                <a:srgbClr val="FFE600"/>
              </a:buClr>
              <a:defRPr/>
            </a:pPr>
            <a:endParaRPr lang="en-US" sz="2399" b="0" dirty="0">
              <a:solidFill>
                <a:prstClr val="white"/>
              </a:solidFill>
            </a:endParaRPr>
          </a:p>
        </p:txBody>
      </p:sp>
      <p:sp>
        <p:nvSpPr>
          <p:cNvPr id="9" name="Text Placeholder 8">
            <a:extLst>
              <a:ext uri="{FF2B5EF4-FFF2-40B4-BE49-F238E27FC236}">
                <a16:creationId xmlns:a16="http://schemas.microsoft.com/office/drawing/2014/main" id="{9E93226D-7C30-4D2A-B3E8-973FCFCAA580}"/>
              </a:ext>
            </a:extLst>
          </p:cNvPr>
          <p:cNvSpPr>
            <a:spLocks noGrp="1"/>
          </p:cNvSpPr>
          <p:nvPr>
            <p:ph type="body" sz="quarter" idx="1"/>
          </p:nvPr>
        </p:nvSpPr>
        <p:spPr>
          <a:xfrm>
            <a:off x="-1" y="98578"/>
            <a:ext cx="12215469" cy="914401"/>
          </a:xfrm>
        </p:spPr>
        <p:txBody>
          <a:bodyPr>
            <a:noAutofit/>
          </a:bodyPr>
          <a:lstStyle/>
          <a:p>
            <a:pPr defTabSz="1645920">
              <a:spcBef>
                <a:spcPct val="0"/>
              </a:spcBef>
            </a:pPr>
            <a:r>
              <a:rPr lang="en-CA" sz="3800" dirty="0">
                <a:solidFill>
                  <a:prstClr val="white"/>
                </a:solidFill>
                <a:latin typeface="Perpetua Titling MT Light" charset="0"/>
              </a:rPr>
              <a:t>The AI Global Market is predicted to be $387B in 2022 and &amp; 1.394 B by 2029.</a:t>
            </a:r>
          </a:p>
        </p:txBody>
      </p:sp>
      <p:sp>
        <p:nvSpPr>
          <p:cNvPr id="6" name="Slide Number Placeholder 5">
            <a:extLst>
              <a:ext uri="{FF2B5EF4-FFF2-40B4-BE49-F238E27FC236}">
                <a16:creationId xmlns:a16="http://schemas.microsoft.com/office/drawing/2014/main" id="{F0ED235F-F4AA-4694-9CBC-F1F5C5E36287}"/>
              </a:ext>
            </a:extLst>
          </p:cNvPr>
          <p:cNvSpPr>
            <a:spLocks noGrp="1"/>
          </p:cNvSpPr>
          <p:nvPr>
            <p:ph type="sldNum" sz="quarter" idx="4294967295"/>
          </p:nvPr>
        </p:nvSpPr>
        <p:spPr>
          <a:xfrm>
            <a:off x="0" y="6471709"/>
            <a:ext cx="662517" cy="179917"/>
          </a:xfrm>
          <a:prstGeom prst="rect">
            <a:avLst/>
          </a:prstGeom>
        </p:spPr>
        <p:txBody>
          <a:bodyPr/>
          <a:lstStyle/>
          <a:p>
            <a:r>
              <a:rPr lang="en-GB" sz="933" dirty="0"/>
              <a:t>Page </a:t>
            </a:r>
            <a:fld id="{F1BC30E3-FFE5-4B91-AA19-87A149EBB9EE}" type="slidenum">
              <a:rPr sz="933"/>
              <a:pPr/>
              <a:t>9</a:t>
            </a:fld>
            <a:endParaRPr sz="933" dirty="0"/>
          </a:p>
        </p:txBody>
      </p:sp>
      <p:sp>
        <p:nvSpPr>
          <p:cNvPr id="5" name="TextBox 4">
            <a:extLst>
              <a:ext uri="{FF2B5EF4-FFF2-40B4-BE49-F238E27FC236}">
                <a16:creationId xmlns:a16="http://schemas.microsoft.com/office/drawing/2014/main" id="{0A635125-8C87-0E41-8484-3AFF3F7E888F}"/>
              </a:ext>
            </a:extLst>
          </p:cNvPr>
          <p:cNvSpPr txBox="1"/>
          <p:nvPr/>
        </p:nvSpPr>
        <p:spPr>
          <a:xfrm>
            <a:off x="8974055" y="2296048"/>
            <a:ext cx="2768909" cy="2031325"/>
          </a:xfrm>
          <a:prstGeom prst="rect">
            <a:avLst/>
          </a:prstGeom>
          <a:solidFill>
            <a:schemeClr val="tx1"/>
          </a:solidFill>
        </p:spPr>
        <p:txBody>
          <a:bodyPr wrap="square" rtlCol="0">
            <a:spAutoFit/>
          </a:bodyPr>
          <a:lstStyle/>
          <a:p>
            <a:pPr algn="ctr"/>
            <a:r>
              <a:rPr lang="en-CA" b="1" dirty="0">
                <a:solidFill>
                  <a:schemeClr val="bg1"/>
                </a:solidFill>
              </a:rPr>
              <a:t>The narrative has shifted from asking whether AI is viable to declaring that AI is now a requirement for most enterprises that are trying to compete on a global level.</a:t>
            </a:r>
            <a:endParaRPr lang="en-US" b="1" dirty="0">
              <a:solidFill>
                <a:schemeClr val="bg1"/>
              </a:solidFill>
            </a:endParaRPr>
          </a:p>
        </p:txBody>
      </p:sp>
      <p:sp>
        <p:nvSpPr>
          <p:cNvPr id="12" name="Slide Number Placeholder 4">
            <a:extLst>
              <a:ext uri="{FF2B5EF4-FFF2-40B4-BE49-F238E27FC236}">
                <a16:creationId xmlns:a16="http://schemas.microsoft.com/office/drawing/2014/main" id="{1C3B720C-AA5B-B84C-A4C4-06AD79CE852B}"/>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pPr/>
              <a:t>9</a:t>
            </a:fld>
            <a:endParaRPr lang="en-US" sz="1400" dirty="0"/>
          </a:p>
        </p:txBody>
      </p:sp>
      <p:sp>
        <p:nvSpPr>
          <p:cNvPr id="7" name="TextBox 6">
            <a:extLst>
              <a:ext uri="{FF2B5EF4-FFF2-40B4-BE49-F238E27FC236}">
                <a16:creationId xmlns:a16="http://schemas.microsoft.com/office/drawing/2014/main" id="{C48B19A0-4D8F-D943-A355-E0F11CAFB14A}"/>
              </a:ext>
            </a:extLst>
          </p:cNvPr>
          <p:cNvSpPr txBox="1"/>
          <p:nvPr/>
        </p:nvSpPr>
        <p:spPr>
          <a:xfrm>
            <a:off x="662517" y="1533465"/>
            <a:ext cx="7871791" cy="5324535"/>
          </a:xfrm>
          <a:prstGeom prst="rect">
            <a:avLst/>
          </a:prstGeom>
          <a:noFill/>
        </p:spPr>
        <p:txBody>
          <a:bodyPr wrap="square" rtlCol="0">
            <a:spAutoFit/>
          </a:bodyPr>
          <a:lstStyle/>
          <a:p>
            <a:pPr marL="285750" indent="-285750">
              <a:buFont typeface="Arial" panose="020B0604020202020204" pitchFamily="34" charset="0"/>
              <a:buChar char="•"/>
            </a:pPr>
            <a:r>
              <a:rPr lang="en-CA" sz="2000" dirty="0"/>
              <a:t>The global </a:t>
            </a:r>
            <a:r>
              <a:rPr lang="en-CA" sz="2000" u="sng" dirty="0">
                <a:hlinkClick r:id="rId8"/>
              </a:rPr>
              <a:t>AI market size</a:t>
            </a:r>
            <a:r>
              <a:rPr lang="en-CA" sz="2000" dirty="0"/>
              <a:t> is projected to grow from USD 387.45 billion in 2022 to </a:t>
            </a:r>
            <a:r>
              <a:rPr lang="en-CA" sz="2000" b="1" dirty="0"/>
              <a:t>USD 1394.30 billion in 2029</a:t>
            </a:r>
            <a:r>
              <a:rPr lang="en-CA" sz="2000" dirty="0"/>
              <a:t> at a CAGR of 20.1% in the forecast period. </a:t>
            </a:r>
          </a:p>
          <a:p>
            <a:pPr marL="285750" indent="-285750">
              <a:buFont typeface="Arial" panose="020B0604020202020204" pitchFamily="34" charset="0"/>
              <a:buChar char="•"/>
            </a:pPr>
            <a:endParaRPr lang="en-CA" sz="2000" dirty="0"/>
          </a:p>
          <a:p>
            <a:pPr marL="285750" indent="-285750">
              <a:buFont typeface="Arial" panose="020B0604020202020204" pitchFamily="34" charset="0"/>
              <a:buChar char="•"/>
            </a:pPr>
            <a:r>
              <a:rPr lang="en-CA" sz="2000" dirty="0"/>
              <a:t>Growing investment in AI technology by enterprises of all sizes across industries to garner momentum in the next several years. </a:t>
            </a:r>
          </a:p>
          <a:p>
            <a:pPr marL="285750" indent="-285750">
              <a:buFont typeface="Arial" panose="020B0604020202020204" pitchFamily="34" charset="0"/>
              <a:buChar char="•"/>
            </a:pPr>
            <a:endParaRPr lang="en-CA" sz="2000" dirty="0"/>
          </a:p>
          <a:p>
            <a:pPr marL="285750" indent="-285750">
              <a:buFont typeface="Arial" panose="020B0604020202020204" pitchFamily="34" charset="0"/>
              <a:buChar char="•"/>
            </a:pPr>
            <a:r>
              <a:rPr lang="en-CA" sz="2000" dirty="0"/>
              <a:t>Fortune Business Insights™ published this information in its recent report, titled “Artificial Intelligence Market Forecast, 2022-2029.”</a:t>
            </a:r>
          </a:p>
          <a:p>
            <a:pPr marL="285750" indent="-285750">
              <a:buFont typeface="Arial" panose="020B0604020202020204" pitchFamily="34" charset="0"/>
              <a:buChar char="•"/>
            </a:pPr>
            <a:endParaRPr lang="en-CA" sz="2000" dirty="0"/>
          </a:p>
          <a:p>
            <a:pPr marL="285750" indent="-285750">
              <a:buFont typeface="Arial" panose="020B0604020202020204" pitchFamily="34" charset="0"/>
              <a:buChar char="•"/>
            </a:pPr>
            <a:r>
              <a:rPr lang="en-CA" sz="2000" dirty="0"/>
              <a:t>The rising demand for artificial intelligence technology across various induce verticals such as a retail, BFSI, healthcare, food and beverages, automotive, and logistics is significantly contributing towards the growth of the global market.</a:t>
            </a:r>
          </a:p>
          <a:p>
            <a:pPr marL="285750" indent="-285750">
              <a:buFont typeface="Arial" panose="020B0604020202020204" pitchFamily="34" charset="0"/>
              <a:buChar char="•"/>
            </a:pPr>
            <a:br>
              <a:rPr lang="en-CA" sz="2000" dirty="0"/>
            </a:br>
            <a:endParaRPr lang="en-CA" sz="2000" dirty="0"/>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404155427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D6121C-E775-4347-A959-D42C1FE46585}"/>
              </a:ext>
            </a:extLst>
          </p:cNvPr>
          <p:cNvPicPr>
            <a:picLocks noChangeAspect="1"/>
          </p:cNvPicPr>
          <p:nvPr/>
        </p:nvPicPr>
        <p:blipFill rotWithShape="1">
          <a:blip r:embed="rId3"/>
          <a:srcRect t="3614"/>
          <a:stretch/>
        </p:blipFill>
        <p:spPr>
          <a:xfrm>
            <a:off x="0" y="1510424"/>
            <a:ext cx="9373301" cy="5263661"/>
          </a:xfrm>
          <a:prstGeom prst="rect">
            <a:avLst/>
          </a:prstGeom>
        </p:spPr>
      </p:pic>
      <p:sp>
        <p:nvSpPr>
          <p:cNvPr id="5" name="TextBox 4">
            <a:extLst>
              <a:ext uri="{FF2B5EF4-FFF2-40B4-BE49-F238E27FC236}">
                <a16:creationId xmlns:a16="http://schemas.microsoft.com/office/drawing/2014/main" id="{D4C5CA5A-6A12-F341-8962-64F7EE498536}"/>
              </a:ext>
            </a:extLst>
          </p:cNvPr>
          <p:cNvSpPr txBox="1"/>
          <p:nvPr/>
        </p:nvSpPr>
        <p:spPr>
          <a:xfrm>
            <a:off x="152400" y="1453662"/>
            <a:ext cx="1219200" cy="276999"/>
          </a:xfrm>
          <a:prstGeom prst="rect">
            <a:avLst/>
          </a:prstGeom>
          <a:solidFill>
            <a:schemeClr val="tx2"/>
          </a:solidFill>
        </p:spPr>
        <p:txBody>
          <a:bodyPr wrap="square" rtlCol="0">
            <a:spAutoFit/>
          </a:bodyPr>
          <a:lstStyle/>
          <a:p>
            <a:endParaRPr lang="en-US" sz="1200" dirty="0"/>
          </a:p>
        </p:txBody>
      </p:sp>
      <p:sp>
        <p:nvSpPr>
          <p:cNvPr id="6" name="Text Placeholder 8">
            <a:extLst>
              <a:ext uri="{FF2B5EF4-FFF2-40B4-BE49-F238E27FC236}">
                <a16:creationId xmlns:a16="http://schemas.microsoft.com/office/drawing/2014/main" id="{AF71643A-9276-C547-B68F-08CE3D30E5B2}"/>
              </a:ext>
            </a:extLst>
          </p:cNvPr>
          <p:cNvSpPr txBox="1">
            <a:spLocks/>
          </p:cNvSpPr>
          <p:nvPr/>
        </p:nvSpPr>
        <p:spPr bwMode="auto">
          <a:xfrm>
            <a:off x="304800" y="141009"/>
            <a:ext cx="11417300" cy="914401"/>
          </a:xfrm>
          <a:prstGeom prst="rect">
            <a:avLst/>
          </a:prstGeom>
          <a:noFill/>
          <a:ln w="9525">
            <a:noFill/>
            <a:miter lim="800000"/>
            <a:headEnd/>
            <a:tailEnd/>
          </a:ln>
        </p:spPr>
        <p:txBody>
          <a:bodyPr vert="horz" wrap="square" lIns="0" tIns="0" rIns="0" bIns="0" numCol="1" anchor="t" anchorCtr="0" compatLnSpc="1">
            <a:prstTxWarp prst="textNoShape">
              <a:avLst/>
            </a:prstTxWarp>
            <a:normAutofit/>
          </a:bodyPr>
          <a:lstStyle>
            <a:lvl1pPr marL="0" indent="0" algn="l" defTabSz="1445697" rtl="0" eaLnBrk="1" fontAlgn="base" hangingPunct="1">
              <a:spcBef>
                <a:spcPts val="853"/>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0" indent="529733"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L="0" indent="1059468"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L="0" indent="1589206"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L="0" indent="2118939"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L="2190601"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6pPr>
            <a:lvl7pPr marL="2839666"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7pPr>
            <a:lvl8pPr marL="3488731"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8pPr>
            <a:lvl9pPr marL="4137798"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9pPr>
          </a:lstStyle>
          <a:p>
            <a:r>
              <a:rPr lang="en-CA" sz="3600" dirty="0">
                <a:solidFill>
                  <a:prstClr val="white"/>
                </a:solidFill>
                <a:latin typeface="Perpetua Titling MT Light" charset="0"/>
              </a:rPr>
              <a:t>The Top 15 AI Global Use Cases</a:t>
            </a:r>
          </a:p>
        </p:txBody>
      </p:sp>
      <p:sp>
        <p:nvSpPr>
          <p:cNvPr id="7" name="TextBox 6">
            <a:extLst>
              <a:ext uri="{FF2B5EF4-FFF2-40B4-BE49-F238E27FC236}">
                <a16:creationId xmlns:a16="http://schemas.microsoft.com/office/drawing/2014/main" id="{960CC42A-DBAC-2244-817E-51A6A9FE7420}"/>
              </a:ext>
            </a:extLst>
          </p:cNvPr>
          <p:cNvSpPr txBox="1"/>
          <p:nvPr/>
        </p:nvSpPr>
        <p:spPr>
          <a:xfrm>
            <a:off x="8644711" y="2216508"/>
            <a:ext cx="3180861" cy="1569660"/>
          </a:xfrm>
          <a:prstGeom prst="rect">
            <a:avLst/>
          </a:prstGeom>
          <a:solidFill>
            <a:schemeClr val="tx1"/>
          </a:solidFill>
        </p:spPr>
        <p:txBody>
          <a:bodyPr wrap="square" rtlCol="0">
            <a:spAutoFit/>
          </a:bodyPr>
          <a:lstStyle/>
          <a:p>
            <a:pPr algn="ctr"/>
            <a:r>
              <a:rPr lang="en-CA" sz="2400" b="1" dirty="0">
                <a:solidFill>
                  <a:schemeClr val="bg1"/>
                </a:solidFill>
              </a:rPr>
              <a:t>The top 3 use cases are </a:t>
            </a:r>
          </a:p>
          <a:p>
            <a:pPr algn="ctr"/>
            <a:r>
              <a:rPr lang="en-CA" sz="2400" b="1" dirty="0">
                <a:solidFill>
                  <a:schemeClr val="bg1"/>
                </a:solidFill>
              </a:rPr>
              <a:t>Image recognition, Algorithmic Trading, and Patient Data</a:t>
            </a:r>
            <a:endParaRPr lang="en-US" sz="2400" b="1" dirty="0">
              <a:solidFill>
                <a:schemeClr val="bg1"/>
              </a:solidFill>
            </a:endParaRPr>
          </a:p>
        </p:txBody>
      </p:sp>
      <p:sp>
        <p:nvSpPr>
          <p:cNvPr id="8" name="Rectangle 7">
            <a:extLst>
              <a:ext uri="{FF2B5EF4-FFF2-40B4-BE49-F238E27FC236}">
                <a16:creationId xmlns:a16="http://schemas.microsoft.com/office/drawing/2014/main" id="{4D378009-6A93-7C4D-B51E-269C1A3A544D}"/>
              </a:ext>
            </a:extLst>
          </p:cNvPr>
          <p:cNvSpPr/>
          <p:nvPr/>
        </p:nvSpPr>
        <p:spPr>
          <a:xfrm>
            <a:off x="298605" y="681012"/>
            <a:ext cx="9936537" cy="748795"/>
          </a:xfrm>
          <a:prstGeom prst="rect">
            <a:avLst/>
          </a:prstGeom>
        </p:spPr>
        <p:txBody>
          <a:bodyPr wrap="square">
            <a:spAutoFit/>
          </a:bodyPr>
          <a:lstStyle/>
          <a:p>
            <a:r>
              <a:rPr lang="en-CA" sz="2133" b="1" dirty="0">
                <a:solidFill>
                  <a:schemeClr val="bg1"/>
                </a:solidFill>
              </a:rPr>
              <a:t>The number of companies implementing AI-related technologies in the past four years has grown by 270% (Gartner Group, 2020)</a:t>
            </a:r>
          </a:p>
        </p:txBody>
      </p:sp>
      <p:sp>
        <p:nvSpPr>
          <p:cNvPr id="10" name="Slide Number Placeholder 4">
            <a:extLst>
              <a:ext uri="{FF2B5EF4-FFF2-40B4-BE49-F238E27FC236}">
                <a16:creationId xmlns:a16="http://schemas.microsoft.com/office/drawing/2014/main" id="{6225007C-4E5A-2048-B403-56E7F7A037B3}"/>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pPr/>
              <a:t>10</a:t>
            </a:fld>
            <a:endParaRPr lang="en-US" sz="1400" dirty="0"/>
          </a:p>
        </p:txBody>
      </p:sp>
    </p:spTree>
    <p:extLst>
      <p:ext uri="{BB962C8B-B14F-4D97-AF65-F5344CB8AC3E}">
        <p14:creationId xmlns:p14="http://schemas.microsoft.com/office/powerpoint/2010/main" val="373527992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9806DB-FD09-FF46-9D8D-228C40F009B2}"/>
              </a:ext>
            </a:extLst>
          </p:cNvPr>
          <p:cNvSpPr>
            <a:spLocks noGrp="1"/>
          </p:cNvSpPr>
          <p:nvPr>
            <p:ph type="body" sz="quarter" idx="1"/>
          </p:nvPr>
        </p:nvSpPr>
        <p:spPr>
          <a:xfrm>
            <a:off x="86731" y="89950"/>
            <a:ext cx="12054468" cy="914401"/>
          </a:xfrm>
        </p:spPr>
        <p:txBody>
          <a:bodyPr>
            <a:noAutofit/>
          </a:bodyPr>
          <a:lstStyle/>
          <a:p>
            <a:r>
              <a:rPr lang="en-CA" sz="3000" dirty="0">
                <a:solidFill>
                  <a:prstClr val="white"/>
                </a:solidFill>
                <a:latin typeface="Perpetua Titling MT Light" charset="0"/>
              </a:rPr>
              <a:t>Artificial intelligence projects are a top priority for many companies, but there are many potential pitfalls for the unwary.</a:t>
            </a:r>
            <a:endParaRPr lang="en-US" sz="3000" dirty="0">
              <a:solidFill>
                <a:prstClr val="white"/>
              </a:solidFill>
              <a:latin typeface="Perpetua Titling MT Light" charset="0"/>
            </a:endParaRPr>
          </a:p>
        </p:txBody>
      </p:sp>
      <p:sp>
        <p:nvSpPr>
          <p:cNvPr id="3" name="TextBox 2">
            <a:extLst>
              <a:ext uri="{FF2B5EF4-FFF2-40B4-BE49-F238E27FC236}">
                <a16:creationId xmlns:a16="http://schemas.microsoft.com/office/drawing/2014/main" id="{926DA2EF-2972-644F-A955-AD5D8012B28C}"/>
              </a:ext>
            </a:extLst>
          </p:cNvPr>
          <p:cNvSpPr txBox="1"/>
          <p:nvPr/>
        </p:nvSpPr>
        <p:spPr>
          <a:xfrm>
            <a:off x="4995629" y="2143800"/>
            <a:ext cx="7145571" cy="3702873"/>
          </a:xfrm>
          <a:prstGeom prst="rect">
            <a:avLst/>
          </a:prstGeom>
          <a:solidFill>
            <a:schemeClr val="tx1"/>
          </a:solidFill>
          <a:ln w="76200">
            <a:solidFill>
              <a:srgbClr val="336699"/>
            </a:solidFill>
          </a:ln>
        </p:spPr>
        <p:txBody>
          <a:bodyPr wrap="square" rtlCol="0">
            <a:spAutoFit/>
          </a:bodyPr>
          <a:lstStyle/>
          <a:p>
            <a:r>
              <a:rPr lang="en-CA" sz="2133" b="1" dirty="0">
                <a:solidFill>
                  <a:schemeClr val="bg1"/>
                </a:solidFill>
              </a:rPr>
              <a:t>Adoption rates typically fall between 17-30% </a:t>
            </a:r>
            <a:r>
              <a:rPr lang="en-CA" sz="2133" dirty="0">
                <a:solidFill>
                  <a:schemeClr val="bg1"/>
                </a:solidFill>
              </a:rPr>
              <a:t>in the majority of market research reports of AI being used in businesses in some form.</a:t>
            </a:r>
          </a:p>
          <a:p>
            <a:endParaRPr lang="en-CA" sz="2133" dirty="0">
              <a:solidFill>
                <a:schemeClr val="bg1"/>
              </a:solidFill>
            </a:endParaRPr>
          </a:p>
          <a:p>
            <a:r>
              <a:rPr lang="en-CA" sz="2133" dirty="0">
                <a:solidFill>
                  <a:schemeClr val="bg1"/>
                </a:solidFill>
              </a:rPr>
              <a:t>Another </a:t>
            </a:r>
            <a:r>
              <a:rPr lang="en-CA" sz="2133" b="1" dirty="0">
                <a:solidFill>
                  <a:schemeClr val="bg1"/>
                </a:solidFill>
              </a:rPr>
              <a:t>major barrier to the take up of AI is the lack of skills</a:t>
            </a:r>
            <a:r>
              <a:rPr lang="en-CA" sz="2133" dirty="0">
                <a:solidFill>
                  <a:schemeClr val="bg1"/>
                </a:solidFill>
              </a:rPr>
              <a:t> and talent shortage/ or investment costs</a:t>
            </a:r>
          </a:p>
          <a:p>
            <a:endParaRPr lang="en-CA" sz="2133" dirty="0">
              <a:solidFill>
                <a:schemeClr val="bg1"/>
              </a:solidFill>
            </a:endParaRPr>
          </a:p>
          <a:p>
            <a:r>
              <a:rPr lang="en-CA" sz="2133" b="1" dirty="0">
                <a:solidFill>
                  <a:schemeClr val="bg1"/>
                </a:solidFill>
              </a:rPr>
              <a:t>Increased awareness regarding:  Ethical /Responsible AI,  risks of unbiased algorithms and mounting concerns in the technology industry with ensuring that AI innovations don't spiral out of control. </a:t>
            </a:r>
          </a:p>
        </p:txBody>
      </p:sp>
      <p:pic>
        <p:nvPicPr>
          <p:cNvPr id="4" name="Picture 3">
            <a:extLst>
              <a:ext uri="{FF2B5EF4-FFF2-40B4-BE49-F238E27FC236}">
                <a16:creationId xmlns:a16="http://schemas.microsoft.com/office/drawing/2014/main" id="{4661AB8A-790B-0C4F-BAF2-D47966C3E28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6731" y="2143800"/>
            <a:ext cx="4891669" cy="3672800"/>
          </a:xfrm>
          <a:prstGeom prst="rect">
            <a:avLst/>
          </a:prstGeom>
          <a:ln w="76200">
            <a:solidFill>
              <a:srgbClr val="336699"/>
            </a:solidFill>
          </a:ln>
        </p:spPr>
      </p:pic>
      <p:cxnSp>
        <p:nvCxnSpPr>
          <p:cNvPr id="6" name="Straight Connector 5">
            <a:extLst>
              <a:ext uri="{FF2B5EF4-FFF2-40B4-BE49-F238E27FC236}">
                <a16:creationId xmlns:a16="http://schemas.microsoft.com/office/drawing/2014/main" id="{B7B5AC79-3E42-1946-A70A-6E6317C8EFA3}"/>
              </a:ext>
            </a:extLst>
          </p:cNvPr>
          <p:cNvCxnSpPr>
            <a:cxnSpLocks/>
          </p:cNvCxnSpPr>
          <p:nvPr/>
        </p:nvCxnSpPr>
        <p:spPr>
          <a:xfrm>
            <a:off x="5588000" y="4343400"/>
            <a:ext cx="5643034" cy="0"/>
          </a:xfrm>
          <a:prstGeom prst="line">
            <a:avLst/>
          </a:prstGeom>
          <a:ln w="6350">
            <a:solidFill>
              <a:srgbClr val="747480"/>
            </a:solidFill>
            <a:prstDash val="dash"/>
            <a:tailEnd type="none"/>
          </a:ln>
          <a:sp3d/>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D98CEDD-5118-AB41-951C-8A0900D3C1DB}"/>
              </a:ext>
            </a:extLst>
          </p:cNvPr>
          <p:cNvCxnSpPr>
            <a:cxnSpLocks/>
          </p:cNvCxnSpPr>
          <p:nvPr/>
        </p:nvCxnSpPr>
        <p:spPr>
          <a:xfrm>
            <a:off x="5588000" y="3327400"/>
            <a:ext cx="5643034" cy="0"/>
          </a:xfrm>
          <a:prstGeom prst="line">
            <a:avLst/>
          </a:prstGeom>
          <a:ln w="6350">
            <a:solidFill>
              <a:srgbClr val="747480"/>
            </a:solidFill>
            <a:prstDash val="dash"/>
            <a:tailEnd type="none"/>
          </a:ln>
          <a:sp3d/>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AAC163C8-9AE9-A646-BDCB-0F1FAA7141F9}"/>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pPr/>
              <a:t>11</a:t>
            </a:fld>
            <a:endParaRPr lang="en-US" sz="1400" dirty="0"/>
          </a:p>
        </p:txBody>
      </p:sp>
    </p:spTree>
    <p:extLst>
      <p:ext uri="{BB962C8B-B14F-4D97-AF65-F5344CB8AC3E}">
        <p14:creationId xmlns:p14="http://schemas.microsoft.com/office/powerpoint/2010/main" val="210833189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3BD2E7-6759-3A40-9DCD-0C4348E2FE28}"/>
              </a:ext>
            </a:extLst>
          </p:cNvPr>
          <p:cNvSpPr/>
          <p:nvPr/>
        </p:nvSpPr>
        <p:spPr>
          <a:xfrm>
            <a:off x="336884" y="1167063"/>
            <a:ext cx="11599166" cy="4832092"/>
          </a:xfrm>
          <a:prstGeom prst="rect">
            <a:avLst/>
          </a:prstGeom>
        </p:spPr>
        <p:txBody>
          <a:bodyPr wrap="square">
            <a:spAutoFit/>
          </a:bodyPr>
          <a:lstStyle/>
          <a:p>
            <a:pPr marL="342900" indent="-342900">
              <a:buFont typeface="Arial" panose="020B0604020202020204" pitchFamily="34" charset="0"/>
              <a:buChar char="•"/>
            </a:pPr>
            <a:r>
              <a:rPr lang="en-CA" sz="2200" b="1" dirty="0">
                <a:solidFill>
                  <a:srgbClr val="FFFF00"/>
                </a:solidFill>
              </a:rPr>
              <a:t>By 2025, over 40% of respondents say they will implement AI</a:t>
            </a:r>
            <a:r>
              <a:rPr lang="en-CA" sz="2200" dirty="0">
                <a:solidFill>
                  <a:schemeClr val="bg1"/>
                </a:solidFill>
              </a:rPr>
              <a:t> in one or more identified patterns. However, </a:t>
            </a:r>
            <a:r>
              <a:rPr lang="en-CA" sz="2200" b="1" dirty="0">
                <a:solidFill>
                  <a:schemeClr val="bg1"/>
                </a:solidFill>
              </a:rPr>
              <a:t>almost 90% respond that they will have some sort of in-progress AI implementation within the next 2 years.</a:t>
            </a:r>
          </a:p>
          <a:p>
            <a:pPr marL="342900" indent="-342900">
              <a:buFont typeface="Arial" panose="020B0604020202020204" pitchFamily="34" charset="0"/>
              <a:buChar char="•"/>
            </a:pPr>
            <a:r>
              <a:rPr lang="en-CA" sz="2200" dirty="0">
                <a:solidFill>
                  <a:schemeClr val="bg1"/>
                </a:solidFill>
              </a:rPr>
              <a:t>On the whole, however, it seems that the </a:t>
            </a:r>
            <a:r>
              <a:rPr lang="en-CA" sz="2200" b="1" dirty="0">
                <a:solidFill>
                  <a:srgbClr val="FFFF00"/>
                </a:solidFill>
              </a:rPr>
              <a:t>world is moving mostly in lockstep with AI </a:t>
            </a:r>
            <a:r>
              <a:rPr lang="en-CA" sz="2200" b="1" dirty="0">
                <a:solidFill>
                  <a:schemeClr val="bg1"/>
                </a:solidFill>
              </a:rPr>
              <a:t>adoption</a:t>
            </a:r>
            <a:r>
              <a:rPr lang="en-CA" sz="2200" dirty="0">
                <a:solidFill>
                  <a:schemeClr val="bg1"/>
                </a:solidFill>
              </a:rPr>
              <a:t> happening at the same relative rates throughout the world, regardless of any region’s lead in current implementation.</a:t>
            </a:r>
          </a:p>
          <a:p>
            <a:pPr marL="342900" indent="-342900">
              <a:buFont typeface="Arial" panose="020B0604020202020204" pitchFamily="34" charset="0"/>
              <a:buChar char="•"/>
            </a:pPr>
            <a:r>
              <a:rPr lang="en-CA" sz="2200" b="1" dirty="0">
                <a:solidFill>
                  <a:schemeClr val="bg1"/>
                </a:solidFill>
              </a:rPr>
              <a:t>54% of respondents plan to implement AI approaches to process automation</a:t>
            </a:r>
            <a:r>
              <a:rPr lang="en-CA" sz="2200" dirty="0">
                <a:solidFill>
                  <a:schemeClr val="bg1"/>
                </a:solidFill>
              </a:rPr>
              <a:t> within the next few years, and </a:t>
            </a:r>
            <a:r>
              <a:rPr lang="en-CA" sz="2200" b="1" dirty="0">
                <a:solidFill>
                  <a:schemeClr val="bg1"/>
                </a:solidFill>
              </a:rPr>
              <a:t>52% of respondents plan to implement AI-enabled conversational systems</a:t>
            </a:r>
            <a:r>
              <a:rPr lang="en-CA" sz="2200" dirty="0">
                <a:solidFill>
                  <a:schemeClr val="bg1"/>
                </a:solidFill>
              </a:rPr>
              <a:t> by 2025.</a:t>
            </a:r>
          </a:p>
          <a:p>
            <a:pPr marL="342900" indent="-342900">
              <a:buFont typeface="Arial" panose="020B0604020202020204" pitchFamily="34" charset="0"/>
              <a:buChar char="•"/>
            </a:pPr>
            <a:r>
              <a:rPr lang="en-CA" sz="2200" dirty="0">
                <a:solidFill>
                  <a:srgbClr val="FFFF00"/>
                </a:solidFill>
              </a:rPr>
              <a:t>The</a:t>
            </a:r>
            <a:r>
              <a:rPr lang="en-CA" sz="2200" b="1" dirty="0">
                <a:solidFill>
                  <a:srgbClr val="FFFF00"/>
                </a:solidFill>
              </a:rPr>
              <a:t> biggest barrier to AI adoption is insufficient quantity or quality of data, followed by limited availability of AI talent and skills</a:t>
            </a:r>
            <a:r>
              <a:rPr lang="en-CA" sz="2200" dirty="0">
                <a:solidFill>
                  <a:srgbClr val="FFFF00"/>
                </a:solidFill>
              </a:rPr>
              <a:t>. </a:t>
            </a:r>
          </a:p>
          <a:p>
            <a:pPr marL="342900" indent="-342900">
              <a:buFont typeface="Arial" panose="020B0604020202020204" pitchFamily="34" charset="0"/>
              <a:buChar char="•"/>
            </a:pPr>
            <a:r>
              <a:rPr lang="en-CA" sz="2200" dirty="0">
                <a:solidFill>
                  <a:schemeClr val="bg1"/>
                </a:solidFill>
              </a:rPr>
              <a:t>For those companies not planning to implement AI within the next two years, the </a:t>
            </a:r>
            <a:r>
              <a:rPr lang="en-CA" sz="2200" b="1" dirty="0">
                <a:solidFill>
                  <a:schemeClr val="bg1"/>
                </a:solidFill>
              </a:rPr>
              <a:t>primary “show stopper” was lack of ROI justification for AI projects</a:t>
            </a:r>
            <a:r>
              <a:rPr lang="en-CA" sz="2200" dirty="0">
                <a:solidFill>
                  <a:schemeClr val="bg1"/>
                </a:solidFill>
              </a:rPr>
              <a:t> and an insufficient advantage of AI projects over non-AI</a:t>
            </a:r>
            <a:endParaRPr lang="en-US" sz="2200" dirty="0">
              <a:solidFill>
                <a:schemeClr val="bg1"/>
              </a:solidFill>
            </a:endParaRPr>
          </a:p>
        </p:txBody>
      </p:sp>
      <p:sp>
        <p:nvSpPr>
          <p:cNvPr id="3" name="Rectangle 2">
            <a:extLst>
              <a:ext uri="{FF2B5EF4-FFF2-40B4-BE49-F238E27FC236}">
                <a16:creationId xmlns:a16="http://schemas.microsoft.com/office/drawing/2014/main" id="{9BEB33AD-7D96-8449-BC55-D3AE30E60D97}"/>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4" name="Title 1">
            <a:extLst>
              <a:ext uri="{FF2B5EF4-FFF2-40B4-BE49-F238E27FC236}">
                <a16:creationId xmlns:a16="http://schemas.microsoft.com/office/drawing/2014/main" id="{1CFC8414-C03F-8746-B51D-FC0BC0BC8EC9}"/>
              </a:ext>
            </a:extLst>
          </p:cNvPr>
          <p:cNvSpPr txBox="1">
            <a:spLocks/>
          </p:cNvSpPr>
          <p:nvPr/>
        </p:nvSpPr>
        <p:spPr>
          <a:xfrm>
            <a:off x="626366" y="74507"/>
            <a:ext cx="10673542" cy="768957"/>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0" dirty="0">
                <a:solidFill>
                  <a:prstClr val="white"/>
                </a:solidFill>
                <a:latin typeface="Perpetua Titling MT Light" charset="0"/>
                <a:ea typeface="Perpetua Titling MT Light" charset="0"/>
                <a:cs typeface="Perpetua Titling MT Light" charset="0"/>
              </a:rPr>
              <a:t>GLOBAL AI ADOPTION TRENDS</a:t>
            </a:r>
          </a:p>
        </p:txBody>
      </p:sp>
      <p:sp>
        <p:nvSpPr>
          <p:cNvPr id="5" name="Slide Number Placeholder 4">
            <a:extLst>
              <a:ext uri="{FF2B5EF4-FFF2-40B4-BE49-F238E27FC236}">
                <a16:creationId xmlns:a16="http://schemas.microsoft.com/office/drawing/2014/main" id="{48338629-487F-2143-BD1D-76839C50766E}"/>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12</a:t>
            </a:fld>
            <a:endParaRPr lang="en-US" sz="1400" dirty="0">
              <a:solidFill>
                <a:schemeClr val="bg1"/>
              </a:solidFill>
            </a:endParaRPr>
          </a:p>
        </p:txBody>
      </p:sp>
      <p:sp>
        <p:nvSpPr>
          <p:cNvPr id="6" name="TextBox 5">
            <a:extLst>
              <a:ext uri="{FF2B5EF4-FFF2-40B4-BE49-F238E27FC236}">
                <a16:creationId xmlns:a16="http://schemas.microsoft.com/office/drawing/2014/main" id="{A53D39C1-9A91-B94C-8628-52010A4A1E13}"/>
              </a:ext>
            </a:extLst>
          </p:cNvPr>
          <p:cNvSpPr txBox="1"/>
          <p:nvPr/>
        </p:nvSpPr>
        <p:spPr>
          <a:xfrm>
            <a:off x="998621" y="6078773"/>
            <a:ext cx="10937429" cy="276999"/>
          </a:xfrm>
          <a:prstGeom prst="rect">
            <a:avLst/>
          </a:prstGeom>
          <a:noFill/>
        </p:spPr>
        <p:txBody>
          <a:bodyPr wrap="square" rtlCol="0">
            <a:spAutoFit/>
          </a:bodyPr>
          <a:lstStyle/>
          <a:p>
            <a:r>
              <a:rPr lang="en-US" sz="1200" b="1" dirty="0">
                <a:solidFill>
                  <a:schemeClr val="bg1"/>
                </a:solidFill>
              </a:rPr>
              <a:t>Source: </a:t>
            </a:r>
            <a:r>
              <a:rPr lang="en-US" sz="1200" dirty="0">
                <a:solidFill>
                  <a:schemeClr val="bg1"/>
                </a:solidFill>
              </a:rPr>
              <a:t>Global AI Adoption Trends – Cognilyita Research Report https://www.cognilytica.com/2020/01/22/global-ai-adoption-trends-forecast-2020/</a:t>
            </a:r>
          </a:p>
        </p:txBody>
      </p:sp>
    </p:spTree>
    <p:extLst>
      <p:ext uri="{BB962C8B-B14F-4D97-AF65-F5344CB8AC3E}">
        <p14:creationId xmlns:p14="http://schemas.microsoft.com/office/powerpoint/2010/main" val="1670561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2"/>
            </p:custDataLst>
          </p:nvPr>
        </p:nvGraphicFramePr>
        <p:xfrm>
          <a:off x="1588" y="3373"/>
          <a:ext cx="1587" cy="1587"/>
        </p:xfrm>
        <a:graphic>
          <a:graphicData uri="http://schemas.openxmlformats.org/presentationml/2006/ole">
            <mc:AlternateContent xmlns:mc="http://schemas.openxmlformats.org/markup-compatibility/2006">
              <mc:Choice xmlns:v="urn:schemas-microsoft-com:vml" Requires="v">
                <p:oleObj spid="_x0000_s18460" name="think-cell Slide" r:id="rId6" imgW="352" imgH="318" progId="TCLayout.ActiveDocument.1">
                  <p:embed/>
                </p:oleObj>
              </mc:Choice>
              <mc:Fallback>
                <p:oleObj name="think-cell Slide" r:id="rId6" imgW="352" imgH="318" progId="TCLayout.ActiveDocument.1">
                  <p:embed/>
                  <p:pic>
                    <p:nvPicPr>
                      <p:cNvPr id="4" name="Objekt 3" hidden="1"/>
                      <p:cNvPicPr/>
                      <p:nvPr/>
                    </p:nvPicPr>
                    <p:blipFill>
                      <a:blip r:embed="rId7"/>
                      <a:stretch>
                        <a:fillRect/>
                      </a:stretch>
                    </p:blipFill>
                    <p:spPr>
                      <a:xfrm>
                        <a:off x="1588" y="3373"/>
                        <a:ext cx="1587" cy="1587"/>
                      </a:xfrm>
                      <a:prstGeom prst="rect">
                        <a:avLst/>
                      </a:prstGeom>
                    </p:spPr>
                  </p:pic>
                </p:oleObj>
              </mc:Fallback>
            </mc:AlternateContent>
          </a:graphicData>
        </a:graphic>
      </p:graphicFrame>
      <p:sp>
        <p:nvSpPr>
          <p:cNvPr id="3" name="Rechteck 2" hidden="1"/>
          <p:cNvSpPr/>
          <p:nvPr>
            <p:custDataLst>
              <p:tags r:id="rId3"/>
            </p:custDataLst>
          </p:nvPr>
        </p:nvSpPr>
        <p:spPr>
          <a:xfrm>
            <a:off x="1" y="1786"/>
            <a:ext cx="158667" cy="158667"/>
          </a:xfrm>
          <a:prstGeom prst="rect">
            <a:avLst/>
          </a:prstGeom>
          <a:solidFill>
            <a:srgbClr val="D2D2DA"/>
          </a:solidFill>
          <a:ln w="12700" cap="sq" cmpd="sng" algn="ctr">
            <a:noFill/>
            <a:prstDash val="solid"/>
            <a:miter lim="800000"/>
            <a:tailEnd type="none"/>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13958">
              <a:spcBef>
                <a:spcPct val="0"/>
              </a:spcBef>
              <a:spcAft>
                <a:spcPct val="0"/>
              </a:spcAft>
              <a:defRPr/>
            </a:pPr>
            <a:endParaRPr lang="en-US" sz="2399" kern="0" dirty="0">
              <a:solidFill>
                <a:srgbClr val="2E2E38"/>
              </a:solidFill>
              <a:latin typeface="EYInterstate Light" panose="02000506000000020004" pitchFamily="2" charset="0"/>
              <a:cs typeface="Arial" panose="020B0604020202020204" pitchFamily="34" charset="0"/>
              <a:sym typeface="EYInterstate Light" panose="02000506000000020004" pitchFamily="2" charset="0"/>
            </a:endParaRPr>
          </a:p>
        </p:txBody>
      </p:sp>
      <p:sp>
        <p:nvSpPr>
          <p:cNvPr id="16" name="Text Placeholder 15">
            <a:extLst>
              <a:ext uri="{FF2B5EF4-FFF2-40B4-BE49-F238E27FC236}">
                <a16:creationId xmlns:a16="http://schemas.microsoft.com/office/drawing/2014/main" id="{D0A0E03B-7730-4AD6-B040-2460A085F950}"/>
              </a:ext>
            </a:extLst>
          </p:cNvPr>
          <p:cNvSpPr>
            <a:spLocks noGrp="1"/>
          </p:cNvSpPr>
          <p:nvPr>
            <p:ph type="body" sz="quarter" idx="1"/>
          </p:nvPr>
        </p:nvSpPr>
        <p:spPr>
          <a:xfrm>
            <a:off x="558800" y="139700"/>
            <a:ext cx="10934700" cy="914401"/>
          </a:xfrm>
        </p:spPr>
        <p:txBody>
          <a:bodyPr>
            <a:noAutofit/>
          </a:bodyPr>
          <a:lstStyle/>
          <a:p>
            <a:r>
              <a:rPr lang="en-CA" sz="4000" dirty="0">
                <a:solidFill>
                  <a:prstClr val="white"/>
                </a:solidFill>
                <a:latin typeface="Perpetua Titling MT Light" charset="0"/>
              </a:rPr>
              <a:t>Strategic imperative for AI risk management</a:t>
            </a:r>
          </a:p>
        </p:txBody>
      </p:sp>
      <p:sp>
        <p:nvSpPr>
          <p:cNvPr id="6" name="Foliennummernplatzhalter 5"/>
          <p:cNvSpPr>
            <a:spLocks noGrp="1"/>
          </p:cNvSpPr>
          <p:nvPr>
            <p:ph type="sldNum" sz="quarter" idx="4294967295"/>
          </p:nvPr>
        </p:nvSpPr>
        <p:spPr>
          <a:xfrm>
            <a:off x="227542" y="6525684"/>
            <a:ext cx="662517" cy="179917"/>
          </a:xfrm>
          <a:prstGeom prst="rect">
            <a:avLst/>
          </a:prstGeom>
        </p:spPr>
        <p:txBody>
          <a:bodyPr/>
          <a:lstStyle/>
          <a:p>
            <a:pPr algn="l" defTabSz="913958">
              <a:defRPr/>
            </a:pPr>
            <a:r>
              <a:rPr lang="en-US" sz="933" dirty="0">
                <a:latin typeface="EYInterstate" panose="02000503020000020004" pitchFamily="2" charset="0"/>
              </a:rPr>
              <a:t>Page </a:t>
            </a:r>
            <a:fld id="{F1BC30E3-FFE5-4B91-AA19-87A149EBB9EE}" type="slidenum">
              <a:rPr lang="en-US" sz="933">
                <a:latin typeface="EYInterstate" panose="02000503020000020004" pitchFamily="2" charset="0"/>
              </a:rPr>
              <a:pPr algn="l" defTabSz="913958">
                <a:defRPr/>
              </a:pPr>
              <a:t>13</a:t>
            </a:fld>
            <a:endParaRPr lang="en-US" sz="933" dirty="0">
              <a:latin typeface="EYInterstate" panose="02000503020000020004" pitchFamily="2" charset="0"/>
            </a:endParaRPr>
          </a:p>
        </p:txBody>
      </p:sp>
      <p:sp>
        <p:nvSpPr>
          <p:cNvPr id="25" name="Text Placeholder 5">
            <a:extLst>
              <a:ext uri="{FF2B5EF4-FFF2-40B4-BE49-F238E27FC236}">
                <a16:creationId xmlns:a16="http://schemas.microsoft.com/office/drawing/2014/main" id="{942441DD-82A1-4679-A1D4-25594F841680}"/>
              </a:ext>
            </a:extLst>
          </p:cNvPr>
          <p:cNvSpPr txBox="1">
            <a:spLocks/>
          </p:cNvSpPr>
          <p:nvPr/>
        </p:nvSpPr>
        <p:spPr>
          <a:xfrm>
            <a:off x="609600" y="429407"/>
            <a:ext cx="10972800" cy="859952"/>
          </a:xfrm>
          <a:prstGeom prst="rect">
            <a:avLst/>
          </a:prstGeom>
        </p:spPr>
        <p:txBody>
          <a:bodyPr anchor="ctr"/>
          <a:lstStyle>
            <a:lvl1pPr marL="0" marR="0" indent="0" algn="l" defTabSz="914400" rtl="0" eaLnBrk="1" fontAlgn="auto" latinLnBrk="0" hangingPunct="1">
              <a:lnSpc>
                <a:spcPct val="100000"/>
              </a:lnSpc>
              <a:spcBef>
                <a:spcPct val="20000"/>
              </a:spcBef>
              <a:spcAft>
                <a:spcPts val="0"/>
              </a:spcAft>
              <a:buClr>
                <a:schemeClr val="accent2"/>
              </a:buClr>
              <a:buSzPct val="70000"/>
              <a:buFont typeface="Arial" pitchFamily="34" charset="0"/>
              <a:buNone/>
              <a:tabLst/>
              <a:defRPr kumimoji="0" lang="de-CH" sz="2400" b="1" i="0" u="none" strike="noStrike" kern="1200" cap="none" spc="0" normalizeH="0" baseline="0" noProof="0" smtClean="0">
                <a:ln>
                  <a:noFill/>
                </a:ln>
                <a:solidFill>
                  <a:srgbClr val="FFFFFF"/>
                </a:solidFill>
                <a:effectLst/>
                <a:uLnTx/>
                <a:uFillTx/>
                <a:latin typeface="EYInterstate " charset="0"/>
                <a:ea typeface="+mn-ea"/>
                <a:cs typeface="Arial" pitchFamily="34" charset="0"/>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3958">
              <a:buClr>
                <a:srgbClr val="FFE600"/>
              </a:buClr>
              <a:defRPr/>
            </a:pPr>
            <a:endParaRPr lang="en-US" sz="2399" b="0" dirty="0">
              <a:solidFill>
                <a:prstClr val="white"/>
              </a:solidFill>
            </a:endParaRPr>
          </a:p>
        </p:txBody>
      </p:sp>
      <p:grpSp>
        <p:nvGrpSpPr>
          <p:cNvPr id="69" name="Group 68">
            <a:extLst>
              <a:ext uri="{FF2B5EF4-FFF2-40B4-BE49-F238E27FC236}">
                <a16:creationId xmlns:a16="http://schemas.microsoft.com/office/drawing/2014/main" id="{A0BD8FBC-FE4C-4E58-92A5-21C0836DA634}"/>
              </a:ext>
            </a:extLst>
          </p:cNvPr>
          <p:cNvGrpSpPr/>
          <p:nvPr/>
        </p:nvGrpSpPr>
        <p:grpSpPr>
          <a:xfrm>
            <a:off x="5280971" y="2384653"/>
            <a:ext cx="4084086" cy="1480076"/>
            <a:chOff x="5255974" y="2443655"/>
            <a:chExt cx="5976094" cy="2220114"/>
          </a:xfrm>
        </p:grpSpPr>
        <p:cxnSp>
          <p:nvCxnSpPr>
            <p:cNvPr id="70" name="Straight Connector 69">
              <a:extLst>
                <a:ext uri="{FF2B5EF4-FFF2-40B4-BE49-F238E27FC236}">
                  <a16:creationId xmlns:a16="http://schemas.microsoft.com/office/drawing/2014/main" id="{0DDE7A4E-3FD2-4331-9C02-D78FAB236E37}"/>
                </a:ext>
              </a:extLst>
            </p:cNvPr>
            <p:cNvCxnSpPr/>
            <p:nvPr/>
          </p:nvCxnSpPr>
          <p:spPr>
            <a:xfrm>
              <a:off x="5255974" y="2443655"/>
              <a:ext cx="5976094" cy="0"/>
            </a:xfrm>
            <a:prstGeom prst="line">
              <a:avLst/>
            </a:prstGeom>
            <a:noFill/>
            <a:ln w="6350" cap="flat" cmpd="sng" algn="ctr">
              <a:solidFill>
                <a:srgbClr val="FFFFFF"/>
              </a:solidFill>
              <a:prstDash val="dash"/>
              <a:tailEnd type="none"/>
            </a:ln>
            <a:effectLst/>
          </p:spPr>
        </p:cxnSp>
        <p:cxnSp>
          <p:nvCxnSpPr>
            <p:cNvPr id="71" name="Straight Connector 70">
              <a:extLst>
                <a:ext uri="{FF2B5EF4-FFF2-40B4-BE49-F238E27FC236}">
                  <a16:creationId xmlns:a16="http://schemas.microsoft.com/office/drawing/2014/main" id="{EF8D5B18-622A-4D48-8165-0531D989598E}"/>
                </a:ext>
              </a:extLst>
            </p:cNvPr>
            <p:cNvCxnSpPr/>
            <p:nvPr/>
          </p:nvCxnSpPr>
          <p:spPr>
            <a:xfrm>
              <a:off x="5255974" y="3587479"/>
              <a:ext cx="5976094" cy="0"/>
            </a:xfrm>
            <a:prstGeom prst="line">
              <a:avLst/>
            </a:prstGeom>
            <a:noFill/>
            <a:ln w="6350" cap="flat" cmpd="sng" algn="ctr">
              <a:solidFill>
                <a:srgbClr val="FFFFFF"/>
              </a:solidFill>
              <a:prstDash val="dash"/>
              <a:tailEnd type="none"/>
            </a:ln>
            <a:effectLst/>
          </p:spPr>
        </p:cxnSp>
        <p:cxnSp>
          <p:nvCxnSpPr>
            <p:cNvPr id="72" name="Straight Connector 71">
              <a:extLst>
                <a:ext uri="{FF2B5EF4-FFF2-40B4-BE49-F238E27FC236}">
                  <a16:creationId xmlns:a16="http://schemas.microsoft.com/office/drawing/2014/main" id="{7C45D9E6-2648-421B-A8B1-F226BC78D0EC}"/>
                </a:ext>
              </a:extLst>
            </p:cNvPr>
            <p:cNvCxnSpPr/>
            <p:nvPr/>
          </p:nvCxnSpPr>
          <p:spPr>
            <a:xfrm>
              <a:off x="5255974" y="4663769"/>
              <a:ext cx="5976094" cy="0"/>
            </a:xfrm>
            <a:prstGeom prst="line">
              <a:avLst/>
            </a:prstGeom>
            <a:noFill/>
            <a:ln w="6350" cap="flat" cmpd="sng" algn="ctr">
              <a:solidFill>
                <a:srgbClr val="FFFFFF"/>
              </a:solidFill>
              <a:prstDash val="dash"/>
              <a:tailEnd type="none"/>
            </a:ln>
            <a:effectLst/>
          </p:spPr>
        </p:cxnSp>
      </p:grpSp>
      <p:cxnSp>
        <p:nvCxnSpPr>
          <p:cNvPr id="73" name="Straight Connector 72">
            <a:extLst>
              <a:ext uri="{FF2B5EF4-FFF2-40B4-BE49-F238E27FC236}">
                <a16:creationId xmlns:a16="http://schemas.microsoft.com/office/drawing/2014/main" id="{A46D3420-92D4-4A31-8007-E1B3912B41F0}"/>
              </a:ext>
            </a:extLst>
          </p:cNvPr>
          <p:cNvCxnSpPr/>
          <p:nvPr/>
        </p:nvCxnSpPr>
        <p:spPr>
          <a:xfrm>
            <a:off x="5280970" y="4597400"/>
            <a:ext cx="4084086" cy="0"/>
          </a:xfrm>
          <a:prstGeom prst="line">
            <a:avLst/>
          </a:prstGeom>
          <a:noFill/>
          <a:ln w="6350" cap="flat" cmpd="sng" algn="ctr">
            <a:solidFill>
              <a:srgbClr val="FFFFFF"/>
            </a:solidFill>
            <a:prstDash val="dash"/>
            <a:tailEnd type="none"/>
          </a:ln>
          <a:effectLst/>
        </p:spPr>
      </p:cxnSp>
      <p:cxnSp>
        <p:nvCxnSpPr>
          <p:cNvPr id="74" name="Straight Connector 73">
            <a:extLst>
              <a:ext uri="{FF2B5EF4-FFF2-40B4-BE49-F238E27FC236}">
                <a16:creationId xmlns:a16="http://schemas.microsoft.com/office/drawing/2014/main" id="{16B4B14F-0920-41A0-B5E6-7BF1E5DC7338}"/>
              </a:ext>
            </a:extLst>
          </p:cNvPr>
          <p:cNvCxnSpPr/>
          <p:nvPr/>
        </p:nvCxnSpPr>
        <p:spPr>
          <a:xfrm>
            <a:off x="5280970" y="5308600"/>
            <a:ext cx="4084086" cy="0"/>
          </a:xfrm>
          <a:prstGeom prst="line">
            <a:avLst/>
          </a:prstGeom>
          <a:noFill/>
          <a:ln w="6350" cap="flat" cmpd="sng" algn="ctr">
            <a:solidFill>
              <a:srgbClr val="FFFFFF"/>
            </a:solidFill>
            <a:prstDash val="dash"/>
            <a:tailEnd type="none"/>
          </a:ln>
          <a:effectLst/>
        </p:spPr>
      </p:cxnSp>
      <p:sp>
        <p:nvSpPr>
          <p:cNvPr id="47" name="Rectangle 46">
            <a:extLst>
              <a:ext uri="{FF2B5EF4-FFF2-40B4-BE49-F238E27FC236}">
                <a16:creationId xmlns:a16="http://schemas.microsoft.com/office/drawing/2014/main" id="{1F7522E0-1123-4CE9-A701-C1C005B666E4}"/>
              </a:ext>
            </a:extLst>
          </p:cNvPr>
          <p:cNvSpPr/>
          <p:nvPr/>
        </p:nvSpPr>
        <p:spPr>
          <a:xfrm>
            <a:off x="6957065" y="3896566"/>
            <a:ext cx="4205985" cy="2021634"/>
          </a:xfrm>
          <a:prstGeom prst="rect">
            <a:avLst/>
          </a:prstGeom>
          <a:solidFill>
            <a:srgbClr val="FFE600"/>
          </a:solidFill>
          <a:ln w="25400" cap="flat" cmpd="sng" algn="ctr">
            <a:noFill/>
            <a:prstDash val="solid"/>
          </a:ln>
          <a:effectLst/>
          <a:sp3d/>
          <a:extLst>
            <a:ext uri="{91240B29-F687-4F45-9708-019B960494DF}">
              <a14:hiddenLine xmlns:a14="http://schemas.microsoft.com/office/drawing/2010/main" w="25400" cap="flat" cmpd="sng" algn="ctr">
                <a:solidFill>
                  <a:srgbClr val="747480"/>
                </a:solidFill>
                <a:prstDash val="solid"/>
              </a14:hiddenLine>
            </a:ext>
          </a:extLst>
        </p:spPr>
        <p:txBody>
          <a:bodyPr lIns="54706" tIns="54706" rIns="54706" bIns="54706" rtlCol="0" anchor="ctr"/>
          <a:lstStyle/>
          <a:p>
            <a:pPr algn="ctr" defTabSz="453550">
              <a:defRPr/>
            </a:pPr>
            <a:endParaRPr lang="en-GB" sz="1000" kern="0" dirty="0">
              <a:solidFill>
                <a:schemeClr val="bg1"/>
              </a:solidFill>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A799CFD8-39FD-4A65-83D0-95E0987A9B43}"/>
              </a:ext>
            </a:extLst>
          </p:cNvPr>
          <p:cNvSpPr/>
          <p:nvPr/>
        </p:nvSpPr>
        <p:spPr>
          <a:xfrm>
            <a:off x="6970516" y="1755523"/>
            <a:ext cx="4186557" cy="2154732"/>
          </a:xfrm>
          <a:prstGeom prst="rect">
            <a:avLst/>
          </a:prstGeom>
          <a:solidFill>
            <a:schemeClr val="tx1"/>
          </a:solidFill>
          <a:ln w="25400" cap="flat" cmpd="sng" algn="ctr">
            <a:noFill/>
            <a:prstDash val="solid"/>
          </a:ln>
          <a:effectLst/>
          <a:sp3d/>
        </p:spPr>
        <p:txBody>
          <a:bodyPr lIns="54706" tIns="54706" rIns="54706" bIns="54706" rtlCol="0" anchor="ctr"/>
          <a:lstStyle/>
          <a:p>
            <a:pPr algn="ctr" defTabSz="453550">
              <a:defRPr/>
            </a:pPr>
            <a:endParaRPr lang="en-GB" sz="1000" kern="0" dirty="0">
              <a:solidFill>
                <a:schemeClr val="bg1"/>
              </a:solidFill>
              <a:latin typeface="Arial" panose="020B0604020202020204" pitchFamily="34" charset="0"/>
              <a:cs typeface="Arial" panose="020B0604020202020204" pitchFamily="34" charset="0"/>
            </a:endParaRPr>
          </a:p>
        </p:txBody>
      </p:sp>
      <p:sp>
        <p:nvSpPr>
          <p:cNvPr id="49" name="Title 1">
            <a:extLst>
              <a:ext uri="{FF2B5EF4-FFF2-40B4-BE49-F238E27FC236}">
                <a16:creationId xmlns:a16="http://schemas.microsoft.com/office/drawing/2014/main" id="{C706F9D8-08EA-4C2F-A71A-336E0469AEB6}"/>
              </a:ext>
            </a:extLst>
          </p:cNvPr>
          <p:cNvSpPr txBox="1">
            <a:spLocks/>
          </p:cNvSpPr>
          <p:nvPr/>
        </p:nvSpPr>
        <p:spPr>
          <a:xfrm>
            <a:off x="1084501" y="4598635"/>
            <a:ext cx="4183124" cy="1491627"/>
          </a:xfrm>
          <a:prstGeom prst="rect">
            <a:avLst/>
          </a:prstGeom>
          <a:sp3d/>
        </p:spPr>
        <p:txBody>
          <a:bodyPr vert="horz" lIns="0" tIns="0" rIns="0" bIns="0" rtlCol="0" anchor="ctr" anchorCtr="0">
            <a:noAutofit/>
          </a:bodyPr>
          <a:lstStyle>
            <a:lvl1pPr algn="l" defTabSz="914400" rtl="0" eaLnBrk="1" latinLnBrk="0" hangingPunct="1">
              <a:lnSpc>
                <a:spcPct val="85000"/>
              </a:lnSpc>
              <a:spcBef>
                <a:spcPct val="0"/>
              </a:spcBef>
              <a:buNone/>
              <a:defRPr sz="2000" b="1" kern="1200">
                <a:solidFill>
                  <a:schemeClr val="tx1"/>
                </a:solidFill>
                <a:latin typeface="+mj-lt"/>
                <a:ea typeface="+mj-ea"/>
                <a:cs typeface="+mj-cs"/>
              </a:defRPr>
            </a:lvl1pPr>
          </a:lstStyle>
          <a:p>
            <a:pPr defTabSz="609630">
              <a:defRPr/>
            </a:pPr>
            <a:endParaRPr lang="en-GB" sz="2133" b="0" dirty="0">
              <a:latin typeface="Arial" panose="020B0604020202020204" pitchFamily="34" charset="0"/>
              <a:cs typeface="Arial" panose="020B0604020202020204" pitchFamily="34" charset="0"/>
            </a:endParaRPr>
          </a:p>
        </p:txBody>
      </p:sp>
      <p:sp>
        <p:nvSpPr>
          <p:cNvPr id="50" name="Rectangle 49">
            <a:extLst>
              <a:ext uri="{FF2B5EF4-FFF2-40B4-BE49-F238E27FC236}">
                <a16:creationId xmlns:a16="http://schemas.microsoft.com/office/drawing/2014/main" id="{36E7010B-C280-4924-959B-C701613AF038}"/>
              </a:ext>
            </a:extLst>
          </p:cNvPr>
          <p:cNvSpPr/>
          <p:nvPr/>
        </p:nvSpPr>
        <p:spPr>
          <a:xfrm>
            <a:off x="7191127" y="4023916"/>
            <a:ext cx="3957907" cy="1744477"/>
          </a:xfrm>
          <a:prstGeom prst="rect">
            <a:avLst/>
          </a:prstGeom>
          <a:ln>
            <a:noFill/>
          </a:ln>
          <a:sp3d/>
        </p:spPr>
        <p:txBody>
          <a:bodyPr wrap="square" lIns="60876" tIns="30437" rIns="60876" bIns="30437" anchor="t" anchorCtr="0">
            <a:noAutofit/>
          </a:bodyPr>
          <a:lstStyle/>
          <a:p>
            <a:pPr defTabSz="453550">
              <a:defRPr/>
            </a:pPr>
            <a:r>
              <a:rPr lang="en-GB" sz="4400" b="1" kern="0" dirty="0">
                <a:latin typeface="Arial" panose="020B0604020202020204" pitchFamily="34" charset="0"/>
                <a:cs typeface="Arial" panose="020B0604020202020204" pitchFamily="34" charset="0"/>
              </a:rPr>
              <a:t>85%</a:t>
            </a:r>
            <a:r>
              <a:rPr lang="en-GB" sz="4400" kern="0" dirty="0">
                <a:latin typeface="Arial" panose="020B0604020202020204" pitchFamily="34" charset="0"/>
                <a:cs typeface="Arial" panose="020B0604020202020204" pitchFamily="34" charset="0"/>
              </a:rPr>
              <a:t> </a:t>
            </a:r>
            <a:r>
              <a:rPr lang="en-US" sz="1600" kern="0" dirty="0">
                <a:latin typeface="Arial" panose="020B0604020202020204" pitchFamily="34" charset="0"/>
                <a:cs typeface="Arial" panose="020B0604020202020204" pitchFamily="34" charset="0"/>
              </a:rPr>
              <a:t>of AI projects through 2022 will deliver </a:t>
            </a:r>
            <a:r>
              <a:rPr lang="en-US" sz="1600" b="1" kern="0" dirty="0">
                <a:latin typeface="Arial" panose="020B0604020202020204" pitchFamily="34" charset="0"/>
                <a:cs typeface="Arial" panose="020B0604020202020204" pitchFamily="34" charset="0"/>
              </a:rPr>
              <a:t>erroneous outcomes </a:t>
            </a:r>
            <a:r>
              <a:rPr lang="en-US" sz="1600" kern="0" dirty="0">
                <a:latin typeface="Arial" panose="020B0604020202020204" pitchFamily="34" charset="0"/>
                <a:cs typeface="Arial" panose="020B0604020202020204" pitchFamily="34" charset="0"/>
              </a:rPr>
              <a:t>due to bias in data, algorithms or development teams.</a:t>
            </a:r>
          </a:p>
        </p:txBody>
      </p:sp>
      <p:sp>
        <p:nvSpPr>
          <p:cNvPr id="53" name="Rectangle 52">
            <a:extLst>
              <a:ext uri="{FF2B5EF4-FFF2-40B4-BE49-F238E27FC236}">
                <a16:creationId xmlns:a16="http://schemas.microsoft.com/office/drawing/2014/main" id="{72C6CC6C-6D3A-4C1B-8C30-581F79DE712C}"/>
              </a:ext>
            </a:extLst>
          </p:cNvPr>
          <p:cNvSpPr/>
          <p:nvPr/>
        </p:nvSpPr>
        <p:spPr>
          <a:xfrm>
            <a:off x="7152403" y="5467787"/>
            <a:ext cx="2199641" cy="215444"/>
          </a:xfrm>
          <a:prstGeom prst="rect">
            <a:avLst/>
          </a:prstGeom>
          <a:sp3d/>
        </p:spPr>
        <p:txBody>
          <a:bodyPr wrap="none">
            <a:spAutoFit/>
          </a:bodyPr>
          <a:lstStyle/>
          <a:p>
            <a:pPr algn="ctr" defTabSz="453641">
              <a:defRPr/>
            </a:pPr>
            <a:r>
              <a:rPr lang="en-US" sz="800" kern="0" dirty="0">
                <a:solidFill>
                  <a:schemeClr val="bg2"/>
                </a:solidFill>
                <a:latin typeface="Arial" panose="020B0604020202020204" pitchFamily="34" charset="0"/>
                <a:cs typeface="Arial" panose="020B0604020202020204" pitchFamily="34" charset="0"/>
              </a:rPr>
              <a:t>Source: Gartner’s 2018 CIO Agenda Survey</a:t>
            </a:r>
            <a:endParaRPr lang="en-GB" sz="800" kern="0" dirty="0">
              <a:solidFill>
                <a:schemeClr val="bg2"/>
              </a:solidFill>
              <a:latin typeface="Arial" panose="020B0604020202020204" pitchFamily="34" charset="0"/>
              <a:cs typeface="Arial" panose="020B0604020202020204" pitchFamily="34" charset="0"/>
            </a:endParaRPr>
          </a:p>
        </p:txBody>
      </p:sp>
      <p:cxnSp>
        <p:nvCxnSpPr>
          <p:cNvPr id="55" name="Straight Connector 54">
            <a:extLst>
              <a:ext uri="{FF2B5EF4-FFF2-40B4-BE49-F238E27FC236}">
                <a16:creationId xmlns:a16="http://schemas.microsoft.com/office/drawing/2014/main" id="{89EFBF13-4E1C-4318-90DE-3D97E8A3B27C}"/>
              </a:ext>
            </a:extLst>
          </p:cNvPr>
          <p:cNvCxnSpPr>
            <a:cxnSpLocks/>
          </p:cNvCxnSpPr>
          <p:nvPr/>
        </p:nvCxnSpPr>
        <p:spPr>
          <a:xfrm>
            <a:off x="1055477" y="1788683"/>
            <a:ext cx="0" cy="792887"/>
          </a:xfrm>
          <a:prstGeom prst="line">
            <a:avLst/>
          </a:prstGeom>
          <a:ln w="38100">
            <a:solidFill>
              <a:srgbClr val="1678BC"/>
            </a:solidFill>
            <a:tailEnd type="none"/>
          </a:ln>
          <a:sp3d/>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6FF3DE40-DFDD-4183-B68D-CEA2CF9CD041}"/>
              </a:ext>
            </a:extLst>
          </p:cNvPr>
          <p:cNvSpPr/>
          <p:nvPr/>
        </p:nvSpPr>
        <p:spPr>
          <a:xfrm>
            <a:off x="1106581" y="1859484"/>
            <a:ext cx="5622773" cy="748795"/>
          </a:xfrm>
          <a:prstGeom prst="rect">
            <a:avLst/>
          </a:prstGeom>
          <a:sp3d/>
        </p:spPr>
        <p:txBody>
          <a:bodyPr wrap="square">
            <a:spAutoFit/>
          </a:bodyPr>
          <a:lstStyle/>
          <a:p>
            <a:pPr lvl="0">
              <a:defRPr/>
            </a:pPr>
            <a:r>
              <a:rPr lang="en-US" sz="2133" dirty="0">
                <a:latin typeface="Arial" panose="020B0604020202020204" pitchFamily="34" charset="0"/>
                <a:cs typeface="Arial" panose="020B0604020202020204" pitchFamily="34" charset="0"/>
              </a:rPr>
              <a:t>User mistrust and aversion are slowing down the growth of AI</a:t>
            </a:r>
          </a:p>
        </p:txBody>
      </p:sp>
      <p:cxnSp>
        <p:nvCxnSpPr>
          <p:cNvPr id="57" name="Straight Connector 56">
            <a:extLst>
              <a:ext uri="{FF2B5EF4-FFF2-40B4-BE49-F238E27FC236}">
                <a16:creationId xmlns:a16="http://schemas.microsoft.com/office/drawing/2014/main" id="{E97C5F38-67B9-4FC6-AB16-ADC30594D1A0}"/>
              </a:ext>
            </a:extLst>
          </p:cNvPr>
          <p:cNvCxnSpPr>
            <a:cxnSpLocks/>
          </p:cNvCxnSpPr>
          <p:nvPr/>
        </p:nvCxnSpPr>
        <p:spPr>
          <a:xfrm>
            <a:off x="1055477" y="2812861"/>
            <a:ext cx="0" cy="792887"/>
          </a:xfrm>
          <a:prstGeom prst="line">
            <a:avLst/>
          </a:prstGeom>
          <a:ln w="38100">
            <a:solidFill>
              <a:srgbClr val="1678BC"/>
            </a:solidFill>
            <a:tailEnd type="none"/>
          </a:ln>
          <a:sp3d/>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B99D3B1-2716-43CE-AA45-BB4DB40A221F}"/>
              </a:ext>
            </a:extLst>
          </p:cNvPr>
          <p:cNvCxnSpPr>
            <a:cxnSpLocks/>
          </p:cNvCxnSpPr>
          <p:nvPr/>
        </p:nvCxnSpPr>
        <p:spPr>
          <a:xfrm>
            <a:off x="1055477" y="2717800"/>
            <a:ext cx="5643034" cy="0"/>
          </a:xfrm>
          <a:prstGeom prst="line">
            <a:avLst/>
          </a:prstGeom>
          <a:ln w="6350">
            <a:solidFill>
              <a:srgbClr val="747480"/>
            </a:solidFill>
            <a:prstDash val="dash"/>
            <a:tailEnd type="none"/>
          </a:ln>
          <a:sp3d/>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CCDADD26-BC2A-4B08-BF56-910414847D40}"/>
              </a:ext>
            </a:extLst>
          </p:cNvPr>
          <p:cNvSpPr/>
          <p:nvPr/>
        </p:nvSpPr>
        <p:spPr>
          <a:xfrm>
            <a:off x="1106904" y="2788960"/>
            <a:ext cx="5687919" cy="1077026"/>
          </a:xfrm>
          <a:prstGeom prst="rect">
            <a:avLst/>
          </a:prstGeom>
          <a:sp3d/>
        </p:spPr>
        <p:txBody>
          <a:bodyPr wrap="square">
            <a:spAutoFit/>
          </a:bodyPr>
          <a:lstStyle/>
          <a:p>
            <a:pPr lvl="0">
              <a:defRPr/>
            </a:pPr>
            <a:r>
              <a:rPr lang="en-US" sz="2133" dirty="0">
                <a:latin typeface="Arial" panose="020B0604020202020204" pitchFamily="34" charset="0"/>
                <a:cs typeface="Arial" panose="020B0604020202020204" pitchFamily="34" charset="0"/>
              </a:rPr>
              <a:t>It can take only one mistake — or a perception of a mistake — for a user to stop trusting AI</a:t>
            </a:r>
          </a:p>
        </p:txBody>
      </p:sp>
      <p:cxnSp>
        <p:nvCxnSpPr>
          <p:cNvPr id="68" name="Straight Connector 67">
            <a:extLst>
              <a:ext uri="{FF2B5EF4-FFF2-40B4-BE49-F238E27FC236}">
                <a16:creationId xmlns:a16="http://schemas.microsoft.com/office/drawing/2014/main" id="{F672CD28-2E9D-41B5-9D8E-3A188322D1F0}"/>
              </a:ext>
            </a:extLst>
          </p:cNvPr>
          <p:cNvCxnSpPr>
            <a:cxnSpLocks/>
          </p:cNvCxnSpPr>
          <p:nvPr/>
        </p:nvCxnSpPr>
        <p:spPr>
          <a:xfrm>
            <a:off x="1042967" y="3849981"/>
            <a:ext cx="0" cy="792887"/>
          </a:xfrm>
          <a:prstGeom prst="line">
            <a:avLst/>
          </a:prstGeom>
          <a:ln w="38100">
            <a:solidFill>
              <a:srgbClr val="1678BC"/>
            </a:solidFill>
            <a:tailEnd type="none"/>
          </a:ln>
          <a:sp3d/>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B0A7242-8483-495C-90A4-22FDD36A3748}"/>
              </a:ext>
            </a:extLst>
          </p:cNvPr>
          <p:cNvCxnSpPr>
            <a:cxnSpLocks/>
          </p:cNvCxnSpPr>
          <p:nvPr/>
        </p:nvCxnSpPr>
        <p:spPr>
          <a:xfrm>
            <a:off x="1084502" y="3877630"/>
            <a:ext cx="5643034" cy="0"/>
          </a:xfrm>
          <a:prstGeom prst="line">
            <a:avLst/>
          </a:prstGeom>
          <a:ln w="6350">
            <a:solidFill>
              <a:srgbClr val="747480"/>
            </a:solidFill>
            <a:prstDash val="dash"/>
            <a:tailEnd type="none"/>
          </a:ln>
          <a:sp3d/>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3ED78407-3B3D-4AC7-B98D-2B34E7273A03}"/>
              </a:ext>
            </a:extLst>
          </p:cNvPr>
          <p:cNvSpPr/>
          <p:nvPr/>
        </p:nvSpPr>
        <p:spPr>
          <a:xfrm>
            <a:off x="1106905" y="3924723"/>
            <a:ext cx="5687919" cy="748795"/>
          </a:xfrm>
          <a:prstGeom prst="rect">
            <a:avLst/>
          </a:prstGeom>
          <a:sp3d/>
        </p:spPr>
        <p:txBody>
          <a:bodyPr wrap="square">
            <a:spAutoFit/>
          </a:bodyPr>
          <a:lstStyle/>
          <a:p>
            <a:pPr lvl="0">
              <a:defRPr/>
            </a:pPr>
            <a:r>
              <a:rPr lang="en-US" sz="2133" dirty="0">
                <a:latin typeface="Arial" panose="020B0604020202020204" pitchFamily="34" charset="0"/>
                <a:cs typeface="Arial" panose="020B0604020202020204" pitchFamily="34" charset="0"/>
              </a:rPr>
              <a:t>Lack of trust in AI is the No. 1 barrier for deployment of AI in organizations</a:t>
            </a:r>
          </a:p>
        </p:txBody>
      </p:sp>
      <p:cxnSp>
        <p:nvCxnSpPr>
          <p:cNvPr id="78" name="Straight Connector 77">
            <a:extLst>
              <a:ext uri="{FF2B5EF4-FFF2-40B4-BE49-F238E27FC236}">
                <a16:creationId xmlns:a16="http://schemas.microsoft.com/office/drawing/2014/main" id="{AD871D1F-10C7-439B-8C5C-D29E707E40A8}"/>
              </a:ext>
            </a:extLst>
          </p:cNvPr>
          <p:cNvCxnSpPr>
            <a:cxnSpLocks/>
          </p:cNvCxnSpPr>
          <p:nvPr/>
        </p:nvCxnSpPr>
        <p:spPr>
          <a:xfrm>
            <a:off x="1055477" y="4884289"/>
            <a:ext cx="0" cy="1047387"/>
          </a:xfrm>
          <a:prstGeom prst="line">
            <a:avLst/>
          </a:prstGeom>
          <a:ln w="38100">
            <a:solidFill>
              <a:srgbClr val="1678BC"/>
            </a:solidFill>
            <a:tailEnd type="none"/>
          </a:ln>
          <a:sp3d/>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FCE92B4-03EF-49FF-BB3D-70391A79A01C}"/>
              </a:ext>
            </a:extLst>
          </p:cNvPr>
          <p:cNvCxnSpPr>
            <a:cxnSpLocks/>
          </p:cNvCxnSpPr>
          <p:nvPr/>
        </p:nvCxnSpPr>
        <p:spPr>
          <a:xfrm>
            <a:off x="1042967" y="4762279"/>
            <a:ext cx="5643034" cy="0"/>
          </a:xfrm>
          <a:prstGeom prst="line">
            <a:avLst/>
          </a:prstGeom>
          <a:ln w="6350">
            <a:solidFill>
              <a:srgbClr val="747480"/>
            </a:solidFill>
            <a:prstDash val="dash"/>
            <a:tailEnd type="none"/>
          </a:ln>
          <a:sp3d/>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61B13D3B-E868-42F1-879C-06C4C1DC7046}"/>
              </a:ext>
            </a:extLst>
          </p:cNvPr>
          <p:cNvSpPr/>
          <p:nvPr/>
        </p:nvSpPr>
        <p:spPr>
          <a:xfrm>
            <a:off x="1119281" y="4929331"/>
            <a:ext cx="5687919" cy="1077026"/>
          </a:xfrm>
          <a:prstGeom prst="rect">
            <a:avLst/>
          </a:prstGeom>
          <a:sp3d/>
        </p:spPr>
        <p:txBody>
          <a:bodyPr wrap="square">
            <a:spAutoFit/>
          </a:bodyPr>
          <a:lstStyle/>
          <a:p>
            <a:pPr lvl="0">
              <a:defRPr/>
            </a:pPr>
            <a:r>
              <a:rPr lang="en-CA" sz="2133" dirty="0">
                <a:latin typeface="Arial" panose="020B0604020202020204" pitchFamily="34" charset="0"/>
                <a:cs typeface="Arial" panose="020B0604020202020204" pitchFamily="34" charset="0"/>
              </a:rPr>
              <a:t>Sustaining trust in AI will be a long-term struggle and current governance practices are not keeping up</a:t>
            </a:r>
          </a:p>
        </p:txBody>
      </p:sp>
      <p:sp>
        <p:nvSpPr>
          <p:cNvPr id="33" name="TextBox 32">
            <a:extLst>
              <a:ext uri="{FF2B5EF4-FFF2-40B4-BE49-F238E27FC236}">
                <a16:creationId xmlns:a16="http://schemas.microsoft.com/office/drawing/2014/main" id="{017E7FCA-FAE7-44A7-9AD5-6F3A16ED9AEE}"/>
              </a:ext>
            </a:extLst>
          </p:cNvPr>
          <p:cNvSpPr txBox="1"/>
          <p:nvPr/>
        </p:nvSpPr>
        <p:spPr>
          <a:xfrm>
            <a:off x="7292933" y="2131144"/>
            <a:ext cx="3843591" cy="1077218"/>
          </a:xfrm>
          <a:prstGeom prst="rect">
            <a:avLst/>
          </a:prstGeom>
          <a:noFill/>
          <a:sp3d/>
        </p:spPr>
        <p:txBody>
          <a:bodyPr wrap="square" rtlCol="0">
            <a:spAutoFit/>
          </a:bodyPr>
          <a:lstStyle/>
          <a:p>
            <a:pPr defTabSz="725790">
              <a:tabLst>
                <a:tab pos="874227" algn="l"/>
              </a:tabLst>
              <a:defRPr/>
            </a:pPr>
            <a:r>
              <a:rPr lang="en-US" sz="1600" kern="0" dirty="0">
                <a:solidFill>
                  <a:schemeClr val="bg1"/>
                </a:solidFill>
                <a:latin typeface="Arial" panose="020B0604020202020204" pitchFamily="34" charset="0"/>
                <a:cs typeface="Arial" panose="020B0604020202020204" pitchFamily="34" charset="0"/>
              </a:rPr>
              <a:t>Only</a:t>
            </a:r>
            <a:r>
              <a:rPr lang="en-US" sz="1600" b="1" kern="0" dirty="0">
                <a:solidFill>
                  <a:schemeClr val="bg1"/>
                </a:solidFill>
                <a:latin typeface="Arial" panose="020B0604020202020204" pitchFamily="34" charset="0"/>
                <a:cs typeface="Arial" panose="020B0604020202020204" pitchFamily="34" charset="0"/>
              </a:rPr>
              <a:t> </a:t>
            </a:r>
            <a:r>
              <a:rPr lang="en-US" sz="3200" b="1" kern="0" dirty="0">
                <a:solidFill>
                  <a:schemeClr val="bg1"/>
                </a:solidFill>
                <a:latin typeface="Arial" panose="020B0604020202020204" pitchFamily="34" charset="0"/>
                <a:cs typeface="Arial" panose="020B0604020202020204" pitchFamily="34" charset="0"/>
              </a:rPr>
              <a:t>9% </a:t>
            </a:r>
            <a:r>
              <a:rPr lang="en-CA" sz="1600" dirty="0">
                <a:solidFill>
                  <a:schemeClr val="bg1"/>
                </a:solidFill>
                <a:latin typeface="Arial" panose="020B0604020202020204" pitchFamily="34" charset="0"/>
                <a:cs typeface="Arial" panose="020B0604020202020204" pitchFamily="34" charset="0"/>
              </a:rPr>
              <a:t>consumers would allow AI to run their </a:t>
            </a:r>
            <a:r>
              <a:rPr lang="en-CA" sz="1600" b="1" dirty="0">
                <a:solidFill>
                  <a:schemeClr val="bg1"/>
                </a:solidFill>
                <a:latin typeface="Arial" panose="020B0604020202020204" pitchFamily="34" charset="0"/>
                <a:cs typeface="Arial" panose="020B0604020202020204" pitchFamily="34" charset="0"/>
              </a:rPr>
              <a:t>finances</a:t>
            </a:r>
            <a:r>
              <a:rPr lang="en-CA" sz="1600" dirty="0">
                <a:solidFill>
                  <a:schemeClr val="bg1"/>
                </a:solidFill>
                <a:latin typeface="Arial" panose="020B0604020202020204" pitchFamily="34" charset="0"/>
                <a:cs typeface="Arial" panose="020B0604020202020204" pitchFamily="34" charset="0"/>
              </a:rPr>
              <a:t>, and only 4% would trust it with </a:t>
            </a:r>
            <a:r>
              <a:rPr lang="en-CA" sz="1600" b="1" dirty="0">
                <a:solidFill>
                  <a:schemeClr val="bg1"/>
                </a:solidFill>
                <a:latin typeface="Arial" panose="020B0604020202020204" pitchFamily="34" charset="0"/>
                <a:cs typeface="Arial" panose="020B0604020202020204" pitchFamily="34" charset="0"/>
              </a:rPr>
              <a:t>HR-related work.</a:t>
            </a:r>
            <a:r>
              <a:rPr lang="en-CA" sz="1600" dirty="0">
                <a:solidFill>
                  <a:schemeClr val="bg1"/>
                </a:solidFill>
                <a:latin typeface="Arial" panose="020B0604020202020204" pitchFamily="34" charset="0"/>
                <a:cs typeface="Arial" panose="020B0604020202020204" pitchFamily="34" charset="0"/>
              </a:rPr>
              <a:t> </a:t>
            </a:r>
            <a:endParaRPr lang="en-US" sz="1600" kern="0" dirty="0">
              <a:solidFill>
                <a:schemeClr val="bg1"/>
              </a:solidFill>
              <a:latin typeface="Arial" panose="020B0604020202020204" pitchFamily="34" charset="0"/>
              <a:cs typeface="Arial" panose="020B0604020202020204" pitchFamily="34" charset="0"/>
            </a:endParaRPr>
          </a:p>
        </p:txBody>
      </p:sp>
      <p:sp>
        <p:nvSpPr>
          <p:cNvPr id="32" name="Slide Number Placeholder 4">
            <a:extLst>
              <a:ext uri="{FF2B5EF4-FFF2-40B4-BE49-F238E27FC236}">
                <a16:creationId xmlns:a16="http://schemas.microsoft.com/office/drawing/2014/main" id="{E04C8A06-B64A-0149-962A-E775C02CA42F}"/>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pPr/>
              <a:t>13</a:t>
            </a:fld>
            <a:endParaRPr lang="en-US" sz="1400" dirty="0"/>
          </a:p>
        </p:txBody>
      </p:sp>
      <p:sp>
        <p:nvSpPr>
          <p:cNvPr id="2" name="TextBox 1">
            <a:extLst>
              <a:ext uri="{FF2B5EF4-FFF2-40B4-BE49-F238E27FC236}">
                <a16:creationId xmlns:a16="http://schemas.microsoft.com/office/drawing/2014/main" id="{7A36ECFE-A811-E34F-89D9-98706AF63258}"/>
              </a:ext>
            </a:extLst>
          </p:cNvPr>
          <p:cNvSpPr txBox="1"/>
          <p:nvPr/>
        </p:nvSpPr>
        <p:spPr>
          <a:xfrm>
            <a:off x="1084501" y="6327286"/>
            <a:ext cx="7035800" cy="369332"/>
          </a:xfrm>
          <a:prstGeom prst="rect">
            <a:avLst/>
          </a:prstGeom>
          <a:noFill/>
        </p:spPr>
        <p:txBody>
          <a:bodyPr wrap="square" rtlCol="0">
            <a:spAutoFit/>
          </a:bodyPr>
          <a:lstStyle/>
          <a:p>
            <a:r>
              <a:rPr lang="en-US" dirty="0"/>
              <a:t>Sources: EY Trusted AI Research AI User Survey</a:t>
            </a:r>
          </a:p>
        </p:txBody>
      </p:sp>
    </p:spTree>
    <p:extLst>
      <p:ext uri="{BB962C8B-B14F-4D97-AF65-F5344CB8AC3E}">
        <p14:creationId xmlns:p14="http://schemas.microsoft.com/office/powerpoint/2010/main" val="409133167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2"/>
            </p:custDataLst>
          </p:nvPr>
        </p:nvGraphicFramePr>
        <p:xfrm>
          <a:off x="1588" y="3373"/>
          <a:ext cx="1587" cy="1587"/>
        </p:xfrm>
        <a:graphic>
          <a:graphicData uri="http://schemas.openxmlformats.org/presentationml/2006/ole">
            <mc:AlternateContent xmlns:mc="http://schemas.openxmlformats.org/markup-compatibility/2006">
              <mc:Choice xmlns:v="urn:schemas-microsoft-com:vml" Requires="v">
                <p:oleObj spid="_x0000_s19484" name="think-cell Slide" r:id="rId6" imgW="352" imgH="318" progId="TCLayout.ActiveDocument.1">
                  <p:embed/>
                </p:oleObj>
              </mc:Choice>
              <mc:Fallback>
                <p:oleObj name="think-cell Slide" r:id="rId6" imgW="352" imgH="318" progId="TCLayout.ActiveDocument.1">
                  <p:embed/>
                  <p:pic>
                    <p:nvPicPr>
                      <p:cNvPr id="4" name="Objekt 3" hidden="1"/>
                      <p:cNvPicPr/>
                      <p:nvPr/>
                    </p:nvPicPr>
                    <p:blipFill>
                      <a:blip r:embed="rId7"/>
                      <a:stretch>
                        <a:fillRect/>
                      </a:stretch>
                    </p:blipFill>
                    <p:spPr>
                      <a:xfrm>
                        <a:off x="1588" y="3373"/>
                        <a:ext cx="1587" cy="1587"/>
                      </a:xfrm>
                      <a:prstGeom prst="rect">
                        <a:avLst/>
                      </a:prstGeom>
                    </p:spPr>
                  </p:pic>
                </p:oleObj>
              </mc:Fallback>
            </mc:AlternateContent>
          </a:graphicData>
        </a:graphic>
      </p:graphicFrame>
      <p:sp>
        <p:nvSpPr>
          <p:cNvPr id="3" name="Rechteck 2" hidden="1"/>
          <p:cNvSpPr/>
          <p:nvPr>
            <p:custDataLst>
              <p:tags r:id="rId3"/>
            </p:custDataLst>
          </p:nvPr>
        </p:nvSpPr>
        <p:spPr>
          <a:xfrm>
            <a:off x="1" y="1786"/>
            <a:ext cx="158667" cy="158667"/>
          </a:xfrm>
          <a:prstGeom prst="rect">
            <a:avLst/>
          </a:prstGeom>
          <a:solidFill>
            <a:srgbClr val="D2D2DA"/>
          </a:solidFill>
          <a:ln w="12700" cap="sq" cmpd="sng" algn="ctr">
            <a:noFill/>
            <a:prstDash val="solid"/>
            <a:miter lim="800000"/>
            <a:tailEnd type="none"/>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13958">
              <a:spcBef>
                <a:spcPct val="0"/>
              </a:spcBef>
              <a:spcAft>
                <a:spcPct val="0"/>
              </a:spcAft>
              <a:defRPr/>
            </a:pPr>
            <a:endParaRPr lang="en-US" sz="2399" kern="0" dirty="0">
              <a:solidFill>
                <a:srgbClr val="2E2E38"/>
              </a:solidFill>
              <a:latin typeface="EYInterstate Light" panose="02000506000000020004" pitchFamily="2" charset="0"/>
              <a:cs typeface="Arial" panose="020B0604020202020204" pitchFamily="34" charset="0"/>
              <a:sym typeface="EYInterstate Light" panose="02000506000000020004" pitchFamily="2" charset="0"/>
            </a:endParaRPr>
          </a:p>
        </p:txBody>
      </p:sp>
      <p:sp>
        <p:nvSpPr>
          <p:cNvPr id="25" name="Text Placeholder 5">
            <a:extLst>
              <a:ext uri="{FF2B5EF4-FFF2-40B4-BE49-F238E27FC236}">
                <a16:creationId xmlns:a16="http://schemas.microsoft.com/office/drawing/2014/main" id="{942441DD-82A1-4679-A1D4-25594F841680}"/>
              </a:ext>
            </a:extLst>
          </p:cNvPr>
          <p:cNvSpPr txBox="1">
            <a:spLocks/>
          </p:cNvSpPr>
          <p:nvPr/>
        </p:nvSpPr>
        <p:spPr>
          <a:xfrm>
            <a:off x="609600" y="429407"/>
            <a:ext cx="10972800" cy="859952"/>
          </a:xfrm>
          <a:prstGeom prst="rect">
            <a:avLst/>
          </a:prstGeom>
        </p:spPr>
        <p:txBody>
          <a:bodyPr anchor="ctr"/>
          <a:lstStyle>
            <a:lvl1pPr marL="0" marR="0" indent="0" algn="l" defTabSz="914400" rtl="0" eaLnBrk="1" fontAlgn="auto" latinLnBrk="0" hangingPunct="1">
              <a:lnSpc>
                <a:spcPct val="100000"/>
              </a:lnSpc>
              <a:spcBef>
                <a:spcPct val="20000"/>
              </a:spcBef>
              <a:spcAft>
                <a:spcPts val="0"/>
              </a:spcAft>
              <a:buClr>
                <a:schemeClr val="accent2"/>
              </a:buClr>
              <a:buSzPct val="70000"/>
              <a:buFont typeface="Arial" pitchFamily="34" charset="0"/>
              <a:buNone/>
              <a:tabLst/>
              <a:defRPr kumimoji="0" lang="de-CH" sz="2400" b="1" i="0" u="none" strike="noStrike" kern="1200" cap="none" spc="0" normalizeH="0" baseline="0" noProof="0" smtClean="0">
                <a:ln>
                  <a:noFill/>
                </a:ln>
                <a:solidFill>
                  <a:srgbClr val="FFFFFF"/>
                </a:solidFill>
                <a:effectLst/>
                <a:uLnTx/>
                <a:uFillTx/>
                <a:latin typeface="EYInterstate " charset="0"/>
                <a:ea typeface="+mn-ea"/>
                <a:cs typeface="Arial" pitchFamily="34" charset="0"/>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3958">
              <a:buClr>
                <a:srgbClr val="FFE600"/>
              </a:buClr>
              <a:defRPr/>
            </a:pPr>
            <a:endParaRPr lang="en-US" sz="2399" b="0" dirty="0">
              <a:solidFill>
                <a:prstClr val="white"/>
              </a:solidFill>
            </a:endParaRPr>
          </a:p>
        </p:txBody>
      </p:sp>
      <p:pic>
        <p:nvPicPr>
          <p:cNvPr id="2" name="Picture 1">
            <a:extLst>
              <a:ext uri="{FF2B5EF4-FFF2-40B4-BE49-F238E27FC236}">
                <a16:creationId xmlns:a16="http://schemas.microsoft.com/office/drawing/2014/main" id="{854AE03E-617D-4E68-B8DE-43FBD6CE8A94}"/>
              </a:ext>
            </a:extLst>
          </p:cNvPr>
          <p:cNvPicPr>
            <a:picLocks noChangeAspect="1"/>
          </p:cNvPicPr>
          <p:nvPr/>
        </p:nvPicPr>
        <p:blipFill>
          <a:blip r:embed="rId8"/>
          <a:stretch>
            <a:fillRect/>
          </a:stretch>
        </p:blipFill>
        <p:spPr>
          <a:xfrm>
            <a:off x="1326836" y="1496640"/>
            <a:ext cx="9538329" cy="4842536"/>
          </a:xfrm>
          <a:prstGeom prst="rect">
            <a:avLst/>
          </a:prstGeom>
        </p:spPr>
      </p:pic>
      <p:sp>
        <p:nvSpPr>
          <p:cNvPr id="10" name="Text Placeholder 9">
            <a:extLst>
              <a:ext uri="{FF2B5EF4-FFF2-40B4-BE49-F238E27FC236}">
                <a16:creationId xmlns:a16="http://schemas.microsoft.com/office/drawing/2014/main" id="{169937CB-152C-4891-87FE-80BE91F10DB6}"/>
              </a:ext>
            </a:extLst>
          </p:cNvPr>
          <p:cNvSpPr>
            <a:spLocks noGrp="1"/>
          </p:cNvSpPr>
          <p:nvPr>
            <p:ph type="body" sz="quarter" idx="1"/>
          </p:nvPr>
        </p:nvSpPr>
        <p:spPr>
          <a:xfrm>
            <a:off x="332534" y="582239"/>
            <a:ext cx="11633200" cy="914401"/>
          </a:xfrm>
        </p:spPr>
        <p:txBody>
          <a:bodyPr>
            <a:noAutofit/>
          </a:bodyPr>
          <a:lstStyle/>
          <a:p>
            <a:r>
              <a:rPr lang="en-CA" sz="4000" dirty="0">
                <a:solidFill>
                  <a:prstClr val="white"/>
                </a:solidFill>
                <a:latin typeface="Perpetua Titling MT Light" charset="0"/>
              </a:rPr>
              <a:t>Expectation gap with policy makers</a:t>
            </a:r>
          </a:p>
        </p:txBody>
      </p:sp>
      <p:sp>
        <p:nvSpPr>
          <p:cNvPr id="9" name="Slide Number Placeholder 4">
            <a:extLst>
              <a:ext uri="{FF2B5EF4-FFF2-40B4-BE49-F238E27FC236}">
                <a16:creationId xmlns:a16="http://schemas.microsoft.com/office/drawing/2014/main" id="{8488FB70-5376-D04B-BBA4-9C711E297DC3}"/>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pPr/>
              <a:t>14</a:t>
            </a:fld>
            <a:endParaRPr lang="en-US" sz="1400" dirty="0"/>
          </a:p>
        </p:txBody>
      </p:sp>
    </p:spTree>
    <p:extLst>
      <p:ext uri="{BB962C8B-B14F-4D97-AF65-F5344CB8AC3E}">
        <p14:creationId xmlns:p14="http://schemas.microsoft.com/office/powerpoint/2010/main" val="419067261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2"/>
            </p:custDataLst>
          </p:nvPr>
        </p:nvGraphicFramePr>
        <p:xfrm>
          <a:off x="1588" y="3373"/>
          <a:ext cx="1587" cy="1587"/>
        </p:xfrm>
        <a:graphic>
          <a:graphicData uri="http://schemas.openxmlformats.org/presentationml/2006/ole">
            <mc:AlternateContent xmlns:mc="http://schemas.openxmlformats.org/markup-compatibility/2006">
              <mc:Choice xmlns:v="urn:schemas-microsoft-com:vml" Requires="v">
                <p:oleObj spid="_x0000_s20508" name="think-cell Slide" r:id="rId10" imgW="352" imgH="318" progId="TCLayout.ActiveDocument.1">
                  <p:embed/>
                </p:oleObj>
              </mc:Choice>
              <mc:Fallback>
                <p:oleObj name="think-cell Slide" r:id="rId10" imgW="352" imgH="318" progId="TCLayout.ActiveDocument.1">
                  <p:embed/>
                  <p:pic>
                    <p:nvPicPr>
                      <p:cNvPr id="4" name="Objekt 3" hidden="1"/>
                      <p:cNvPicPr/>
                      <p:nvPr/>
                    </p:nvPicPr>
                    <p:blipFill>
                      <a:blip r:embed="rId11"/>
                      <a:stretch>
                        <a:fillRect/>
                      </a:stretch>
                    </p:blipFill>
                    <p:spPr>
                      <a:xfrm>
                        <a:off x="1588" y="3373"/>
                        <a:ext cx="1587" cy="1587"/>
                      </a:xfrm>
                      <a:prstGeom prst="rect">
                        <a:avLst/>
                      </a:prstGeom>
                    </p:spPr>
                  </p:pic>
                </p:oleObj>
              </mc:Fallback>
            </mc:AlternateContent>
          </a:graphicData>
        </a:graphic>
      </p:graphicFrame>
      <p:sp>
        <p:nvSpPr>
          <p:cNvPr id="3" name="Rechteck 2" hidden="1"/>
          <p:cNvSpPr/>
          <p:nvPr>
            <p:custDataLst>
              <p:tags r:id="rId3"/>
            </p:custDataLst>
          </p:nvPr>
        </p:nvSpPr>
        <p:spPr>
          <a:xfrm>
            <a:off x="1" y="1786"/>
            <a:ext cx="158667" cy="158667"/>
          </a:xfrm>
          <a:prstGeom prst="rect">
            <a:avLst/>
          </a:prstGeom>
          <a:solidFill>
            <a:srgbClr val="D2D2DA"/>
          </a:solidFill>
          <a:ln w="12700" cap="sq" cmpd="sng" algn="ctr">
            <a:noFill/>
            <a:prstDash val="solid"/>
            <a:miter lim="800000"/>
            <a:tailEnd type="none"/>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13958">
              <a:spcBef>
                <a:spcPct val="0"/>
              </a:spcBef>
              <a:spcAft>
                <a:spcPct val="0"/>
              </a:spcAft>
              <a:defRPr/>
            </a:pPr>
            <a:endParaRPr lang="en-US" sz="2399" kern="0" dirty="0">
              <a:solidFill>
                <a:srgbClr val="2E2E38"/>
              </a:solidFill>
              <a:latin typeface="EYInterstate Light" panose="02000506000000020004" pitchFamily="2" charset="0"/>
              <a:cs typeface="Arial" panose="020B0604020202020204" pitchFamily="34" charset="0"/>
              <a:sym typeface="EYInterstate Light" panose="02000506000000020004" pitchFamily="2" charset="0"/>
            </a:endParaRPr>
          </a:p>
        </p:txBody>
      </p:sp>
      <p:sp>
        <p:nvSpPr>
          <p:cNvPr id="25" name="Text Placeholder 5">
            <a:extLst>
              <a:ext uri="{FF2B5EF4-FFF2-40B4-BE49-F238E27FC236}">
                <a16:creationId xmlns:a16="http://schemas.microsoft.com/office/drawing/2014/main" id="{942441DD-82A1-4679-A1D4-25594F841680}"/>
              </a:ext>
            </a:extLst>
          </p:cNvPr>
          <p:cNvSpPr txBox="1">
            <a:spLocks/>
          </p:cNvSpPr>
          <p:nvPr/>
        </p:nvSpPr>
        <p:spPr>
          <a:xfrm>
            <a:off x="609600" y="429407"/>
            <a:ext cx="10972800" cy="859952"/>
          </a:xfrm>
          <a:prstGeom prst="rect">
            <a:avLst/>
          </a:prstGeom>
        </p:spPr>
        <p:txBody>
          <a:bodyPr anchor="ctr"/>
          <a:lstStyle>
            <a:lvl1pPr marL="0" marR="0" indent="0" algn="l" defTabSz="914400" rtl="0" eaLnBrk="1" fontAlgn="auto" latinLnBrk="0" hangingPunct="1">
              <a:lnSpc>
                <a:spcPct val="100000"/>
              </a:lnSpc>
              <a:spcBef>
                <a:spcPct val="20000"/>
              </a:spcBef>
              <a:spcAft>
                <a:spcPts val="0"/>
              </a:spcAft>
              <a:buClr>
                <a:schemeClr val="accent2"/>
              </a:buClr>
              <a:buSzPct val="70000"/>
              <a:buFont typeface="Arial" pitchFamily="34" charset="0"/>
              <a:buNone/>
              <a:tabLst/>
              <a:defRPr kumimoji="0" lang="de-CH" sz="2400" b="1" i="0" u="none" strike="noStrike" kern="1200" cap="none" spc="0" normalizeH="0" baseline="0" noProof="0" smtClean="0">
                <a:ln>
                  <a:noFill/>
                </a:ln>
                <a:solidFill>
                  <a:srgbClr val="FFFFFF"/>
                </a:solidFill>
                <a:effectLst/>
                <a:uLnTx/>
                <a:uFillTx/>
                <a:latin typeface="EYInterstate " charset="0"/>
                <a:ea typeface="+mn-ea"/>
                <a:cs typeface="Arial" pitchFamily="34" charset="0"/>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3958">
              <a:buClr>
                <a:srgbClr val="FFE600"/>
              </a:buClr>
              <a:defRPr/>
            </a:pPr>
            <a:endParaRPr lang="en-US" sz="2399" b="0" dirty="0">
              <a:solidFill>
                <a:prstClr val="white"/>
              </a:solidFill>
            </a:endParaRPr>
          </a:p>
        </p:txBody>
      </p:sp>
      <p:sp>
        <p:nvSpPr>
          <p:cNvPr id="11" name="Oval 10">
            <a:extLst>
              <a:ext uri="{FF2B5EF4-FFF2-40B4-BE49-F238E27FC236}">
                <a16:creationId xmlns:a16="http://schemas.microsoft.com/office/drawing/2014/main" id="{093A1B00-7FA3-4AB6-9FA1-7131574CAA3E}"/>
              </a:ext>
            </a:extLst>
          </p:cNvPr>
          <p:cNvSpPr/>
          <p:nvPr>
            <p:custDataLst>
              <p:tags r:id="rId4"/>
            </p:custDataLst>
          </p:nvPr>
        </p:nvSpPr>
        <p:spPr>
          <a:xfrm>
            <a:off x="834625" y="1941371"/>
            <a:ext cx="362751" cy="362751"/>
          </a:xfrm>
          <a:prstGeom prst="ellipse">
            <a:avLst/>
          </a:prstGeom>
          <a:solidFill>
            <a:srgbClr val="336699"/>
          </a:solidFill>
          <a:ln w="9525" cap="flat" cmpd="sng" algn="ctr">
            <a:noFill/>
            <a:prstDash val="solid"/>
          </a:ln>
          <a:effectLst/>
        </p:spPr>
        <p:txBody>
          <a:bodyPr rtlCol="0" anchor="ctr" anchorCtr="0"/>
          <a:lstStyle/>
          <a:p>
            <a:pPr algn="ctr" defTabSz="609630">
              <a:defRPr/>
            </a:pPr>
            <a:r>
              <a:rPr lang="nb-NO" sz="1600" b="1" kern="0" dirty="0">
                <a:solidFill>
                  <a:schemeClr val="bg1"/>
                </a:solidFill>
                <a:latin typeface="Arial" panose="020B0604020202020204" pitchFamily="34" charset="0"/>
                <a:cs typeface="Arial" panose="020B0604020202020204" pitchFamily="34" charset="0"/>
              </a:rPr>
              <a:t>1</a:t>
            </a:r>
          </a:p>
        </p:txBody>
      </p:sp>
      <p:sp>
        <p:nvSpPr>
          <p:cNvPr id="12" name="Oval 11">
            <a:extLst>
              <a:ext uri="{FF2B5EF4-FFF2-40B4-BE49-F238E27FC236}">
                <a16:creationId xmlns:a16="http://schemas.microsoft.com/office/drawing/2014/main" id="{9083C08E-D903-41CB-9C5C-096ED7D6BA25}"/>
              </a:ext>
            </a:extLst>
          </p:cNvPr>
          <p:cNvSpPr/>
          <p:nvPr>
            <p:custDataLst>
              <p:tags r:id="rId5"/>
            </p:custDataLst>
          </p:nvPr>
        </p:nvSpPr>
        <p:spPr>
          <a:xfrm>
            <a:off x="834624" y="3226457"/>
            <a:ext cx="362751" cy="362751"/>
          </a:xfrm>
          <a:prstGeom prst="ellipse">
            <a:avLst/>
          </a:prstGeom>
          <a:solidFill>
            <a:srgbClr val="336699"/>
          </a:solidFill>
          <a:ln w="9525" cap="flat" cmpd="sng" algn="ctr">
            <a:noFill/>
            <a:prstDash val="solid"/>
          </a:ln>
          <a:effectLst/>
        </p:spPr>
        <p:txBody>
          <a:bodyPr rtlCol="0" anchor="ctr" anchorCtr="0"/>
          <a:lstStyle/>
          <a:p>
            <a:pPr algn="ctr" defTabSz="609630">
              <a:defRPr/>
            </a:pPr>
            <a:r>
              <a:rPr lang="nb-NO" sz="1600" b="1" kern="0" dirty="0">
                <a:solidFill>
                  <a:schemeClr val="bg1"/>
                </a:solidFill>
                <a:latin typeface="Arial" panose="020B0604020202020204" pitchFamily="34" charset="0"/>
                <a:cs typeface="Arial" panose="020B0604020202020204" pitchFamily="34" charset="0"/>
              </a:rPr>
              <a:t>2</a:t>
            </a:r>
          </a:p>
        </p:txBody>
      </p:sp>
      <p:sp>
        <p:nvSpPr>
          <p:cNvPr id="13" name="Oval 12">
            <a:extLst>
              <a:ext uri="{FF2B5EF4-FFF2-40B4-BE49-F238E27FC236}">
                <a16:creationId xmlns:a16="http://schemas.microsoft.com/office/drawing/2014/main" id="{7AC6A370-F3D0-457A-8348-6BCC31FD5C12}"/>
              </a:ext>
            </a:extLst>
          </p:cNvPr>
          <p:cNvSpPr/>
          <p:nvPr>
            <p:custDataLst>
              <p:tags r:id="rId6"/>
            </p:custDataLst>
          </p:nvPr>
        </p:nvSpPr>
        <p:spPr>
          <a:xfrm>
            <a:off x="834624" y="4183849"/>
            <a:ext cx="362751" cy="362751"/>
          </a:xfrm>
          <a:prstGeom prst="ellipse">
            <a:avLst/>
          </a:prstGeom>
          <a:solidFill>
            <a:srgbClr val="336699"/>
          </a:solidFill>
          <a:ln w="9525" cap="flat" cmpd="sng" algn="ctr">
            <a:noFill/>
            <a:prstDash val="solid"/>
          </a:ln>
          <a:effectLst/>
        </p:spPr>
        <p:txBody>
          <a:bodyPr rtlCol="0" anchor="ctr" anchorCtr="0"/>
          <a:lstStyle/>
          <a:p>
            <a:pPr algn="ctr" defTabSz="609630">
              <a:defRPr/>
            </a:pPr>
            <a:r>
              <a:rPr lang="nb-NO" sz="1600" b="1" kern="0" dirty="0">
                <a:solidFill>
                  <a:schemeClr val="bg1"/>
                </a:solidFill>
                <a:latin typeface="Arial" panose="020B0604020202020204" pitchFamily="34" charset="0"/>
                <a:cs typeface="Arial" panose="020B0604020202020204" pitchFamily="34" charset="0"/>
              </a:rPr>
              <a:t>3</a:t>
            </a:r>
          </a:p>
        </p:txBody>
      </p:sp>
      <p:sp>
        <p:nvSpPr>
          <p:cNvPr id="14" name="Oval 13">
            <a:extLst>
              <a:ext uri="{FF2B5EF4-FFF2-40B4-BE49-F238E27FC236}">
                <a16:creationId xmlns:a16="http://schemas.microsoft.com/office/drawing/2014/main" id="{3ACF3FBE-B440-4EB4-8BC8-1C06F325A9AC}"/>
              </a:ext>
            </a:extLst>
          </p:cNvPr>
          <p:cNvSpPr/>
          <p:nvPr>
            <p:custDataLst>
              <p:tags r:id="rId7"/>
            </p:custDataLst>
          </p:nvPr>
        </p:nvSpPr>
        <p:spPr>
          <a:xfrm>
            <a:off x="834623" y="5250649"/>
            <a:ext cx="362751" cy="362751"/>
          </a:xfrm>
          <a:prstGeom prst="ellipse">
            <a:avLst/>
          </a:prstGeom>
          <a:solidFill>
            <a:srgbClr val="336699"/>
          </a:solidFill>
          <a:ln w="9525" cap="flat" cmpd="sng" algn="ctr">
            <a:noFill/>
            <a:prstDash val="solid"/>
          </a:ln>
          <a:effectLst/>
        </p:spPr>
        <p:txBody>
          <a:bodyPr rtlCol="0" anchor="ctr" anchorCtr="0"/>
          <a:lstStyle/>
          <a:p>
            <a:pPr algn="ctr" defTabSz="609630">
              <a:defRPr/>
            </a:pPr>
            <a:r>
              <a:rPr lang="nb-NO" sz="1600" b="1" kern="0" dirty="0">
                <a:solidFill>
                  <a:schemeClr val="bg1"/>
                </a:solidFill>
                <a:latin typeface="Arial" panose="020B0604020202020204" pitchFamily="34" charset="0"/>
                <a:cs typeface="Arial" panose="020B0604020202020204" pitchFamily="34" charset="0"/>
              </a:rPr>
              <a:t>4</a:t>
            </a:r>
          </a:p>
        </p:txBody>
      </p:sp>
      <p:sp>
        <p:nvSpPr>
          <p:cNvPr id="15" name="Rectangle 23">
            <a:extLst>
              <a:ext uri="{FF2B5EF4-FFF2-40B4-BE49-F238E27FC236}">
                <a16:creationId xmlns:a16="http://schemas.microsoft.com/office/drawing/2014/main" id="{E77BECA5-CCA2-463F-B9E1-A89BCE2B50CD}"/>
              </a:ext>
            </a:extLst>
          </p:cNvPr>
          <p:cNvSpPr>
            <a:spLocks noGrp="1" noChangeArrowheads="1"/>
          </p:cNvSpPr>
          <p:nvPr>
            <p:ph type="body" sz="quarter" idx="1"/>
          </p:nvPr>
        </p:nvSpPr>
        <p:spPr>
          <a:xfrm>
            <a:off x="698500" y="643542"/>
            <a:ext cx="9097462" cy="914401"/>
          </a:xfrm>
          <a:noFill/>
          <a:ln/>
        </p:spPr>
        <p:txBody>
          <a:bodyPr vert="horz" lIns="60000" tIns="60000" rIns="60000" bIns="60000" rtlCol="0" anchor="t" anchorCtr="0">
            <a:noAutofit/>
          </a:bodyPr>
          <a:lstStyle/>
          <a:p>
            <a:pPr>
              <a:buSzPct val="100000"/>
            </a:pPr>
            <a:r>
              <a:rPr lang="en-CA" sz="4000" dirty="0">
                <a:solidFill>
                  <a:prstClr val="white"/>
                </a:solidFill>
                <a:latin typeface="Perpetua Titling MT Light" charset="0"/>
              </a:rPr>
              <a:t>The AI risk imperative</a:t>
            </a:r>
            <a:endParaRPr lang="en-US" sz="4000" dirty="0">
              <a:solidFill>
                <a:prstClr val="white"/>
              </a:solidFill>
              <a:latin typeface="Perpetua Titling MT Light" charset="0"/>
            </a:endParaRPr>
          </a:p>
        </p:txBody>
      </p:sp>
      <p:sp>
        <p:nvSpPr>
          <p:cNvPr id="16" name="Rectangle 23">
            <a:extLst>
              <a:ext uri="{FF2B5EF4-FFF2-40B4-BE49-F238E27FC236}">
                <a16:creationId xmlns:a16="http://schemas.microsoft.com/office/drawing/2014/main" id="{7AC63586-F459-4434-BBB1-15DE357DE025}"/>
              </a:ext>
            </a:extLst>
          </p:cNvPr>
          <p:cNvSpPr txBox="1">
            <a:spLocks noChangeArrowheads="1"/>
          </p:cNvSpPr>
          <p:nvPr/>
        </p:nvSpPr>
        <p:spPr>
          <a:xfrm>
            <a:off x="1320800" y="3126790"/>
            <a:ext cx="9855200" cy="922683"/>
          </a:xfrm>
          <a:prstGeom prst="rect">
            <a:avLst/>
          </a:prstGeom>
          <a:noFill/>
          <a:ln/>
        </p:spPr>
        <p:txBody>
          <a:bodyPr vert="horz" lIns="60000" tIns="60000" rIns="60000" bIns="60000" rtlCol="0" anchor="t" anchorCtr="0">
            <a:noAutofit/>
          </a:bodyPr>
          <a:lstStyle>
            <a:lvl1pPr marL="534639" marR="0" indent="-534639"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998" kern="1200" noProof="0" dirty="0" smtClean="0">
                <a:solidFill>
                  <a:schemeClr val="bg1"/>
                </a:solidFill>
                <a:latin typeface="EYInterstate Light" panose="02000506000000020004" pitchFamily="2" charset="0"/>
                <a:ea typeface="+mn-ea"/>
                <a:cs typeface="+mn-cs"/>
              </a:defRPr>
            </a:lvl1pPr>
            <a:lvl2pPr marL="1013871" marR="0" indent="-478377"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699" kern="1200" noProof="0" dirty="0" smtClean="0">
                <a:solidFill>
                  <a:schemeClr val="bg1"/>
                </a:solidFill>
                <a:latin typeface="EYInterstate Light" panose="02000506000000020004" pitchFamily="2" charset="0"/>
                <a:ea typeface="+mn-ea"/>
                <a:cs typeface="+mn-cs"/>
              </a:defRPr>
            </a:lvl2pPr>
            <a:lvl3pPr marL="1430369" marR="0" indent="-402217"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399" kern="1200" noProof="0" dirty="0" smtClean="0">
                <a:solidFill>
                  <a:schemeClr val="bg1"/>
                </a:solidFill>
                <a:latin typeface="EYInterstate Light" panose="02000506000000020004" pitchFamily="2" charset="0"/>
                <a:ea typeface="+mn-ea"/>
                <a:cs typeface="+mn-cs"/>
              </a:defRPr>
            </a:lvl3pPr>
            <a:lvl4pPr marL="1782606" marR="0" indent="-323677"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099" kern="1200" noProof="0" dirty="0" smtClean="0">
                <a:solidFill>
                  <a:schemeClr val="bg1"/>
                </a:solidFill>
                <a:latin typeface="EYInterstate Light" panose="02000506000000020004" pitchFamily="2" charset="0"/>
                <a:ea typeface="+mn-ea"/>
                <a:cs typeface="+mn-cs"/>
              </a:defRPr>
            </a:lvl4pPr>
            <a:lvl5pPr marL="2049164" marR="0" indent="-273698"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1799" kern="1200" noProof="0" dirty="0" smtClean="0">
                <a:solidFill>
                  <a:schemeClr val="bg1"/>
                </a:solidFill>
                <a:latin typeface="EYInterstate Light" panose="02000506000000020004" pitchFamily="2" charset="0"/>
                <a:ea typeface="+mn-ea"/>
                <a:cs typeface="+mn-cs"/>
              </a:defRPr>
            </a:lvl5pPr>
            <a:lvl6pPr marL="3769888"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6pPr>
            <a:lvl7pPr marL="4455323"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7pPr>
            <a:lvl8pPr marL="5140757"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8pPr>
            <a:lvl9pPr marL="5826191"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9pPr>
          </a:lstStyle>
          <a:p>
            <a:pPr marL="0" indent="0">
              <a:buSzPct val="100000"/>
              <a:buNone/>
            </a:pPr>
            <a:r>
              <a:rPr lang="en-CA" sz="1867" b="1" dirty="0">
                <a:solidFill>
                  <a:srgbClr val="336699"/>
                </a:solidFill>
                <a:latin typeface="Arial" panose="020B0604020202020204" pitchFamily="34" charset="0"/>
                <a:cs typeface="Arial" panose="020B0604020202020204" pitchFamily="34" charset="0"/>
              </a:rPr>
              <a:t>Reputational risk </a:t>
            </a:r>
            <a:r>
              <a:rPr lang="en-CA" sz="1867" dirty="0">
                <a:solidFill>
                  <a:schemeClr val="tx1"/>
                </a:solidFill>
                <a:latin typeface="Arial" panose="020B0604020202020204" pitchFamily="34" charset="0"/>
                <a:cs typeface="Arial" panose="020B0604020202020204" pitchFamily="34" charset="0"/>
              </a:rPr>
              <a:t>– Today’s consumers have big megaphones thanks to social media. AI products and services that cause damage to a consumer could erode the company’s brand and reputation</a:t>
            </a:r>
          </a:p>
        </p:txBody>
      </p:sp>
      <p:sp>
        <p:nvSpPr>
          <p:cNvPr id="17" name="Rectangle 23">
            <a:extLst>
              <a:ext uri="{FF2B5EF4-FFF2-40B4-BE49-F238E27FC236}">
                <a16:creationId xmlns:a16="http://schemas.microsoft.com/office/drawing/2014/main" id="{C38AE3FF-D426-4C74-BB28-C3529F2C9E8C}"/>
              </a:ext>
            </a:extLst>
          </p:cNvPr>
          <p:cNvSpPr txBox="1">
            <a:spLocks noChangeArrowheads="1"/>
          </p:cNvSpPr>
          <p:nvPr/>
        </p:nvSpPr>
        <p:spPr>
          <a:xfrm>
            <a:off x="1320800" y="4133187"/>
            <a:ext cx="9855200" cy="922683"/>
          </a:xfrm>
          <a:prstGeom prst="rect">
            <a:avLst/>
          </a:prstGeom>
          <a:noFill/>
          <a:ln/>
        </p:spPr>
        <p:txBody>
          <a:bodyPr vert="horz" lIns="60000" tIns="60000" rIns="60000" bIns="60000" rtlCol="0" anchor="t" anchorCtr="0">
            <a:noAutofit/>
          </a:bodyPr>
          <a:lstStyle>
            <a:lvl1pPr marL="534639" marR="0" indent="-534639"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998" kern="1200" noProof="0" dirty="0" smtClean="0">
                <a:solidFill>
                  <a:schemeClr val="bg1"/>
                </a:solidFill>
                <a:latin typeface="EYInterstate Light" panose="02000506000000020004" pitchFamily="2" charset="0"/>
                <a:ea typeface="+mn-ea"/>
                <a:cs typeface="+mn-cs"/>
              </a:defRPr>
            </a:lvl1pPr>
            <a:lvl2pPr marL="1013871" marR="0" indent="-478377"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699" kern="1200" noProof="0" dirty="0" smtClean="0">
                <a:solidFill>
                  <a:schemeClr val="bg1"/>
                </a:solidFill>
                <a:latin typeface="EYInterstate Light" panose="02000506000000020004" pitchFamily="2" charset="0"/>
                <a:ea typeface="+mn-ea"/>
                <a:cs typeface="+mn-cs"/>
              </a:defRPr>
            </a:lvl2pPr>
            <a:lvl3pPr marL="1430369" marR="0" indent="-402217"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399" kern="1200" noProof="0" dirty="0" smtClean="0">
                <a:solidFill>
                  <a:schemeClr val="bg1"/>
                </a:solidFill>
                <a:latin typeface="EYInterstate Light" panose="02000506000000020004" pitchFamily="2" charset="0"/>
                <a:ea typeface="+mn-ea"/>
                <a:cs typeface="+mn-cs"/>
              </a:defRPr>
            </a:lvl3pPr>
            <a:lvl4pPr marL="1782606" marR="0" indent="-323677"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099" kern="1200" noProof="0" dirty="0" smtClean="0">
                <a:solidFill>
                  <a:schemeClr val="bg1"/>
                </a:solidFill>
                <a:latin typeface="EYInterstate Light" panose="02000506000000020004" pitchFamily="2" charset="0"/>
                <a:ea typeface="+mn-ea"/>
                <a:cs typeface="+mn-cs"/>
              </a:defRPr>
            </a:lvl4pPr>
            <a:lvl5pPr marL="2049164" marR="0" indent="-273698"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1799" kern="1200" noProof="0" dirty="0" smtClean="0">
                <a:solidFill>
                  <a:schemeClr val="bg1"/>
                </a:solidFill>
                <a:latin typeface="EYInterstate Light" panose="02000506000000020004" pitchFamily="2" charset="0"/>
                <a:ea typeface="+mn-ea"/>
                <a:cs typeface="+mn-cs"/>
              </a:defRPr>
            </a:lvl5pPr>
            <a:lvl6pPr marL="3769888"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6pPr>
            <a:lvl7pPr marL="4455323"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7pPr>
            <a:lvl8pPr marL="5140757"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8pPr>
            <a:lvl9pPr marL="5826191"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9pPr>
          </a:lstStyle>
          <a:p>
            <a:pPr marL="0" indent="0">
              <a:buSzPct val="100000"/>
              <a:buNone/>
            </a:pPr>
            <a:r>
              <a:rPr lang="en-CA" sz="1867" b="1" dirty="0">
                <a:solidFill>
                  <a:srgbClr val="336699"/>
                </a:solidFill>
                <a:latin typeface="Arial" panose="020B0604020202020204" pitchFamily="34" charset="0"/>
                <a:cs typeface="Arial" panose="020B0604020202020204" pitchFamily="34" charset="0"/>
              </a:rPr>
              <a:t>Compliance risk </a:t>
            </a:r>
            <a:r>
              <a:rPr lang="en-CA" sz="1867" dirty="0">
                <a:solidFill>
                  <a:schemeClr val="tx1"/>
                </a:solidFill>
                <a:latin typeface="Arial" panose="020B0604020202020204" pitchFamily="34" charset="0"/>
                <a:cs typeface="Arial" panose="020B0604020202020204" pitchFamily="34" charset="0"/>
              </a:rPr>
              <a:t>–  If company’s are not actively involved in shaping emerging regulations and don’t understand the ethical principles policymakers are prioritizing, they risk developing products and services that aren’t designed to comply with future regulatory requirements</a:t>
            </a:r>
          </a:p>
        </p:txBody>
      </p:sp>
      <p:sp>
        <p:nvSpPr>
          <p:cNvPr id="18" name="Rectangle 23">
            <a:extLst>
              <a:ext uri="{FF2B5EF4-FFF2-40B4-BE49-F238E27FC236}">
                <a16:creationId xmlns:a16="http://schemas.microsoft.com/office/drawing/2014/main" id="{D0CB0404-CDAC-4635-85FC-4AC1925FE0BF}"/>
              </a:ext>
            </a:extLst>
          </p:cNvPr>
          <p:cNvSpPr txBox="1">
            <a:spLocks noChangeArrowheads="1"/>
          </p:cNvSpPr>
          <p:nvPr/>
        </p:nvSpPr>
        <p:spPr>
          <a:xfrm>
            <a:off x="1320800" y="5162253"/>
            <a:ext cx="9855200" cy="922683"/>
          </a:xfrm>
          <a:prstGeom prst="rect">
            <a:avLst/>
          </a:prstGeom>
          <a:noFill/>
          <a:ln/>
        </p:spPr>
        <p:txBody>
          <a:bodyPr vert="horz" lIns="60000" tIns="60000" rIns="60000" bIns="60000" rtlCol="0" anchor="t" anchorCtr="0">
            <a:noAutofit/>
          </a:bodyPr>
          <a:lstStyle>
            <a:lvl1pPr marL="534639" marR="0" indent="-534639"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998" kern="1200" noProof="0" dirty="0" smtClean="0">
                <a:solidFill>
                  <a:schemeClr val="bg1"/>
                </a:solidFill>
                <a:latin typeface="EYInterstate Light" panose="02000506000000020004" pitchFamily="2" charset="0"/>
                <a:ea typeface="+mn-ea"/>
                <a:cs typeface="+mn-cs"/>
              </a:defRPr>
            </a:lvl1pPr>
            <a:lvl2pPr marL="1013871" marR="0" indent="-478377"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699" kern="1200" noProof="0" dirty="0" smtClean="0">
                <a:solidFill>
                  <a:schemeClr val="bg1"/>
                </a:solidFill>
                <a:latin typeface="EYInterstate Light" panose="02000506000000020004" pitchFamily="2" charset="0"/>
                <a:ea typeface="+mn-ea"/>
                <a:cs typeface="+mn-cs"/>
              </a:defRPr>
            </a:lvl2pPr>
            <a:lvl3pPr marL="1430369" marR="0" indent="-402217"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399" kern="1200" noProof="0" dirty="0" smtClean="0">
                <a:solidFill>
                  <a:schemeClr val="bg1"/>
                </a:solidFill>
                <a:latin typeface="EYInterstate Light" panose="02000506000000020004" pitchFamily="2" charset="0"/>
                <a:ea typeface="+mn-ea"/>
                <a:cs typeface="+mn-cs"/>
              </a:defRPr>
            </a:lvl3pPr>
            <a:lvl4pPr marL="1782606" marR="0" indent="-323677"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2099" kern="1200" noProof="0" dirty="0" smtClean="0">
                <a:solidFill>
                  <a:schemeClr val="bg1"/>
                </a:solidFill>
                <a:latin typeface="EYInterstate Light" panose="02000506000000020004" pitchFamily="2" charset="0"/>
                <a:ea typeface="+mn-ea"/>
                <a:cs typeface="+mn-cs"/>
              </a:defRPr>
            </a:lvl4pPr>
            <a:lvl5pPr marL="2049164" marR="0" indent="-273698" algn="l" defTabSz="1370868" rtl="0" eaLnBrk="1" fontAlgn="auto" latinLnBrk="0" hangingPunct="1">
              <a:lnSpc>
                <a:spcPct val="100000"/>
              </a:lnSpc>
              <a:spcBef>
                <a:spcPts val="0"/>
              </a:spcBef>
              <a:spcAft>
                <a:spcPts val="0"/>
              </a:spcAft>
              <a:buClr>
                <a:srgbClr val="FFE600"/>
              </a:buClr>
              <a:buSzPct val="70000"/>
              <a:buFont typeface="Arial" pitchFamily="34" charset="0"/>
              <a:buChar char="►"/>
              <a:tabLst/>
              <a:defRPr lang="en-US" sz="1799" kern="1200" noProof="0" dirty="0" smtClean="0">
                <a:solidFill>
                  <a:schemeClr val="bg1"/>
                </a:solidFill>
                <a:latin typeface="EYInterstate Light" panose="02000506000000020004" pitchFamily="2" charset="0"/>
                <a:ea typeface="+mn-ea"/>
                <a:cs typeface="+mn-cs"/>
              </a:defRPr>
            </a:lvl5pPr>
            <a:lvl6pPr marL="3769888"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6pPr>
            <a:lvl7pPr marL="4455323"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7pPr>
            <a:lvl8pPr marL="5140757"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8pPr>
            <a:lvl9pPr marL="5826191" indent="-342717" algn="l" defTabSz="1370868" rtl="0" eaLnBrk="1" latinLnBrk="0" hangingPunct="1">
              <a:spcBef>
                <a:spcPct val="20000"/>
              </a:spcBef>
              <a:buFont typeface="Arial" pitchFamily="34" charset="0"/>
              <a:buChar char="•"/>
              <a:defRPr sz="2998" kern="1200">
                <a:solidFill>
                  <a:schemeClr val="tx1"/>
                </a:solidFill>
                <a:latin typeface="+mn-lt"/>
                <a:ea typeface="+mn-ea"/>
                <a:cs typeface="+mn-cs"/>
              </a:defRPr>
            </a:lvl9pPr>
          </a:lstStyle>
          <a:p>
            <a:pPr marL="0" indent="0">
              <a:buSzPct val="100000"/>
              <a:buNone/>
            </a:pPr>
            <a:r>
              <a:rPr lang="en-CA" sz="1867" b="1" dirty="0">
                <a:solidFill>
                  <a:srgbClr val="336699"/>
                </a:solidFill>
                <a:latin typeface="Arial" panose="020B0604020202020204" pitchFamily="34" charset="0"/>
                <a:cs typeface="Arial" panose="020B0604020202020204" pitchFamily="34" charset="0"/>
              </a:rPr>
              <a:t>Legal risk –  </a:t>
            </a:r>
            <a:r>
              <a:rPr lang="en-CA" sz="1867" dirty="0">
                <a:solidFill>
                  <a:schemeClr val="tx1"/>
                </a:solidFill>
                <a:latin typeface="Arial" panose="020B0604020202020204" pitchFamily="34" charset="0"/>
                <a:cs typeface="Arial" panose="020B0604020202020204" pitchFamily="34" charset="0"/>
              </a:rPr>
              <a:t>The inability to comply with regulations, could open companies to litigation and financial penalties</a:t>
            </a:r>
          </a:p>
        </p:txBody>
      </p:sp>
      <p:sp>
        <p:nvSpPr>
          <p:cNvPr id="21" name="Rectangle 23">
            <a:extLst>
              <a:ext uri="{FF2B5EF4-FFF2-40B4-BE49-F238E27FC236}">
                <a16:creationId xmlns:a16="http://schemas.microsoft.com/office/drawing/2014/main" id="{4C65BA03-7424-48B9-BD7B-F7358C9FEF0A}"/>
              </a:ext>
            </a:extLst>
          </p:cNvPr>
          <p:cNvSpPr txBox="1">
            <a:spLocks noChangeArrowheads="1"/>
          </p:cNvSpPr>
          <p:nvPr/>
        </p:nvSpPr>
        <p:spPr bwMode="auto">
          <a:xfrm>
            <a:off x="1320800" y="1891385"/>
            <a:ext cx="9097462" cy="914401"/>
          </a:xfrm>
          <a:prstGeom prst="rect">
            <a:avLst/>
          </a:prstGeom>
          <a:noFill/>
          <a:ln w="9525">
            <a:noFill/>
            <a:miter lim="800000"/>
            <a:headEnd/>
            <a:tailEnd/>
          </a:ln>
        </p:spPr>
        <p:txBody>
          <a:bodyPr vert="horz" wrap="square" lIns="60000" tIns="60000" rIns="60000" bIns="60000" numCol="1" rtlCol="0" anchor="t" anchorCtr="0" compatLnSpc="1">
            <a:prstTxWarp prst="textNoShape">
              <a:avLst/>
            </a:prstTxWarp>
            <a:noAutofit/>
          </a:bodyPr>
          <a:lstStyle>
            <a:lvl1pPr marL="0" indent="0" algn="l" defTabSz="1445697" rtl="0" eaLnBrk="1" fontAlgn="base" hangingPunct="1">
              <a:spcBef>
                <a:spcPts val="853"/>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0" indent="529733"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L="0" indent="1059468"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L="0" indent="1589206"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L="0" indent="2118939"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L="2190601"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6pPr>
            <a:lvl7pPr marL="2839666"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7pPr>
            <a:lvl8pPr marL="3488731"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8pPr>
            <a:lvl9pPr marL="4137798"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9pPr>
          </a:lstStyle>
          <a:p>
            <a:pPr>
              <a:buSzPct val="100000"/>
            </a:pPr>
            <a:r>
              <a:rPr lang="en-CA" sz="1867" b="1" kern="0" dirty="0">
                <a:solidFill>
                  <a:srgbClr val="336699"/>
                </a:solidFill>
              </a:rPr>
              <a:t>Market or competitive risk </a:t>
            </a:r>
            <a:r>
              <a:rPr lang="en-CA" sz="1867" kern="0" dirty="0">
                <a:solidFill>
                  <a:schemeClr val="tx1"/>
                </a:solidFill>
              </a:rPr>
              <a:t>– consumers are expressing strong concerns specific to different applications of AI. Firms whose products or services don’t address these concerns will have fundamentally misread market demand, and risk losing market share</a:t>
            </a:r>
            <a:endParaRPr lang="en-US" sz="1867" kern="0" dirty="0">
              <a:solidFill>
                <a:schemeClr val="tx1"/>
              </a:solidFill>
            </a:endParaRPr>
          </a:p>
        </p:txBody>
      </p:sp>
      <p:sp>
        <p:nvSpPr>
          <p:cNvPr id="19" name="Slide Number Placeholder 4">
            <a:extLst>
              <a:ext uri="{FF2B5EF4-FFF2-40B4-BE49-F238E27FC236}">
                <a16:creationId xmlns:a16="http://schemas.microsoft.com/office/drawing/2014/main" id="{383279C9-A3B9-BC45-BEEB-1AD6EF619CAB}"/>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pPr/>
              <a:t>15</a:t>
            </a:fld>
            <a:endParaRPr lang="en-US" sz="1400" dirty="0"/>
          </a:p>
        </p:txBody>
      </p:sp>
    </p:spTree>
    <p:extLst>
      <p:ext uri="{BB962C8B-B14F-4D97-AF65-F5344CB8AC3E}">
        <p14:creationId xmlns:p14="http://schemas.microsoft.com/office/powerpoint/2010/main" val="204935805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101633-7231-BC4C-899A-BE33938D0641}"/>
              </a:ext>
            </a:extLst>
          </p:cNvPr>
          <p:cNvPicPr>
            <a:picLocks noChangeAspect="1"/>
          </p:cNvPicPr>
          <p:nvPr/>
        </p:nvPicPr>
        <p:blipFill>
          <a:blip r:embed="rId2"/>
          <a:stretch>
            <a:fillRect/>
          </a:stretch>
        </p:blipFill>
        <p:spPr>
          <a:xfrm>
            <a:off x="7904747" y="1148013"/>
            <a:ext cx="3503445" cy="5170646"/>
          </a:xfrm>
          <a:prstGeom prst="rect">
            <a:avLst/>
          </a:prstGeom>
        </p:spPr>
      </p:pic>
      <p:sp>
        <p:nvSpPr>
          <p:cNvPr id="4" name="Rectangle 3">
            <a:extLst>
              <a:ext uri="{FF2B5EF4-FFF2-40B4-BE49-F238E27FC236}">
                <a16:creationId xmlns:a16="http://schemas.microsoft.com/office/drawing/2014/main" id="{C2778FD7-C103-E747-989A-29A9016B6688}"/>
              </a:ext>
            </a:extLst>
          </p:cNvPr>
          <p:cNvSpPr/>
          <p:nvPr/>
        </p:nvSpPr>
        <p:spPr>
          <a:xfrm>
            <a:off x="798095" y="1148013"/>
            <a:ext cx="6096000" cy="5170646"/>
          </a:xfrm>
          <a:prstGeom prst="rect">
            <a:avLst/>
          </a:prstGeom>
        </p:spPr>
        <p:txBody>
          <a:bodyPr>
            <a:spAutoFit/>
          </a:bodyPr>
          <a:lstStyle/>
          <a:p>
            <a:pPr fontAlgn="base"/>
            <a:r>
              <a:rPr lang="en-CA" sz="3000" b="1" dirty="0">
                <a:solidFill>
                  <a:srgbClr val="FFFF00"/>
                </a:solidFill>
                <a:latin typeface="Garamond" panose="02020404030301010803" pitchFamily="18" charset="0"/>
              </a:rPr>
              <a:t>AI is embedded in everyday life, business, government, medicine and more. </a:t>
            </a:r>
          </a:p>
          <a:p>
            <a:pPr marL="457200" indent="-457200" fontAlgn="base">
              <a:buFont typeface="Arial" panose="020B0604020202020204" pitchFamily="34" charset="0"/>
              <a:buChar char="•"/>
            </a:pPr>
            <a:r>
              <a:rPr lang="en-CA" sz="3000" dirty="0">
                <a:solidFill>
                  <a:schemeClr val="bg1"/>
                </a:solidFill>
                <a:latin typeface="Garamond" panose="02020404030301010803" pitchFamily="18" charset="0"/>
              </a:rPr>
              <a:t>Only by embedding ethical principles into AI applications and processes can we build systems based on trust.</a:t>
            </a:r>
          </a:p>
          <a:p>
            <a:pPr lvl="1" fontAlgn="base"/>
            <a:r>
              <a:rPr lang="en-CA" sz="2000" dirty="0">
                <a:solidFill>
                  <a:schemeClr val="bg1"/>
                </a:solidFill>
                <a:latin typeface="Garamond" panose="02020404030301010803" pitchFamily="18" charset="0"/>
              </a:rPr>
              <a:t>*Source: IBM’s From Roadblock to Scale: The Global Sprint Towards AI Study 2020</a:t>
            </a:r>
          </a:p>
          <a:p>
            <a:pPr lvl="1" fontAlgn="base"/>
            <a:endParaRPr lang="en-CA" sz="2000" b="0" i="0" dirty="0">
              <a:solidFill>
                <a:schemeClr val="bg1"/>
              </a:solidFill>
              <a:effectLst/>
              <a:latin typeface="Garamond" panose="02020404030301010803" pitchFamily="18" charset="0"/>
            </a:endParaRPr>
          </a:p>
          <a:p>
            <a:pPr lvl="1" fontAlgn="base"/>
            <a:r>
              <a:rPr lang="en-CA" sz="2000" b="1" dirty="0">
                <a:solidFill>
                  <a:schemeClr val="bg1"/>
                </a:solidFill>
                <a:latin typeface="Garamond" panose="02020404030301010803" pitchFamily="18" charset="0"/>
              </a:rPr>
              <a:t>Other IBM Source: Ethical Guide</a:t>
            </a:r>
          </a:p>
          <a:p>
            <a:pPr lvl="1" fontAlgn="base"/>
            <a:r>
              <a:rPr lang="en-CA" sz="2000" dirty="0">
                <a:solidFill>
                  <a:schemeClr val="bg1"/>
                </a:solidFill>
                <a:latin typeface="Garamond" panose="02020404030301010803" pitchFamily="18" charset="0"/>
              </a:rPr>
              <a:t>https://www.ibm.com/watson/assets/duo/pdf/everydayethics.pdf</a:t>
            </a:r>
            <a:endParaRPr lang="en-CA" sz="2000" b="0" i="0" dirty="0">
              <a:solidFill>
                <a:schemeClr val="bg1"/>
              </a:solidFill>
              <a:effectLst/>
              <a:latin typeface="Garamond" panose="02020404030301010803" pitchFamily="18" charset="0"/>
            </a:endParaRPr>
          </a:p>
        </p:txBody>
      </p:sp>
      <p:sp>
        <p:nvSpPr>
          <p:cNvPr id="7" name="Rectangle 6">
            <a:extLst>
              <a:ext uri="{FF2B5EF4-FFF2-40B4-BE49-F238E27FC236}">
                <a16:creationId xmlns:a16="http://schemas.microsoft.com/office/drawing/2014/main" id="{663509B5-B213-2D4B-AF27-43D77531B8E9}"/>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8" name="Title 1">
            <a:extLst>
              <a:ext uri="{FF2B5EF4-FFF2-40B4-BE49-F238E27FC236}">
                <a16:creationId xmlns:a16="http://schemas.microsoft.com/office/drawing/2014/main" id="{B9F72B02-8FED-0E46-979D-366DC5321D42}"/>
              </a:ext>
            </a:extLst>
          </p:cNvPr>
          <p:cNvSpPr txBox="1">
            <a:spLocks/>
          </p:cNvSpPr>
          <p:nvPr/>
        </p:nvSpPr>
        <p:spPr>
          <a:xfrm>
            <a:off x="626366" y="74507"/>
            <a:ext cx="10673542" cy="768957"/>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0" dirty="0">
                <a:solidFill>
                  <a:prstClr val="white"/>
                </a:solidFill>
                <a:latin typeface="Perpetua Titling MT Light" charset="0"/>
                <a:ea typeface="Perpetua Titling MT Light" charset="0"/>
                <a:cs typeface="Perpetua Titling MT Light" charset="0"/>
              </a:rPr>
              <a:t>AI MUST BUILD TRUST</a:t>
            </a:r>
          </a:p>
        </p:txBody>
      </p:sp>
      <p:sp>
        <p:nvSpPr>
          <p:cNvPr id="9" name="Slide Number Placeholder 4">
            <a:extLst>
              <a:ext uri="{FF2B5EF4-FFF2-40B4-BE49-F238E27FC236}">
                <a16:creationId xmlns:a16="http://schemas.microsoft.com/office/drawing/2014/main" id="{370AE0CB-B8A5-2E47-8B49-AE275208A3AC}"/>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16</a:t>
            </a:fld>
            <a:endParaRPr lang="en-US" sz="1400" dirty="0">
              <a:solidFill>
                <a:schemeClr val="bg1"/>
              </a:solidFill>
            </a:endParaRPr>
          </a:p>
        </p:txBody>
      </p:sp>
    </p:spTree>
    <p:extLst>
      <p:ext uri="{BB962C8B-B14F-4D97-AF65-F5344CB8AC3E}">
        <p14:creationId xmlns:p14="http://schemas.microsoft.com/office/powerpoint/2010/main" val="3064672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7B9927-EAA9-B34E-A5A7-EF25DCFA1207}"/>
              </a:ext>
            </a:extLst>
          </p:cNvPr>
          <p:cNvSpPr/>
          <p:nvPr/>
        </p:nvSpPr>
        <p:spPr>
          <a:xfrm>
            <a:off x="1121664" y="1048512"/>
            <a:ext cx="9692640" cy="5386090"/>
          </a:xfrm>
          <a:prstGeom prst="rect">
            <a:avLst/>
          </a:prstGeom>
        </p:spPr>
        <p:txBody>
          <a:bodyPr wrap="square">
            <a:spAutoFit/>
          </a:bodyPr>
          <a:lstStyle/>
          <a:p>
            <a:r>
              <a:rPr lang="en-CA" sz="3000" b="1" dirty="0">
                <a:solidFill>
                  <a:srgbClr val="FFFF00"/>
                </a:solidFill>
                <a:latin typeface="Garamond" panose="02020404030301010803" pitchFamily="18" charset="0"/>
              </a:rPr>
              <a:t>Many worry whether the coming age of AI will bring new, faster, and frictionless ways to discriminate and divide at scale.</a:t>
            </a:r>
          </a:p>
          <a:p>
            <a:endParaRPr lang="en-CA" sz="3000" dirty="0">
              <a:solidFill>
                <a:schemeClr val="bg1"/>
              </a:solidFill>
              <a:latin typeface="Garamond" panose="02020404030301010803" pitchFamily="18" charset="0"/>
            </a:endParaRPr>
          </a:p>
          <a:p>
            <a:pPr marL="800100" lvl="1" indent="-342900">
              <a:buFont typeface="Arial" panose="020B0604020202020204" pitchFamily="34" charset="0"/>
              <a:buChar char="•"/>
            </a:pPr>
            <a:r>
              <a:rPr lang="en-CA" sz="2800" dirty="0">
                <a:solidFill>
                  <a:schemeClr val="bg1"/>
                </a:solidFill>
                <a:latin typeface="Garamond" panose="02020404030301010803" pitchFamily="18" charset="0"/>
              </a:rPr>
              <a:t>Part of the appeal of algorithmic decision-making is that it seems to offer an objective way of overcoming human subjectivity, bias, and prejudice .</a:t>
            </a:r>
          </a:p>
          <a:p>
            <a:pPr marL="800100" lvl="1" indent="-342900">
              <a:buFont typeface="Arial" panose="020B0604020202020204" pitchFamily="34" charset="0"/>
              <a:buChar char="•"/>
            </a:pPr>
            <a:endParaRPr lang="en-CA" sz="2800" dirty="0">
              <a:solidFill>
                <a:schemeClr val="bg1"/>
              </a:solidFill>
              <a:latin typeface="Garamond" panose="02020404030301010803" pitchFamily="18" charset="0"/>
            </a:endParaRPr>
          </a:p>
          <a:p>
            <a:pPr marL="800100" lvl="1" indent="-342900">
              <a:buFont typeface="Arial" panose="020B0604020202020204" pitchFamily="34" charset="0"/>
              <a:buChar char="•"/>
            </a:pPr>
            <a:r>
              <a:rPr lang="en-CA" sz="2800" dirty="0">
                <a:solidFill>
                  <a:schemeClr val="bg1"/>
                </a:solidFill>
                <a:latin typeface="Garamond" panose="02020404030301010803" pitchFamily="18" charset="0"/>
              </a:rPr>
              <a:t>But we are discovering that many of the algorithms that decide who should get parole, for example, or who should be presented with employment opportunities or housing … replicate and embed the biases that already exist in our society.</a:t>
            </a:r>
            <a:endParaRPr lang="en-CA" sz="2800" b="0" i="0" dirty="0">
              <a:solidFill>
                <a:schemeClr val="bg1"/>
              </a:solidFill>
              <a:effectLst/>
              <a:latin typeface="Garamond" panose="02020404030301010803" pitchFamily="18" charset="0"/>
            </a:endParaRPr>
          </a:p>
        </p:txBody>
      </p:sp>
      <p:sp>
        <p:nvSpPr>
          <p:cNvPr id="3" name="Rectangle 2">
            <a:extLst>
              <a:ext uri="{FF2B5EF4-FFF2-40B4-BE49-F238E27FC236}">
                <a16:creationId xmlns:a16="http://schemas.microsoft.com/office/drawing/2014/main" id="{73C3697F-8ED1-B84B-BF95-01B0256705D0}"/>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4" name="Title 1">
            <a:extLst>
              <a:ext uri="{FF2B5EF4-FFF2-40B4-BE49-F238E27FC236}">
                <a16:creationId xmlns:a16="http://schemas.microsoft.com/office/drawing/2014/main" id="{49C7CB41-C471-5A4E-B95D-C117870E5407}"/>
              </a:ext>
            </a:extLst>
          </p:cNvPr>
          <p:cNvSpPr txBox="1">
            <a:spLocks/>
          </p:cNvSpPr>
          <p:nvPr/>
        </p:nvSpPr>
        <p:spPr>
          <a:xfrm>
            <a:off x="626366" y="74507"/>
            <a:ext cx="10673542" cy="768957"/>
          </a:xfrm>
          <a:prstGeom prst="rect">
            <a:avLst/>
          </a:prstGeom>
        </p:spPr>
        <p:txBody>
          <a:bodyPr vert="horz" lIns="91440" tIns="45720" rIns="91440" bIns="45720" rtlCol="0" anchor="ctr">
            <a:normAutofit fontScale="85000" lnSpcReduction="10000"/>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0" dirty="0">
                <a:solidFill>
                  <a:prstClr val="white"/>
                </a:solidFill>
                <a:latin typeface="Perpetua Titling MT Light" charset="0"/>
                <a:ea typeface="Perpetua Titling MT Light" charset="0"/>
                <a:cs typeface="Perpetua Titling MT Light" charset="0"/>
              </a:rPr>
              <a:t>HOWEVER Not Everyone sees Blue Skies</a:t>
            </a:r>
          </a:p>
        </p:txBody>
      </p:sp>
      <p:sp>
        <p:nvSpPr>
          <p:cNvPr id="5" name="Slide Number Placeholder 4">
            <a:extLst>
              <a:ext uri="{FF2B5EF4-FFF2-40B4-BE49-F238E27FC236}">
                <a16:creationId xmlns:a16="http://schemas.microsoft.com/office/drawing/2014/main" id="{6C7F65C9-3E07-E040-B2A4-FD1C898BB3A1}"/>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17</a:t>
            </a:fld>
            <a:endParaRPr lang="en-US" sz="1400" dirty="0">
              <a:solidFill>
                <a:schemeClr val="bg1"/>
              </a:solidFill>
            </a:endParaRPr>
          </a:p>
        </p:txBody>
      </p:sp>
    </p:spTree>
    <p:extLst>
      <p:ext uri="{BB962C8B-B14F-4D97-AF65-F5344CB8AC3E}">
        <p14:creationId xmlns:p14="http://schemas.microsoft.com/office/powerpoint/2010/main" val="801909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F5E5D1-EDE8-B642-949B-347E3B38E3E0}"/>
              </a:ext>
            </a:extLst>
          </p:cNvPr>
          <p:cNvSpPr/>
          <p:nvPr/>
        </p:nvSpPr>
        <p:spPr>
          <a:xfrm>
            <a:off x="5235750" y="1743457"/>
            <a:ext cx="6729984" cy="4924425"/>
          </a:xfrm>
          <a:prstGeom prst="rect">
            <a:avLst/>
          </a:prstGeom>
        </p:spPr>
        <p:txBody>
          <a:bodyPr wrap="square">
            <a:spAutoFit/>
          </a:bodyPr>
          <a:lstStyle/>
          <a:p>
            <a:r>
              <a:rPr lang="en-CA" sz="3000" b="1" dirty="0">
                <a:solidFill>
                  <a:srgbClr val="FFFF00"/>
                </a:solidFill>
                <a:latin typeface="Garamond" panose="02020404030301010803" pitchFamily="18" charset="0"/>
              </a:rPr>
              <a:t>Companies must think seriously about the ethical dimensions of what they’re doing </a:t>
            </a:r>
          </a:p>
          <a:p>
            <a:pPr lvl="1"/>
            <a:r>
              <a:rPr lang="en-CA" sz="2800" dirty="0">
                <a:solidFill>
                  <a:schemeClr val="bg1"/>
                </a:solidFill>
                <a:latin typeface="Garamond" panose="02020404030301010803" pitchFamily="18" charset="0"/>
              </a:rPr>
              <a:t>and we, as democratic citizens, have to educate ourselves about tech and its social and ethical implications — </a:t>
            </a:r>
          </a:p>
          <a:p>
            <a:pPr marL="914400" lvl="1" indent="-457200">
              <a:buFontTx/>
              <a:buChar char="-"/>
            </a:pPr>
            <a:r>
              <a:rPr lang="en-CA" sz="2800" dirty="0">
                <a:solidFill>
                  <a:schemeClr val="bg1"/>
                </a:solidFill>
                <a:latin typeface="Garamond" panose="02020404030301010803" pitchFamily="18" charset="0"/>
              </a:rPr>
              <a:t>not only to decide what the regulations should be, </a:t>
            </a:r>
          </a:p>
          <a:p>
            <a:pPr marL="914400" lvl="1" indent="-457200">
              <a:buFontTx/>
              <a:buChar char="-"/>
            </a:pPr>
            <a:r>
              <a:rPr lang="en-CA" sz="2800" dirty="0">
                <a:solidFill>
                  <a:schemeClr val="bg1"/>
                </a:solidFill>
                <a:latin typeface="Garamond" panose="02020404030301010803" pitchFamily="18" charset="0"/>
              </a:rPr>
              <a:t>- but also to decide what role we want big tech and social media to play in our lives.</a:t>
            </a:r>
            <a:endParaRPr lang="en-US" sz="2800" dirty="0">
              <a:solidFill>
                <a:schemeClr val="bg1"/>
              </a:solidFill>
              <a:latin typeface="Garamond" panose="02020404030301010803" pitchFamily="18" charset="0"/>
            </a:endParaRPr>
          </a:p>
        </p:txBody>
      </p:sp>
      <p:sp>
        <p:nvSpPr>
          <p:cNvPr id="3" name="Rectangle 2">
            <a:extLst>
              <a:ext uri="{FF2B5EF4-FFF2-40B4-BE49-F238E27FC236}">
                <a16:creationId xmlns:a16="http://schemas.microsoft.com/office/drawing/2014/main" id="{B45D1426-F2FA-C24A-AABB-0C18DE87966B}"/>
              </a:ext>
            </a:extLst>
          </p:cNvPr>
          <p:cNvSpPr/>
          <p:nvPr/>
        </p:nvSpPr>
        <p:spPr bwMode="auto">
          <a:xfrm>
            <a:off x="5235750" y="13291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4" name="Title 1">
            <a:extLst>
              <a:ext uri="{FF2B5EF4-FFF2-40B4-BE49-F238E27FC236}">
                <a16:creationId xmlns:a16="http://schemas.microsoft.com/office/drawing/2014/main" id="{DF449B29-2C73-C64A-90D9-36A395128E89}"/>
              </a:ext>
            </a:extLst>
          </p:cNvPr>
          <p:cNvSpPr txBox="1">
            <a:spLocks/>
          </p:cNvSpPr>
          <p:nvPr/>
        </p:nvSpPr>
        <p:spPr>
          <a:xfrm>
            <a:off x="524766" y="283104"/>
            <a:ext cx="10673542" cy="768957"/>
          </a:xfrm>
          <a:prstGeom prst="rect">
            <a:avLst/>
          </a:prstGeom>
        </p:spPr>
        <p:txBody>
          <a:bodyPr vert="horz" lIns="91440" tIns="45720" rIns="91440" bIns="45720" rtlCol="0" anchor="ctr">
            <a:no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0" dirty="0">
                <a:solidFill>
                  <a:prstClr val="white"/>
                </a:solidFill>
                <a:latin typeface="Perpetua Titling MT Light" charset="0"/>
                <a:ea typeface="Perpetua Titling MT Light" charset="0"/>
                <a:cs typeface="Perpetua Titling MT Light" charset="0"/>
              </a:rPr>
              <a:t>COMPANIES MUST THINK SERIOUSLY ABOUT ETHICS AND IMPACTS</a:t>
            </a:r>
          </a:p>
        </p:txBody>
      </p:sp>
      <p:sp>
        <p:nvSpPr>
          <p:cNvPr id="5" name="Slide Number Placeholder 4">
            <a:extLst>
              <a:ext uri="{FF2B5EF4-FFF2-40B4-BE49-F238E27FC236}">
                <a16:creationId xmlns:a16="http://schemas.microsoft.com/office/drawing/2014/main" id="{ED799247-29D4-8F44-9DA4-DA5D50B7F18F}"/>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18</a:t>
            </a:fld>
            <a:endParaRPr lang="en-US" sz="1400" dirty="0">
              <a:solidFill>
                <a:schemeClr val="bg1"/>
              </a:solidFill>
            </a:endParaRPr>
          </a:p>
        </p:txBody>
      </p:sp>
      <p:pic>
        <p:nvPicPr>
          <p:cNvPr id="6" name="Picture 5">
            <a:extLst>
              <a:ext uri="{FF2B5EF4-FFF2-40B4-BE49-F238E27FC236}">
                <a16:creationId xmlns:a16="http://schemas.microsoft.com/office/drawing/2014/main" id="{B7A5019F-BDAC-B54E-9104-F5465E8B0F36}"/>
              </a:ext>
            </a:extLst>
          </p:cNvPr>
          <p:cNvPicPr>
            <a:picLocks noChangeAspect="1"/>
          </p:cNvPicPr>
          <p:nvPr/>
        </p:nvPicPr>
        <p:blipFill>
          <a:blip r:embed="rId2"/>
          <a:stretch>
            <a:fillRect/>
          </a:stretch>
        </p:blipFill>
        <p:spPr>
          <a:xfrm>
            <a:off x="403351" y="2101342"/>
            <a:ext cx="4680713" cy="2641346"/>
          </a:xfrm>
          <a:prstGeom prst="rect">
            <a:avLst/>
          </a:prstGeom>
        </p:spPr>
      </p:pic>
      <p:sp>
        <p:nvSpPr>
          <p:cNvPr id="7" name="TextBox 6">
            <a:extLst>
              <a:ext uri="{FF2B5EF4-FFF2-40B4-BE49-F238E27FC236}">
                <a16:creationId xmlns:a16="http://schemas.microsoft.com/office/drawing/2014/main" id="{31CC80BA-D80E-B548-B04D-EE3A198A4DD8}"/>
              </a:ext>
            </a:extLst>
          </p:cNvPr>
          <p:cNvSpPr txBox="1"/>
          <p:nvPr/>
        </p:nvSpPr>
        <p:spPr>
          <a:xfrm>
            <a:off x="403350" y="4742688"/>
            <a:ext cx="4680713" cy="307777"/>
          </a:xfrm>
          <a:prstGeom prst="rect">
            <a:avLst/>
          </a:prstGeom>
          <a:noFill/>
        </p:spPr>
        <p:txBody>
          <a:bodyPr wrap="square" rtlCol="0">
            <a:spAutoFit/>
          </a:bodyPr>
          <a:lstStyle/>
          <a:p>
            <a:r>
              <a:rPr lang="en-US" sz="1400" dirty="0">
                <a:solidFill>
                  <a:schemeClr val="bg1"/>
                </a:solidFill>
              </a:rPr>
              <a:t>Critical Thinking about AI Ethics is Key to getting AI Right!</a:t>
            </a:r>
          </a:p>
        </p:txBody>
      </p:sp>
    </p:spTree>
    <p:extLst>
      <p:ext uri="{BB962C8B-B14F-4D97-AF65-F5344CB8AC3E}">
        <p14:creationId xmlns:p14="http://schemas.microsoft.com/office/powerpoint/2010/main" val="3872074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072941-1F40-C245-9CC4-7949C5E9506C}"/>
              </a:ext>
            </a:extLst>
          </p:cNvPr>
          <p:cNvSpPr/>
          <p:nvPr/>
        </p:nvSpPr>
        <p:spPr>
          <a:xfrm>
            <a:off x="626161" y="4851723"/>
            <a:ext cx="7073846" cy="1231106"/>
          </a:xfrm>
          <a:prstGeom prst="rect">
            <a:avLst/>
          </a:prstGeom>
        </p:spPr>
        <p:txBody>
          <a:bodyPr wrap="square">
            <a:spAutoFit/>
          </a:bodyPr>
          <a:lstStyle/>
          <a:p>
            <a:r>
              <a:rPr lang="en-US" sz="2400" b="1" u="sng" dirty="0">
                <a:solidFill>
                  <a:srgbClr val="FFFF00"/>
                </a:solidFill>
              </a:rPr>
              <a:t>SOURCE: </a:t>
            </a:r>
            <a:r>
              <a:rPr lang="en-US" sz="2400" dirty="0">
                <a:solidFill>
                  <a:schemeClr val="bg1"/>
                </a:solidFill>
              </a:rPr>
              <a:t>YOUTUBE VIDEO : </a:t>
            </a:r>
            <a:r>
              <a:rPr lang="en-US" sz="2400" dirty="0">
                <a:solidFill>
                  <a:schemeClr val="bg1"/>
                </a:solidFill>
                <a:hlinkClick r:id="rId2">
                  <a:extLst>
                    <a:ext uri="{A12FA001-AC4F-418D-AE19-62706E023703}">
                      <ahyp:hlinkClr xmlns:ahyp="http://schemas.microsoft.com/office/drawing/2018/hyperlinkcolor" val="tx"/>
                    </a:ext>
                  </a:extLst>
                </a:hlinkClick>
              </a:rPr>
              <a:t>https://www.youtube.com/watch?v=s0dMTAQM4cw</a:t>
            </a:r>
            <a:endParaRPr lang="en-US" sz="2400" dirty="0">
              <a:solidFill>
                <a:schemeClr val="bg1"/>
              </a:solidFill>
            </a:endParaRPr>
          </a:p>
          <a:p>
            <a:r>
              <a:rPr lang="en-CA" sz="2400" dirty="0">
                <a:solidFill>
                  <a:schemeClr val="bg1"/>
                </a:solidFill>
              </a:rPr>
              <a:t>A documentary by Tilman Wolff und Ranga Yogeshwar</a:t>
            </a:r>
            <a:endParaRPr lang="en-US" sz="2400" dirty="0">
              <a:solidFill>
                <a:schemeClr val="bg1"/>
              </a:solidFill>
            </a:endParaRPr>
          </a:p>
        </p:txBody>
      </p:sp>
      <p:sp>
        <p:nvSpPr>
          <p:cNvPr id="5" name="TextBox 4">
            <a:extLst>
              <a:ext uri="{FF2B5EF4-FFF2-40B4-BE49-F238E27FC236}">
                <a16:creationId xmlns:a16="http://schemas.microsoft.com/office/drawing/2014/main" id="{CD3ACA69-6833-0645-AED9-784988B246A3}"/>
              </a:ext>
            </a:extLst>
          </p:cNvPr>
          <p:cNvSpPr txBox="1"/>
          <p:nvPr/>
        </p:nvSpPr>
        <p:spPr>
          <a:xfrm>
            <a:off x="626161" y="1346096"/>
            <a:ext cx="11089589" cy="3785652"/>
          </a:xfrm>
          <a:prstGeom prst="rect">
            <a:avLst/>
          </a:prstGeom>
          <a:noFill/>
        </p:spPr>
        <p:txBody>
          <a:bodyPr wrap="square" rtlCol="0">
            <a:spAutoFit/>
          </a:bodyPr>
          <a:lstStyle/>
          <a:p>
            <a:r>
              <a:rPr lang="en-CA" sz="2400" b="1" u="sng" dirty="0">
                <a:solidFill>
                  <a:srgbClr val="FFFF00"/>
                </a:solidFill>
              </a:rPr>
              <a:t>EXERCISE:  </a:t>
            </a:r>
          </a:p>
          <a:p>
            <a:r>
              <a:rPr lang="en-CA" sz="2400" dirty="0">
                <a:solidFill>
                  <a:schemeClr val="bg1"/>
                </a:solidFill>
              </a:rPr>
              <a:t>Review the Context and then Watch the YouTube Documentary : Video on AI Pros and Cons</a:t>
            </a:r>
          </a:p>
          <a:p>
            <a:r>
              <a:rPr lang="en-CA" sz="2400" b="1" u="sng" dirty="0">
                <a:solidFill>
                  <a:srgbClr val="FFFF00"/>
                </a:solidFill>
              </a:rPr>
              <a:t>LENGTH: </a:t>
            </a:r>
            <a:r>
              <a:rPr lang="en-CA" sz="2400" dirty="0">
                <a:solidFill>
                  <a:schemeClr val="bg1"/>
                </a:solidFill>
              </a:rPr>
              <a:t>42 Minutes</a:t>
            </a:r>
          </a:p>
          <a:p>
            <a:r>
              <a:rPr lang="en-CA" sz="2400" b="1" u="sng" dirty="0">
                <a:solidFill>
                  <a:srgbClr val="FFFF00"/>
                </a:solidFill>
              </a:rPr>
              <a:t>QUESTIONS RECORD IN CHAT AREA WHILE LISTENING:</a:t>
            </a:r>
          </a:p>
          <a:p>
            <a:pPr marL="457200" indent="-457200">
              <a:buAutoNum type="arabicPeriod"/>
            </a:pPr>
            <a:r>
              <a:rPr lang="en-CA" sz="2400" dirty="0">
                <a:solidFill>
                  <a:schemeClr val="bg1"/>
                </a:solidFill>
              </a:rPr>
              <a:t>What are examples of ethical points of view/perspectives/risks introduced in this documentary?</a:t>
            </a:r>
          </a:p>
          <a:p>
            <a:pPr marL="457200" indent="-457200">
              <a:buAutoNum type="arabicPeriod"/>
            </a:pPr>
            <a:r>
              <a:rPr lang="en-CA" sz="2400" dirty="0">
                <a:solidFill>
                  <a:schemeClr val="bg1"/>
                </a:solidFill>
              </a:rPr>
              <a:t>What are the data privacy risks discussed?</a:t>
            </a:r>
          </a:p>
          <a:p>
            <a:pPr marL="457200" indent="-457200">
              <a:buAutoNum type="arabicPeriod"/>
            </a:pPr>
            <a:r>
              <a:rPr lang="en-CA" sz="2400" dirty="0">
                <a:solidFill>
                  <a:schemeClr val="bg1"/>
                </a:solidFill>
              </a:rPr>
              <a:t>We will discuss after for 10 minutes some of the main points.</a:t>
            </a:r>
          </a:p>
          <a:p>
            <a:endParaRPr lang="en-CA" sz="2400" b="1" dirty="0">
              <a:solidFill>
                <a:schemeClr val="bg1"/>
              </a:solidFill>
            </a:endParaRPr>
          </a:p>
        </p:txBody>
      </p:sp>
      <p:pic>
        <p:nvPicPr>
          <p:cNvPr id="6" name="Picture 5">
            <a:extLst>
              <a:ext uri="{FF2B5EF4-FFF2-40B4-BE49-F238E27FC236}">
                <a16:creationId xmlns:a16="http://schemas.microsoft.com/office/drawing/2014/main" id="{5FD5F553-168F-2B40-8251-B89926E0757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46076" y="124958"/>
            <a:ext cx="760579" cy="760579"/>
          </a:xfrm>
          <a:prstGeom prst="rect">
            <a:avLst/>
          </a:prstGeom>
        </p:spPr>
      </p:pic>
      <p:sp>
        <p:nvSpPr>
          <p:cNvPr id="7" name="TextBox 6">
            <a:extLst>
              <a:ext uri="{FF2B5EF4-FFF2-40B4-BE49-F238E27FC236}">
                <a16:creationId xmlns:a16="http://schemas.microsoft.com/office/drawing/2014/main" id="{4FD58729-AEF8-CD45-8222-66E4224CC93F}"/>
              </a:ext>
            </a:extLst>
          </p:cNvPr>
          <p:cNvSpPr txBox="1"/>
          <p:nvPr/>
        </p:nvSpPr>
        <p:spPr>
          <a:xfrm>
            <a:off x="7700007" y="5176809"/>
            <a:ext cx="4283242" cy="1569660"/>
          </a:xfrm>
          <a:prstGeom prst="rect">
            <a:avLst/>
          </a:prstGeom>
          <a:noFill/>
        </p:spPr>
        <p:txBody>
          <a:bodyPr wrap="square" rtlCol="0">
            <a:spAutoFit/>
          </a:bodyPr>
          <a:lstStyle/>
          <a:p>
            <a:r>
              <a:rPr lang="en-US" sz="2400" b="1" u="sng" dirty="0">
                <a:solidFill>
                  <a:srgbClr val="FFFF00"/>
                </a:solidFill>
              </a:rPr>
              <a:t>LEARNING OUTCOME:</a:t>
            </a:r>
          </a:p>
          <a:p>
            <a:r>
              <a:rPr lang="en-US" dirty="0">
                <a:solidFill>
                  <a:schemeClr val="bg1"/>
                </a:solidFill>
              </a:rPr>
              <a:t>You will have a stronger appreciation of different points of views on AI Ethics with more exposure to the Pros and the Cons of AI</a:t>
            </a:r>
          </a:p>
        </p:txBody>
      </p:sp>
      <p:sp>
        <p:nvSpPr>
          <p:cNvPr id="8" name="Slide Number Placeholder 4">
            <a:extLst>
              <a:ext uri="{FF2B5EF4-FFF2-40B4-BE49-F238E27FC236}">
                <a16:creationId xmlns:a16="http://schemas.microsoft.com/office/drawing/2014/main" id="{F97A14E5-7130-DC44-92F0-ED8E192B02B7}"/>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19</a:t>
            </a:fld>
            <a:endParaRPr lang="en-US" sz="1400" dirty="0">
              <a:solidFill>
                <a:schemeClr val="bg1"/>
              </a:solidFill>
            </a:endParaRPr>
          </a:p>
        </p:txBody>
      </p:sp>
      <p:sp>
        <p:nvSpPr>
          <p:cNvPr id="9" name="Rectangle 8">
            <a:extLst>
              <a:ext uri="{FF2B5EF4-FFF2-40B4-BE49-F238E27FC236}">
                <a16:creationId xmlns:a16="http://schemas.microsoft.com/office/drawing/2014/main" id="{522F7FEA-96D7-9246-9B04-8DF0A8A7F60A}"/>
              </a:ext>
            </a:extLst>
          </p:cNvPr>
          <p:cNvSpPr/>
          <p:nvPr/>
        </p:nvSpPr>
        <p:spPr bwMode="auto">
          <a:xfrm>
            <a:off x="5141284" y="120264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10" name="Title 1">
            <a:extLst>
              <a:ext uri="{FF2B5EF4-FFF2-40B4-BE49-F238E27FC236}">
                <a16:creationId xmlns:a16="http://schemas.microsoft.com/office/drawing/2014/main" id="{09ABA2B1-EBE1-164B-BEAE-6216CB691A24}"/>
              </a:ext>
            </a:extLst>
          </p:cNvPr>
          <p:cNvSpPr txBox="1">
            <a:spLocks/>
          </p:cNvSpPr>
          <p:nvPr/>
        </p:nvSpPr>
        <p:spPr>
          <a:xfrm>
            <a:off x="1006655" y="241611"/>
            <a:ext cx="10156908" cy="768957"/>
          </a:xfrm>
          <a:prstGeom prst="rect">
            <a:avLst/>
          </a:prstGeom>
        </p:spPr>
        <p:txBody>
          <a:bodyPr vert="horz" lIns="91440" tIns="45720" rIns="91440" bIns="45720" rtlCol="0" anchor="ctr">
            <a:no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dirty="0">
                <a:solidFill>
                  <a:prstClr val="white"/>
                </a:solidFill>
                <a:latin typeface="Perpetua Titling MT Light" charset="0"/>
                <a:ea typeface="Perpetua Titling MT Light" charset="0"/>
                <a:cs typeface="Perpetua Titling MT Light" charset="0"/>
              </a:rPr>
              <a:t>LAB EXERCISE 1 </a:t>
            </a:r>
            <a:r>
              <a:rPr lang="en-US" sz="4000" b="0" dirty="0">
                <a:solidFill>
                  <a:prstClr val="white"/>
                </a:solidFill>
                <a:latin typeface="Perpetua Titling MT Light" charset="0"/>
                <a:ea typeface="Perpetua Titling MT Light" charset="0"/>
                <a:cs typeface="Perpetua Titling MT Light" charset="0"/>
              </a:rPr>
              <a:t>: 5 MARKS</a:t>
            </a:r>
          </a:p>
          <a:p>
            <a:pPr algn="ctr"/>
            <a:r>
              <a:rPr lang="en-US" sz="4000" b="0" dirty="0">
                <a:solidFill>
                  <a:prstClr val="white"/>
                </a:solidFill>
                <a:latin typeface="Perpetua Titling MT Light" charset="0"/>
                <a:ea typeface="Perpetua Titling MT Light" charset="0"/>
                <a:cs typeface="Perpetua Titling MT Light" charset="0"/>
              </a:rPr>
              <a:t>AI PROS AND CONS :ETHICS</a:t>
            </a:r>
          </a:p>
        </p:txBody>
      </p:sp>
    </p:spTree>
    <p:extLst>
      <p:ext uri="{BB962C8B-B14F-4D97-AF65-F5344CB8AC3E}">
        <p14:creationId xmlns:p14="http://schemas.microsoft.com/office/powerpoint/2010/main" val="3136758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072941-1F40-C245-9CC4-7949C5E9506C}"/>
              </a:ext>
            </a:extLst>
          </p:cNvPr>
          <p:cNvSpPr/>
          <p:nvPr/>
        </p:nvSpPr>
        <p:spPr>
          <a:xfrm>
            <a:off x="762001" y="5706297"/>
            <a:ext cx="8821416" cy="461665"/>
          </a:xfrm>
          <a:prstGeom prst="rect">
            <a:avLst/>
          </a:prstGeom>
        </p:spPr>
        <p:txBody>
          <a:bodyPr wrap="square">
            <a:spAutoFit/>
          </a:bodyPr>
          <a:lstStyle/>
          <a:p>
            <a:r>
              <a:rPr lang="en-US" b="1" dirty="0">
                <a:solidFill>
                  <a:schemeClr val="bg1"/>
                </a:solidFill>
              </a:rPr>
              <a:t>SOURCE: </a:t>
            </a:r>
            <a:r>
              <a:rPr lang="en-US" sz="2400" b="1" dirty="0">
                <a:solidFill>
                  <a:schemeClr val="bg1"/>
                </a:solidFill>
              </a:rPr>
              <a:t>https://www.youtube.com/watch?v=s0dMTAQM4cw</a:t>
            </a:r>
          </a:p>
        </p:txBody>
      </p:sp>
      <p:sp>
        <p:nvSpPr>
          <p:cNvPr id="3" name="Rectangle 2">
            <a:extLst>
              <a:ext uri="{FF2B5EF4-FFF2-40B4-BE49-F238E27FC236}">
                <a16:creationId xmlns:a16="http://schemas.microsoft.com/office/drawing/2014/main" id="{7A7CDFC9-A7B3-5141-A8C0-8A8F6BAE0D99}"/>
              </a:ext>
            </a:extLst>
          </p:cNvPr>
          <p:cNvSpPr/>
          <p:nvPr/>
        </p:nvSpPr>
        <p:spPr bwMode="auto">
          <a:xfrm>
            <a:off x="5366098" y="1268159"/>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4" name="Title 1">
            <a:extLst>
              <a:ext uri="{FF2B5EF4-FFF2-40B4-BE49-F238E27FC236}">
                <a16:creationId xmlns:a16="http://schemas.microsoft.com/office/drawing/2014/main" id="{90D0ED0C-E63F-6443-AD0C-5C0F01452D11}"/>
              </a:ext>
            </a:extLst>
          </p:cNvPr>
          <p:cNvSpPr txBox="1">
            <a:spLocks/>
          </p:cNvSpPr>
          <p:nvPr/>
        </p:nvSpPr>
        <p:spPr>
          <a:xfrm>
            <a:off x="1231469" y="289201"/>
            <a:ext cx="10156908" cy="768957"/>
          </a:xfrm>
          <a:prstGeom prst="rect">
            <a:avLst/>
          </a:prstGeom>
        </p:spPr>
        <p:txBody>
          <a:bodyPr vert="horz" lIns="91440" tIns="45720" rIns="91440" bIns="45720" rtlCol="0" anchor="ctr">
            <a:no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dirty="0">
                <a:solidFill>
                  <a:prstClr val="white"/>
                </a:solidFill>
                <a:latin typeface="Perpetua Titling MT Light" charset="0"/>
                <a:ea typeface="Perpetua Titling MT Light" charset="0"/>
                <a:cs typeface="Perpetua Titling MT Light" charset="0"/>
              </a:rPr>
              <a:t>LAB EXERCISE 1 </a:t>
            </a:r>
            <a:r>
              <a:rPr lang="en-US" sz="4000" b="0" dirty="0">
                <a:solidFill>
                  <a:prstClr val="white"/>
                </a:solidFill>
                <a:latin typeface="Perpetua Titling MT Light" charset="0"/>
                <a:ea typeface="Perpetua Titling MT Light" charset="0"/>
                <a:cs typeface="Perpetua Titling MT Light" charset="0"/>
              </a:rPr>
              <a:t>: </a:t>
            </a:r>
          </a:p>
          <a:p>
            <a:pPr algn="ctr"/>
            <a:r>
              <a:rPr lang="en-US" sz="4000" b="0" dirty="0">
                <a:solidFill>
                  <a:prstClr val="white"/>
                </a:solidFill>
                <a:latin typeface="Perpetua Titling MT Light" charset="0"/>
                <a:ea typeface="Perpetua Titling MT Light" charset="0"/>
                <a:cs typeface="Perpetua Titling MT Light" charset="0"/>
              </a:rPr>
              <a:t>AI PROS AND CONS :ETHICS</a:t>
            </a:r>
          </a:p>
        </p:txBody>
      </p:sp>
      <p:sp>
        <p:nvSpPr>
          <p:cNvPr id="5" name="TextBox 4">
            <a:extLst>
              <a:ext uri="{FF2B5EF4-FFF2-40B4-BE49-F238E27FC236}">
                <a16:creationId xmlns:a16="http://schemas.microsoft.com/office/drawing/2014/main" id="{CD3ACA69-6833-0645-AED9-784988B246A3}"/>
              </a:ext>
            </a:extLst>
          </p:cNvPr>
          <p:cNvSpPr txBox="1"/>
          <p:nvPr/>
        </p:nvSpPr>
        <p:spPr>
          <a:xfrm>
            <a:off x="408695" y="1509338"/>
            <a:ext cx="11307055" cy="4093428"/>
          </a:xfrm>
          <a:prstGeom prst="rect">
            <a:avLst/>
          </a:prstGeom>
          <a:noFill/>
        </p:spPr>
        <p:txBody>
          <a:bodyPr wrap="square" rtlCol="0">
            <a:spAutoFit/>
          </a:bodyPr>
          <a:lstStyle/>
          <a:p>
            <a:r>
              <a:rPr lang="en-CA" sz="2600" b="1" dirty="0">
                <a:solidFill>
                  <a:srgbClr val="FFFF00"/>
                </a:solidFill>
              </a:rPr>
              <a:t>CONTEXT:</a:t>
            </a:r>
          </a:p>
          <a:p>
            <a:endParaRPr lang="en-CA" sz="2600" dirty="0">
              <a:solidFill>
                <a:schemeClr val="bg1"/>
              </a:solidFill>
            </a:endParaRPr>
          </a:p>
          <a:p>
            <a:pPr marL="342900" indent="-342900">
              <a:buFont typeface="Arial" panose="020B0604020202020204" pitchFamily="34" charset="0"/>
              <a:buChar char="•"/>
            </a:pPr>
            <a:r>
              <a:rPr lang="en-CA" sz="2600" dirty="0">
                <a:solidFill>
                  <a:schemeClr val="bg1"/>
                </a:solidFill>
              </a:rPr>
              <a:t>Developments in artificial intelligence (AI) are leading to fundamental changes in the way we live. </a:t>
            </a:r>
          </a:p>
          <a:p>
            <a:pPr marL="342900" indent="-342900">
              <a:buFont typeface="Arial" panose="020B0604020202020204" pitchFamily="34" charset="0"/>
              <a:buChar char="•"/>
            </a:pPr>
            <a:r>
              <a:rPr lang="en-CA" sz="2600" dirty="0">
                <a:solidFill>
                  <a:schemeClr val="bg1"/>
                </a:solidFill>
              </a:rPr>
              <a:t>Algorithms can already detect Parkinson's disease and cancer, and control both cars and aircraft. </a:t>
            </a:r>
          </a:p>
          <a:p>
            <a:pPr marL="342900" indent="-342900">
              <a:buFont typeface="Arial" panose="020B0604020202020204" pitchFamily="34" charset="0"/>
              <a:buChar char="•"/>
            </a:pPr>
            <a:r>
              <a:rPr lang="en-CA" sz="2600" dirty="0">
                <a:solidFill>
                  <a:schemeClr val="bg1"/>
                </a:solidFill>
              </a:rPr>
              <a:t>How will AI change our society in the future? </a:t>
            </a:r>
          </a:p>
          <a:p>
            <a:pPr marL="342900" indent="-342900">
              <a:buFont typeface="Arial" panose="020B0604020202020204" pitchFamily="34" charset="0"/>
              <a:buChar char="•"/>
            </a:pPr>
            <a:r>
              <a:rPr lang="en-CA" sz="2600" dirty="0">
                <a:solidFill>
                  <a:schemeClr val="bg1"/>
                </a:solidFill>
              </a:rPr>
              <a:t>The rapid growth of AI offers many opportunities, but also many dangers. </a:t>
            </a:r>
          </a:p>
          <a:p>
            <a:pPr marL="342900" indent="-342900">
              <a:buFont typeface="Arial" panose="020B0604020202020204" pitchFamily="34" charset="0"/>
              <a:buChar char="•"/>
            </a:pPr>
            <a:r>
              <a:rPr lang="en-CA" sz="2600" dirty="0">
                <a:solidFill>
                  <a:schemeClr val="bg1"/>
                </a:solidFill>
              </a:rPr>
              <a:t>AI can be used to create sound and video recordings which will make it more and more difficult to distinguish between fact and fiction. </a:t>
            </a:r>
          </a:p>
        </p:txBody>
      </p:sp>
      <p:pic>
        <p:nvPicPr>
          <p:cNvPr id="6" name="Picture 5">
            <a:extLst>
              <a:ext uri="{FF2B5EF4-FFF2-40B4-BE49-F238E27FC236}">
                <a16:creationId xmlns:a16="http://schemas.microsoft.com/office/drawing/2014/main" id="{A51E6772-FB5D-AE4C-AD69-51184CF8DA3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4723" y="70589"/>
            <a:ext cx="794084" cy="794084"/>
          </a:xfrm>
          <a:prstGeom prst="rect">
            <a:avLst/>
          </a:prstGeom>
        </p:spPr>
      </p:pic>
      <p:sp>
        <p:nvSpPr>
          <p:cNvPr id="7" name="Slide Number Placeholder 4">
            <a:extLst>
              <a:ext uri="{FF2B5EF4-FFF2-40B4-BE49-F238E27FC236}">
                <a16:creationId xmlns:a16="http://schemas.microsoft.com/office/drawing/2014/main" id="{FA907FD3-3144-9F4D-9781-10280F0248BB}"/>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20</a:t>
            </a:fld>
            <a:endParaRPr lang="en-US" sz="1400" dirty="0">
              <a:solidFill>
                <a:schemeClr val="bg1"/>
              </a:solidFill>
            </a:endParaRPr>
          </a:p>
        </p:txBody>
      </p:sp>
    </p:spTree>
    <p:extLst>
      <p:ext uri="{BB962C8B-B14F-4D97-AF65-F5344CB8AC3E}">
        <p14:creationId xmlns:p14="http://schemas.microsoft.com/office/powerpoint/2010/main" val="3367142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CDFC9-A7B3-5141-A8C0-8A8F6BAE0D99}"/>
              </a:ext>
            </a:extLst>
          </p:cNvPr>
          <p:cNvSpPr/>
          <p:nvPr/>
        </p:nvSpPr>
        <p:spPr bwMode="auto">
          <a:xfrm>
            <a:off x="5366099" y="1469597"/>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TextBox 4">
            <a:extLst>
              <a:ext uri="{FF2B5EF4-FFF2-40B4-BE49-F238E27FC236}">
                <a16:creationId xmlns:a16="http://schemas.microsoft.com/office/drawing/2014/main" id="{CD3ACA69-6833-0645-AED9-784988B246A3}"/>
              </a:ext>
            </a:extLst>
          </p:cNvPr>
          <p:cNvSpPr txBox="1"/>
          <p:nvPr/>
        </p:nvSpPr>
        <p:spPr>
          <a:xfrm>
            <a:off x="368300" y="1469597"/>
            <a:ext cx="11696699" cy="4893647"/>
          </a:xfrm>
          <a:prstGeom prst="rect">
            <a:avLst/>
          </a:prstGeom>
          <a:noFill/>
        </p:spPr>
        <p:txBody>
          <a:bodyPr wrap="square" rtlCol="0">
            <a:spAutoFit/>
          </a:bodyPr>
          <a:lstStyle/>
          <a:p>
            <a:r>
              <a:rPr lang="en-CA" sz="2600" b="1" dirty="0">
                <a:solidFill>
                  <a:srgbClr val="FFFF00"/>
                </a:solidFill>
              </a:rPr>
              <a:t>AI will make the world of work more efficient and many professions superfluous. </a:t>
            </a:r>
          </a:p>
          <a:p>
            <a:pPr marL="342900" indent="-342900">
              <a:buFont typeface="Arial" panose="020B0604020202020204" pitchFamily="34" charset="0"/>
              <a:buChar char="•"/>
            </a:pPr>
            <a:r>
              <a:rPr lang="en-CA" sz="2600" dirty="0">
                <a:solidFill>
                  <a:schemeClr val="bg1"/>
                </a:solidFill>
              </a:rPr>
              <a:t>Algorithms can decide whether to grant loans, who is an insurance risk, and how good employees are. </a:t>
            </a:r>
          </a:p>
          <a:p>
            <a:pPr marL="342900" indent="-342900">
              <a:buFont typeface="Arial" panose="020B0604020202020204" pitchFamily="34" charset="0"/>
              <a:buChar char="•"/>
            </a:pPr>
            <a:r>
              <a:rPr lang="en-CA" sz="2600" b="1" dirty="0">
                <a:solidFill>
                  <a:srgbClr val="FFFF00"/>
                </a:solidFill>
              </a:rPr>
              <a:t>But there is a huge problem if humans can no longer comprehend how algorithms arrive at their decisions. </a:t>
            </a:r>
          </a:p>
          <a:p>
            <a:pPr marL="342900" indent="-342900">
              <a:buFont typeface="Arial" panose="020B0604020202020204" pitchFamily="34" charset="0"/>
              <a:buChar char="•"/>
            </a:pPr>
            <a:r>
              <a:rPr lang="en-CA" sz="2600" dirty="0">
                <a:solidFill>
                  <a:schemeClr val="bg1"/>
                </a:solidFill>
              </a:rPr>
              <a:t>And another big problem is AI’s capacity for widespread surveillance. </a:t>
            </a:r>
          </a:p>
          <a:p>
            <a:pPr marL="800100" lvl="1" indent="-342900">
              <a:buFont typeface="Arial" panose="020B0604020202020204" pitchFamily="34" charset="0"/>
              <a:buChar char="•"/>
            </a:pPr>
            <a:r>
              <a:rPr lang="en-CA" sz="2600" dirty="0">
                <a:solidFill>
                  <a:schemeClr val="bg1"/>
                </a:solidFill>
              </a:rPr>
              <a:t>The Chinese city of Rongcheng is already using an AI-supported 'social credit system' to monitor and assess its citizens. </a:t>
            </a:r>
          </a:p>
          <a:p>
            <a:pPr marL="342900" indent="-342900">
              <a:buFont typeface="Arial" panose="020B0604020202020204" pitchFamily="34" charset="0"/>
              <a:buChar char="•"/>
            </a:pPr>
            <a:r>
              <a:rPr lang="en-CA" sz="2600" b="1" dirty="0">
                <a:solidFill>
                  <a:srgbClr val="FFFF00"/>
                </a:solidFill>
              </a:rPr>
              <a:t>Does AI pose a danger to our personal freedoms or democracy? </a:t>
            </a:r>
          </a:p>
          <a:p>
            <a:pPr marL="800100" lvl="1" indent="-342900">
              <a:buFont typeface="Arial" panose="020B0604020202020204" pitchFamily="34" charset="0"/>
              <a:buChar char="•"/>
            </a:pPr>
            <a:r>
              <a:rPr lang="en-CA" sz="2600" dirty="0">
                <a:solidFill>
                  <a:schemeClr val="bg1"/>
                </a:solidFill>
              </a:rPr>
              <a:t>Which decisions can we leave to the algorithms - and which do we want to? </a:t>
            </a:r>
          </a:p>
          <a:p>
            <a:pPr marL="800100" lvl="1" indent="-342900">
              <a:buFont typeface="Arial" panose="020B0604020202020204" pitchFamily="34" charset="0"/>
              <a:buChar char="•"/>
            </a:pPr>
            <a:r>
              <a:rPr lang="en-CA" sz="2600" dirty="0">
                <a:solidFill>
                  <a:schemeClr val="bg1"/>
                </a:solidFill>
              </a:rPr>
              <a:t>And what are AI’s social implications? </a:t>
            </a:r>
          </a:p>
          <a:p>
            <a:r>
              <a:rPr lang="en-CA" sz="2600" dirty="0">
                <a:solidFill>
                  <a:schemeClr val="bg1"/>
                </a:solidFill>
              </a:rPr>
              <a:t>    </a:t>
            </a:r>
            <a:endParaRPr lang="en-US" sz="2600" dirty="0">
              <a:solidFill>
                <a:schemeClr val="bg1"/>
              </a:solidFill>
            </a:endParaRPr>
          </a:p>
        </p:txBody>
      </p:sp>
      <p:pic>
        <p:nvPicPr>
          <p:cNvPr id="6" name="Picture 5">
            <a:extLst>
              <a:ext uri="{FF2B5EF4-FFF2-40B4-BE49-F238E27FC236}">
                <a16:creationId xmlns:a16="http://schemas.microsoft.com/office/drawing/2014/main" id="{A51E6772-FB5D-AE4C-AD69-51184CF8DA3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4723" y="70589"/>
            <a:ext cx="794084" cy="794084"/>
          </a:xfrm>
          <a:prstGeom prst="rect">
            <a:avLst/>
          </a:prstGeom>
        </p:spPr>
      </p:pic>
      <p:sp>
        <p:nvSpPr>
          <p:cNvPr id="7" name="Slide Number Placeholder 4">
            <a:extLst>
              <a:ext uri="{FF2B5EF4-FFF2-40B4-BE49-F238E27FC236}">
                <a16:creationId xmlns:a16="http://schemas.microsoft.com/office/drawing/2014/main" id="{CBE040B5-56D7-AA44-8453-C308350CF277}"/>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21</a:t>
            </a:fld>
            <a:endParaRPr lang="en-US" sz="1400" dirty="0">
              <a:solidFill>
                <a:schemeClr val="bg1"/>
              </a:solidFill>
            </a:endParaRPr>
          </a:p>
        </p:txBody>
      </p:sp>
      <p:sp>
        <p:nvSpPr>
          <p:cNvPr id="9" name="Title 1">
            <a:extLst>
              <a:ext uri="{FF2B5EF4-FFF2-40B4-BE49-F238E27FC236}">
                <a16:creationId xmlns:a16="http://schemas.microsoft.com/office/drawing/2014/main" id="{AD4F22E4-1538-E848-97A9-5B89C57F737C}"/>
              </a:ext>
            </a:extLst>
          </p:cNvPr>
          <p:cNvSpPr txBox="1">
            <a:spLocks/>
          </p:cNvSpPr>
          <p:nvPr/>
        </p:nvSpPr>
        <p:spPr>
          <a:xfrm>
            <a:off x="1174199" y="280071"/>
            <a:ext cx="10156908" cy="768957"/>
          </a:xfrm>
          <a:prstGeom prst="rect">
            <a:avLst/>
          </a:prstGeom>
        </p:spPr>
        <p:txBody>
          <a:bodyPr vert="horz" lIns="91440" tIns="45720" rIns="91440" bIns="45720" rtlCol="0" anchor="ctr">
            <a:no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dirty="0">
                <a:solidFill>
                  <a:prstClr val="white"/>
                </a:solidFill>
                <a:latin typeface="Perpetua Titling MT Light" charset="0"/>
                <a:ea typeface="Perpetua Titling MT Light" charset="0"/>
                <a:cs typeface="Perpetua Titling MT Light" charset="0"/>
              </a:rPr>
              <a:t>LAB EXERCISE 1 </a:t>
            </a:r>
            <a:r>
              <a:rPr lang="en-US" sz="4000" b="0" dirty="0">
                <a:solidFill>
                  <a:prstClr val="white"/>
                </a:solidFill>
                <a:latin typeface="Perpetua Titling MT Light" charset="0"/>
                <a:ea typeface="Perpetua Titling MT Light" charset="0"/>
                <a:cs typeface="Perpetua Titling MT Light" charset="0"/>
              </a:rPr>
              <a:t>: </a:t>
            </a:r>
          </a:p>
          <a:p>
            <a:pPr algn="ctr"/>
            <a:r>
              <a:rPr lang="en-US" sz="4000" b="0" dirty="0">
                <a:solidFill>
                  <a:prstClr val="white"/>
                </a:solidFill>
                <a:latin typeface="Perpetua Titling MT Light" charset="0"/>
                <a:ea typeface="Perpetua Titling MT Light" charset="0"/>
                <a:cs typeface="Perpetua Titling MT Light" charset="0"/>
              </a:rPr>
              <a:t>AI PROS AND CONS :ETHICS</a:t>
            </a:r>
          </a:p>
        </p:txBody>
      </p:sp>
    </p:spTree>
    <p:extLst>
      <p:ext uri="{BB962C8B-B14F-4D97-AF65-F5344CB8AC3E}">
        <p14:creationId xmlns:p14="http://schemas.microsoft.com/office/powerpoint/2010/main" val="3542692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EE9DD7E-B31C-7748-80D3-1F9F8C9516BC}"/>
              </a:ext>
            </a:extLst>
          </p:cNvPr>
          <p:cNvSpPr txBox="1"/>
          <p:nvPr/>
        </p:nvSpPr>
        <p:spPr>
          <a:xfrm>
            <a:off x="3730877" y="3166282"/>
            <a:ext cx="8319028" cy="1754326"/>
          </a:xfrm>
          <a:prstGeom prst="rect">
            <a:avLst/>
          </a:prstGeom>
          <a:noFill/>
        </p:spPr>
        <p:txBody>
          <a:bodyPr wrap="square" rtlCol="0">
            <a:spAutoFit/>
          </a:bodyPr>
          <a:lstStyle/>
          <a:p>
            <a:endParaRPr lang="en-CA" dirty="0">
              <a:solidFill>
                <a:schemeClr val="bg1"/>
              </a:solidFill>
              <a:hlinkClick r:id="rId2">
                <a:extLst>
                  <a:ext uri="{A12FA001-AC4F-418D-AE19-62706E023703}">
                    <ahyp:hlinkClr xmlns:ahyp="http://schemas.microsoft.com/office/drawing/2018/hyperlinkcolor" val="tx"/>
                  </a:ext>
                </a:extLst>
              </a:hlinkClick>
            </a:endParaRPr>
          </a:p>
          <a:p>
            <a:endParaRPr lang="en-CA" dirty="0">
              <a:solidFill>
                <a:schemeClr val="bg1"/>
              </a:solidFill>
              <a:hlinkClick r:id="rId2">
                <a:extLst>
                  <a:ext uri="{A12FA001-AC4F-418D-AE19-62706E023703}">
                    <ahyp:hlinkClr xmlns:ahyp="http://schemas.microsoft.com/office/drawing/2018/hyperlinkcolor" val="tx"/>
                  </a:ext>
                </a:extLst>
              </a:hlinkClick>
            </a:endParaRPr>
          </a:p>
          <a:p>
            <a:r>
              <a:rPr lang="en-CA" dirty="0">
                <a:solidFill>
                  <a:schemeClr val="bg1"/>
                </a:solidFill>
                <a:hlinkClick r:id="rId2">
                  <a:extLst>
                    <a:ext uri="{A12FA001-AC4F-418D-AE19-62706E023703}">
                      <ahyp:hlinkClr xmlns:ahyp="http://schemas.microsoft.com/office/drawing/2018/hyperlinkcolor" val="tx"/>
                    </a:ext>
                  </a:extLst>
                </a:hlinkClick>
              </a:rPr>
              <a:t> https://www.cbinsights.com/research/ai-threatens-humanity-expert-quotes/?utm_source=CB+Insights+Newsletter&amp;utm_campaign=20b3334a2c-newsletter_general_Sat_20191026&amp;utm_medium=email&amp;utm_term=0_9dc0513989-20b3334a2c-89272985</a:t>
            </a:r>
            <a:endParaRPr lang="en-US" dirty="0">
              <a:solidFill>
                <a:schemeClr val="bg1"/>
              </a:solidFill>
            </a:endParaRPr>
          </a:p>
        </p:txBody>
      </p:sp>
      <p:pic>
        <p:nvPicPr>
          <p:cNvPr id="7" name="Picture 6">
            <a:extLst>
              <a:ext uri="{FF2B5EF4-FFF2-40B4-BE49-F238E27FC236}">
                <a16:creationId xmlns:a16="http://schemas.microsoft.com/office/drawing/2014/main" id="{3EBB3D4A-27B8-4B46-A4E6-6EC6E5F9565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4723" y="2358274"/>
            <a:ext cx="2956663" cy="2227376"/>
          </a:xfrm>
          <a:prstGeom prst="rect">
            <a:avLst/>
          </a:prstGeom>
        </p:spPr>
      </p:pic>
      <p:sp>
        <p:nvSpPr>
          <p:cNvPr id="8" name="Title 1">
            <a:extLst>
              <a:ext uri="{FF2B5EF4-FFF2-40B4-BE49-F238E27FC236}">
                <a16:creationId xmlns:a16="http://schemas.microsoft.com/office/drawing/2014/main" id="{824A6B46-1B07-2A46-8808-B0C416D1C87A}"/>
              </a:ext>
            </a:extLst>
          </p:cNvPr>
          <p:cNvSpPr txBox="1">
            <a:spLocks/>
          </p:cNvSpPr>
          <p:nvPr/>
        </p:nvSpPr>
        <p:spPr>
          <a:xfrm>
            <a:off x="9239" y="226142"/>
            <a:ext cx="11992848" cy="768957"/>
          </a:xfrm>
          <a:prstGeom prst="rect">
            <a:avLst/>
          </a:prstGeom>
        </p:spPr>
        <p:txBody>
          <a:bodyPr vert="horz" lIns="91440" tIns="45720" rIns="91440" bIns="45720" rtlCol="0" anchor="ctr">
            <a:no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90000"/>
              </a:lnSpc>
            </a:pPr>
            <a:r>
              <a:rPr lang="en-US" sz="4400" b="0" dirty="0">
                <a:solidFill>
                  <a:prstClr val="white"/>
                </a:solidFill>
                <a:latin typeface="Perpetua Titling MT Light" charset="0"/>
              </a:rPr>
              <a:t>    </a:t>
            </a:r>
            <a:r>
              <a:rPr lang="en-US" sz="4400" dirty="0">
                <a:solidFill>
                  <a:prstClr val="white"/>
                </a:solidFill>
                <a:latin typeface="Perpetua Titling MT Light" charset="0"/>
              </a:rPr>
              <a:t>LAB EXERCISE 2 </a:t>
            </a:r>
            <a:r>
              <a:rPr lang="en-US" sz="4400" b="0" dirty="0">
                <a:solidFill>
                  <a:prstClr val="white"/>
                </a:solidFill>
                <a:latin typeface="Perpetua Titling MT Light" charset="0"/>
              </a:rPr>
              <a:t>: </a:t>
            </a:r>
            <a:r>
              <a:rPr lang="en-US" sz="4400" dirty="0">
                <a:solidFill>
                  <a:prstClr val="white"/>
                </a:solidFill>
                <a:latin typeface="Perpetua Titling MT Light" charset="0"/>
              </a:rPr>
              <a:t>Self-paced</a:t>
            </a:r>
          </a:p>
          <a:p>
            <a:pPr algn="ctr">
              <a:lnSpc>
                <a:spcPct val="90000"/>
              </a:lnSpc>
            </a:pPr>
            <a:r>
              <a:rPr lang="en-US" sz="4400" b="0" dirty="0">
                <a:solidFill>
                  <a:prstClr val="white"/>
                </a:solidFill>
                <a:latin typeface="Perpetua Titling MT Light" charset="0"/>
              </a:rPr>
              <a:t>HOW WILL AI THREATEN HUMANITY? </a:t>
            </a:r>
          </a:p>
        </p:txBody>
      </p:sp>
      <p:pic>
        <p:nvPicPr>
          <p:cNvPr id="9" name="Picture 8">
            <a:extLst>
              <a:ext uri="{FF2B5EF4-FFF2-40B4-BE49-F238E27FC236}">
                <a16:creationId xmlns:a16="http://schemas.microsoft.com/office/drawing/2014/main" id="{8868A656-D475-BD41-A7F7-02D17F0339A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84723" y="70589"/>
            <a:ext cx="699432" cy="699432"/>
          </a:xfrm>
          <a:prstGeom prst="rect">
            <a:avLst/>
          </a:prstGeom>
        </p:spPr>
      </p:pic>
      <p:sp>
        <p:nvSpPr>
          <p:cNvPr id="10" name="Slide Number Placeholder 4">
            <a:extLst>
              <a:ext uri="{FF2B5EF4-FFF2-40B4-BE49-F238E27FC236}">
                <a16:creationId xmlns:a16="http://schemas.microsoft.com/office/drawing/2014/main" id="{733F53F8-064C-474F-A30E-33597C5E6EAE}"/>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22</a:t>
            </a:fld>
            <a:endParaRPr lang="en-US" sz="1400" dirty="0">
              <a:solidFill>
                <a:schemeClr val="bg1"/>
              </a:solidFill>
            </a:endParaRPr>
          </a:p>
        </p:txBody>
      </p:sp>
      <p:sp>
        <p:nvSpPr>
          <p:cNvPr id="11" name="Rectangle 10">
            <a:extLst>
              <a:ext uri="{FF2B5EF4-FFF2-40B4-BE49-F238E27FC236}">
                <a16:creationId xmlns:a16="http://schemas.microsoft.com/office/drawing/2014/main" id="{1F919B78-171F-4143-B27B-8BE6053E1ACA}"/>
              </a:ext>
            </a:extLst>
          </p:cNvPr>
          <p:cNvSpPr/>
          <p:nvPr/>
        </p:nvSpPr>
        <p:spPr bwMode="auto">
          <a:xfrm>
            <a:off x="5399386" y="117997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2" name="TextBox 1">
            <a:extLst>
              <a:ext uri="{FF2B5EF4-FFF2-40B4-BE49-F238E27FC236}">
                <a16:creationId xmlns:a16="http://schemas.microsoft.com/office/drawing/2014/main" id="{94B3077D-3BD9-D64F-9397-DF23682AEC0D}"/>
              </a:ext>
            </a:extLst>
          </p:cNvPr>
          <p:cNvSpPr txBox="1"/>
          <p:nvPr/>
        </p:nvSpPr>
        <p:spPr>
          <a:xfrm>
            <a:off x="3344779" y="1225689"/>
            <a:ext cx="8593741" cy="5324535"/>
          </a:xfrm>
          <a:prstGeom prst="rect">
            <a:avLst/>
          </a:prstGeom>
          <a:noFill/>
        </p:spPr>
        <p:txBody>
          <a:bodyPr wrap="square" rtlCol="0">
            <a:spAutoFit/>
          </a:bodyPr>
          <a:lstStyle/>
          <a:p>
            <a:r>
              <a:rPr lang="en-US" sz="2000" b="1" u="sng" dirty="0">
                <a:solidFill>
                  <a:srgbClr val="FFFF00"/>
                </a:solidFill>
              </a:rPr>
              <a:t>INSTRUCTIONS:</a:t>
            </a:r>
          </a:p>
          <a:p>
            <a:endParaRPr lang="en-US" sz="2000" dirty="0">
              <a:solidFill>
                <a:schemeClr val="bg1"/>
              </a:solidFill>
            </a:endParaRPr>
          </a:p>
          <a:p>
            <a:r>
              <a:rPr lang="en-US" sz="2000" dirty="0">
                <a:solidFill>
                  <a:schemeClr val="bg1"/>
                </a:solidFill>
              </a:rPr>
              <a:t>Review the article below discussing how AI will threaten humanity.</a:t>
            </a:r>
          </a:p>
          <a:p>
            <a:endParaRPr lang="en-US" sz="2000" dirty="0">
              <a:solidFill>
                <a:schemeClr val="bg1"/>
              </a:solidFill>
            </a:endParaRPr>
          </a:p>
          <a:p>
            <a:r>
              <a:rPr lang="en-US" sz="2000" dirty="0">
                <a:solidFill>
                  <a:schemeClr val="bg1"/>
                </a:solidFill>
              </a:rPr>
              <a:t>What are your perspectives on this view? Do you have a perspective on how ethics may impact our future policy planning given these stern views?</a:t>
            </a:r>
          </a:p>
          <a:p>
            <a:endParaRPr lang="en-US" sz="2000" dirty="0">
              <a:solidFill>
                <a:schemeClr val="bg1"/>
              </a:solidFill>
            </a:endParaRPr>
          </a:p>
          <a:p>
            <a:r>
              <a:rPr lang="en-US" sz="2000" b="1" u="sng" dirty="0">
                <a:solidFill>
                  <a:srgbClr val="FFFF00"/>
                </a:solidFill>
              </a:rPr>
              <a:t>ARTICLE TO REVIEW (LINK IS BELOW)</a:t>
            </a:r>
          </a:p>
          <a:p>
            <a:endParaRPr lang="en-US" sz="2000" b="1" u="sng" dirty="0">
              <a:solidFill>
                <a:schemeClr val="bg1"/>
              </a:solidFill>
            </a:endParaRPr>
          </a:p>
          <a:p>
            <a:endParaRPr lang="en-US" sz="2000" b="1" u="sng" dirty="0">
              <a:solidFill>
                <a:schemeClr val="bg1"/>
              </a:solidFill>
            </a:endParaRPr>
          </a:p>
          <a:p>
            <a:endParaRPr lang="en-US" sz="2000" b="1" u="sng" dirty="0">
              <a:solidFill>
                <a:schemeClr val="bg1"/>
              </a:solidFill>
            </a:endParaRPr>
          </a:p>
          <a:p>
            <a:endParaRPr lang="en-US" sz="2000" b="1" u="sng" dirty="0">
              <a:solidFill>
                <a:schemeClr val="bg1"/>
              </a:solidFill>
            </a:endParaRPr>
          </a:p>
          <a:p>
            <a:endParaRPr lang="en-US" sz="2000" b="1" u="sng" dirty="0">
              <a:solidFill>
                <a:schemeClr val="bg1"/>
              </a:solidFill>
            </a:endParaRPr>
          </a:p>
          <a:p>
            <a:r>
              <a:rPr lang="en-US" sz="2000" b="1" u="sng" dirty="0">
                <a:solidFill>
                  <a:srgbClr val="FFFF00"/>
                </a:solidFill>
              </a:rPr>
              <a:t>SELF PACED: LEARNING OUTCOME:</a:t>
            </a:r>
          </a:p>
          <a:p>
            <a:r>
              <a:rPr lang="en-US" sz="2000" dirty="0">
                <a:solidFill>
                  <a:schemeClr val="bg1"/>
                </a:solidFill>
              </a:rPr>
              <a:t>After reading this article, and reflecting, you will recognize there are very contrarian views on the risks of AI and longer term impacts to future civilizations. You will appreciate the importance of ethical practices in AI.</a:t>
            </a:r>
          </a:p>
        </p:txBody>
      </p:sp>
    </p:spTree>
    <p:extLst>
      <p:ext uri="{BB962C8B-B14F-4D97-AF65-F5344CB8AC3E}">
        <p14:creationId xmlns:p14="http://schemas.microsoft.com/office/powerpoint/2010/main" val="1981302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F540F-3492-5B44-8E26-A8606F65147B}"/>
              </a:ext>
            </a:extLst>
          </p:cNvPr>
          <p:cNvPicPr>
            <a:picLocks noChangeAspect="1"/>
          </p:cNvPicPr>
          <p:nvPr/>
        </p:nvPicPr>
        <p:blipFill>
          <a:blip r:embed="rId2">
            <a:alphaModFix amt="35000"/>
          </a:blip>
          <a:stretch>
            <a:fillRect/>
          </a:stretch>
        </p:blipFill>
        <p:spPr>
          <a:xfrm>
            <a:off x="0" y="0"/>
            <a:ext cx="12192000" cy="6858000"/>
          </a:xfrm>
          <a:prstGeom prst="rect">
            <a:avLst/>
          </a:prstGeom>
        </p:spPr>
      </p:pic>
      <p:sp>
        <p:nvSpPr>
          <p:cNvPr id="4" name="Rectangle 3"/>
          <p:cNvSpPr/>
          <p:nvPr/>
        </p:nvSpPr>
        <p:spPr>
          <a:xfrm>
            <a:off x="0" y="2157413"/>
            <a:ext cx="12192000" cy="222885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5EA39E8C-FF6B-D84A-9F1B-4DA182E19CA1}"/>
              </a:ext>
            </a:extLst>
          </p:cNvPr>
          <p:cNvSpPr/>
          <p:nvPr/>
        </p:nvSpPr>
        <p:spPr bwMode="auto">
          <a:xfrm>
            <a:off x="5366098" y="3598098"/>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3" name="Title 1">
            <a:extLst>
              <a:ext uri="{FF2B5EF4-FFF2-40B4-BE49-F238E27FC236}">
                <a16:creationId xmlns:a16="http://schemas.microsoft.com/office/drawing/2014/main" id="{A44AD90D-4B77-294C-839C-B3215A2A803C}"/>
              </a:ext>
            </a:extLst>
          </p:cNvPr>
          <p:cNvSpPr txBox="1">
            <a:spLocks/>
          </p:cNvSpPr>
          <p:nvPr/>
        </p:nvSpPr>
        <p:spPr>
          <a:xfrm>
            <a:off x="283853" y="2157413"/>
            <a:ext cx="11358563" cy="1568556"/>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0" dirty="0">
                <a:solidFill>
                  <a:prstClr val="white"/>
                </a:solidFill>
                <a:latin typeface="Perpetua Titling MT Light" charset="0"/>
                <a:ea typeface="Perpetua Titling MT Light" charset="0"/>
                <a:cs typeface="Perpetua Titling MT Light" charset="0"/>
              </a:rPr>
              <a:t>Section 2.0 : </a:t>
            </a:r>
          </a:p>
          <a:p>
            <a:pPr algn="ctr"/>
            <a:r>
              <a:rPr lang="en-US" sz="3600" b="0" dirty="0">
                <a:solidFill>
                  <a:prstClr val="white"/>
                </a:solidFill>
                <a:latin typeface="Perpetua Titling MT Light" charset="0"/>
                <a:ea typeface="Perpetua Titling MT Light" charset="0"/>
                <a:cs typeface="Perpetua Titling MT Light" charset="0"/>
              </a:rPr>
              <a:t>INTRODUCTION TO AI ETHICS &amp; LEGAL RISKS</a:t>
            </a:r>
            <a:endParaRPr lang="en-US" sz="3600" b="0" dirty="0">
              <a:solidFill>
                <a:srgbClr val="89C542"/>
              </a:solidFill>
              <a:latin typeface="Perpetua Titling MT Light" charset="0"/>
              <a:ea typeface="Perpetua Titling MT Light" charset="0"/>
              <a:cs typeface="Perpetua Titling MT Light" charset="0"/>
            </a:endParaRPr>
          </a:p>
        </p:txBody>
      </p:sp>
    </p:spTree>
    <p:extLst>
      <p:ext uri="{BB962C8B-B14F-4D97-AF65-F5344CB8AC3E}">
        <p14:creationId xmlns:p14="http://schemas.microsoft.com/office/powerpoint/2010/main" val="3712789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3653E28-DE52-9E43-B712-8BB90F440556}"/>
              </a:ext>
            </a:extLst>
          </p:cNvPr>
          <p:cNvSpPr txBox="1">
            <a:spLocks/>
          </p:cNvSpPr>
          <p:nvPr/>
        </p:nvSpPr>
        <p:spPr>
          <a:xfrm>
            <a:off x="2463730" y="122267"/>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WHO TEACHES US ETHICS?</a:t>
            </a:r>
          </a:p>
        </p:txBody>
      </p:sp>
      <p:sp>
        <p:nvSpPr>
          <p:cNvPr id="3" name="Rectangle 2">
            <a:extLst>
              <a:ext uri="{FF2B5EF4-FFF2-40B4-BE49-F238E27FC236}">
                <a16:creationId xmlns:a16="http://schemas.microsoft.com/office/drawing/2014/main" id="{641AD648-7130-E748-AE58-380621175024}"/>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7" name="TextBox 6">
            <a:extLst>
              <a:ext uri="{FF2B5EF4-FFF2-40B4-BE49-F238E27FC236}">
                <a16:creationId xmlns:a16="http://schemas.microsoft.com/office/drawing/2014/main" id="{38D0D425-2789-1B45-861F-47990275F59F}"/>
              </a:ext>
            </a:extLst>
          </p:cNvPr>
          <p:cNvSpPr txBox="1"/>
          <p:nvPr/>
        </p:nvSpPr>
        <p:spPr>
          <a:xfrm>
            <a:off x="215900" y="4798484"/>
            <a:ext cx="11945390" cy="1785104"/>
          </a:xfrm>
          <a:prstGeom prst="rect">
            <a:avLst/>
          </a:prstGeom>
          <a:noFill/>
        </p:spPr>
        <p:txBody>
          <a:bodyPr wrap="square" rtlCol="0">
            <a:spAutoFit/>
          </a:bodyPr>
          <a:lstStyle/>
          <a:p>
            <a:r>
              <a:rPr lang="en-US" b="1" dirty="0">
                <a:solidFill>
                  <a:srgbClr val="FFFF00"/>
                </a:solidFill>
              </a:rPr>
              <a:t>RECOMMENDED LEARNING VIDEO:</a:t>
            </a:r>
          </a:p>
          <a:p>
            <a:r>
              <a:rPr lang="en-US" dirty="0">
                <a:solidFill>
                  <a:schemeClr val="bg1"/>
                </a:solidFill>
              </a:rPr>
              <a:t>TED TALK (15 minutes) Scientist</a:t>
            </a:r>
          </a:p>
          <a:p>
            <a:r>
              <a:rPr lang="en-US" dirty="0">
                <a:solidFill>
                  <a:schemeClr val="bg1"/>
                </a:solidFill>
                <a:hlinkClick r:id="rId2">
                  <a:extLst>
                    <a:ext uri="{A12FA001-AC4F-418D-AE19-62706E023703}">
                      <ahyp:hlinkClr xmlns:ahyp="http://schemas.microsoft.com/office/drawing/2018/hyperlinkcolor" val="tx"/>
                    </a:ext>
                  </a:extLst>
                </a:hlinkClick>
              </a:rPr>
              <a:t>https://www.youtube.com/watch?v=iiAirfn-lBI</a:t>
            </a:r>
            <a:endParaRPr lang="en-US" dirty="0">
              <a:solidFill>
                <a:schemeClr val="bg1"/>
              </a:solidFill>
            </a:endParaRPr>
          </a:p>
          <a:p>
            <a:r>
              <a:rPr lang="en-CA" sz="1400" dirty="0">
                <a:solidFill>
                  <a:schemeClr val="bg1"/>
                </a:solidFill>
                <a:hlinkClick r:id="rId3">
                  <a:extLst>
                    <a:ext uri="{A12FA001-AC4F-418D-AE19-62706E023703}">
                      <ahyp:hlinkClr xmlns:ahyp="http://schemas.microsoft.com/office/drawing/2018/hyperlinkcolor" val="tx"/>
                    </a:ext>
                  </a:extLst>
                </a:hlinkClick>
              </a:rPr>
              <a:t>Juan Enriquez</a:t>
            </a:r>
            <a:r>
              <a:rPr lang="en-CA" sz="1400" dirty="0">
                <a:solidFill>
                  <a:schemeClr val="bg1"/>
                </a:solidFill>
              </a:rPr>
              <a:t>, Managing Director of medical investment firm Excel Venture Management joined TEDx BeaconStreet in 2015 to discuss his historical perspectives on race and ethical issues as they related to the present day. Enriquez’s talk begins with his assessment of how behaviors that are considered today to be disgustingly racist can become ingrained in people. Enriquez probes the audience with the vexing question of whether or not some of today’s societal norms might someday be looked back on in the same light as some of what we consider to be history’s worst ethical transgressions.</a:t>
            </a:r>
            <a:endParaRPr lang="en-US" sz="1400" dirty="0">
              <a:solidFill>
                <a:schemeClr val="bg1"/>
              </a:solidFill>
            </a:endParaRPr>
          </a:p>
        </p:txBody>
      </p:sp>
      <p:sp>
        <p:nvSpPr>
          <p:cNvPr id="8" name="Slide Number Placeholder 4">
            <a:extLst>
              <a:ext uri="{FF2B5EF4-FFF2-40B4-BE49-F238E27FC236}">
                <a16:creationId xmlns:a16="http://schemas.microsoft.com/office/drawing/2014/main" id="{E85619EF-014E-AE49-884A-83FFB3CE9BC0}"/>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24</a:t>
            </a:fld>
            <a:endParaRPr lang="en-US" sz="1400" dirty="0">
              <a:solidFill>
                <a:schemeClr val="bg1"/>
              </a:solidFill>
            </a:endParaRPr>
          </a:p>
        </p:txBody>
      </p:sp>
      <p:pic>
        <p:nvPicPr>
          <p:cNvPr id="9" name="Picture 8">
            <a:extLst>
              <a:ext uri="{FF2B5EF4-FFF2-40B4-BE49-F238E27FC236}">
                <a16:creationId xmlns:a16="http://schemas.microsoft.com/office/drawing/2014/main" id="{9C80F672-3F8B-9047-B339-ACC34696371B}"/>
              </a:ext>
            </a:extLst>
          </p:cNvPr>
          <p:cNvPicPr>
            <a:picLocks noChangeAspect="1"/>
          </p:cNvPicPr>
          <p:nvPr/>
        </p:nvPicPr>
        <p:blipFill>
          <a:blip r:embed="rId4"/>
          <a:stretch>
            <a:fillRect/>
          </a:stretch>
        </p:blipFill>
        <p:spPr>
          <a:xfrm>
            <a:off x="2578587" y="903403"/>
            <a:ext cx="6769100" cy="3835141"/>
          </a:xfrm>
          <a:prstGeom prst="rect">
            <a:avLst/>
          </a:prstGeom>
        </p:spPr>
      </p:pic>
    </p:spTree>
    <p:extLst>
      <p:ext uri="{BB962C8B-B14F-4D97-AF65-F5344CB8AC3E}">
        <p14:creationId xmlns:p14="http://schemas.microsoft.com/office/powerpoint/2010/main" val="2597086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8ACED00F-D386-4849-9816-7C88001C0965}"/>
              </a:ext>
            </a:extLst>
          </p:cNvPr>
          <p:cNvSpPr txBox="1">
            <a:spLocks/>
          </p:cNvSpPr>
          <p:nvPr/>
        </p:nvSpPr>
        <p:spPr>
          <a:xfrm>
            <a:off x="2463730" y="122267"/>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WHAT DOES ETHICS MEAN?</a:t>
            </a:r>
          </a:p>
        </p:txBody>
      </p:sp>
      <p:sp>
        <p:nvSpPr>
          <p:cNvPr id="3" name="Rectangle 2">
            <a:extLst>
              <a:ext uri="{FF2B5EF4-FFF2-40B4-BE49-F238E27FC236}">
                <a16:creationId xmlns:a16="http://schemas.microsoft.com/office/drawing/2014/main" id="{D765F73C-BC9D-F345-A5D1-7A83B799A834}"/>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pic>
        <p:nvPicPr>
          <p:cNvPr id="4" name="Picture 3">
            <a:extLst>
              <a:ext uri="{FF2B5EF4-FFF2-40B4-BE49-F238E27FC236}">
                <a16:creationId xmlns:a16="http://schemas.microsoft.com/office/drawing/2014/main" id="{690886E1-1D3E-1345-9C85-5B5C0BFCBE5A}"/>
              </a:ext>
            </a:extLst>
          </p:cNvPr>
          <p:cNvPicPr>
            <a:picLocks noChangeAspect="1"/>
          </p:cNvPicPr>
          <p:nvPr/>
        </p:nvPicPr>
        <p:blipFill>
          <a:blip r:embed="rId2"/>
          <a:stretch>
            <a:fillRect/>
          </a:stretch>
        </p:blipFill>
        <p:spPr>
          <a:xfrm>
            <a:off x="124771" y="1163262"/>
            <a:ext cx="4872192" cy="4009181"/>
          </a:xfrm>
          <a:prstGeom prst="rect">
            <a:avLst/>
          </a:prstGeom>
        </p:spPr>
      </p:pic>
      <p:sp>
        <p:nvSpPr>
          <p:cNvPr id="5" name="TextBox 4">
            <a:extLst>
              <a:ext uri="{FF2B5EF4-FFF2-40B4-BE49-F238E27FC236}">
                <a16:creationId xmlns:a16="http://schemas.microsoft.com/office/drawing/2014/main" id="{16BDEC17-1E5C-574F-B558-FFFD7B95F98D}"/>
              </a:ext>
            </a:extLst>
          </p:cNvPr>
          <p:cNvSpPr txBox="1"/>
          <p:nvPr/>
        </p:nvSpPr>
        <p:spPr>
          <a:xfrm>
            <a:off x="5181949" y="1163262"/>
            <a:ext cx="6533801" cy="5170646"/>
          </a:xfrm>
          <a:prstGeom prst="rect">
            <a:avLst/>
          </a:prstGeom>
          <a:noFill/>
        </p:spPr>
        <p:txBody>
          <a:bodyPr wrap="square" rtlCol="0">
            <a:spAutoFit/>
          </a:bodyPr>
          <a:lstStyle/>
          <a:p>
            <a:pPr marL="342900" indent="-342900">
              <a:buFont typeface="Arial" panose="020B0604020202020204" pitchFamily="34" charset="0"/>
              <a:buChar char="•"/>
            </a:pPr>
            <a:r>
              <a:rPr lang="en-CA" sz="2200" b="1" dirty="0">
                <a:solidFill>
                  <a:srgbClr val="FFFF00"/>
                </a:solidFill>
              </a:rPr>
              <a:t>Ethics is concerned with what is good for individuals and society and is also described as moral philosophy</a:t>
            </a:r>
            <a:r>
              <a:rPr lang="en-CA" sz="2200" dirty="0">
                <a:solidFill>
                  <a:schemeClr val="bg1"/>
                </a:solidFill>
              </a:rPr>
              <a:t>. </a:t>
            </a:r>
          </a:p>
          <a:p>
            <a:pPr marL="342900" indent="-342900">
              <a:buFont typeface="Arial" panose="020B0604020202020204" pitchFamily="34" charset="0"/>
              <a:buChar char="•"/>
            </a:pPr>
            <a:endParaRPr lang="en-CA" sz="2200" dirty="0">
              <a:solidFill>
                <a:schemeClr val="bg1"/>
              </a:solidFill>
            </a:endParaRPr>
          </a:p>
          <a:p>
            <a:pPr marL="342900" indent="-342900">
              <a:buFont typeface="Arial" panose="020B0604020202020204" pitchFamily="34" charset="0"/>
              <a:buChar char="•"/>
            </a:pPr>
            <a:r>
              <a:rPr lang="en-CA" sz="2200" b="1" dirty="0">
                <a:solidFill>
                  <a:schemeClr val="bg1"/>
                </a:solidFill>
              </a:rPr>
              <a:t>The term is derived from the Greek word ethos </a:t>
            </a:r>
            <a:r>
              <a:rPr lang="en-CA" sz="2200" dirty="0">
                <a:solidFill>
                  <a:schemeClr val="bg1"/>
                </a:solidFill>
              </a:rPr>
              <a:t>which can mean custom, habit, character or disposition.</a:t>
            </a:r>
          </a:p>
          <a:p>
            <a:pPr marL="342900" indent="-342900">
              <a:buFont typeface="Arial" panose="020B0604020202020204" pitchFamily="34" charset="0"/>
              <a:buChar char="•"/>
            </a:pPr>
            <a:endParaRPr lang="en-CA" sz="2200" dirty="0">
              <a:solidFill>
                <a:schemeClr val="bg1"/>
              </a:solidFill>
            </a:endParaRPr>
          </a:p>
          <a:p>
            <a:pPr marL="342900" indent="-342900">
              <a:buFont typeface="Arial" panose="020B0604020202020204" pitchFamily="34" charset="0"/>
              <a:buChar char="•"/>
            </a:pPr>
            <a:r>
              <a:rPr lang="en-CA" sz="2200" b="1" dirty="0">
                <a:solidFill>
                  <a:schemeClr val="bg1"/>
                </a:solidFill>
              </a:rPr>
              <a:t>Ethics</a:t>
            </a:r>
            <a:r>
              <a:rPr lang="en-CA" sz="2200" dirty="0">
                <a:solidFill>
                  <a:schemeClr val="bg1"/>
                </a:solidFill>
              </a:rPr>
              <a:t> or </a:t>
            </a:r>
            <a:r>
              <a:rPr lang="en-CA" sz="2200" b="1" dirty="0">
                <a:solidFill>
                  <a:schemeClr val="bg1"/>
                </a:solidFill>
              </a:rPr>
              <a:t>moral</a:t>
            </a:r>
            <a:r>
              <a:rPr lang="en-CA" sz="2200" dirty="0">
                <a:solidFill>
                  <a:schemeClr val="bg1"/>
                </a:solidFill>
              </a:rPr>
              <a:t> philosophy is a branch of philosophy that "involves systematizing, defending, and recommending concepts of right and wrong behavior". </a:t>
            </a:r>
          </a:p>
          <a:p>
            <a:pPr marL="342900" indent="-342900">
              <a:buFont typeface="Arial" panose="020B0604020202020204" pitchFamily="34" charset="0"/>
              <a:buChar char="•"/>
            </a:pPr>
            <a:endParaRPr lang="en-CA" sz="2200" dirty="0">
              <a:solidFill>
                <a:schemeClr val="bg1"/>
              </a:solidFill>
            </a:endParaRPr>
          </a:p>
          <a:p>
            <a:pPr marL="342900" indent="-342900">
              <a:buFont typeface="Arial" panose="020B0604020202020204" pitchFamily="34" charset="0"/>
              <a:buChar char="•"/>
            </a:pPr>
            <a:r>
              <a:rPr lang="en-CA" sz="2200" dirty="0">
                <a:solidFill>
                  <a:schemeClr val="bg1"/>
                </a:solidFill>
              </a:rPr>
              <a:t>The field of </a:t>
            </a:r>
            <a:r>
              <a:rPr lang="en-CA" sz="2200" b="1" dirty="0">
                <a:solidFill>
                  <a:schemeClr val="bg1"/>
                </a:solidFill>
              </a:rPr>
              <a:t>ethics</a:t>
            </a:r>
            <a:r>
              <a:rPr lang="en-CA" sz="2200" dirty="0">
                <a:solidFill>
                  <a:schemeClr val="bg1"/>
                </a:solidFill>
              </a:rPr>
              <a:t>, along with aesthetics, concerns matters of value, and thus comprises the branch of philosophy called axiology.</a:t>
            </a:r>
            <a:endParaRPr lang="en-US" sz="2200" dirty="0">
              <a:solidFill>
                <a:schemeClr val="bg1"/>
              </a:solidFill>
            </a:endParaRPr>
          </a:p>
        </p:txBody>
      </p:sp>
      <p:sp>
        <p:nvSpPr>
          <p:cNvPr id="6" name="Slide Number Placeholder 4">
            <a:extLst>
              <a:ext uri="{FF2B5EF4-FFF2-40B4-BE49-F238E27FC236}">
                <a16:creationId xmlns:a16="http://schemas.microsoft.com/office/drawing/2014/main" id="{890A8835-7DB4-C444-8EC7-BD608785D572}"/>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25</a:t>
            </a:fld>
            <a:endParaRPr lang="en-US" sz="1400" dirty="0">
              <a:solidFill>
                <a:schemeClr val="bg1"/>
              </a:solidFill>
            </a:endParaRPr>
          </a:p>
        </p:txBody>
      </p:sp>
      <p:sp>
        <p:nvSpPr>
          <p:cNvPr id="7" name="TextBox 6">
            <a:extLst>
              <a:ext uri="{FF2B5EF4-FFF2-40B4-BE49-F238E27FC236}">
                <a16:creationId xmlns:a16="http://schemas.microsoft.com/office/drawing/2014/main" id="{46F7B8EE-CC75-E64E-8A3D-29F03D967E21}"/>
              </a:ext>
            </a:extLst>
          </p:cNvPr>
          <p:cNvSpPr txBox="1"/>
          <p:nvPr/>
        </p:nvSpPr>
        <p:spPr>
          <a:xfrm>
            <a:off x="124771" y="5122691"/>
            <a:ext cx="4823206" cy="1477328"/>
          </a:xfrm>
          <a:prstGeom prst="rect">
            <a:avLst/>
          </a:prstGeom>
          <a:noFill/>
        </p:spPr>
        <p:txBody>
          <a:bodyPr wrap="square" rtlCol="0">
            <a:spAutoFit/>
          </a:bodyPr>
          <a:lstStyle/>
          <a:p>
            <a:r>
              <a:rPr lang="en-US" b="1" dirty="0">
                <a:solidFill>
                  <a:srgbClr val="FFFF00"/>
                </a:solidFill>
              </a:rPr>
              <a:t>EXTRA READING – ETHICAL DECISION MAKING:</a:t>
            </a:r>
          </a:p>
          <a:p>
            <a:r>
              <a:rPr lang="en-US" dirty="0">
                <a:solidFill>
                  <a:schemeClr val="bg1"/>
                </a:solidFill>
              </a:rPr>
              <a:t>Article: https://www.scu.edu/ethics/ethics-resources/ethical-decision-making/thinking-ethically/</a:t>
            </a:r>
          </a:p>
        </p:txBody>
      </p:sp>
    </p:spTree>
    <p:extLst>
      <p:ext uri="{BB962C8B-B14F-4D97-AF65-F5344CB8AC3E}">
        <p14:creationId xmlns:p14="http://schemas.microsoft.com/office/powerpoint/2010/main" val="3472539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1F9E90-E13F-AA42-8073-2129B848F483}"/>
              </a:ext>
            </a:extLst>
          </p:cNvPr>
          <p:cNvSpPr/>
          <p:nvPr/>
        </p:nvSpPr>
        <p:spPr>
          <a:xfrm>
            <a:off x="529390" y="1109632"/>
            <a:ext cx="6030786" cy="5632311"/>
          </a:xfrm>
          <a:prstGeom prst="rect">
            <a:avLst/>
          </a:prstGeom>
        </p:spPr>
        <p:txBody>
          <a:bodyPr wrap="square">
            <a:spAutoFit/>
          </a:bodyPr>
          <a:lstStyle/>
          <a:p>
            <a:pPr fontAlgn="base"/>
            <a:r>
              <a:rPr lang="en-CA" sz="2000" dirty="0">
                <a:solidFill>
                  <a:schemeClr val="bg1"/>
                </a:solidFill>
                <a:latin typeface="Garamond" panose="02020404030301010803" pitchFamily="18" charset="0"/>
                <a:cs typeface="Arial" panose="020B0604020202020204" pitchFamily="34" charset="0"/>
              </a:rPr>
              <a:t> </a:t>
            </a:r>
            <a:r>
              <a:rPr lang="en-CA" sz="2000" dirty="0">
                <a:solidFill>
                  <a:schemeClr val="bg1"/>
                </a:solidFill>
                <a:latin typeface="Garamond" panose="02020404030301010803" pitchFamily="18" charset="0"/>
                <a:cs typeface="Arial" panose="020B0604020202020204" pitchFamily="34" charset="0"/>
                <a:hlinkClick r:id="rId2">
                  <a:extLst>
                    <a:ext uri="{A12FA001-AC4F-418D-AE19-62706E023703}">
                      <ahyp:hlinkClr xmlns:ahyp="http://schemas.microsoft.com/office/drawing/2018/hyperlinkcolor" val="tx"/>
                    </a:ext>
                  </a:extLst>
                </a:hlinkClick>
              </a:rPr>
              <a:t>The Danish Council of Ethics</a:t>
            </a:r>
            <a:r>
              <a:rPr lang="en-CA" sz="2000" dirty="0">
                <a:solidFill>
                  <a:schemeClr val="bg1"/>
                </a:solidFill>
                <a:latin typeface="Garamond" panose="02020404030301010803" pitchFamily="18" charset="0"/>
                <a:cs typeface="Arial" panose="020B0604020202020204" pitchFamily="34" charset="0"/>
              </a:rPr>
              <a:t>‘ definition of ethics is:</a:t>
            </a:r>
          </a:p>
          <a:p>
            <a:pPr fontAlgn="base"/>
            <a:endParaRPr lang="en-CA" sz="2000" dirty="0">
              <a:solidFill>
                <a:schemeClr val="bg1"/>
              </a:solidFill>
              <a:latin typeface="Garamond" panose="02020404030301010803" pitchFamily="18" charset="0"/>
              <a:cs typeface="Arial" panose="020B0604020202020204" pitchFamily="34" charset="0"/>
            </a:endParaRPr>
          </a:p>
          <a:p>
            <a:pPr fontAlgn="base"/>
            <a:r>
              <a:rPr lang="en-CA" sz="2400" b="1" dirty="0">
                <a:solidFill>
                  <a:srgbClr val="FFFF00"/>
                </a:solidFill>
                <a:latin typeface="Garamond" panose="02020404030301010803" pitchFamily="18" charset="0"/>
                <a:cs typeface="Arial" panose="020B0604020202020204" pitchFamily="34" charset="0"/>
              </a:rPr>
              <a:t>Ethical questions are about how </a:t>
            </a:r>
            <a:r>
              <a:rPr lang="en-CA" sz="2400" b="1" i="1" dirty="0">
                <a:solidFill>
                  <a:srgbClr val="FFFF00"/>
                </a:solidFill>
                <a:latin typeface="Garamond" panose="02020404030301010803" pitchFamily="18" charset="0"/>
                <a:cs typeface="Arial" panose="020B0604020202020204" pitchFamily="34" charset="0"/>
              </a:rPr>
              <a:t>you</a:t>
            </a:r>
            <a:r>
              <a:rPr lang="en-CA" sz="2400" b="1" dirty="0">
                <a:solidFill>
                  <a:srgbClr val="FFFF00"/>
                </a:solidFill>
                <a:latin typeface="Garamond" panose="02020404030301010803" pitchFamily="18" charset="0"/>
                <a:cs typeface="Arial" panose="020B0604020202020204" pitchFamily="34" charset="0"/>
              </a:rPr>
              <a:t> treat other people and other living beings. </a:t>
            </a:r>
          </a:p>
          <a:p>
            <a:pPr fontAlgn="base"/>
            <a:endParaRPr lang="en-CA" sz="2400" dirty="0">
              <a:solidFill>
                <a:schemeClr val="accent6"/>
              </a:solidFill>
              <a:latin typeface="Garamond" panose="02020404030301010803" pitchFamily="18" charset="0"/>
              <a:cs typeface="Arial" panose="020B0604020202020204" pitchFamily="34" charset="0"/>
            </a:endParaRPr>
          </a:p>
          <a:p>
            <a:pPr fontAlgn="base"/>
            <a:r>
              <a:rPr lang="en-CA" sz="2000" dirty="0">
                <a:solidFill>
                  <a:schemeClr val="bg1"/>
                </a:solidFill>
                <a:latin typeface="Garamond" panose="02020404030301010803" pitchFamily="18" charset="0"/>
                <a:cs typeface="Arial" panose="020B0604020202020204" pitchFamily="34" charset="0"/>
              </a:rPr>
              <a:t>Ethics is about what good life is and the importance of taking into account others and not just looking at oneself and one’s own needs. </a:t>
            </a:r>
          </a:p>
          <a:p>
            <a:pPr fontAlgn="base"/>
            <a:endParaRPr lang="en-CA" sz="2000" dirty="0">
              <a:solidFill>
                <a:schemeClr val="bg1"/>
              </a:solidFill>
              <a:latin typeface="Garamond" panose="02020404030301010803" pitchFamily="18" charset="0"/>
              <a:cs typeface="Arial" panose="020B0604020202020204" pitchFamily="34" charset="0"/>
            </a:endParaRPr>
          </a:p>
          <a:p>
            <a:pPr fontAlgn="base"/>
            <a:r>
              <a:rPr lang="en-CA" sz="2000" dirty="0">
                <a:solidFill>
                  <a:schemeClr val="bg1"/>
                </a:solidFill>
                <a:latin typeface="Garamond" panose="02020404030301010803" pitchFamily="18" charset="0"/>
                <a:cs typeface="Arial" panose="020B0604020202020204" pitchFamily="34" charset="0"/>
              </a:rPr>
              <a:t>… and you can appropriately play with formulations here and replace the first “you” with ‘artificial intelligence’ or just ‘machines’.</a:t>
            </a:r>
          </a:p>
          <a:p>
            <a:pPr fontAlgn="base"/>
            <a:endParaRPr lang="en-CA" sz="2000" dirty="0">
              <a:solidFill>
                <a:schemeClr val="bg1"/>
              </a:solidFill>
              <a:latin typeface="Garamond" panose="02020404030301010803" pitchFamily="18" charset="0"/>
              <a:cs typeface="Arial" panose="020B0604020202020204" pitchFamily="34" charset="0"/>
            </a:endParaRPr>
          </a:p>
          <a:p>
            <a:pPr fontAlgn="base"/>
            <a:r>
              <a:rPr lang="en-CA" sz="2200" b="1" dirty="0">
                <a:solidFill>
                  <a:srgbClr val="FFFF00"/>
                </a:solidFill>
                <a:latin typeface="Garamond" panose="02020404030301010803" pitchFamily="18" charset="0"/>
                <a:cs typeface="Arial" panose="020B0604020202020204" pitchFamily="34" charset="0"/>
              </a:rPr>
              <a:t>The more digitization creeps into our world, the more decisions it will make – or help us make – and the greater ethical issues we can face if we are not very careful.</a:t>
            </a:r>
            <a:endParaRPr lang="en-CA" sz="2200" b="1" i="0" dirty="0">
              <a:solidFill>
                <a:srgbClr val="FFFF00"/>
              </a:solidFill>
              <a:effectLst/>
              <a:latin typeface="Garamond" panose="02020404030301010803" pitchFamily="18" charset="0"/>
              <a:cs typeface="Arial" panose="020B0604020202020204" pitchFamily="34" charset="0"/>
            </a:endParaRPr>
          </a:p>
        </p:txBody>
      </p:sp>
      <p:sp>
        <p:nvSpPr>
          <p:cNvPr id="3" name="Title 2">
            <a:extLst>
              <a:ext uri="{FF2B5EF4-FFF2-40B4-BE49-F238E27FC236}">
                <a16:creationId xmlns:a16="http://schemas.microsoft.com/office/drawing/2014/main" id="{462704A2-C7B6-7D4D-96A1-D6A50D3E9BEE}"/>
              </a:ext>
            </a:extLst>
          </p:cNvPr>
          <p:cNvSpPr txBox="1">
            <a:spLocks/>
          </p:cNvSpPr>
          <p:nvPr/>
        </p:nvSpPr>
        <p:spPr>
          <a:xfrm>
            <a:off x="1080098" y="136792"/>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Another Definition of Ethics</a:t>
            </a:r>
          </a:p>
        </p:txBody>
      </p:sp>
      <p:sp>
        <p:nvSpPr>
          <p:cNvPr id="4" name="Rectangle 3">
            <a:extLst>
              <a:ext uri="{FF2B5EF4-FFF2-40B4-BE49-F238E27FC236}">
                <a16:creationId xmlns:a16="http://schemas.microsoft.com/office/drawing/2014/main" id="{E05727D7-1E9B-FB43-A5CE-245C51A00803}"/>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6" name="TextBox 5">
            <a:extLst>
              <a:ext uri="{FF2B5EF4-FFF2-40B4-BE49-F238E27FC236}">
                <a16:creationId xmlns:a16="http://schemas.microsoft.com/office/drawing/2014/main" id="{2AD0D5B6-DF3E-6944-A693-DB6CA2769F6F}"/>
              </a:ext>
            </a:extLst>
          </p:cNvPr>
          <p:cNvSpPr txBox="1"/>
          <p:nvPr/>
        </p:nvSpPr>
        <p:spPr>
          <a:xfrm>
            <a:off x="6898106" y="2091670"/>
            <a:ext cx="5293894" cy="4401205"/>
          </a:xfrm>
          <a:prstGeom prst="rect">
            <a:avLst/>
          </a:prstGeom>
          <a:noFill/>
        </p:spPr>
        <p:txBody>
          <a:bodyPr wrap="square" rtlCol="0">
            <a:spAutoFit/>
          </a:bodyPr>
          <a:lstStyle/>
          <a:p>
            <a:pPr fontAlgn="base"/>
            <a:endParaRPr lang="en-CA" sz="2000" dirty="0">
              <a:solidFill>
                <a:schemeClr val="bg1"/>
              </a:solidFill>
              <a:latin typeface="Garamond" panose="02020404030301010803" pitchFamily="18" charset="0"/>
              <a:cs typeface="Arial" panose="020B0604020202020204" pitchFamily="34" charset="0"/>
            </a:endParaRPr>
          </a:p>
          <a:p>
            <a:pPr fontAlgn="base">
              <a:buFont typeface="Arial" panose="020B0604020202020204" pitchFamily="34" charset="0"/>
              <a:buChar char="•"/>
            </a:pPr>
            <a:r>
              <a:rPr lang="en-CA" sz="2000" dirty="0">
                <a:solidFill>
                  <a:schemeClr val="bg1"/>
                </a:solidFill>
                <a:latin typeface="Garamond" panose="02020404030301010803" pitchFamily="18" charset="0"/>
                <a:cs typeface="Arial" panose="020B0604020202020204" pitchFamily="34" charset="0"/>
              </a:rPr>
              <a:t> Can we understand how it changes our behavior?</a:t>
            </a:r>
          </a:p>
          <a:p>
            <a:pPr fontAlgn="base">
              <a:buFont typeface="Arial" panose="020B0604020202020204" pitchFamily="34" charset="0"/>
              <a:buChar char="•"/>
            </a:pPr>
            <a:r>
              <a:rPr lang="en-CA" sz="2000" dirty="0">
                <a:solidFill>
                  <a:schemeClr val="bg1"/>
                </a:solidFill>
                <a:latin typeface="Garamond" panose="02020404030301010803" pitchFamily="18" charset="0"/>
                <a:cs typeface="Arial" panose="020B0604020202020204" pitchFamily="34" charset="0"/>
              </a:rPr>
              <a:t> Can we see it’s there when it’s there?</a:t>
            </a:r>
          </a:p>
          <a:p>
            <a:pPr fontAlgn="base">
              <a:buFont typeface="Arial" panose="020B0604020202020204" pitchFamily="34" charset="0"/>
              <a:buChar char="•"/>
            </a:pPr>
            <a:r>
              <a:rPr lang="en-CA" sz="2000" dirty="0">
                <a:solidFill>
                  <a:schemeClr val="bg1"/>
                </a:solidFill>
                <a:latin typeface="Garamond" panose="02020404030301010803" pitchFamily="18" charset="0"/>
                <a:cs typeface="Arial" panose="020B0604020202020204" pitchFamily="34" charset="0"/>
              </a:rPr>
              <a:t> Can we see if we see the truth?</a:t>
            </a:r>
          </a:p>
          <a:p>
            <a:pPr fontAlgn="base">
              <a:buFont typeface="Arial" panose="020B0604020202020204" pitchFamily="34" charset="0"/>
              <a:buChar char="•"/>
            </a:pPr>
            <a:r>
              <a:rPr lang="en-CA" sz="2000" dirty="0">
                <a:solidFill>
                  <a:schemeClr val="bg1"/>
                </a:solidFill>
                <a:latin typeface="Garamond" panose="02020404030301010803" pitchFamily="18" charset="0"/>
                <a:cs typeface="Arial" panose="020B0604020202020204" pitchFamily="34" charset="0"/>
              </a:rPr>
              <a:t> Can we trust those who deliver it?</a:t>
            </a:r>
          </a:p>
          <a:p>
            <a:pPr fontAlgn="base">
              <a:buFont typeface="Arial" panose="020B0604020202020204" pitchFamily="34" charset="0"/>
              <a:buChar char="•"/>
            </a:pPr>
            <a:r>
              <a:rPr lang="en-CA" sz="2000" dirty="0">
                <a:solidFill>
                  <a:schemeClr val="bg1"/>
                </a:solidFill>
                <a:latin typeface="Garamond" panose="02020404030301010803" pitchFamily="18" charset="0"/>
                <a:cs typeface="Arial" panose="020B0604020202020204" pitchFamily="34" charset="0"/>
              </a:rPr>
              <a:t> Can we be sure that it is not prejudiced?</a:t>
            </a:r>
          </a:p>
          <a:p>
            <a:pPr fontAlgn="base">
              <a:buFont typeface="Arial" panose="020B0604020202020204" pitchFamily="34" charset="0"/>
              <a:buChar char="•"/>
            </a:pPr>
            <a:r>
              <a:rPr lang="en-CA" sz="2000" dirty="0">
                <a:solidFill>
                  <a:schemeClr val="bg1"/>
                </a:solidFill>
                <a:latin typeface="Garamond" panose="02020404030301010803" pitchFamily="18" charset="0"/>
                <a:cs typeface="Arial" panose="020B0604020202020204" pitchFamily="34" charset="0"/>
              </a:rPr>
              <a:t> Can we understand when taken too far?</a:t>
            </a:r>
          </a:p>
          <a:p>
            <a:pPr fontAlgn="base">
              <a:buFont typeface="Arial" panose="020B0604020202020204" pitchFamily="34" charset="0"/>
              <a:buChar char="•"/>
            </a:pPr>
            <a:r>
              <a:rPr lang="en-CA" sz="2000" dirty="0">
                <a:solidFill>
                  <a:schemeClr val="bg1"/>
                </a:solidFill>
                <a:latin typeface="Garamond" panose="02020404030301010803" pitchFamily="18" charset="0"/>
                <a:cs typeface="Arial" panose="020B0604020202020204" pitchFamily="34" charset="0"/>
              </a:rPr>
              <a:t> Can we tell if it works?</a:t>
            </a:r>
          </a:p>
          <a:p>
            <a:pPr fontAlgn="base">
              <a:buFont typeface="Arial" panose="020B0604020202020204" pitchFamily="34" charset="0"/>
              <a:buChar char="•"/>
            </a:pPr>
            <a:r>
              <a:rPr lang="en-CA" sz="2000" dirty="0">
                <a:solidFill>
                  <a:schemeClr val="bg1"/>
                </a:solidFill>
                <a:latin typeface="Garamond" panose="02020404030301010803" pitchFamily="18" charset="0"/>
                <a:cs typeface="Arial" panose="020B0604020202020204" pitchFamily="34" charset="0"/>
              </a:rPr>
              <a:t> Can we live with the removal of humanity?</a:t>
            </a:r>
          </a:p>
          <a:p>
            <a:pPr fontAlgn="base">
              <a:buFont typeface="Arial" panose="020B0604020202020204" pitchFamily="34" charset="0"/>
              <a:buChar char="•"/>
            </a:pPr>
            <a:r>
              <a:rPr lang="en-CA" sz="2000" dirty="0">
                <a:solidFill>
                  <a:schemeClr val="bg1"/>
                </a:solidFill>
                <a:latin typeface="Garamond" panose="02020404030301010803" pitchFamily="18" charset="0"/>
                <a:cs typeface="Arial" panose="020B0604020202020204" pitchFamily="34" charset="0"/>
              </a:rPr>
              <a:t> Can we be sure that it is making the right decisions?</a:t>
            </a:r>
          </a:p>
          <a:p>
            <a:pPr fontAlgn="base">
              <a:buFont typeface="Arial" panose="020B0604020202020204" pitchFamily="34" charset="0"/>
              <a:buChar char="•"/>
            </a:pPr>
            <a:r>
              <a:rPr lang="en-CA" sz="2000" dirty="0">
                <a:solidFill>
                  <a:schemeClr val="bg1"/>
                </a:solidFill>
                <a:latin typeface="Garamond" panose="02020404030301010803" pitchFamily="18" charset="0"/>
                <a:cs typeface="Arial" panose="020B0604020202020204" pitchFamily="34" charset="0"/>
              </a:rPr>
              <a:t> Do we know how to navigate the world of algorithms as individuals?</a:t>
            </a:r>
          </a:p>
          <a:p>
            <a:endParaRPr lang="en-US" sz="2000" dirty="0"/>
          </a:p>
        </p:txBody>
      </p:sp>
      <p:sp>
        <p:nvSpPr>
          <p:cNvPr id="7" name="TextBox 6">
            <a:extLst>
              <a:ext uri="{FF2B5EF4-FFF2-40B4-BE49-F238E27FC236}">
                <a16:creationId xmlns:a16="http://schemas.microsoft.com/office/drawing/2014/main" id="{3FD5B690-8841-A742-BA3A-077A74E8E283}"/>
              </a:ext>
            </a:extLst>
          </p:cNvPr>
          <p:cNvSpPr txBox="1"/>
          <p:nvPr/>
        </p:nvSpPr>
        <p:spPr>
          <a:xfrm>
            <a:off x="7199542" y="1799282"/>
            <a:ext cx="4054642" cy="584775"/>
          </a:xfrm>
          <a:prstGeom prst="rect">
            <a:avLst/>
          </a:prstGeom>
          <a:noFill/>
        </p:spPr>
        <p:txBody>
          <a:bodyPr wrap="square" rtlCol="0">
            <a:spAutoFit/>
          </a:bodyPr>
          <a:lstStyle/>
          <a:p>
            <a:pPr algn="ctr"/>
            <a:r>
              <a:rPr lang="en-US" sz="3200" b="1" u="sng" dirty="0">
                <a:solidFill>
                  <a:srgbClr val="FFFF00"/>
                </a:solidFill>
              </a:rPr>
              <a:t>Key Ethical Questions</a:t>
            </a:r>
          </a:p>
        </p:txBody>
      </p:sp>
      <p:sp>
        <p:nvSpPr>
          <p:cNvPr id="8" name="Slide Number Placeholder 4">
            <a:extLst>
              <a:ext uri="{FF2B5EF4-FFF2-40B4-BE49-F238E27FC236}">
                <a16:creationId xmlns:a16="http://schemas.microsoft.com/office/drawing/2014/main" id="{EF3F7B14-9CCE-984A-8747-70B5B7398FF5}"/>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26</a:t>
            </a:fld>
            <a:endParaRPr lang="en-US" sz="1400" dirty="0">
              <a:solidFill>
                <a:schemeClr val="bg1"/>
              </a:solidFill>
            </a:endParaRPr>
          </a:p>
        </p:txBody>
      </p:sp>
    </p:spTree>
    <p:extLst>
      <p:ext uri="{BB962C8B-B14F-4D97-AF65-F5344CB8AC3E}">
        <p14:creationId xmlns:p14="http://schemas.microsoft.com/office/powerpoint/2010/main" val="1090838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E2FB65-42B1-4945-84E5-F9E85F87883D}"/>
              </a:ext>
            </a:extLst>
          </p:cNvPr>
          <p:cNvSpPr/>
          <p:nvPr/>
        </p:nvSpPr>
        <p:spPr>
          <a:xfrm>
            <a:off x="546847" y="1741950"/>
            <a:ext cx="11461377" cy="3970318"/>
          </a:xfrm>
          <a:prstGeom prst="rect">
            <a:avLst/>
          </a:prstGeom>
        </p:spPr>
        <p:txBody>
          <a:bodyPr wrap="square">
            <a:spAutoFit/>
          </a:bodyPr>
          <a:lstStyle/>
          <a:p>
            <a:pPr marL="457200" indent="-457200">
              <a:buFont typeface="Arial" panose="020B0604020202020204" pitchFamily="34" charset="0"/>
              <a:buChar char="•"/>
            </a:pPr>
            <a:r>
              <a:rPr lang="en-CA" sz="2800" b="1" dirty="0">
                <a:solidFill>
                  <a:srgbClr val="FFFF00"/>
                </a:solidFill>
                <a:latin typeface="Garamond" panose="02020404030301010803" pitchFamily="18" charset="0"/>
              </a:rPr>
              <a:t>Legal/Corporate 'Compliance</a:t>
            </a:r>
            <a:r>
              <a:rPr lang="en-CA" sz="2800" dirty="0">
                <a:solidFill>
                  <a:schemeClr val="bg1"/>
                </a:solidFill>
                <a:latin typeface="Garamond" panose="02020404030301010803" pitchFamily="18" charset="0"/>
              </a:rPr>
              <a:t>' (Legal ≠ Ethical; Ethical ≠ Legal)</a:t>
            </a:r>
          </a:p>
          <a:p>
            <a:pPr marL="457200" indent="-457200">
              <a:buFont typeface="Arial" panose="020B0604020202020204" pitchFamily="34" charset="0"/>
              <a:buChar char="•"/>
            </a:pPr>
            <a:r>
              <a:rPr lang="en-CA" sz="2800" b="1" dirty="0">
                <a:solidFill>
                  <a:srgbClr val="FFFF00"/>
                </a:solidFill>
                <a:latin typeface="Garamond" panose="02020404030301010803" pitchFamily="18" charset="0"/>
              </a:rPr>
              <a:t>A Set of Fixed Rules to Follow </a:t>
            </a:r>
            <a:r>
              <a:rPr lang="en-CA" sz="2800" dirty="0">
                <a:solidFill>
                  <a:schemeClr val="bg1"/>
                </a:solidFill>
                <a:latin typeface="Garamond" panose="02020404030301010803" pitchFamily="18" charset="0"/>
              </a:rPr>
              <a:t>(No fixed set of rules can cover all ethical cases/contexts)</a:t>
            </a:r>
          </a:p>
          <a:p>
            <a:pPr marL="457200" indent="-457200">
              <a:buFont typeface="Arial" panose="020B0604020202020204" pitchFamily="34" charset="0"/>
              <a:buChar char="•"/>
            </a:pPr>
            <a:r>
              <a:rPr lang="en-CA" sz="2800" b="1" dirty="0">
                <a:solidFill>
                  <a:srgbClr val="FFFF00"/>
                </a:solidFill>
                <a:latin typeface="Garamond" panose="02020404030301010803" pitchFamily="18" charset="0"/>
              </a:rPr>
              <a:t>A Purely Negative Frame</a:t>
            </a:r>
            <a:r>
              <a:rPr lang="en-CA" sz="2800" b="1" dirty="0">
                <a:solidFill>
                  <a:schemeClr val="bg1"/>
                </a:solidFill>
                <a:latin typeface="Garamond" panose="02020404030301010803" pitchFamily="18" charset="0"/>
              </a:rPr>
              <a:t>: </a:t>
            </a:r>
            <a:r>
              <a:rPr lang="en-CA" sz="2800" dirty="0">
                <a:solidFill>
                  <a:schemeClr val="bg1"/>
                </a:solidFill>
                <a:latin typeface="Garamond" panose="02020404030301010803" pitchFamily="18" charset="0"/>
              </a:rPr>
              <a:t>(“Don't do that! Or That! Or THAT!”)</a:t>
            </a:r>
          </a:p>
          <a:p>
            <a:pPr marL="457200" indent="-457200">
              <a:buFont typeface="Arial" panose="020B0604020202020204" pitchFamily="34" charset="0"/>
              <a:buChar char="•"/>
            </a:pPr>
            <a:r>
              <a:rPr lang="en-CA" sz="2800" b="1" dirty="0">
                <a:solidFill>
                  <a:srgbClr val="FFFF00"/>
                </a:solidFill>
                <a:latin typeface="Garamond" panose="02020404030301010803" pitchFamily="18" charset="0"/>
              </a:rPr>
              <a:t>Subjective Sense of Right/Wrong </a:t>
            </a:r>
            <a:r>
              <a:rPr lang="en-CA" sz="2800" dirty="0">
                <a:solidFill>
                  <a:schemeClr val="bg1"/>
                </a:solidFill>
                <a:latin typeface="Garamond" panose="02020404030301010803" pitchFamily="18" charset="0"/>
              </a:rPr>
              <a:t>("You have your ethics, I have mine")</a:t>
            </a:r>
          </a:p>
          <a:p>
            <a:pPr marL="457200" indent="-457200">
              <a:buFont typeface="Arial" panose="020B0604020202020204" pitchFamily="34" charset="0"/>
              <a:buChar char="•"/>
            </a:pPr>
            <a:r>
              <a:rPr lang="en-CA" sz="2800" b="1" dirty="0">
                <a:solidFill>
                  <a:srgbClr val="FFFF00"/>
                </a:solidFill>
                <a:latin typeface="Garamond" panose="02020404030301010803" pitchFamily="18" charset="0"/>
              </a:rPr>
              <a:t>Religious Belief </a:t>
            </a:r>
            <a:r>
              <a:rPr lang="en-CA" sz="2800" dirty="0">
                <a:solidFill>
                  <a:schemeClr val="bg1"/>
                </a:solidFill>
                <a:latin typeface="Garamond" panose="02020404030301010803" pitchFamily="18" charset="0"/>
              </a:rPr>
              <a:t>("It's right/wrong simply because my religion says so")</a:t>
            </a:r>
          </a:p>
          <a:p>
            <a:pPr marL="457200" indent="-457200">
              <a:buFont typeface="Arial" panose="020B0604020202020204" pitchFamily="34" charset="0"/>
              <a:buChar char="•"/>
            </a:pPr>
            <a:r>
              <a:rPr lang="en-CA" sz="2800" b="1" dirty="0">
                <a:solidFill>
                  <a:srgbClr val="FFFF00"/>
                </a:solidFill>
                <a:latin typeface="Garamond" panose="02020404030301010803" pitchFamily="18" charset="0"/>
              </a:rPr>
              <a:t>Non-moral Customs of Etiquette </a:t>
            </a:r>
            <a:r>
              <a:rPr lang="en-CA" sz="2800" dirty="0">
                <a:solidFill>
                  <a:schemeClr val="bg1"/>
                </a:solidFill>
                <a:latin typeface="Garamond" panose="02020404030301010803" pitchFamily="18" charset="0"/>
              </a:rPr>
              <a:t>("That is just Not Done here")</a:t>
            </a:r>
          </a:p>
          <a:p>
            <a:pPr marL="457200" indent="-457200">
              <a:buFont typeface="Arial" panose="020B0604020202020204" pitchFamily="34" charset="0"/>
              <a:buChar char="•"/>
            </a:pPr>
            <a:r>
              <a:rPr lang="en-CA" sz="2800" b="1" dirty="0">
                <a:solidFill>
                  <a:srgbClr val="FFFF00"/>
                </a:solidFill>
                <a:latin typeface="Garamond" panose="02020404030301010803" pitchFamily="18" charset="0"/>
              </a:rPr>
              <a:t>Uncritical Obedience to Authority </a:t>
            </a:r>
            <a:r>
              <a:rPr lang="en-CA" sz="2800" dirty="0">
                <a:solidFill>
                  <a:schemeClr val="bg1"/>
                </a:solidFill>
                <a:latin typeface="Garamond" panose="02020404030301010803" pitchFamily="18" charset="0"/>
              </a:rPr>
              <a:t>(“Good Germans'/'Good Americans”)</a:t>
            </a:r>
          </a:p>
          <a:p>
            <a:endParaRPr lang="en-CA" sz="2800" b="0" i="0" dirty="0">
              <a:solidFill>
                <a:schemeClr val="bg1"/>
              </a:solidFill>
              <a:effectLst/>
              <a:latin typeface="Garamond" panose="02020404030301010803" pitchFamily="18" charset="0"/>
            </a:endParaRPr>
          </a:p>
        </p:txBody>
      </p:sp>
      <p:sp>
        <p:nvSpPr>
          <p:cNvPr id="3" name="Title 2">
            <a:extLst>
              <a:ext uri="{FF2B5EF4-FFF2-40B4-BE49-F238E27FC236}">
                <a16:creationId xmlns:a16="http://schemas.microsoft.com/office/drawing/2014/main" id="{59CF77A9-E9A6-C34D-A945-8395F7469745}"/>
              </a:ext>
            </a:extLst>
          </p:cNvPr>
          <p:cNvSpPr txBox="1">
            <a:spLocks/>
          </p:cNvSpPr>
          <p:nvPr/>
        </p:nvSpPr>
        <p:spPr>
          <a:xfrm>
            <a:off x="2799907" y="135714"/>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WHAT ETHICS IS NOT</a:t>
            </a:r>
          </a:p>
        </p:txBody>
      </p:sp>
      <p:sp>
        <p:nvSpPr>
          <p:cNvPr id="4" name="Rectangle 3">
            <a:extLst>
              <a:ext uri="{FF2B5EF4-FFF2-40B4-BE49-F238E27FC236}">
                <a16:creationId xmlns:a16="http://schemas.microsoft.com/office/drawing/2014/main" id="{7E5FDCA8-0BB8-E64A-BB30-EA5415AE8106}"/>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AB4903E0-B818-2E43-A158-5EFEC6321D45}"/>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27</a:t>
            </a:fld>
            <a:endParaRPr lang="en-US" sz="1400" dirty="0">
              <a:solidFill>
                <a:schemeClr val="bg1"/>
              </a:solidFill>
            </a:endParaRPr>
          </a:p>
        </p:txBody>
      </p:sp>
    </p:spTree>
    <p:extLst>
      <p:ext uri="{BB962C8B-B14F-4D97-AF65-F5344CB8AC3E}">
        <p14:creationId xmlns:p14="http://schemas.microsoft.com/office/powerpoint/2010/main" val="2794488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E2FB65-42B1-4945-84E5-F9E85F87883D}"/>
              </a:ext>
            </a:extLst>
          </p:cNvPr>
          <p:cNvSpPr/>
          <p:nvPr/>
        </p:nvSpPr>
        <p:spPr>
          <a:xfrm>
            <a:off x="618565" y="1164134"/>
            <a:ext cx="11403105" cy="5693866"/>
          </a:xfrm>
          <a:prstGeom prst="rect">
            <a:avLst/>
          </a:prstGeom>
        </p:spPr>
        <p:txBody>
          <a:bodyPr wrap="square">
            <a:spAutoFit/>
          </a:bodyPr>
          <a:lstStyle/>
          <a:p>
            <a:pPr marL="285750" indent="-285750">
              <a:buFont typeface="Arial" panose="020B0604020202020204" pitchFamily="34" charset="0"/>
              <a:buChar char="•"/>
            </a:pPr>
            <a:r>
              <a:rPr lang="en-CA" sz="2800" b="1" dirty="0">
                <a:solidFill>
                  <a:srgbClr val="FFFF00"/>
                </a:solidFill>
                <a:latin typeface="Garamond" panose="02020404030301010803" pitchFamily="18" charset="0"/>
              </a:rPr>
              <a:t>Promoting objective </a:t>
            </a:r>
            <a:r>
              <a:rPr lang="en-CA" sz="2800" dirty="0">
                <a:solidFill>
                  <a:schemeClr val="bg1"/>
                </a:solidFill>
                <a:latin typeface="Garamond" panose="02020404030301010803" pitchFamily="18" charset="0"/>
              </a:rPr>
              <a:t>(but context &amp; culture-dependent) conditions of human flourishing</a:t>
            </a:r>
          </a:p>
          <a:p>
            <a:pPr marL="285750" indent="-285750">
              <a:buFont typeface="Arial" panose="020B0604020202020204" pitchFamily="34" charset="0"/>
              <a:buChar char="•"/>
            </a:pPr>
            <a:r>
              <a:rPr lang="en-CA" sz="2800" b="1" dirty="0">
                <a:solidFill>
                  <a:srgbClr val="FFFF00"/>
                </a:solidFill>
                <a:latin typeface="Garamond" panose="02020404030301010803" pitchFamily="18" charset="0"/>
              </a:rPr>
              <a:t>Respecting the dignity of others </a:t>
            </a:r>
            <a:r>
              <a:rPr lang="en-CA" sz="2800" dirty="0">
                <a:solidFill>
                  <a:schemeClr val="bg1"/>
                </a:solidFill>
                <a:latin typeface="Garamond" panose="02020404030301010803" pitchFamily="18" charset="0"/>
              </a:rPr>
              <a:t>and the duties created in our relationships to them</a:t>
            </a:r>
          </a:p>
          <a:p>
            <a:pPr marL="285750" indent="-285750">
              <a:buFont typeface="Arial" panose="020B0604020202020204" pitchFamily="34" charset="0"/>
              <a:buChar char="•"/>
            </a:pPr>
            <a:r>
              <a:rPr lang="en-CA" sz="2800" b="1" dirty="0">
                <a:solidFill>
                  <a:srgbClr val="FFFF00"/>
                </a:solidFill>
                <a:latin typeface="Garamond" panose="02020404030301010803" pitchFamily="18" charset="0"/>
              </a:rPr>
              <a:t>Living as a person of integrity </a:t>
            </a:r>
            <a:r>
              <a:rPr lang="en-CA" sz="2800" dirty="0">
                <a:solidFill>
                  <a:schemeClr val="bg1"/>
                </a:solidFill>
                <a:latin typeface="Garamond" panose="02020404030301010803" pitchFamily="18" charset="0"/>
              </a:rPr>
              <a:t>and principle</a:t>
            </a:r>
          </a:p>
          <a:p>
            <a:pPr marL="285750" indent="-285750">
              <a:buFont typeface="Arial" panose="020B0604020202020204" pitchFamily="34" charset="0"/>
              <a:buChar char="•"/>
            </a:pPr>
            <a:r>
              <a:rPr lang="en-CA" sz="2800" b="1" dirty="0">
                <a:solidFill>
                  <a:srgbClr val="FFFF00"/>
                </a:solidFill>
                <a:latin typeface="Garamond" panose="02020404030301010803" pitchFamily="18" charset="0"/>
              </a:rPr>
              <a:t>Promoting beneficial and just outcomes</a:t>
            </a:r>
            <a:r>
              <a:rPr lang="en-CA" sz="2800" dirty="0">
                <a:solidFill>
                  <a:schemeClr val="bg1"/>
                </a:solidFill>
                <a:latin typeface="Garamond" panose="02020404030301010803" pitchFamily="18" charset="0"/>
              </a:rPr>
              <a:t>, avoiding and minimizing harm to others</a:t>
            </a:r>
          </a:p>
          <a:p>
            <a:pPr marL="285750" indent="-285750">
              <a:buFont typeface="Arial" panose="020B0604020202020204" pitchFamily="34" charset="0"/>
              <a:buChar char="•"/>
            </a:pPr>
            <a:r>
              <a:rPr lang="en-CA" sz="2800" b="1" dirty="0">
                <a:solidFill>
                  <a:srgbClr val="FFFF00"/>
                </a:solidFill>
                <a:latin typeface="Garamond" panose="02020404030301010803" pitchFamily="18" charset="0"/>
              </a:rPr>
              <a:t>Cultivating one's own character </a:t>
            </a:r>
            <a:r>
              <a:rPr lang="en-CA" sz="2800" dirty="0">
                <a:solidFill>
                  <a:schemeClr val="bg1"/>
                </a:solidFill>
                <a:latin typeface="Garamond" panose="02020404030301010803" pitchFamily="18" charset="0"/>
              </a:rPr>
              <a:t>to become increasingly more noble and excellent</a:t>
            </a:r>
          </a:p>
          <a:p>
            <a:pPr marL="285750" indent="-285750">
              <a:buFont typeface="Arial" panose="020B0604020202020204" pitchFamily="34" charset="0"/>
              <a:buChar char="•"/>
            </a:pPr>
            <a:r>
              <a:rPr lang="en-CA" sz="2800" b="1" dirty="0">
                <a:solidFill>
                  <a:srgbClr val="FFFF00"/>
                </a:solidFill>
                <a:latin typeface="Garamond" panose="02020404030301010803" pitchFamily="18" charset="0"/>
              </a:rPr>
              <a:t>A skillful practice of moral perception</a:t>
            </a:r>
            <a:r>
              <a:rPr lang="en-CA" sz="2800" b="1" dirty="0">
                <a:solidFill>
                  <a:schemeClr val="bg1"/>
                </a:solidFill>
                <a:latin typeface="Garamond" panose="02020404030301010803" pitchFamily="18" charset="0"/>
              </a:rPr>
              <a:t>, </a:t>
            </a:r>
            <a:r>
              <a:rPr lang="en-CA" sz="2800" dirty="0">
                <a:solidFill>
                  <a:schemeClr val="bg1"/>
                </a:solidFill>
                <a:latin typeface="Garamond" panose="02020404030301010803" pitchFamily="18" charset="0"/>
              </a:rPr>
              <a:t>sensitivity, and flexible, discerning judgment</a:t>
            </a:r>
          </a:p>
          <a:p>
            <a:pPr marL="285750" indent="-285750">
              <a:buFont typeface="Arial" panose="020B0604020202020204" pitchFamily="34" charset="0"/>
              <a:buChar char="•"/>
            </a:pPr>
            <a:r>
              <a:rPr lang="en-CA" sz="2800" b="1" dirty="0">
                <a:solidFill>
                  <a:srgbClr val="FFFF00"/>
                </a:solidFill>
                <a:latin typeface="Garamond" panose="02020404030301010803" pitchFamily="18" charset="0"/>
              </a:rPr>
              <a:t>Learning to more expertly see </a:t>
            </a:r>
            <a:r>
              <a:rPr lang="en-CA" sz="2800" dirty="0">
                <a:solidFill>
                  <a:srgbClr val="FFFF00"/>
                </a:solidFill>
                <a:latin typeface="Garamond" panose="02020404030301010803" pitchFamily="18" charset="0"/>
              </a:rPr>
              <a:t>and navigate the moral world and its features</a:t>
            </a:r>
          </a:p>
          <a:p>
            <a:endParaRPr lang="en-CA" sz="2800" b="1" dirty="0">
              <a:solidFill>
                <a:schemeClr val="bg1"/>
              </a:solidFill>
              <a:latin typeface="Garamond" panose="02020404030301010803" pitchFamily="18" charset="0"/>
            </a:endParaRPr>
          </a:p>
        </p:txBody>
      </p:sp>
      <p:sp>
        <p:nvSpPr>
          <p:cNvPr id="3" name="Title 2">
            <a:extLst>
              <a:ext uri="{FF2B5EF4-FFF2-40B4-BE49-F238E27FC236}">
                <a16:creationId xmlns:a16="http://schemas.microsoft.com/office/drawing/2014/main" id="{BBAABD17-D53A-B440-B0F8-3E2974C38DA1}"/>
              </a:ext>
            </a:extLst>
          </p:cNvPr>
          <p:cNvSpPr txBox="1">
            <a:spLocks/>
          </p:cNvSpPr>
          <p:nvPr/>
        </p:nvSpPr>
        <p:spPr>
          <a:xfrm>
            <a:off x="3257107" y="171390"/>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WHAT ETHICS IS</a:t>
            </a:r>
          </a:p>
        </p:txBody>
      </p:sp>
      <p:sp>
        <p:nvSpPr>
          <p:cNvPr id="4" name="Rectangle 3">
            <a:extLst>
              <a:ext uri="{FF2B5EF4-FFF2-40B4-BE49-F238E27FC236}">
                <a16:creationId xmlns:a16="http://schemas.microsoft.com/office/drawing/2014/main" id="{FD7EF35E-199F-3B4F-958A-DC3D633C6CD7}"/>
              </a:ext>
            </a:extLst>
          </p:cNvPr>
          <p:cNvSpPr/>
          <p:nvPr/>
        </p:nvSpPr>
        <p:spPr bwMode="auto">
          <a:xfrm>
            <a:off x="4812529" y="870921"/>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4060BF07-7424-A249-9EF2-ECDADC49F568}"/>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28</a:t>
            </a:fld>
            <a:endParaRPr lang="en-US" sz="1400" dirty="0">
              <a:solidFill>
                <a:schemeClr val="bg1"/>
              </a:solidFill>
            </a:endParaRPr>
          </a:p>
        </p:txBody>
      </p:sp>
    </p:spTree>
    <p:extLst>
      <p:ext uri="{BB962C8B-B14F-4D97-AF65-F5344CB8AC3E}">
        <p14:creationId xmlns:p14="http://schemas.microsoft.com/office/powerpoint/2010/main" val="3171048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E2FB65-42B1-4945-84E5-F9E85F87883D}"/>
              </a:ext>
            </a:extLst>
          </p:cNvPr>
          <p:cNvSpPr/>
          <p:nvPr/>
        </p:nvSpPr>
        <p:spPr>
          <a:xfrm>
            <a:off x="5629740" y="2091670"/>
            <a:ext cx="6308780" cy="3539430"/>
          </a:xfrm>
          <a:prstGeom prst="rect">
            <a:avLst/>
          </a:prstGeom>
        </p:spPr>
        <p:txBody>
          <a:bodyPr wrap="square">
            <a:spAutoFit/>
          </a:bodyPr>
          <a:lstStyle/>
          <a:p>
            <a:pPr marL="457200" indent="-457200">
              <a:buFont typeface="Arial" panose="020B0604020202020204" pitchFamily="34" charset="0"/>
              <a:buChar char="•"/>
            </a:pPr>
            <a:endParaRPr lang="en-CA" sz="2800" dirty="0">
              <a:solidFill>
                <a:schemeClr val="bg1"/>
              </a:solidFill>
              <a:latin typeface="Garamond" panose="02020404030301010803" pitchFamily="18" charset="0"/>
            </a:endParaRPr>
          </a:p>
          <a:p>
            <a:r>
              <a:rPr lang="en-CA" sz="2800" b="1" dirty="0">
                <a:solidFill>
                  <a:srgbClr val="FFFF00"/>
                </a:solidFill>
                <a:latin typeface="Garamond" panose="02020404030301010803" pitchFamily="18" charset="0"/>
              </a:rPr>
              <a:t>What do you think Ethics are all about? </a:t>
            </a:r>
          </a:p>
          <a:p>
            <a:pPr marL="457200" indent="-457200">
              <a:buFont typeface="Arial" panose="020B0604020202020204" pitchFamily="34" charset="0"/>
              <a:buChar char="•"/>
            </a:pPr>
            <a:r>
              <a:rPr lang="en-CA" sz="2800" dirty="0">
                <a:solidFill>
                  <a:schemeClr val="bg1"/>
                </a:solidFill>
                <a:latin typeface="Garamond" panose="02020404030301010803" pitchFamily="18" charset="0"/>
              </a:rPr>
              <a:t>Is something missing from our context definitions on ethics from your perspective?</a:t>
            </a:r>
          </a:p>
          <a:p>
            <a:endParaRPr lang="en-CA" sz="2800" dirty="0">
              <a:solidFill>
                <a:schemeClr val="bg1"/>
              </a:solidFill>
              <a:latin typeface="Garamond" panose="02020404030301010803" pitchFamily="18" charset="0"/>
            </a:endParaRPr>
          </a:p>
          <a:p>
            <a:endParaRPr lang="en-CA" sz="2800" dirty="0">
              <a:solidFill>
                <a:schemeClr val="bg1"/>
              </a:solidFill>
              <a:latin typeface="Garamond" panose="02020404030301010803" pitchFamily="18" charset="0"/>
            </a:endParaRPr>
          </a:p>
          <a:p>
            <a:pPr marL="457200" indent="-457200">
              <a:buFont typeface="Arial" panose="020B0604020202020204" pitchFamily="34" charset="0"/>
              <a:buChar char="•"/>
            </a:pPr>
            <a:endParaRPr lang="en-CA" sz="2800" dirty="0">
              <a:solidFill>
                <a:schemeClr val="bg1"/>
              </a:solidFill>
              <a:latin typeface="Garamond" panose="02020404030301010803" pitchFamily="18" charset="0"/>
            </a:endParaRPr>
          </a:p>
        </p:txBody>
      </p:sp>
      <p:sp>
        <p:nvSpPr>
          <p:cNvPr id="3" name="Title 2">
            <a:extLst>
              <a:ext uri="{FF2B5EF4-FFF2-40B4-BE49-F238E27FC236}">
                <a16:creationId xmlns:a16="http://schemas.microsoft.com/office/drawing/2014/main" id="{BBAABD17-D53A-B440-B0F8-3E2974C38DA1}"/>
              </a:ext>
            </a:extLst>
          </p:cNvPr>
          <p:cNvSpPr txBox="1">
            <a:spLocks/>
          </p:cNvSpPr>
          <p:nvPr/>
        </p:nvSpPr>
        <p:spPr>
          <a:xfrm>
            <a:off x="2644891" y="171390"/>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WHAT ETHICS IS? </a:t>
            </a:r>
          </a:p>
        </p:txBody>
      </p:sp>
      <p:sp>
        <p:nvSpPr>
          <p:cNvPr id="4" name="Rectangle 3">
            <a:extLst>
              <a:ext uri="{FF2B5EF4-FFF2-40B4-BE49-F238E27FC236}">
                <a16:creationId xmlns:a16="http://schemas.microsoft.com/office/drawing/2014/main" id="{FD7EF35E-199F-3B4F-958A-DC3D633C6CD7}"/>
              </a:ext>
            </a:extLst>
          </p:cNvPr>
          <p:cNvSpPr/>
          <p:nvPr/>
        </p:nvSpPr>
        <p:spPr bwMode="auto">
          <a:xfrm>
            <a:off x="4545829" y="849382"/>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4060BF07-7424-A249-9EF2-ECDADC49F568}"/>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29</a:t>
            </a:fld>
            <a:endParaRPr lang="en-US" sz="1400" dirty="0">
              <a:solidFill>
                <a:schemeClr val="bg1"/>
              </a:solidFill>
            </a:endParaRPr>
          </a:p>
        </p:txBody>
      </p:sp>
      <p:pic>
        <p:nvPicPr>
          <p:cNvPr id="6" name="Picture 5">
            <a:extLst>
              <a:ext uri="{FF2B5EF4-FFF2-40B4-BE49-F238E27FC236}">
                <a16:creationId xmlns:a16="http://schemas.microsoft.com/office/drawing/2014/main" id="{01503234-60F9-9946-9B87-75587C733238}"/>
              </a:ext>
            </a:extLst>
          </p:cNvPr>
          <p:cNvPicPr>
            <a:picLocks noChangeAspect="1"/>
          </p:cNvPicPr>
          <p:nvPr/>
        </p:nvPicPr>
        <p:blipFill>
          <a:blip r:embed="rId2"/>
          <a:stretch>
            <a:fillRect/>
          </a:stretch>
        </p:blipFill>
        <p:spPr>
          <a:xfrm>
            <a:off x="832218" y="2259008"/>
            <a:ext cx="4671308" cy="3108543"/>
          </a:xfrm>
          <a:prstGeom prst="rect">
            <a:avLst/>
          </a:prstGeom>
        </p:spPr>
      </p:pic>
    </p:spTree>
    <p:extLst>
      <p:ext uri="{BB962C8B-B14F-4D97-AF65-F5344CB8AC3E}">
        <p14:creationId xmlns:p14="http://schemas.microsoft.com/office/powerpoint/2010/main" val="8798664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E2FB65-42B1-4945-84E5-F9E85F87883D}"/>
              </a:ext>
            </a:extLst>
          </p:cNvPr>
          <p:cNvSpPr/>
          <p:nvPr/>
        </p:nvSpPr>
        <p:spPr>
          <a:xfrm>
            <a:off x="918883" y="1435941"/>
            <a:ext cx="11273117" cy="3539430"/>
          </a:xfrm>
          <a:prstGeom prst="rect">
            <a:avLst/>
          </a:prstGeom>
        </p:spPr>
        <p:txBody>
          <a:bodyPr wrap="square">
            <a:spAutoFit/>
          </a:bodyPr>
          <a:lstStyle/>
          <a:p>
            <a:endParaRPr lang="en-CA" sz="2800" b="1" dirty="0">
              <a:solidFill>
                <a:schemeClr val="bg1"/>
              </a:solidFill>
              <a:latin typeface="Garamond" panose="02020404030301010803" pitchFamily="18" charset="0"/>
            </a:endParaRPr>
          </a:p>
          <a:p>
            <a:pPr marL="342900" indent="-342900">
              <a:buFont typeface="Arial" panose="020B0604020202020204" pitchFamily="34" charset="0"/>
              <a:buChar char="•"/>
            </a:pPr>
            <a:r>
              <a:rPr lang="en-CA" sz="2800" b="1" dirty="0">
                <a:solidFill>
                  <a:srgbClr val="FFFF00"/>
                </a:solidFill>
                <a:latin typeface="Garamond" panose="02020404030301010803" pitchFamily="18" charset="0"/>
              </a:rPr>
              <a:t>Theoretical Ethics </a:t>
            </a:r>
            <a:r>
              <a:rPr lang="en-CA" sz="2800" dirty="0">
                <a:solidFill>
                  <a:schemeClr val="bg1"/>
                </a:solidFill>
                <a:latin typeface="Garamond" panose="02020404030301010803" pitchFamily="18" charset="0"/>
              </a:rPr>
              <a:t>(moral theory in philosophical ethics and moral psychology)</a:t>
            </a:r>
          </a:p>
          <a:p>
            <a:pPr marL="342900" indent="-342900">
              <a:buFont typeface="Arial" panose="020B0604020202020204" pitchFamily="34" charset="0"/>
              <a:buChar char="•"/>
            </a:pPr>
            <a:r>
              <a:rPr lang="en-CA" sz="2800" b="1" dirty="0">
                <a:solidFill>
                  <a:srgbClr val="FFFF00"/>
                </a:solidFill>
                <a:latin typeface="Garamond" panose="02020404030301010803" pitchFamily="18" charset="0"/>
              </a:rPr>
              <a:t>Normative Ethics </a:t>
            </a:r>
            <a:r>
              <a:rPr lang="en-CA" sz="2800" dirty="0">
                <a:solidFill>
                  <a:schemeClr val="bg1"/>
                </a:solidFill>
                <a:latin typeface="Garamond" panose="02020404030301010803" pitchFamily="18" charset="0"/>
              </a:rPr>
              <a:t>(theories that say how we should act, how our ethical norms should be)</a:t>
            </a:r>
          </a:p>
          <a:p>
            <a:pPr marL="342900" indent="-342900">
              <a:buFont typeface="Arial" panose="020B0604020202020204" pitchFamily="34" charset="0"/>
              <a:buChar char="•"/>
            </a:pPr>
            <a:r>
              <a:rPr lang="en-CA" sz="2800" b="1" dirty="0">
                <a:solidFill>
                  <a:srgbClr val="FFFF00"/>
                </a:solidFill>
                <a:latin typeface="Garamond" panose="02020404030301010803" pitchFamily="18" charset="0"/>
              </a:rPr>
              <a:t>Descriptive Ethics </a:t>
            </a:r>
            <a:r>
              <a:rPr lang="en-CA" sz="2800" dirty="0">
                <a:solidFill>
                  <a:schemeClr val="bg1"/>
                </a:solidFill>
                <a:latin typeface="Garamond" panose="02020404030301010803" pitchFamily="18" charset="0"/>
              </a:rPr>
              <a:t>(theories that neutrally describe what a society's ethical norms are)</a:t>
            </a:r>
          </a:p>
          <a:p>
            <a:endParaRPr lang="en-CA" sz="2800" u="sng" dirty="0">
              <a:solidFill>
                <a:schemeClr val="bg1"/>
              </a:solidFill>
              <a:latin typeface="Garamond" panose="02020404030301010803" pitchFamily="18" charset="0"/>
            </a:endParaRPr>
          </a:p>
        </p:txBody>
      </p:sp>
      <p:sp>
        <p:nvSpPr>
          <p:cNvPr id="3" name="Title 2">
            <a:extLst>
              <a:ext uri="{FF2B5EF4-FFF2-40B4-BE49-F238E27FC236}">
                <a16:creationId xmlns:a16="http://schemas.microsoft.com/office/drawing/2014/main" id="{E8B70345-8E6C-1D4F-93E1-996B05795689}"/>
              </a:ext>
            </a:extLst>
          </p:cNvPr>
          <p:cNvSpPr txBox="1">
            <a:spLocks/>
          </p:cNvSpPr>
          <p:nvPr/>
        </p:nvSpPr>
        <p:spPr>
          <a:xfrm>
            <a:off x="1979636" y="149161"/>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WHAT ARE FORMAL ETHICS?</a:t>
            </a:r>
          </a:p>
        </p:txBody>
      </p:sp>
      <p:sp>
        <p:nvSpPr>
          <p:cNvPr id="4" name="Rectangle 3">
            <a:extLst>
              <a:ext uri="{FF2B5EF4-FFF2-40B4-BE49-F238E27FC236}">
                <a16:creationId xmlns:a16="http://schemas.microsoft.com/office/drawing/2014/main" id="{A3D1B680-E3AA-8946-9F86-6A2657FC2589}"/>
              </a:ext>
            </a:extLst>
          </p:cNvPr>
          <p:cNvSpPr/>
          <p:nvPr/>
        </p:nvSpPr>
        <p:spPr bwMode="auto">
          <a:xfrm>
            <a:off x="4545829" y="849382"/>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7AB172F7-562C-A14E-9D7B-2D76BFC3F452}"/>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30</a:t>
            </a:fld>
            <a:endParaRPr lang="en-US" sz="1400" dirty="0">
              <a:solidFill>
                <a:schemeClr val="bg1"/>
              </a:solidFill>
            </a:endParaRPr>
          </a:p>
        </p:txBody>
      </p:sp>
    </p:spTree>
    <p:extLst>
      <p:ext uri="{BB962C8B-B14F-4D97-AF65-F5344CB8AC3E}">
        <p14:creationId xmlns:p14="http://schemas.microsoft.com/office/powerpoint/2010/main" val="4007889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E2FB65-42B1-4945-84E5-F9E85F87883D}"/>
              </a:ext>
            </a:extLst>
          </p:cNvPr>
          <p:cNvSpPr/>
          <p:nvPr/>
        </p:nvSpPr>
        <p:spPr>
          <a:xfrm>
            <a:off x="918883" y="1065294"/>
            <a:ext cx="10632141" cy="4832092"/>
          </a:xfrm>
          <a:prstGeom prst="rect">
            <a:avLst/>
          </a:prstGeom>
        </p:spPr>
        <p:txBody>
          <a:bodyPr wrap="square">
            <a:spAutoFit/>
          </a:bodyPr>
          <a:lstStyle/>
          <a:p>
            <a:endParaRPr lang="en-CA" sz="2800" b="1" dirty="0">
              <a:solidFill>
                <a:schemeClr val="bg1"/>
              </a:solidFill>
              <a:latin typeface="Garamond" panose="02020404030301010803" pitchFamily="18" charset="0"/>
            </a:endParaRPr>
          </a:p>
          <a:p>
            <a:pPr marL="342900" indent="-342900">
              <a:buFont typeface="Arial" panose="020B0604020202020204" pitchFamily="34" charset="0"/>
              <a:buChar char="•"/>
            </a:pPr>
            <a:r>
              <a:rPr lang="en-CA" sz="2800" b="1" dirty="0">
                <a:solidFill>
                  <a:srgbClr val="FFFF00"/>
                </a:solidFill>
                <a:latin typeface="Garamond" panose="02020404030301010803" pitchFamily="18" charset="0"/>
              </a:rPr>
              <a:t>Applied Ethics </a:t>
            </a:r>
            <a:r>
              <a:rPr lang="en-CA" sz="2800" dirty="0">
                <a:solidFill>
                  <a:schemeClr val="bg1"/>
                </a:solidFill>
                <a:latin typeface="Garamond" panose="02020404030301010803" pitchFamily="18" charset="0"/>
              </a:rPr>
              <a:t>(Translating theoretical knowledge of ethics into specific action-guidance)</a:t>
            </a:r>
          </a:p>
          <a:p>
            <a:pPr marL="342900" indent="-342900">
              <a:buFont typeface="Arial" panose="020B0604020202020204" pitchFamily="34" charset="0"/>
              <a:buChar char="•"/>
            </a:pPr>
            <a:r>
              <a:rPr lang="en-CA" sz="2800" b="1" dirty="0">
                <a:solidFill>
                  <a:srgbClr val="FFFF00"/>
                </a:solidFill>
                <a:latin typeface="Garamond" panose="02020404030301010803" pitchFamily="18" charset="0"/>
              </a:rPr>
              <a:t>Professional Ethics </a:t>
            </a:r>
            <a:r>
              <a:rPr lang="en-CA" sz="2800" dirty="0">
                <a:solidFill>
                  <a:schemeClr val="bg1"/>
                </a:solidFill>
                <a:latin typeface="Garamond" panose="02020404030301010803" pitchFamily="18" charset="0"/>
              </a:rPr>
              <a:t>(Ethical norms, values, &amp; practices distinctive to a particular profession)</a:t>
            </a:r>
          </a:p>
          <a:p>
            <a:pPr marL="342900" indent="-342900">
              <a:buFont typeface="Arial" panose="020B0604020202020204" pitchFamily="34" charset="0"/>
              <a:buChar char="•"/>
            </a:pPr>
            <a:r>
              <a:rPr lang="en-CA" sz="2800" b="1" dirty="0">
                <a:solidFill>
                  <a:srgbClr val="FFFF00"/>
                </a:solidFill>
                <a:latin typeface="Garamond" panose="02020404030301010803" pitchFamily="18" charset="0"/>
              </a:rPr>
              <a:t>Technology Ethics </a:t>
            </a:r>
            <a:r>
              <a:rPr lang="en-CA" sz="2800" dirty="0">
                <a:solidFill>
                  <a:schemeClr val="bg1"/>
                </a:solidFill>
                <a:latin typeface="Garamond" panose="02020404030301010803" pitchFamily="18" charset="0"/>
              </a:rPr>
              <a:t>(Theoretical or applied expertise in the relationship between tech &amp; normative ethics: includes robot ethics, digital media ethics, data ethics, AI ethics, etc.)</a:t>
            </a:r>
          </a:p>
          <a:p>
            <a:pPr marL="342900" indent="-342900">
              <a:buFont typeface="Arial" panose="020B0604020202020204" pitchFamily="34" charset="0"/>
              <a:buChar char="•"/>
            </a:pPr>
            <a:r>
              <a:rPr lang="en-CA" sz="2800" b="1" dirty="0">
                <a:solidFill>
                  <a:srgbClr val="FFFF00"/>
                </a:solidFill>
                <a:latin typeface="Garamond" panose="02020404030301010803" pitchFamily="18" charset="0"/>
              </a:rPr>
              <a:t>Engineering and Design Ethics </a:t>
            </a:r>
            <a:r>
              <a:rPr lang="en-CA" sz="2800" dirty="0">
                <a:solidFill>
                  <a:schemeClr val="bg1"/>
                </a:solidFill>
                <a:latin typeface="Garamond" panose="02020404030301010803" pitchFamily="18" charset="0"/>
              </a:rPr>
              <a:t>(A field of professional ethics that develops theoretical &amp; applied insights into the distinctly ethical conditions of successful engineering/design)</a:t>
            </a:r>
            <a:endParaRPr lang="en-CA" sz="2800" b="0" i="0" dirty="0">
              <a:solidFill>
                <a:schemeClr val="bg1"/>
              </a:solidFill>
              <a:effectLst/>
              <a:latin typeface="Garamond" panose="02020404030301010803" pitchFamily="18" charset="0"/>
            </a:endParaRPr>
          </a:p>
        </p:txBody>
      </p:sp>
      <p:sp>
        <p:nvSpPr>
          <p:cNvPr id="3" name="Title 2">
            <a:extLst>
              <a:ext uri="{FF2B5EF4-FFF2-40B4-BE49-F238E27FC236}">
                <a16:creationId xmlns:a16="http://schemas.microsoft.com/office/drawing/2014/main" id="{E8B70345-8E6C-1D4F-93E1-996B05795689}"/>
              </a:ext>
            </a:extLst>
          </p:cNvPr>
          <p:cNvSpPr txBox="1">
            <a:spLocks/>
          </p:cNvSpPr>
          <p:nvPr/>
        </p:nvSpPr>
        <p:spPr>
          <a:xfrm>
            <a:off x="1468648" y="164985"/>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WHAT ARE PRACTICAL ETHICS?</a:t>
            </a:r>
          </a:p>
        </p:txBody>
      </p:sp>
      <p:sp>
        <p:nvSpPr>
          <p:cNvPr id="4" name="Rectangle 3">
            <a:extLst>
              <a:ext uri="{FF2B5EF4-FFF2-40B4-BE49-F238E27FC236}">
                <a16:creationId xmlns:a16="http://schemas.microsoft.com/office/drawing/2014/main" id="{A3D1B680-E3AA-8946-9F86-6A2657FC2589}"/>
              </a:ext>
            </a:extLst>
          </p:cNvPr>
          <p:cNvSpPr/>
          <p:nvPr/>
        </p:nvSpPr>
        <p:spPr bwMode="auto">
          <a:xfrm>
            <a:off x="5040878" y="8164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390F475A-B5C3-5643-BD34-6C85C98E7A62}"/>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31</a:t>
            </a:fld>
            <a:endParaRPr lang="en-US" sz="1400" dirty="0">
              <a:solidFill>
                <a:schemeClr val="bg1"/>
              </a:solidFill>
            </a:endParaRPr>
          </a:p>
        </p:txBody>
      </p:sp>
    </p:spTree>
    <p:extLst>
      <p:ext uri="{BB962C8B-B14F-4D97-AF65-F5344CB8AC3E}">
        <p14:creationId xmlns:p14="http://schemas.microsoft.com/office/powerpoint/2010/main" val="10645075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085395-B6A9-984A-87B3-A95715EACB0B}"/>
              </a:ext>
            </a:extLst>
          </p:cNvPr>
          <p:cNvSpPr/>
          <p:nvPr/>
        </p:nvSpPr>
        <p:spPr>
          <a:xfrm>
            <a:off x="814658" y="1801905"/>
            <a:ext cx="10822657" cy="3970318"/>
          </a:xfrm>
          <a:prstGeom prst="rect">
            <a:avLst/>
          </a:prstGeom>
        </p:spPr>
        <p:txBody>
          <a:bodyPr wrap="square">
            <a:spAutoFit/>
          </a:bodyPr>
          <a:lstStyle/>
          <a:p>
            <a:r>
              <a:rPr lang="en-CA" sz="3000" b="1" dirty="0">
                <a:solidFill>
                  <a:srgbClr val="FFFF00"/>
                </a:solidFill>
                <a:latin typeface="Garamond" panose="02020404030301010803" pitchFamily="18" charset="0"/>
              </a:rPr>
              <a:t>Machine learning (ML) is advancing rapidly for three reasons: </a:t>
            </a:r>
          </a:p>
          <a:p>
            <a:endParaRPr lang="en-CA" sz="2800" dirty="0">
              <a:solidFill>
                <a:schemeClr val="bg1"/>
              </a:solidFill>
              <a:latin typeface="Garamond" panose="02020404030301010803" pitchFamily="18" charset="0"/>
            </a:endParaRPr>
          </a:p>
          <a:p>
            <a:pPr marL="514350" indent="-514350">
              <a:buAutoNum type="arabicParenR"/>
            </a:pPr>
            <a:r>
              <a:rPr lang="en-CA" sz="2800" dirty="0">
                <a:solidFill>
                  <a:schemeClr val="bg1"/>
                </a:solidFill>
                <a:latin typeface="Garamond" panose="02020404030301010803" pitchFamily="18" charset="0"/>
              </a:rPr>
              <a:t>Huge increase in the </a:t>
            </a:r>
            <a:r>
              <a:rPr lang="en-CA" sz="2800" b="1" dirty="0">
                <a:solidFill>
                  <a:srgbClr val="FFFF00"/>
                </a:solidFill>
                <a:latin typeface="Garamond" panose="02020404030301010803" pitchFamily="18" charset="0"/>
              </a:rPr>
              <a:t>size of data sets</a:t>
            </a:r>
            <a:r>
              <a:rPr lang="en-CA" sz="2800" dirty="0">
                <a:solidFill>
                  <a:schemeClr val="bg1"/>
                </a:solidFill>
                <a:latin typeface="Garamond" panose="02020404030301010803" pitchFamily="18" charset="0"/>
              </a:rPr>
              <a:t>; </a:t>
            </a:r>
          </a:p>
          <a:p>
            <a:pPr marL="514350" indent="-514350">
              <a:buAutoNum type="arabicParenR"/>
            </a:pPr>
            <a:r>
              <a:rPr lang="en-CA" sz="2800" dirty="0">
                <a:solidFill>
                  <a:schemeClr val="bg1"/>
                </a:solidFill>
                <a:latin typeface="Garamond" panose="02020404030301010803" pitchFamily="18" charset="0"/>
              </a:rPr>
              <a:t>Huge increase in </a:t>
            </a:r>
            <a:r>
              <a:rPr lang="en-CA" sz="2800" b="1" dirty="0">
                <a:solidFill>
                  <a:srgbClr val="FFFF00"/>
                </a:solidFill>
                <a:latin typeface="Garamond" panose="02020404030301010803" pitchFamily="18" charset="0"/>
              </a:rPr>
              <a:t>computing power</a:t>
            </a:r>
            <a:r>
              <a:rPr lang="en-CA" sz="2800" dirty="0">
                <a:solidFill>
                  <a:srgbClr val="FFFF00"/>
                </a:solidFill>
                <a:latin typeface="Garamond" panose="02020404030301010803" pitchFamily="18" charset="0"/>
              </a:rPr>
              <a:t>; </a:t>
            </a:r>
          </a:p>
          <a:p>
            <a:pPr marL="514350" indent="-514350">
              <a:buAutoNum type="arabicParenR"/>
            </a:pPr>
            <a:r>
              <a:rPr lang="en-CA" sz="2800" dirty="0">
                <a:solidFill>
                  <a:schemeClr val="bg1"/>
                </a:solidFill>
                <a:latin typeface="Garamond" panose="02020404030301010803" pitchFamily="18" charset="0"/>
              </a:rPr>
              <a:t>Huge improvement in </a:t>
            </a:r>
            <a:r>
              <a:rPr lang="en-CA" sz="2800" b="1" dirty="0">
                <a:solidFill>
                  <a:srgbClr val="FFFF00"/>
                </a:solidFill>
                <a:latin typeface="Garamond" panose="02020404030301010803" pitchFamily="18" charset="0"/>
              </a:rPr>
              <a:t>ML algorithms and more human talent to write them. </a:t>
            </a:r>
          </a:p>
          <a:p>
            <a:endParaRPr lang="en-CA" sz="2800" dirty="0">
              <a:solidFill>
                <a:schemeClr val="bg1"/>
              </a:solidFill>
              <a:latin typeface="Garamond" panose="02020404030301010803" pitchFamily="18" charset="0"/>
            </a:endParaRPr>
          </a:p>
          <a:p>
            <a:r>
              <a:rPr lang="en-CA" sz="2800" dirty="0">
                <a:solidFill>
                  <a:schemeClr val="bg1"/>
                </a:solidFill>
                <a:latin typeface="Garamond" panose="02020404030301010803" pitchFamily="18" charset="0"/>
              </a:rPr>
              <a:t>All three of these trends are centralizing of power, and “</a:t>
            </a:r>
            <a:r>
              <a:rPr lang="en-CA" sz="2800" i="1" dirty="0">
                <a:solidFill>
                  <a:schemeClr val="bg1"/>
                </a:solidFill>
                <a:latin typeface="Garamond" panose="02020404030301010803" pitchFamily="18" charset="0"/>
              </a:rPr>
              <a:t>With great power comes great responsibility.” </a:t>
            </a:r>
            <a:endParaRPr lang="en-US" sz="2800" i="1" dirty="0">
              <a:solidFill>
                <a:schemeClr val="bg1"/>
              </a:solidFill>
              <a:latin typeface="Garamond" panose="02020404030301010803" pitchFamily="18" charset="0"/>
            </a:endParaRPr>
          </a:p>
        </p:txBody>
      </p:sp>
      <p:sp>
        <p:nvSpPr>
          <p:cNvPr id="3" name="Title 2">
            <a:extLst>
              <a:ext uri="{FF2B5EF4-FFF2-40B4-BE49-F238E27FC236}">
                <a16:creationId xmlns:a16="http://schemas.microsoft.com/office/drawing/2014/main" id="{7B436689-223F-3448-A863-74043FCED8C2}"/>
              </a:ext>
            </a:extLst>
          </p:cNvPr>
          <p:cNvSpPr txBox="1">
            <a:spLocks/>
          </p:cNvSpPr>
          <p:nvPr/>
        </p:nvSpPr>
        <p:spPr>
          <a:xfrm>
            <a:off x="488547" y="151538"/>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algn="ctr"/>
            <a:r>
              <a:rPr lang="en-US" dirty="0">
                <a:solidFill>
                  <a:prstClr val="white"/>
                </a:solidFill>
                <a:latin typeface="Perpetua Titling MT Light" charset="0"/>
              </a:rPr>
              <a:t>WHY IS AI ETHICS BECOMING A PROBLEM NOW?</a:t>
            </a:r>
          </a:p>
        </p:txBody>
      </p:sp>
      <p:sp>
        <p:nvSpPr>
          <p:cNvPr id="4" name="Rectangle 3">
            <a:extLst>
              <a:ext uri="{FF2B5EF4-FFF2-40B4-BE49-F238E27FC236}">
                <a16:creationId xmlns:a16="http://schemas.microsoft.com/office/drawing/2014/main" id="{EEEDBE9D-8791-5C45-AB48-3866819812B7}"/>
              </a:ext>
            </a:extLst>
          </p:cNvPr>
          <p:cNvSpPr/>
          <p:nvPr/>
        </p:nvSpPr>
        <p:spPr bwMode="auto">
          <a:xfrm>
            <a:off x="5031912" y="1381256"/>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F0A22589-67D6-9C40-967B-E7AB4DB07D17}"/>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32</a:t>
            </a:fld>
            <a:endParaRPr lang="en-US" sz="1400" dirty="0">
              <a:solidFill>
                <a:schemeClr val="bg1"/>
              </a:solidFill>
            </a:endParaRPr>
          </a:p>
        </p:txBody>
      </p:sp>
    </p:spTree>
    <p:extLst>
      <p:ext uri="{BB962C8B-B14F-4D97-AF65-F5344CB8AC3E}">
        <p14:creationId xmlns:p14="http://schemas.microsoft.com/office/powerpoint/2010/main" val="2952152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86631B-C1D9-B04E-B0C6-3E8FD4396A29}"/>
              </a:ext>
            </a:extLst>
          </p:cNvPr>
          <p:cNvSpPr/>
          <p:nvPr/>
        </p:nvSpPr>
        <p:spPr>
          <a:xfrm>
            <a:off x="1150268" y="5447477"/>
            <a:ext cx="11038236" cy="646331"/>
          </a:xfrm>
          <a:prstGeom prst="rect">
            <a:avLst/>
          </a:prstGeom>
        </p:spPr>
        <p:txBody>
          <a:bodyPr wrap="square">
            <a:spAutoFit/>
          </a:bodyPr>
          <a:lstStyle/>
          <a:p>
            <a:r>
              <a:rPr lang="en-US" b="1" dirty="0">
                <a:solidFill>
                  <a:srgbClr val="FFFF00"/>
                </a:solidFill>
              </a:rPr>
              <a:t>SOURCE: </a:t>
            </a:r>
            <a:r>
              <a:rPr lang="en-US" b="1" dirty="0">
                <a:solidFill>
                  <a:schemeClr val="bg1"/>
                </a:solidFill>
              </a:rPr>
              <a:t>AI ETHICAL CONCERNS – 16 OF THEM</a:t>
            </a:r>
          </a:p>
          <a:p>
            <a:r>
              <a:rPr lang="en-US" dirty="0">
                <a:solidFill>
                  <a:schemeClr val="bg1"/>
                </a:solidFill>
              </a:rPr>
              <a:t>https://www.scu.edu/ethics/all-about-ethics/artificial-intelligence-and-ethics-sixteen-challenges-and-opportunities/</a:t>
            </a:r>
          </a:p>
        </p:txBody>
      </p:sp>
      <p:sp>
        <p:nvSpPr>
          <p:cNvPr id="3" name="Title 2">
            <a:extLst>
              <a:ext uri="{FF2B5EF4-FFF2-40B4-BE49-F238E27FC236}">
                <a16:creationId xmlns:a16="http://schemas.microsoft.com/office/drawing/2014/main" id="{0A0979F0-0F49-E943-B4E2-9F7DC6D2011D}"/>
              </a:ext>
            </a:extLst>
          </p:cNvPr>
          <p:cNvSpPr txBox="1">
            <a:spLocks/>
          </p:cNvSpPr>
          <p:nvPr/>
        </p:nvSpPr>
        <p:spPr>
          <a:xfrm>
            <a:off x="881788" y="166796"/>
            <a:ext cx="12741823"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b="1" dirty="0">
                <a:solidFill>
                  <a:prstClr val="white"/>
                </a:solidFill>
                <a:latin typeface="Perpetua Titling MT Light" charset="0"/>
              </a:rPr>
              <a:t>LAB EXERCISE 3</a:t>
            </a:r>
            <a:r>
              <a:rPr lang="en-US" dirty="0">
                <a:solidFill>
                  <a:prstClr val="white"/>
                </a:solidFill>
                <a:latin typeface="Perpetua Titling MT Light" charset="0"/>
              </a:rPr>
              <a:t>: AI ETHICAL CONCERNS</a:t>
            </a:r>
            <a:endParaRPr lang="en-US" sz="2000" dirty="0">
              <a:solidFill>
                <a:prstClr val="white"/>
              </a:solidFill>
              <a:latin typeface="Perpetua Titling MT Light" charset="0"/>
            </a:endParaRPr>
          </a:p>
        </p:txBody>
      </p:sp>
      <p:sp>
        <p:nvSpPr>
          <p:cNvPr id="4" name="Rectangle 3">
            <a:extLst>
              <a:ext uri="{FF2B5EF4-FFF2-40B4-BE49-F238E27FC236}">
                <a16:creationId xmlns:a16="http://schemas.microsoft.com/office/drawing/2014/main" id="{20FD5DF8-3859-9B4B-8C55-0A873BEF12F5}"/>
              </a:ext>
            </a:extLst>
          </p:cNvPr>
          <p:cNvSpPr/>
          <p:nvPr/>
        </p:nvSpPr>
        <p:spPr bwMode="auto">
          <a:xfrm>
            <a:off x="5040878" y="8164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TextBox 4">
            <a:extLst>
              <a:ext uri="{FF2B5EF4-FFF2-40B4-BE49-F238E27FC236}">
                <a16:creationId xmlns:a16="http://schemas.microsoft.com/office/drawing/2014/main" id="{604CB055-A393-624F-9AD9-2000E885CFEB}"/>
              </a:ext>
            </a:extLst>
          </p:cNvPr>
          <p:cNvSpPr txBox="1"/>
          <p:nvPr/>
        </p:nvSpPr>
        <p:spPr>
          <a:xfrm>
            <a:off x="484746" y="892325"/>
            <a:ext cx="11345720" cy="4431983"/>
          </a:xfrm>
          <a:prstGeom prst="rect">
            <a:avLst/>
          </a:prstGeom>
          <a:noFill/>
        </p:spPr>
        <p:txBody>
          <a:bodyPr wrap="square" rtlCol="0">
            <a:spAutoFit/>
          </a:bodyPr>
          <a:lstStyle/>
          <a:p>
            <a:r>
              <a:rPr lang="en-US" sz="2400" b="1" u="sng" dirty="0">
                <a:solidFill>
                  <a:srgbClr val="FFFF00"/>
                </a:solidFill>
              </a:rPr>
              <a:t>ONLINE LAB EXERCISE : INSTRUCTIONS:</a:t>
            </a:r>
          </a:p>
          <a:p>
            <a:endParaRPr lang="en-US" sz="2400" b="1" dirty="0">
              <a:solidFill>
                <a:schemeClr val="bg1"/>
              </a:solidFill>
            </a:endParaRPr>
          </a:p>
          <a:p>
            <a:r>
              <a:rPr lang="en-US" sz="2400" b="1" dirty="0">
                <a:solidFill>
                  <a:schemeClr val="bg1"/>
                </a:solidFill>
              </a:rPr>
              <a:t>1.) Read the </a:t>
            </a:r>
            <a:r>
              <a:rPr lang="en-US" sz="2400" b="1" dirty="0">
                <a:solidFill>
                  <a:srgbClr val="FFFF00"/>
                </a:solidFill>
              </a:rPr>
              <a:t>Context</a:t>
            </a:r>
            <a:r>
              <a:rPr lang="en-US" sz="2400" b="1" dirty="0">
                <a:solidFill>
                  <a:schemeClr val="bg1"/>
                </a:solidFill>
              </a:rPr>
              <a:t> on Technology Concerns of AI</a:t>
            </a:r>
          </a:p>
          <a:p>
            <a:r>
              <a:rPr lang="en-US" sz="2400" b="1" dirty="0">
                <a:solidFill>
                  <a:schemeClr val="bg1"/>
                </a:solidFill>
              </a:rPr>
              <a:t>2. Watch the </a:t>
            </a:r>
            <a:r>
              <a:rPr lang="en-US" sz="2400" b="1" dirty="0">
                <a:solidFill>
                  <a:srgbClr val="FFFF00"/>
                </a:solidFill>
              </a:rPr>
              <a:t>Video:</a:t>
            </a:r>
            <a:r>
              <a:rPr lang="en-US" sz="2400" b="1" dirty="0">
                <a:solidFill>
                  <a:schemeClr val="bg1"/>
                </a:solidFill>
              </a:rPr>
              <a:t> The Moral Code, with AI Experts</a:t>
            </a:r>
            <a:r>
              <a:rPr lang="en-US" sz="2400" dirty="0">
                <a:solidFill>
                  <a:schemeClr val="bg1"/>
                </a:solidFill>
              </a:rPr>
              <a:t> discussing the ethics of AI, with: speakers: Anita Schjoil Bredi, CEO Iris.AI, Beena Ammanath, Former VP AI HP, Currently Head Deloitte AI Institute, Shannon Vallor, Professor Santa Clara University, John Makoff, Author, Kirk Bresniker, HP Labs, etc.</a:t>
            </a:r>
          </a:p>
          <a:p>
            <a:endParaRPr lang="en-US" sz="2400" dirty="0">
              <a:solidFill>
                <a:schemeClr val="bg1"/>
              </a:solidFill>
            </a:endParaRPr>
          </a:p>
          <a:p>
            <a:endParaRPr lang="en-US" sz="2400" dirty="0">
              <a:solidFill>
                <a:schemeClr val="bg1"/>
              </a:solidFill>
            </a:endParaRPr>
          </a:p>
          <a:p>
            <a:r>
              <a:rPr lang="en-US" sz="2200" b="1" dirty="0">
                <a:solidFill>
                  <a:schemeClr val="bg1"/>
                </a:solidFill>
              </a:rPr>
              <a:t>3.) </a:t>
            </a:r>
            <a:r>
              <a:rPr lang="en-US" sz="2200" b="1" dirty="0">
                <a:solidFill>
                  <a:srgbClr val="FFFF00"/>
                </a:solidFill>
              </a:rPr>
              <a:t>Read the article on 16 AI Ethical concerns </a:t>
            </a:r>
            <a:r>
              <a:rPr lang="en-US" sz="2200" dirty="0">
                <a:solidFill>
                  <a:schemeClr val="bg1"/>
                </a:solidFill>
              </a:rPr>
              <a:t>and can you think of other risks /concerns from AI that are not mentioned? 6 /16 of the AI ethical issues discussed in this article included are highlighted on the next page. Discuss in the Discussion Forum after this class session.</a:t>
            </a:r>
          </a:p>
        </p:txBody>
      </p:sp>
      <p:pic>
        <p:nvPicPr>
          <p:cNvPr id="6" name="Picture 5">
            <a:extLst>
              <a:ext uri="{FF2B5EF4-FFF2-40B4-BE49-F238E27FC236}">
                <a16:creationId xmlns:a16="http://schemas.microsoft.com/office/drawing/2014/main" id="{A478477B-9A83-F64A-B933-41B9745BCC6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7704" y="68115"/>
            <a:ext cx="794084" cy="794084"/>
          </a:xfrm>
          <a:prstGeom prst="rect">
            <a:avLst/>
          </a:prstGeom>
        </p:spPr>
      </p:pic>
      <p:sp>
        <p:nvSpPr>
          <p:cNvPr id="7" name="Slide Number Placeholder 4">
            <a:extLst>
              <a:ext uri="{FF2B5EF4-FFF2-40B4-BE49-F238E27FC236}">
                <a16:creationId xmlns:a16="http://schemas.microsoft.com/office/drawing/2014/main" id="{134C60FA-06EE-3C46-BAB6-88D6ED46BEA7}"/>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33</a:t>
            </a:fld>
            <a:endParaRPr lang="en-US" sz="1400" dirty="0">
              <a:solidFill>
                <a:schemeClr val="bg1"/>
              </a:solidFill>
            </a:endParaRPr>
          </a:p>
        </p:txBody>
      </p:sp>
      <p:sp>
        <p:nvSpPr>
          <p:cNvPr id="8" name="Rectangle 7">
            <a:extLst>
              <a:ext uri="{FF2B5EF4-FFF2-40B4-BE49-F238E27FC236}">
                <a16:creationId xmlns:a16="http://schemas.microsoft.com/office/drawing/2014/main" id="{C6DBA72C-369D-424C-9EE7-7C5260885AE7}"/>
              </a:ext>
            </a:extLst>
          </p:cNvPr>
          <p:cNvSpPr/>
          <p:nvPr/>
        </p:nvSpPr>
        <p:spPr>
          <a:xfrm>
            <a:off x="1160296" y="3415975"/>
            <a:ext cx="8453020" cy="646331"/>
          </a:xfrm>
          <a:prstGeom prst="rect">
            <a:avLst/>
          </a:prstGeom>
        </p:spPr>
        <p:txBody>
          <a:bodyPr wrap="none">
            <a:spAutoFit/>
          </a:bodyPr>
          <a:lstStyle/>
          <a:p>
            <a:r>
              <a:rPr lang="en-US" b="1" dirty="0">
                <a:solidFill>
                  <a:schemeClr val="bg1"/>
                </a:solidFill>
              </a:rPr>
              <a:t>SOURCE : Video: </a:t>
            </a:r>
            <a:r>
              <a:rPr lang="en-US" dirty="0">
                <a:solidFill>
                  <a:schemeClr val="bg1"/>
                </a:solidFill>
              </a:rPr>
              <a:t>The Moral Code: </a:t>
            </a:r>
            <a:r>
              <a:rPr lang="en-US" dirty="0">
                <a:solidFill>
                  <a:schemeClr val="bg1"/>
                </a:solidFill>
                <a:hlinkClick r:id="rId3">
                  <a:extLst>
                    <a:ext uri="{A12FA001-AC4F-418D-AE19-62706E023703}">
                      <ahyp:hlinkClr xmlns:ahyp="http://schemas.microsoft.com/office/drawing/2018/hyperlinkcolor" val="tx"/>
                    </a:ext>
                  </a:extLst>
                </a:hlinkClick>
              </a:rPr>
              <a:t>https://www.youtube.com/watch?v=GboOXAjGevA</a:t>
            </a:r>
            <a:endParaRPr lang="en-US" dirty="0">
              <a:solidFill>
                <a:schemeClr val="bg1"/>
              </a:solidFill>
            </a:endParaRPr>
          </a:p>
          <a:p>
            <a:r>
              <a:rPr lang="en-US" b="1" dirty="0">
                <a:solidFill>
                  <a:schemeClr val="bg1"/>
                </a:solidFill>
              </a:rPr>
              <a:t>Length:        </a:t>
            </a:r>
            <a:r>
              <a:rPr lang="en-US" dirty="0">
                <a:solidFill>
                  <a:schemeClr val="bg1"/>
                </a:solidFill>
              </a:rPr>
              <a:t>8 Minutes.</a:t>
            </a:r>
          </a:p>
        </p:txBody>
      </p:sp>
      <p:sp>
        <p:nvSpPr>
          <p:cNvPr id="9" name="TextBox 8">
            <a:extLst>
              <a:ext uri="{FF2B5EF4-FFF2-40B4-BE49-F238E27FC236}">
                <a16:creationId xmlns:a16="http://schemas.microsoft.com/office/drawing/2014/main" id="{4C9166C0-0747-444A-A41A-63BCEE22CDDD}"/>
              </a:ext>
            </a:extLst>
          </p:cNvPr>
          <p:cNvSpPr txBox="1"/>
          <p:nvPr/>
        </p:nvSpPr>
        <p:spPr>
          <a:xfrm>
            <a:off x="3630911" y="6115646"/>
            <a:ext cx="6076950" cy="369332"/>
          </a:xfrm>
          <a:prstGeom prst="rect">
            <a:avLst/>
          </a:prstGeom>
          <a:noFill/>
        </p:spPr>
        <p:txBody>
          <a:bodyPr wrap="square" rtlCol="0">
            <a:spAutoFit/>
          </a:bodyPr>
          <a:lstStyle/>
          <a:p>
            <a:r>
              <a:rPr lang="en-US" b="1" dirty="0">
                <a:solidFill>
                  <a:srgbClr val="FF0000"/>
                </a:solidFill>
              </a:rPr>
              <a:t>NO IN CLASS DISCUSSION – LAB EXERCISE</a:t>
            </a:r>
          </a:p>
        </p:txBody>
      </p:sp>
    </p:spTree>
    <p:extLst>
      <p:ext uri="{BB962C8B-B14F-4D97-AF65-F5344CB8AC3E}">
        <p14:creationId xmlns:p14="http://schemas.microsoft.com/office/powerpoint/2010/main" val="2167367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4BB833-1B8C-074D-BE58-6A4ED9DC322A}"/>
              </a:ext>
            </a:extLst>
          </p:cNvPr>
          <p:cNvSpPr/>
          <p:nvPr/>
        </p:nvSpPr>
        <p:spPr>
          <a:xfrm>
            <a:off x="5452082" y="1288942"/>
            <a:ext cx="6459181" cy="4770537"/>
          </a:xfrm>
          <a:prstGeom prst="rect">
            <a:avLst/>
          </a:prstGeom>
        </p:spPr>
        <p:txBody>
          <a:bodyPr wrap="square">
            <a:spAutoFit/>
          </a:bodyPr>
          <a:lstStyle/>
          <a:p>
            <a:br>
              <a:rPr lang="en-CA" sz="2200" dirty="0">
                <a:solidFill>
                  <a:schemeClr val="bg1"/>
                </a:solidFill>
                <a:latin typeface="Garamond" panose="02020404030301010803" pitchFamily="18" charset="0"/>
              </a:rPr>
            </a:br>
            <a:r>
              <a:rPr lang="en-CA" sz="2800" b="1" dirty="0">
                <a:solidFill>
                  <a:srgbClr val="FFFF00"/>
                </a:solidFill>
                <a:latin typeface="Garamond" panose="02020404030301010803" pitchFamily="18" charset="0"/>
              </a:rPr>
              <a:t>The digital age has brought undeniable gains in economic productivity and efficiency. </a:t>
            </a:r>
          </a:p>
          <a:p>
            <a:endParaRPr lang="en-CA" sz="2200" b="1" dirty="0">
              <a:solidFill>
                <a:schemeClr val="bg1"/>
              </a:solidFill>
              <a:latin typeface="Garamond" panose="02020404030301010803" pitchFamily="18" charset="0"/>
            </a:endParaRPr>
          </a:p>
          <a:p>
            <a:r>
              <a:rPr lang="en-CA" sz="2200" b="1" dirty="0">
                <a:solidFill>
                  <a:schemeClr val="bg1"/>
                </a:solidFill>
                <a:latin typeface="Garamond" panose="02020404030301010803" pitchFamily="18" charset="0"/>
              </a:rPr>
              <a:t>It has greatly amplified the scope, speeds, and scales at which humans can communicate, socialize, and access information.</a:t>
            </a:r>
            <a:r>
              <a:rPr lang="en-CA" sz="2200" dirty="0">
                <a:solidFill>
                  <a:schemeClr val="bg1"/>
                </a:solidFill>
                <a:latin typeface="Garamond" panose="02020404030301010803" pitchFamily="18" charset="0"/>
              </a:rPr>
              <a:t> </a:t>
            </a:r>
          </a:p>
          <a:p>
            <a:endParaRPr lang="en-CA" sz="2200" dirty="0">
              <a:solidFill>
                <a:schemeClr val="bg1"/>
              </a:solidFill>
              <a:latin typeface="Garamond" panose="02020404030301010803" pitchFamily="18" charset="0"/>
            </a:endParaRPr>
          </a:p>
          <a:p>
            <a:r>
              <a:rPr lang="en-CA" sz="2200" dirty="0">
                <a:solidFill>
                  <a:schemeClr val="bg1"/>
                </a:solidFill>
                <a:latin typeface="Garamond" panose="02020404030301010803" pitchFamily="18" charset="0"/>
              </a:rPr>
              <a:t>It has led to numerous medical and scientific breakthroughs that would have been impossible without it. But it has also had damaging social effects and created many new or amplified ethical risks, such as:</a:t>
            </a:r>
          </a:p>
        </p:txBody>
      </p:sp>
      <p:sp>
        <p:nvSpPr>
          <p:cNvPr id="4" name="Title 2">
            <a:extLst>
              <a:ext uri="{FF2B5EF4-FFF2-40B4-BE49-F238E27FC236}">
                <a16:creationId xmlns:a16="http://schemas.microsoft.com/office/drawing/2014/main" id="{619C68FB-B5B6-2D47-B688-2D3FDC47A56B}"/>
              </a:ext>
            </a:extLst>
          </p:cNvPr>
          <p:cNvSpPr txBox="1">
            <a:spLocks/>
          </p:cNvSpPr>
          <p:nvPr/>
        </p:nvSpPr>
        <p:spPr>
          <a:xfrm>
            <a:off x="389965" y="228395"/>
            <a:ext cx="12741823"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GROWING CONCERNS &gt; TECHNOLOGY</a:t>
            </a:r>
          </a:p>
        </p:txBody>
      </p:sp>
      <p:sp>
        <p:nvSpPr>
          <p:cNvPr id="5" name="Rectangle 4">
            <a:extLst>
              <a:ext uri="{FF2B5EF4-FFF2-40B4-BE49-F238E27FC236}">
                <a16:creationId xmlns:a16="http://schemas.microsoft.com/office/drawing/2014/main" id="{7702BE43-4D8E-AD46-81AF-B2919B9E8C5D}"/>
              </a:ext>
            </a:extLst>
          </p:cNvPr>
          <p:cNvSpPr/>
          <p:nvPr/>
        </p:nvSpPr>
        <p:spPr bwMode="auto">
          <a:xfrm>
            <a:off x="5040878" y="8164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6" name="Slide Number Placeholder 4">
            <a:extLst>
              <a:ext uri="{FF2B5EF4-FFF2-40B4-BE49-F238E27FC236}">
                <a16:creationId xmlns:a16="http://schemas.microsoft.com/office/drawing/2014/main" id="{0487F5D0-4C0C-7E4E-AEA2-AE844790C32C}"/>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34</a:t>
            </a:fld>
            <a:endParaRPr lang="en-US" sz="1400" dirty="0">
              <a:solidFill>
                <a:schemeClr val="bg1"/>
              </a:solidFill>
            </a:endParaRPr>
          </a:p>
        </p:txBody>
      </p:sp>
      <p:sp>
        <p:nvSpPr>
          <p:cNvPr id="7" name="Rectangle 6">
            <a:extLst>
              <a:ext uri="{FF2B5EF4-FFF2-40B4-BE49-F238E27FC236}">
                <a16:creationId xmlns:a16="http://schemas.microsoft.com/office/drawing/2014/main" id="{856B51FB-DBB1-354C-8F9F-A4CAA1291F2A}"/>
              </a:ext>
            </a:extLst>
          </p:cNvPr>
          <p:cNvSpPr/>
          <p:nvPr/>
        </p:nvSpPr>
        <p:spPr>
          <a:xfrm>
            <a:off x="5452082" y="6183094"/>
            <a:ext cx="6263668" cy="400110"/>
          </a:xfrm>
          <a:prstGeom prst="rect">
            <a:avLst/>
          </a:prstGeom>
        </p:spPr>
        <p:txBody>
          <a:bodyPr wrap="square">
            <a:spAutoFit/>
          </a:bodyPr>
          <a:lstStyle/>
          <a:p>
            <a:r>
              <a:rPr lang="en-US" sz="1000" dirty="0">
                <a:solidFill>
                  <a:schemeClr val="bg1"/>
                </a:solidFill>
              </a:rPr>
              <a:t>Source: Santa Clara University: Markkula Center for Applied Ethics https://www.scu.edu/ethics-in-technology-practice/overview-of-ethics-in-tech-practice/</a:t>
            </a:r>
          </a:p>
        </p:txBody>
      </p:sp>
      <p:pic>
        <p:nvPicPr>
          <p:cNvPr id="8" name="Picture 7">
            <a:extLst>
              <a:ext uri="{FF2B5EF4-FFF2-40B4-BE49-F238E27FC236}">
                <a16:creationId xmlns:a16="http://schemas.microsoft.com/office/drawing/2014/main" id="{3482BE44-DE5E-E64B-B1DF-CB0FEBE36A15}"/>
              </a:ext>
            </a:extLst>
          </p:cNvPr>
          <p:cNvPicPr>
            <a:picLocks noChangeAspect="1"/>
          </p:cNvPicPr>
          <p:nvPr/>
        </p:nvPicPr>
        <p:blipFill>
          <a:blip r:embed="rId2"/>
          <a:stretch>
            <a:fillRect/>
          </a:stretch>
        </p:blipFill>
        <p:spPr>
          <a:xfrm>
            <a:off x="389965" y="1992568"/>
            <a:ext cx="4928374" cy="3279609"/>
          </a:xfrm>
          <a:prstGeom prst="rect">
            <a:avLst/>
          </a:prstGeom>
        </p:spPr>
      </p:pic>
      <p:sp>
        <p:nvSpPr>
          <p:cNvPr id="2" name="TextBox 1">
            <a:extLst>
              <a:ext uri="{FF2B5EF4-FFF2-40B4-BE49-F238E27FC236}">
                <a16:creationId xmlns:a16="http://schemas.microsoft.com/office/drawing/2014/main" id="{4143FDF2-1612-8846-8E79-13F78B48C46F}"/>
              </a:ext>
            </a:extLst>
          </p:cNvPr>
          <p:cNvSpPr txBox="1"/>
          <p:nvPr/>
        </p:nvSpPr>
        <p:spPr>
          <a:xfrm>
            <a:off x="515225" y="1194468"/>
            <a:ext cx="3920646" cy="400110"/>
          </a:xfrm>
          <a:prstGeom prst="rect">
            <a:avLst/>
          </a:prstGeom>
          <a:noFill/>
        </p:spPr>
        <p:txBody>
          <a:bodyPr wrap="square" rtlCol="0">
            <a:spAutoFit/>
          </a:bodyPr>
          <a:lstStyle/>
          <a:p>
            <a:r>
              <a:rPr lang="en-US" sz="2000" b="1" dirty="0">
                <a:solidFill>
                  <a:srgbClr val="FFFF00"/>
                </a:solidFill>
              </a:rPr>
              <a:t>CONTEXT</a:t>
            </a:r>
          </a:p>
        </p:txBody>
      </p:sp>
      <p:sp>
        <p:nvSpPr>
          <p:cNvPr id="9" name="TextBox 8">
            <a:extLst>
              <a:ext uri="{FF2B5EF4-FFF2-40B4-BE49-F238E27FC236}">
                <a16:creationId xmlns:a16="http://schemas.microsoft.com/office/drawing/2014/main" id="{F658DD25-2316-E54A-973A-DACE50FBEB73}"/>
              </a:ext>
            </a:extLst>
          </p:cNvPr>
          <p:cNvSpPr txBox="1"/>
          <p:nvPr/>
        </p:nvSpPr>
        <p:spPr>
          <a:xfrm>
            <a:off x="389965" y="5578645"/>
            <a:ext cx="6076950" cy="369332"/>
          </a:xfrm>
          <a:prstGeom prst="rect">
            <a:avLst/>
          </a:prstGeom>
          <a:noFill/>
        </p:spPr>
        <p:txBody>
          <a:bodyPr wrap="square" rtlCol="0">
            <a:spAutoFit/>
          </a:bodyPr>
          <a:lstStyle/>
          <a:p>
            <a:r>
              <a:rPr lang="en-US" b="1" dirty="0">
                <a:solidFill>
                  <a:srgbClr val="FF0000"/>
                </a:solidFill>
              </a:rPr>
              <a:t>NO IN CLASS DISCUSSION – LAB EXERCISE</a:t>
            </a:r>
          </a:p>
        </p:txBody>
      </p:sp>
    </p:spTree>
    <p:extLst>
      <p:ext uri="{BB962C8B-B14F-4D97-AF65-F5344CB8AC3E}">
        <p14:creationId xmlns:p14="http://schemas.microsoft.com/office/powerpoint/2010/main" val="7686094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4BB833-1B8C-074D-BE58-6A4ED9DC322A}"/>
              </a:ext>
            </a:extLst>
          </p:cNvPr>
          <p:cNvSpPr/>
          <p:nvPr/>
        </p:nvSpPr>
        <p:spPr>
          <a:xfrm>
            <a:off x="4451684" y="771870"/>
            <a:ext cx="7486836" cy="4955203"/>
          </a:xfrm>
          <a:prstGeom prst="rect">
            <a:avLst/>
          </a:prstGeom>
        </p:spPr>
        <p:txBody>
          <a:bodyPr wrap="square">
            <a:spAutoFit/>
          </a:bodyPr>
          <a:lstStyle/>
          <a:p>
            <a:br>
              <a:rPr lang="en-CA" sz="2200" dirty="0">
                <a:solidFill>
                  <a:schemeClr val="bg1"/>
                </a:solidFill>
                <a:latin typeface="Garamond" panose="02020404030301010803" pitchFamily="18" charset="0"/>
              </a:rPr>
            </a:br>
            <a:endParaRPr lang="en-CA" sz="2200" dirty="0">
              <a:solidFill>
                <a:schemeClr val="bg1"/>
              </a:solidFill>
              <a:latin typeface="Garamond" panose="02020404030301010803" pitchFamily="18" charset="0"/>
            </a:endParaRPr>
          </a:p>
          <a:p>
            <a:pPr>
              <a:buFont typeface="Arial" panose="020B0604020202020204" pitchFamily="34" charset="0"/>
              <a:buChar char="•"/>
            </a:pPr>
            <a:r>
              <a:rPr lang="en-CA" sz="2200" b="1" dirty="0">
                <a:solidFill>
                  <a:schemeClr val="bg1"/>
                </a:solidFill>
                <a:latin typeface="Garamond" panose="02020404030301010803" pitchFamily="18" charset="0"/>
              </a:rPr>
              <a:t> </a:t>
            </a:r>
            <a:r>
              <a:rPr lang="en-CA" sz="2400" b="1" dirty="0">
                <a:solidFill>
                  <a:srgbClr val="FFFF00"/>
                </a:solidFill>
                <a:latin typeface="Garamond" panose="02020404030301010803" pitchFamily="18" charset="0"/>
              </a:rPr>
              <a:t>Declining Transparency/Rising Opacity</a:t>
            </a:r>
            <a:r>
              <a:rPr lang="en-CA" sz="2200" dirty="0">
                <a:solidFill>
                  <a:schemeClr val="bg1"/>
                </a:solidFill>
                <a:latin typeface="Garamond" panose="02020404030301010803" pitchFamily="18" charset="0"/>
              </a:rPr>
              <a:t>​ of Technological Processes, Decisions, Risks, Limitations, and Effects.</a:t>
            </a:r>
          </a:p>
          <a:p>
            <a:pPr>
              <a:buFont typeface="Arial" panose="020B0604020202020204" pitchFamily="34" charset="0"/>
              <a:buChar char="•"/>
            </a:pPr>
            <a:r>
              <a:rPr lang="en-CA" sz="2200" b="1" dirty="0">
                <a:solidFill>
                  <a:schemeClr val="bg1"/>
                </a:solidFill>
                <a:latin typeface="Garamond" panose="02020404030301010803" pitchFamily="18" charset="0"/>
              </a:rPr>
              <a:t> </a:t>
            </a:r>
            <a:r>
              <a:rPr lang="en-CA" sz="2400" b="1" dirty="0">
                <a:solidFill>
                  <a:srgbClr val="FFFF00"/>
                </a:solidFill>
                <a:latin typeface="Garamond" panose="02020404030301010803" pitchFamily="18" charset="0"/>
              </a:rPr>
              <a:t>Algorithmic Bias and Injustice​</a:t>
            </a:r>
            <a:r>
              <a:rPr lang="en-CA" sz="2200" b="1" dirty="0">
                <a:solidFill>
                  <a:srgbClr val="FFFF00"/>
                </a:solidFill>
                <a:latin typeface="Garamond" panose="02020404030301010803" pitchFamily="18" charset="0"/>
              </a:rPr>
              <a:t>:</a:t>
            </a:r>
            <a:r>
              <a:rPr lang="en-CA" sz="2200" dirty="0">
                <a:solidFill>
                  <a:schemeClr val="bg1"/>
                </a:solidFill>
                <a:latin typeface="Garamond" panose="02020404030301010803" pitchFamily="18" charset="0"/>
              </a:rPr>
              <a:t> Use of Algorithmic Decision-Making to Conceal, Legitimize, or Perpetuate Harmful or Unjust Human Biases.</a:t>
            </a:r>
          </a:p>
          <a:p>
            <a:pPr>
              <a:buFont typeface="Arial" panose="020B0604020202020204" pitchFamily="34" charset="0"/>
              <a:buChar char="•"/>
            </a:pPr>
            <a:r>
              <a:rPr lang="en-CA" sz="2200" b="1" dirty="0">
                <a:solidFill>
                  <a:schemeClr val="bg1"/>
                </a:solidFill>
                <a:latin typeface="Garamond" panose="02020404030301010803" pitchFamily="18" charset="0"/>
              </a:rPr>
              <a:t> </a:t>
            </a:r>
            <a:r>
              <a:rPr lang="en-CA" sz="2400" b="1" dirty="0">
                <a:solidFill>
                  <a:srgbClr val="FFFF00"/>
                </a:solidFill>
                <a:latin typeface="Garamond" panose="02020404030301010803" pitchFamily="18" charset="0"/>
              </a:rPr>
              <a:t>Diminished Data Privacy/Security:</a:t>
            </a:r>
            <a:r>
              <a:rPr lang="en-CA" sz="2200" dirty="0">
                <a:solidFill>
                  <a:schemeClr val="bg1"/>
                </a:solidFill>
                <a:latin typeface="Garamond" panose="02020404030301010803" pitchFamily="18" charset="0"/>
              </a:rPr>
              <a:t> ​The growing difficulty of controlling access to sensitive information about you that may be used in ways you do not want.</a:t>
            </a:r>
          </a:p>
          <a:p>
            <a:pPr>
              <a:buFont typeface="Arial" panose="020B0604020202020204" pitchFamily="34" charset="0"/>
              <a:buChar char="•"/>
            </a:pPr>
            <a:r>
              <a:rPr lang="en-CA" sz="2200" b="1" dirty="0">
                <a:solidFill>
                  <a:schemeClr val="bg1"/>
                </a:solidFill>
                <a:latin typeface="Garamond" panose="02020404030301010803" pitchFamily="18" charset="0"/>
              </a:rPr>
              <a:t> </a:t>
            </a:r>
            <a:r>
              <a:rPr lang="en-CA" sz="2400" b="1" dirty="0">
                <a:solidFill>
                  <a:srgbClr val="FFFF00"/>
                </a:solidFill>
                <a:latin typeface="Garamond" panose="02020404030301010803" pitchFamily="18" charset="0"/>
              </a:rPr>
              <a:t>Technological ‘Psyops’/Manipulation:</a:t>
            </a:r>
            <a:r>
              <a:rPr lang="en-CA" sz="2200" b="1" dirty="0">
                <a:solidFill>
                  <a:srgbClr val="FFFF00"/>
                </a:solidFill>
                <a:latin typeface="Garamond" panose="02020404030301010803" pitchFamily="18" charset="0"/>
              </a:rPr>
              <a:t>​</a:t>
            </a:r>
            <a:r>
              <a:rPr lang="en-CA" sz="2200" dirty="0">
                <a:solidFill>
                  <a:schemeClr val="bg1"/>
                </a:solidFill>
                <a:latin typeface="Garamond" panose="02020404030301010803" pitchFamily="18" charset="0"/>
              </a:rPr>
              <a:t> The use of techniques such as: AI, targeted digital advertising, and behavioral ‘nudging’ to alter our beliefs, desires, emotions, habits, and values in ways that we do not control or want.</a:t>
            </a:r>
          </a:p>
        </p:txBody>
      </p:sp>
      <p:sp>
        <p:nvSpPr>
          <p:cNvPr id="4" name="Title 2">
            <a:extLst>
              <a:ext uri="{FF2B5EF4-FFF2-40B4-BE49-F238E27FC236}">
                <a16:creationId xmlns:a16="http://schemas.microsoft.com/office/drawing/2014/main" id="{619C68FB-B5B6-2D47-B688-2D3FDC47A56B}"/>
              </a:ext>
            </a:extLst>
          </p:cNvPr>
          <p:cNvSpPr txBox="1">
            <a:spLocks/>
          </p:cNvSpPr>
          <p:nvPr/>
        </p:nvSpPr>
        <p:spPr>
          <a:xfrm>
            <a:off x="389965" y="228395"/>
            <a:ext cx="12741823"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GROWING CONCERNS &gt; TECHNOLOGY</a:t>
            </a:r>
          </a:p>
        </p:txBody>
      </p:sp>
      <p:sp>
        <p:nvSpPr>
          <p:cNvPr id="5" name="Rectangle 4">
            <a:extLst>
              <a:ext uri="{FF2B5EF4-FFF2-40B4-BE49-F238E27FC236}">
                <a16:creationId xmlns:a16="http://schemas.microsoft.com/office/drawing/2014/main" id="{7702BE43-4D8E-AD46-81AF-B2919B9E8C5D}"/>
              </a:ext>
            </a:extLst>
          </p:cNvPr>
          <p:cNvSpPr/>
          <p:nvPr/>
        </p:nvSpPr>
        <p:spPr bwMode="auto">
          <a:xfrm>
            <a:off x="5040878" y="8164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6" name="Slide Number Placeholder 4">
            <a:extLst>
              <a:ext uri="{FF2B5EF4-FFF2-40B4-BE49-F238E27FC236}">
                <a16:creationId xmlns:a16="http://schemas.microsoft.com/office/drawing/2014/main" id="{0487F5D0-4C0C-7E4E-AEA2-AE844790C32C}"/>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35</a:t>
            </a:fld>
            <a:endParaRPr lang="en-US" sz="1400" dirty="0">
              <a:solidFill>
                <a:schemeClr val="bg1"/>
              </a:solidFill>
            </a:endParaRPr>
          </a:p>
        </p:txBody>
      </p:sp>
      <p:sp>
        <p:nvSpPr>
          <p:cNvPr id="7" name="Rectangle 6">
            <a:extLst>
              <a:ext uri="{FF2B5EF4-FFF2-40B4-BE49-F238E27FC236}">
                <a16:creationId xmlns:a16="http://schemas.microsoft.com/office/drawing/2014/main" id="{856B51FB-DBB1-354C-8F9F-A4CAA1291F2A}"/>
              </a:ext>
            </a:extLst>
          </p:cNvPr>
          <p:cNvSpPr/>
          <p:nvPr/>
        </p:nvSpPr>
        <p:spPr>
          <a:xfrm>
            <a:off x="4579077" y="5909919"/>
            <a:ext cx="7232049" cy="400110"/>
          </a:xfrm>
          <a:prstGeom prst="rect">
            <a:avLst/>
          </a:prstGeom>
        </p:spPr>
        <p:txBody>
          <a:bodyPr wrap="square">
            <a:spAutoFit/>
          </a:bodyPr>
          <a:lstStyle/>
          <a:p>
            <a:r>
              <a:rPr lang="en-US" sz="1000" dirty="0">
                <a:solidFill>
                  <a:schemeClr val="bg1"/>
                </a:solidFill>
              </a:rPr>
              <a:t>Source: Santa Clara University: Markkula Center for Applied Ethics https://www.scu.edu/ethics-in-technology-practice/overview-of-ethics-in-tech-practice/</a:t>
            </a:r>
          </a:p>
        </p:txBody>
      </p:sp>
      <p:pic>
        <p:nvPicPr>
          <p:cNvPr id="2" name="Picture 1">
            <a:extLst>
              <a:ext uri="{FF2B5EF4-FFF2-40B4-BE49-F238E27FC236}">
                <a16:creationId xmlns:a16="http://schemas.microsoft.com/office/drawing/2014/main" id="{2F1A2604-A4CF-3840-90AA-E58B7121EB4B}"/>
              </a:ext>
            </a:extLst>
          </p:cNvPr>
          <p:cNvPicPr>
            <a:picLocks noChangeAspect="1"/>
          </p:cNvPicPr>
          <p:nvPr/>
        </p:nvPicPr>
        <p:blipFill>
          <a:blip r:embed="rId2"/>
          <a:stretch>
            <a:fillRect/>
          </a:stretch>
        </p:blipFill>
        <p:spPr>
          <a:xfrm>
            <a:off x="268703" y="2110135"/>
            <a:ext cx="3906253" cy="2461518"/>
          </a:xfrm>
          <a:prstGeom prst="rect">
            <a:avLst/>
          </a:prstGeom>
        </p:spPr>
      </p:pic>
      <p:sp>
        <p:nvSpPr>
          <p:cNvPr id="8" name="TextBox 7">
            <a:extLst>
              <a:ext uri="{FF2B5EF4-FFF2-40B4-BE49-F238E27FC236}">
                <a16:creationId xmlns:a16="http://schemas.microsoft.com/office/drawing/2014/main" id="{1E80032A-0A7E-974E-92BC-B07C1B9DE4CB}"/>
              </a:ext>
            </a:extLst>
          </p:cNvPr>
          <p:cNvSpPr txBox="1"/>
          <p:nvPr/>
        </p:nvSpPr>
        <p:spPr>
          <a:xfrm>
            <a:off x="515225" y="1194468"/>
            <a:ext cx="3920646" cy="400110"/>
          </a:xfrm>
          <a:prstGeom prst="rect">
            <a:avLst/>
          </a:prstGeom>
          <a:noFill/>
        </p:spPr>
        <p:txBody>
          <a:bodyPr wrap="square" rtlCol="0">
            <a:spAutoFit/>
          </a:bodyPr>
          <a:lstStyle/>
          <a:p>
            <a:r>
              <a:rPr lang="en-US" sz="2000" b="1" dirty="0">
                <a:solidFill>
                  <a:srgbClr val="FFFF00"/>
                </a:solidFill>
              </a:rPr>
              <a:t>CONTEXT</a:t>
            </a:r>
          </a:p>
        </p:txBody>
      </p:sp>
      <p:sp>
        <p:nvSpPr>
          <p:cNvPr id="9" name="TextBox 8">
            <a:extLst>
              <a:ext uri="{FF2B5EF4-FFF2-40B4-BE49-F238E27FC236}">
                <a16:creationId xmlns:a16="http://schemas.microsoft.com/office/drawing/2014/main" id="{AFF4D016-32DA-E646-8C09-6E9C4084DEF3}"/>
              </a:ext>
            </a:extLst>
          </p:cNvPr>
          <p:cNvSpPr txBox="1"/>
          <p:nvPr/>
        </p:nvSpPr>
        <p:spPr>
          <a:xfrm>
            <a:off x="515225" y="860379"/>
            <a:ext cx="6076950" cy="369332"/>
          </a:xfrm>
          <a:prstGeom prst="rect">
            <a:avLst/>
          </a:prstGeom>
          <a:noFill/>
        </p:spPr>
        <p:txBody>
          <a:bodyPr wrap="square" rtlCol="0">
            <a:spAutoFit/>
          </a:bodyPr>
          <a:lstStyle/>
          <a:p>
            <a:r>
              <a:rPr lang="en-US" b="1" dirty="0">
                <a:solidFill>
                  <a:srgbClr val="FF0000"/>
                </a:solidFill>
              </a:rPr>
              <a:t>NO IN CLASS DISCUSSION – LAB EXERCISE</a:t>
            </a:r>
          </a:p>
        </p:txBody>
      </p:sp>
    </p:spTree>
    <p:extLst>
      <p:ext uri="{BB962C8B-B14F-4D97-AF65-F5344CB8AC3E}">
        <p14:creationId xmlns:p14="http://schemas.microsoft.com/office/powerpoint/2010/main" val="11231364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4BB833-1B8C-074D-BE58-6A4ED9DC322A}"/>
              </a:ext>
            </a:extLst>
          </p:cNvPr>
          <p:cNvSpPr/>
          <p:nvPr/>
        </p:nvSpPr>
        <p:spPr>
          <a:xfrm>
            <a:off x="493059" y="1511458"/>
            <a:ext cx="11125200" cy="4678204"/>
          </a:xfrm>
          <a:prstGeom prst="rect">
            <a:avLst/>
          </a:prstGeom>
        </p:spPr>
        <p:txBody>
          <a:bodyPr wrap="square">
            <a:spAutoFit/>
          </a:bodyPr>
          <a:lstStyle/>
          <a:p>
            <a:pPr marL="342900" indent="-342900">
              <a:buFont typeface="Arial" panose="020B0604020202020204" pitchFamily="34" charset="0"/>
              <a:buChar char="•"/>
            </a:pPr>
            <a:r>
              <a:rPr lang="en-CA" sz="2600" b="1" dirty="0">
                <a:solidFill>
                  <a:srgbClr val="FFFF00"/>
                </a:solidFill>
                <a:latin typeface="Garamond" panose="02020404030301010803" pitchFamily="18" charset="0"/>
              </a:rPr>
              <a:t>Tech Monoculture:</a:t>
            </a:r>
            <a:r>
              <a:rPr lang="en-CA" sz="2400" b="1" dirty="0">
                <a:solidFill>
                  <a:schemeClr val="bg1"/>
                </a:solidFill>
                <a:latin typeface="Garamond" panose="02020404030301010803" pitchFamily="18" charset="0"/>
              </a:rPr>
              <a:t>​</a:t>
            </a:r>
            <a:r>
              <a:rPr lang="en-CA" sz="2200" dirty="0">
                <a:solidFill>
                  <a:schemeClr val="bg1"/>
                </a:solidFill>
                <a:latin typeface="Garamond" panose="02020404030301010803" pitchFamily="18" charset="0"/>
              </a:rPr>
              <a:t> The global spread of new digital technologies such as smartphones, social media, and virtual assistants, all designed by a relatively homogenous culture of technologists who cannot represent or anticipate the full diversity of human experience, needs, and values.</a:t>
            </a:r>
          </a:p>
          <a:p>
            <a:pPr marL="342900" indent="-342900">
              <a:buFont typeface="Arial" panose="020B0604020202020204" pitchFamily="34" charset="0"/>
              <a:buChar char="•"/>
            </a:pPr>
            <a:endParaRPr lang="en-CA" sz="2200" dirty="0">
              <a:solidFill>
                <a:schemeClr val="bg1"/>
              </a:solidFill>
              <a:latin typeface="Garamond" panose="02020404030301010803" pitchFamily="18" charset="0"/>
            </a:endParaRPr>
          </a:p>
          <a:p>
            <a:pPr marL="342900" indent="-342900">
              <a:buFont typeface="Arial" panose="020B0604020202020204" pitchFamily="34" charset="0"/>
              <a:buChar char="•"/>
            </a:pPr>
            <a:r>
              <a:rPr lang="en-CA" sz="2600" b="1" dirty="0">
                <a:solidFill>
                  <a:srgbClr val="FFFF00"/>
                </a:solidFill>
                <a:latin typeface="Garamond" panose="02020404030301010803" pitchFamily="18" charset="0"/>
              </a:rPr>
              <a:t>Increasing Concentration of Power:</a:t>
            </a:r>
            <a:r>
              <a:rPr lang="en-CA" sz="2600" dirty="0">
                <a:solidFill>
                  <a:srgbClr val="FFFF00"/>
                </a:solidFill>
                <a:latin typeface="Garamond" panose="02020404030301010803" pitchFamily="18" charset="0"/>
              </a:rPr>
              <a:t>​</a:t>
            </a:r>
            <a:r>
              <a:rPr lang="en-CA" sz="2200" dirty="0">
                <a:solidFill>
                  <a:srgbClr val="FFFF00"/>
                </a:solidFill>
                <a:latin typeface="Garamond" panose="02020404030301010803" pitchFamily="18" charset="0"/>
              </a:rPr>
              <a:t> </a:t>
            </a:r>
            <a:r>
              <a:rPr lang="en-CA" sz="2200" dirty="0">
                <a:solidFill>
                  <a:schemeClr val="bg1"/>
                </a:solidFill>
                <a:latin typeface="Garamond" panose="02020404030301010803" pitchFamily="18" charset="0"/>
              </a:rPr>
              <a:t>The tendency of new technologies to concentrate wealth and power in the hands of very few, and evidence of declining economic mobility and opportunity in many technologically-driven societies.</a:t>
            </a:r>
          </a:p>
          <a:p>
            <a:pPr marL="342900" indent="-342900">
              <a:buFont typeface="Arial" panose="020B0604020202020204" pitchFamily="34" charset="0"/>
              <a:buChar char="•"/>
            </a:pPr>
            <a:endParaRPr lang="en-CA" sz="2200" dirty="0">
              <a:solidFill>
                <a:schemeClr val="bg1"/>
              </a:solidFill>
              <a:latin typeface="Garamond" panose="02020404030301010803" pitchFamily="18" charset="0"/>
            </a:endParaRPr>
          </a:p>
          <a:p>
            <a:pPr marL="342900" indent="-342900">
              <a:buFont typeface="Arial" panose="020B0604020202020204" pitchFamily="34" charset="0"/>
              <a:buChar char="•"/>
            </a:pPr>
            <a:r>
              <a:rPr lang="en-CA" sz="2600" b="1" dirty="0">
                <a:solidFill>
                  <a:srgbClr val="FFFF00"/>
                </a:solidFill>
                <a:latin typeface="Garamond" panose="02020404030301010803" pitchFamily="18" charset="0"/>
              </a:rPr>
              <a:t>The Surveillance Society:</a:t>
            </a:r>
            <a:r>
              <a:rPr lang="en-CA" sz="2600" dirty="0">
                <a:solidFill>
                  <a:srgbClr val="FFFF00"/>
                </a:solidFill>
                <a:latin typeface="Garamond" panose="02020404030301010803" pitchFamily="18" charset="0"/>
              </a:rPr>
              <a:t> </a:t>
            </a:r>
            <a:r>
              <a:rPr lang="en-CA" sz="2200" dirty="0">
                <a:solidFill>
                  <a:schemeClr val="bg1"/>
                </a:solidFill>
                <a:latin typeface="Garamond" panose="02020404030301010803" pitchFamily="18" charset="0"/>
              </a:rPr>
              <a:t>​The development of increasingly sophisticated modes of digital surveillance, including face, gait, and voice-recognition algorithms to identify and track our behavior in both public and private spaces; especially as used by powerful actors in society to monitor the less powerful.</a:t>
            </a:r>
          </a:p>
        </p:txBody>
      </p:sp>
      <p:sp>
        <p:nvSpPr>
          <p:cNvPr id="4" name="Title 2">
            <a:extLst>
              <a:ext uri="{FF2B5EF4-FFF2-40B4-BE49-F238E27FC236}">
                <a16:creationId xmlns:a16="http://schemas.microsoft.com/office/drawing/2014/main" id="{619C68FB-B5B6-2D47-B688-2D3FDC47A56B}"/>
              </a:ext>
            </a:extLst>
          </p:cNvPr>
          <p:cNvSpPr txBox="1">
            <a:spLocks/>
          </p:cNvSpPr>
          <p:nvPr/>
        </p:nvSpPr>
        <p:spPr>
          <a:xfrm>
            <a:off x="94130" y="167221"/>
            <a:ext cx="12741823"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GROWING CONCERNS &gt; TECHNOLOGY </a:t>
            </a:r>
            <a:r>
              <a:rPr lang="en-US" sz="2000" dirty="0">
                <a:solidFill>
                  <a:prstClr val="white"/>
                </a:solidFill>
                <a:latin typeface="Perpetua Titling MT Light" charset="0"/>
              </a:rPr>
              <a:t>(con’t)</a:t>
            </a:r>
          </a:p>
        </p:txBody>
      </p:sp>
      <p:sp>
        <p:nvSpPr>
          <p:cNvPr id="5" name="Rectangle 4">
            <a:extLst>
              <a:ext uri="{FF2B5EF4-FFF2-40B4-BE49-F238E27FC236}">
                <a16:creationId xmlns:a16="http://schemas.microsoft.com/office/drawing/2014/main" id="{7702BE43-4D8E-AD46-81AF-B2919B9E8C5D}"/>
              </a:ext>
            </a:extLst>
          </p:cNvPr>
          <p:cNvSpPr/>
          <p:nvPr/>
        </p:nvSpPr>
        <p:spPr bwMode="auto">
          <a:xfrm>
            <a:off x="5040878" y="8164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6" name="Slide Number Placeholder 4">
            <a:extLst>
              <a:ext uri="{FF2B5EF4-FFF2-40B4-BE49-F238E27FC236}">
                <a16:creationId xmlns:a16="http://schemas.microsoft.com/office/drawing/2014/main" id="{1ED18D9B-B6AA-4343-9EF3-4A81304DE4AA}"/>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36</a:t>
            </a:fld>
            <a:endParaRPr lang="en-US" sz="1400" dirty="0">
              <a:solidFill>
                <a:schemeClr val="bg1"/>
              </a:solidFill>
            </a:endParaRPr>
          </a:p>
        </p:txBody>
      </p:sp>
      <p:sp>
        <p:nvSpPr>
          <p:cNvPr id="7" name="Rectangle 6">
            <a:extLst>
              <a:ext uri="{FF2B5EF4-FFF2-40B4-BE49-F238E27FC236}">
                <a16:creationId xmlns:a16="http://schemas.microsoft.com/office/drawing/2014/main" id="{1368DAFE-1E03-8945-BC58-DA9A21132C4B}"/>
              </a:ext>
            </a:extLst>
          </p:cNvPr>
          <p:cNvSpPr/>
          <p:nvPr/>
        </p:nvSpPr>
        <p:spPr>
          <a:xfrm>
            <a:off x="4280225" y="6370290"/>
            <a:ext cx="7120412" cy="400110"/>
          </a:xfrm>
          <a:prstGeom prst="rect">
            <a:avLst/>
          </a:prstGeom>
        </p:spPr>
        <p:txBody>
          <a:bodyPr wrap="square">
            <a:spAutoFit/>
          </a:bodyPr>
          <a:lstStyle/>
          <a:p>
            <a:r>
              <a:rPr lang="en-US" sz="1000" dirty="0">
                <a:solidFill>
                  <a:schemeClr val="bg1"/>
                </a:solidFill>
              </a:rPr>
              <a:t>Source: Santa Clara University: Markkula Center for Applied Ethics https://www.scu.edu/ethics-in-technology-practice/overview-of-ethics-in-tech-practice/</a:t>
            </a:r>
          </a:p>
        </p:txBody>
      </p:sp>
      <p:sp>
        <p:nvSpPr>
          <p:cNvPr id="8" name="TextBox 7">
            <a:extLst>
              <a:ext uri="{FF2B5EF4-FFF2-40B4-BE49-F238E27FC236}">
                <a16:creationId xmlns:a16="http://schemas.microsoft.com/office/drawing/2014/main" id="{A0F41BBC-2498-EC46-9CF5-D8A3FAFFBB84}"/>
              </a:ext>
            </a:extLst>
          </p:cNvPr>
          <p:cNvSpPr txBox="1"/>
          <p:nvPr/>
        </p:nvSpPr>
        <p:spPr>
          <a:xfrm>
            <a:off x="515225" y="1194468"/>
            <a:ext cx="3920646" cy="400110"/>
          </a:xfrm>
          <a:prstGeom prst="rect">
            <a:avLst/>
          </a:prstGeom>
          <a:noFill/>
        </p:spPr>
        <p:txBody>
          <a:bodyPr wrap="square" rtlCol="0">
            <a:spAutoFit/>
          </a:bodyPr>
          <a:lstStyle/>
          <a:p>
            <a:r>
              <a:rPr lang="en-US" sz="2000" b="1" dirty="0">
                <a:solidFill>
                  <a:srgbClr val="FFFF00"/>
                </a:solidFill>
              </a:rPr>
              <a:t>CONTEXT</a:t>
            </a:r>
          </a:p>
        </p:txBody>
      </p:sp>
      <p:sp>
        <p:nvSpPr>
          <p:cNvPr id="9" name="TextBox 8">
            <a:extLst>
              <a:ext uri="{FF2B5EF4-FFF2-40B4-BE49-F238E27FC236}">
                <a16:creationId xmlns:a16="http://schemas.microsoft.com/office/drawing/2014/main" id="{2F1B1572-03C9-8245-B5B2-60A02418AFBD}"/>
              </a:ext>
            </a:extLst>
          </p:cNvPr>
          <p:cNvSpPr txBox="1"/>
          <p:nvPr/>
        </p:nvSpPr>
        <p:spPr>
          <a:xfrm>
            <a:off x="515225" y="860379"/>
            <a:ext cx="6076950" cy="369332"/>
          </a:xfrm>
          <a:prstGeom prst="rect">
            <a:avLst/>
          </a:prstGeom>
          <a:noFill/>
        </p:spPr>
        <p:txBody>
          <a:bodyPr wrap="square" rtlCol="0">
            <a:spAutoFit/>
          </a:bodyPr>
          <a:lstStyle/>
          <a:p>
            <a:r>
              <a:rPr lang="en-US" b="1" dirty="0">
                <a:solidFill>
                  <a:srgbClr val="FF0000"/>
                </a:solidFill>
              </a:rPr>
              <a:t>NO IN CLASS DISCUSSION – LAB EXERCISE</a:t>
            </a:r>
          </a:p>
        </p:txBody>
      </p:sp>
    </p:spTree>
    <p:extLst>
      <p:ext uri="{BB962C8B-B14F-4D97-AF65-F5344CB8AC3E}">
        <p14:creationId xmlns:p14="http://schemas.microsoft.com/office/powerpoint/2010/main" val="26865007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36C18A-E690-B348-90DC-E5D76BC8099D}"/>
              </a:ext>
            </a:extLst>
          </p:cNvPr>
          <p:cNvSpPr/>
          <p:nvPr/>
        </p:nvSpPr>
        <p:spPr>
          <a:xfrm>
            <a:off x="393700" y="1642717"/>
            <a:ext cx="11322049" cy="3970318"/>
          </a:xfrm>
          <a:prstGeom prst="rect">
            <a:avLst/>
          </a:prstGeom>
        </p:spPr>
        <p:txBody>
          <a:bodyPr wrap="square">
            <a:spAutoFit/>
          </a:bodyPr>
          <a:lstStyle/>
          <a:p>
            <a:pPr>
              <a:buFont typeface="Arial" panose="020B0604020202020204" pitchFamily="34" charset="0"/>
              <a:buChar char="•"/>
            </a:pPr>
            <a:r>
              <a:rPr lang="en-CA" sz="2800" b="1" dirty="0">
                <a:solidFill>
                  <a:srgbClr val="FFFF00"/>
                </a:solidFill>
                <a:latin typeface="Garamond" panose="02020404030301010803" pitchFamily="18" charset="0"/>
              </a:rPr>
              <a:t>The Attention Economy​:</a:t>
            </a:r>
            <a:r>
              <a:rPr lang="en-CA" sz="2800" dirty="0">
                <a:solidFill>
                  <a:schemeClr val="bg1"/>
                </a:solidFill>
                <a:latin typeface="Garamond" panose="02020404030301010803" pitchFamily="18" charset="0"/>
              </a:rPr>
              <a:t> </a:t>
            </a:r>
            <a:r>
              <a:rPr lang="en-CA" sz="2400" dirty="0">
                <a:solidFill>
                  <a:schemeClr val="bg1"/>
                </a:solidFill>
                <a:latin typeface="Garamond" panose="02020404030301010803" pitchFamily="18" charset="0"/>
              </a:rPr>
              <a:t>The increasing monetization of human attention, in ways that negatively impact the cognitive, emotional, and physical health of many individuals and families, create risks of technological addiction, and are correlated with significant economic and productivity losses in the workplace.</a:t>
            </a:r>
          </a:p>
          <a:p>
            <a:endParaRPr lang="en-CA" sz="2400" dirty="0">
              <a:solidFill>
                <a:schemeClr val="bg1"/>
              </a:solidFill>
              <a:latin typeface="Garamond" panose="02020404030301010803" pitchFamily="18" charset="0"/>
            </a:endParaRPr>
          </a:p>
          <a:p>
            <a:pPr>
              <a:buFont typeface="Arial" panose="020B0604020202020204" pitchFamily="34" charset="0"/>
              <a:buChar char="•"/>
            </a:pPr>
            <a:r>
              <a:rPr lang="en-CA" sz="2800" b="1" dirty="0">
                <a:solidFill>
                  <a:srgbClr val="FFFF00"/>
                </a:solidFill>
                <a:latin typeface="Garamond" panose="02020404030301010803" pitchFamily="18" charset="0"/>
              </a:rPr>
              <a:t>Growing Machine Autonomy/Declining Human Control and Accountability:</a:t>
            </a:r>
            <a:r>
              <a:rPr lang="en-CA" sz="2400" dirty="0">
                <a:solidFill>
                  <a:schemeClr val="bg1"/>
                </a:solidFill>
                <a:latin typeface="Garamond" panose="02020404030301010803" pitchFamily="18" charset="0"/>
              </a:rPr>
              <a:t> ​Automated decision-making has expanded steadily in recent decades, and developments in machine learning are accelerating that trend. Maintaining meaningful human control and accountability of medical, judicial, governmental, employment, educational, and military decisions is increasingly challenging.</a:t>
            </a:r>
          </a:p>
        </p:txBody>
      </p:sp>
      <p:sp>
        <p:nvSpPr>
          <p:cNvPr id="3" name="Title 2">
            <a:extLst>
              <a:ext uri="{FF2B5EF4-FFF2-40B4-BE49-F238E27FC236}">
                <a16:creationId xmlns:a16="http://schemas.microsoft.com/office/drawing/2014/main" id="{F11858A6-D417-144D-97A0-0064BD3699C8}"/>
              </a:ext>
            </a:extLst>
          </p:cNvPr>
          <p:cNvSpPr txBox="1">
            <a:spLocks/>
          </p:cNvSpPr>
          <p:nvPr/>
        </p:nvSpPr>
        <p:spPr>
          <a:xfrm>
            <a:off x="0" y="204779"/>
            <a:ext cx="12741823"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GROWING CONCERNS &gt; TECHNOLOGY </a:t>
            </a:r>
            <a:r>
              <a:rPr lang="en-US" sz="2000" dirty="0">
                <a:solidFill>
                  <a:prstClr val="white"/>
                </a:solidFill>
                <a:latin typeface="Perpetua Titling MT Light" charset="0"/>
              </a:rPr>
              <a:t>(con’t)</a:t>
            </a:r>
          </a:p>
        </p:txBody>
      </p:sp>
      <p:sp>
        <p:nvSpPr>
          <p:cNvPr id="4" name="Rectangle 3">
            <a:extLst>
              <a:ext uri="{FF2B5EF4-FFF2-40B4-BE49-F238E27FC236}">
                <a16:creationId xmlns:a16="http://schemas.microsoft.com/office/drawing/2014/main" id="{851D45F1-209F-B449-9E0B-A0E6A37287E7}"/>
              </a:ext>
            </a:extLst>
          </p:cNvPr>
          <p:cNvSpPr/>
          <p:nvPr/>
        </p:nvSpPr>
        <p:spPr bwMode="auto">
          <a:xfrm>
            <a:off x="5040878" y="8164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CED4C17A-9C94-9E42-BCC3-506550BABAFF}"/>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37</a:t>
            </a:fld>
            <a:endParaRPr lang="en-US" sz="1400" dirty="0">
              <a:solidFill>
                <a:schemeClr val="bg1"/>
              </a:solidFill>
            </a:endParaRPr>
          </a:p>
        </p:txBody>
      </p:sp>
      <p:sp>
        <p:nvSpPr>
          <p:cNvPr id="6" name="Rectangle 5">
            <a:extLst>
              <a:ext uri="{FF2B5EF4-FFF2-40B4-BE49-F238E27FC236}">
                <a16:creationId xmlns:a16="http://schemas.microsoft.com/office/drawing/2014/main" id="{DB52BDD3-1DFF-E74F-8A49-CEA50E6FB766}"/>
              </a:ext>
            </a:extLst>
          </p:cNvPr>
          <p:cNvSpPr/>
          <p:nvPr/>
        </p:nvSpPr>
        <p:spPr>
          <a:xfrm>
            <a:off x="1480672" y="6013616"/>
            <a:ext cx="9215402" cy="246221"/>
          </a:xfrm>
          <a:prstGeom prst="rect">
            <a:avLst/>
          </a:prstGeom>
        </p:spPr>
        <p:txBody>
          <a:bodyPr wrap="square">
            <a:spAutoFit/>
          </a:bodyPr>
          <a:lstStyle/>
          <a:p>
            <a:r>
              <a:rPr lang="en-US" sz="1000" dirty="0">
                <a:solidFill>
                  <a:schemeClr val="bg1"/>
                </a:solidFill>
              </a:rPr>
              <a:t>Source: Santa Clara University: Markkula Center for Applied Ethics https://www.scu.edu/ethics-in-technology-practice/overview-of-ethics-in-tech-practice/</a:t>
            </a:r>
          </a:p>
        </p:txBody>
      </p:sp>
      <p:sp>
        <p:nvSpPr>
          <p:cNvPr id="7" name="TextBox 6">
            <a:extLst>
              <a:ext uri="{FF2B5EF4-FFF2-40B4-BE49-F238E27FC236}">
                <a16:creationId xmlns:a16="http://schemas.microsoft.com/office/drawing/2014/main" id="{973B8E79-0371-6342-81E8-74E8CBD735AE}"/>
              </a:ext>
            </a:extLst>
          </p:cNvPr>
          <p:cNvSpPr txBox="1"/>
          <p:nvPr/>
        </p:nvSpPr>
        <p:spPr>
          <a:xfrm>
            <a:off x="515225" y="1194468"/>
            <a:ext cx="3920646" cy="400110"/>
          </a:xfrm>
          <a:prstGeom prst="rect">
            <a:avLst/>
          </a:prstGeom>
          <a:noFill/>
        </p:spPr>
        <p:txBody>
          <a:bodyPr wrap="square" rtlCol="0">
            <a:spAutoFit/>
          </a:bodyPr>
          <a:lstStyle/>
          <a:p>
            <a:r>
              <a:rPr lang="en-US" sz="2000" b="1" dirty="0">
                <a:solidFill>
                  <a:srgbClr val="FFFF00"/>
                </a:solidFill>
              </a:rPr>
              <a:t>CONTEXT</a:t>
            </a:r>
          </a:p>
        </p:txBody>
      </p:sp>
      <p:sp>
        <p:nvSpPr>
          <p:cNvPr id="8" name="TextBox 7">
            <a:extLst>
              <a:ext uri="{FF2B5EF4-FFF2-40B4-BE49-F238E27FC236}">
                <a16:creationId xmlns:a16="http://schemas.microsoft.com/office/drawing/2014/main" id="{69F00FC3-FD13-EF4D-94F8-62A2F81DCF7D}"/>
              </a:ext>
            </a:extLst>
          </p:cNvPr>
          <p:cNvSpPr txBox="1"/>
          <p:nvPr/>
        </p:nvSpPr>
        <p:spPr>
          <a:xfrm>
            <a:off x="158003" y="841516"/>
            <a:ext cx="6076950" cy="369332"/>
          </a:xfrm>
          <a:prstGeom prst="rect">
            <a:avLst/>
          </a:prstGeom>
          <a:noFill/>
        </p:spPr>
        <p:txBody>
          <a:bodyPr wrap="square" rtlCol="0">
            <a:spAutoFit/>
          </a:bodyPr>
          <a:lstStyle/>
          <a:p>
            <a:r>
              <a:rPr lang="en-US" b="1" dirty="0">
                <a:solidFill>
                  <a:srgbClr val="FF0000"/>
                </a:solidFill>
              </a:rPr>
              <a:t>NO IN CLASS DISCUSSION – LAB EXERCISE</a:t>
            </a:r>
          </a:p>
        </p:txBody>
      </p:sp>
    </p:spTree>
    <p:extLst>
      <p:ext uri="{BB962C8B-B14F-4D97-AF65-F5344CB8AC3E}">
        <p14:creationId xmlns:p14="http://schemas.microsoft.com/office/powerpoint/2010/main" val="12061228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36C18A-E690-B348-90DC-E5D76BC8099D}"/>
              </a:ext>
            </a:extLst>
          </p:cNvPr>
          <p:cNvSpPr/>
          <p:nvPr/>
        </p:nvSpPr>
        <p:spPr>
          <a:xfrm>
            <a:off x="368300" y="1466553"/>
            <a:ext cx="11455400" cy="3908762"/>
          </a:xfrm>
          <a:prstGeom prst="rect">
            <a:avLst/>
          </a:prstGeom>
        </p:spPr>
        <p:txBody>
          <a:bodyPr wrap="square">
            <a:spAutoFit/>
          </a:bodyPr>
          <a:lstStyle/>
          <a:p>
            <a:pPr marL="342900" indent="-342900">
              <a:buFont typeface="Arial" panose="020B0604020202020204" pitchFamily="34" charset="0"/>
              <a:buChar char="•"/>
            </a:pPr>
            <a:r>
              <a:rPr lang="en-CA" sz="2800" b="1" dirty="0">
                <a:solidFill>
                  <a:srgbClr val="FFFF00"/>
                </a:solidFill>
                <a:latin typeface="Garamond" panose="02020404030301010803" pitchFamily="18" charset="0"/>
              </a:rPr>
              <a:t>New ‘Digital Taylorism’:</a:t>
            </a:r>
            <a:r>
              <a:rPr lang="en-CA" sz="2400" dirty="0">
                <a:solidFill>
                  <a:schemeClr val="bg1"/>
                </a:solidFill>
                <a:latin typeface="Garamond" panose="02020404030301010803" pitchFamily="18" charset="0"/>
              </a:rPr>
              <a:t> ​New digital forms of 'scientific management' and control of workplace behavior, in ways that can be dehumanizing, demoralizing, and destructive to the mental and physical health of workers.</a:t>
            </a:r>
          </a:p>
          <a:p>
            <a:pPr marL="342900" indent="-342900">
              <a:buFont typeface="Arial" panose="020B0604020202020204" pitchFamily="34" charset="0"/>
              <a:buChar char="•"/>
            </a:pPr>
            <a:endParaRPr lang="en-CA" sz="2400" b="1" dirty="0">
              <a:solidFill>
                <a:schemeClr val="bg1"/>
              </a:solidFill>
              <a:latin typeface="Garamond" panose="02020404030301010803" pitchFamily="18" charset="0"/>
            </a:endParaRPr>
          </a:p>
          <a:p>
            <a:pPr marL="342900" indent="-342900">
              <a:buFont typeface="Arial" panose="020B0604020202020204" pitchFamily="34" charset="0"/>
              <a:buChar char="•"/>
            </a:pPr>
            <a:r>
              <a:rPr lang="en-CA" sz="2800" b="1" dirty="0">
                <a:solidFill>
                  <a:srgbClr val="FFFF00"/>
                </a:solidFill>
                <a:latin typeface="Garamond" panose="02020404030301010803" pitchFamily="18" charset="0"/>
              </a:rPr>
              <a:t>Declining Social Trust/Civic Virtue:</a:t>
            </a:r>
            <a:r>
              <a:rPr lang="en-CA" sz="2400" dirty="0">
                <a:solidFill>
                  <a:schemeClr val="bg1"/>
                </a:solidFill>
                <a:latin typeface="Garamond" panose="02020404030301010803" pitchFamily="18" charset="0"/>
              </a:rPr>
              <a:t> ​The impact of social media 'echo chambers', 'fake news', politically motivated 'trolling', digital radicalization, polarization and culture wars on democratic virtues and civic trust has been devastating in the U.S. and the U.K., and has inflamed political conflicts elsewhere. To date, damaged trust in traditional social authorities—such as lawmakers, scientists and legacy media—has not been replaced by other widely trusted social agents.</a:t>
            </a:r>
            <a:endParaRPr lang="en-CA" sz="2400" b="0" i="0" dirty="0">
              <a:solidFill>
                <a:schemeClr val="bg1"/>
              </a:solidFill>
              <a:effectLst/>
              <a:latin typeface="Garamond" panose="02020404030301010803" pitchFamily="18" charset="0"/>
            </a:endParaRPr>
          </a:p>
        </p:txBody>
      </p:sp>
      <p:sp>
        <p:nvSpPr>
          <p:cNvPr id="3" name="Title 2">
            <a:extLst>
              <a:ext uri="{FF2B5EF4-FFF2-40B4-BE49-F238E27FC236}">
                <a16:creationId xmlns:a16="http://schemas.microsoft.com/office/drawing/2014/main" id="{F11858A6-D417-144D-97A0-0064BD3699C8}"/>
              </a:ext>
            </a:extLst>
          </p:cNvPr>
          <p:cNvSpPr txBox="1">
            <a:spLocks/>
          </p:cNvSpPr>
          <p:nvPr/>
        </p:nvSpPr>
        <p:spPr>
          <a:xfrm>
            <a:off x="0" y="204779"/>
            <a:ext cx="12741823"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GROWING CONCERNS &gt; TECHNOLOGY </a:t>
            </a:r>
            <a:r>
              <a:rPr lang="en-US" sz="2000" dirty="0">
                <a:solidFill>
                  <a:prstClr val="white"/>
                </a:solidFill>
                <a:latin typeface="Perpetua Titling MT Light" charset="0"/>
              </a:rPr>
              <a:t>(con’t)</a:t>
            </a:r>
          </a:p>
        </p:txBody>
      </p:sp>
      <p:sp>
        <p:nvSpPr>
          <p:cNvPr id="4" name="Rectangle 3">
            <a:extLst>
              <a:ext uri="{FF2B5EF4-FFF2-40B4-BE49-F238E27FC236}">
                <a16:creationId xmlns:a16="http://schemas.microsoft.com/office/drawing/2014/main" id="{851D45F1-209F-B449-9E0B-A0E6A37287E7}"/>
              </a:ext>
            </a:extLst>
          </p:cNvPr>
          <p:cNvSpPr/>
          <p:nvPr/>
        </p:nvSpPr>
        <p:spPr bwMode="auto">
          <a:xfrm>
            <a:off x="5040878" y="8164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CED4C17A-9C94-9E42-BCC3-506550BABAFF}"/>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38</a:t>
            </a:fld>
            <a:endParaRPr lang="en-US" sz="1400" dirty="0">
              <a:solidFill>
                <a:schemeClr val="bg1"/>
              </a:solidFill>
            </a:endParaRPr>
          </a:p>
        </p:txBody>
      </p:sp>
      <p:sp>
        <p:nvSpPr>
          <p:cNvPr id="6" name="Rectangle 5">
            <a:extLst>
              <a:ext uri="{FF2B5EF4-FFF2-40B4-BE49-F238E27FC236}">
                <a16:creationId xmlns:a16="http://schemas.microsoft.com/office/drawing/2014/main" id="{DB52BDD3-1DFF-E74F-8A49-CEA50E6FB766}"/>
              </a:ext>
            </a:extLst>
          </p:cNvPr>
          <p:cNvSpPr/>
          <p:nvPr/>
        </p:nvSpPr>
        <p:spPr>
          <a:xfrm>
            <a:off x="1138678" y="5856558"/>
            <a:ext cx="10464466" cy="246221"/>
          </a:xfrm>
          <a:prstGeom prst="rect">
            <a:avLst/>
          </a:prstGeom>
        </p:spPr>
        <p:txBody>
          <a:bodyPr wrap="square">
            <a:spAutoFit/>
          </a:bodyPr>
          <a:lstStyle/>
          <a:p>
            <a:r>
              <a:rPr lang="en-US" sz="1000" dirty="0">
                <a:solidFill>
                  <a:schemeClr val="bg1"/>
                </a:solidFill>
              </a:rPr>
              <a:t>Source: Santa Clara University: Markkula Center for Applied Ethics https://www.scu.edu/ethics-in-technology-practice/overview-of-ethics-in-tech-practice/</a:t>
            </a:r>
          </a:p>
        </p:txBody>
      </p:sp>
      <p:sp>
        <p:nvSpPr>
          <p:cNvPr id="7" name="TextBox 6">
            <a:extLst>
              <a:ext uri="{FF2B5EF4-FFF2-40B4-BE49-F238E27FC236}">
                <a16:creationId xmlns:a16="http://schemas.microsoft.com/office/drawing/2014/main" id="{69E579F8-EA1B-9F45-ADEB-975E56910748}"/>
              </a:ext>
            </a:extLst>
          </p:cNvPr>
          <p:cNvSpPr txBox="1"/>
          <p:nvPr/>
        </p:nvSpPr>
        <p:spPr>
          <a:xfrm>
            <a:off x="515225" y="1194468"/>
            <a:ext cx="3920646" cy="400110"/>
          </a:xfrm>
          <a:prstGeom prst="rect">
            <a:avLst/>
          </a:prstGeom>
          <a:noFill/>
        </p:spPr>
        <p:txBody>
          <a:bodyPr wrap="square" rtlCol="0">
            <a:spAutoFit/>
          </a:bodyPr>
          <a:lstStyle/>
          <a:p>
            <a:r>
              <a:rPr lang="en-US" sz="2000" b="1" dirty="0">
                <a:solidFill>
                  <a:srgbClr val="FFFF00"/>
                </a:solidFill>
              </a:rPr>
              <a:t>CONTEXT</a:t>
            </a:r>
          </a:p>
        </p:txBody>
      </p:sp>
      <p:sp>
        <p:nvSpPr>
          <p:cNvPr id="8" name="TextBox 7">
            <a:extLst>
              <a:ext uri="{FF2B5EF4-FFF2-40B4-BE49-F238E27FC236}">
                <a16:creationId xmlns:a16="http://schemas.microsoft.com/office/drawing/2014/main" id="{CCEF443F-C713-0447-88C0-B5988FBD7A38}"/>
              </a:ext>
            </a:extLst>
          </p:cNvPr>
          <p:cNvSpPr txBox="1"/>
          <p:nvPr/>
        </p:nvSpPr>
        <p:spPr>
          <a:xfrm>
            <a:off x="158003" y="803075"/>
            <a:ext cx="6076950" cy="369332"/>
          </a:xfrm>
          <a:prstGeom prst="rect">
            <a:avLst/>
          </a:prstGeom>
          <a:noFill/>
        </p:spPr>
        <p:txBody>
          <a:bodyPr wrap="square" rtlCol="0">
            <a:spAutoFit/>
          </a:bodyPr>
          <a:lstStyle/>
          <a:p>
            <a:r>
              <a:rPr lang="en-US" b="1" dirty="0">
                <a:solidFill>
                  <a:srgbClr val="FF0000"/>
                </a:solidFill>
              </a:rPr>
              <a:t>NO IN CLASS DISCUSSION – LAB EXERCISE</a:t>
            </a:r>
          </a:p>
        </p:txBody>
      </p:sp>
    </p:spTree>
    <p:extLst>
      <p:ext uri="{BB962C8B-B14F-4D97-AF65-F5344CB8AC3E}">
        <p14:creationId xmlns:p14="http://schemas.microsoft.com/office/powerpoint/2010/main" val="3035267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36C18A-E690-B348-90DC-E5D76BC8099D}"/>
              </a:ext>
            </a:extLst>
          </p:cNvPr>
          <p:cNvSpPr/>
          <p:nvPr/>
        </p:nvSpPr>
        <p:spPr>
          <a:xfrm>
            <a:off x="368300" y="1579781"/>
            <a:ext cx="11347450" cy="4278094"/>
          </a:xfrm>
          <a:prstGeom prst="rect">
            <a:avLst/>
          </a:prstGeom>
        </p:spPr>
        <p:txBody>
          <a:bodyPr wrap="square">
            <a:spAutoFit/>
          </a:bodyPr>
          <a:lstStyle/>
          <a:p>
            <a:r>
              <a:rPr lang="en-CA" sz="3200" b="1" dirty="0">
                <a:solidFill>
                  <a:srgbClr val="FFFF00"/>
                </a:solidFill>
                <a:latin typeface="Garamond" panose="02020404030301010803" pitchFamily="18" charset="0"/>
              </a:rPr>
              <a:t>Environmental Sustainability of Digital Culture:</a:t>
            </a:r>
            <a:r>
              <a:rPr lang="en-CA" sz="3200" dirty="0">
                <a:solidFill>
                  <a:schemeClr val="bg1"/>
                </a:solidFill>
                <a:latin typeface="Garamond" panose="02020404030301010803" pitchFamily="18" charset="0"/>
              </a:rPr>
              <a:t> ​</a:t>
            </a:r>
          </a:p>
          <a:p>
            <a:endParaRPr lang="en-CA" sz="2400" dirty="0">
              <a:solidFill>
                <a:schemeClr val="bg1"/>
              </a:solidFill>
              <a:latin typeface="Garamond" panose="02020404030301010803" pitchFamily="18" charset="0"/>
            </a:endParaRPr>
          </a:p>
          <a:p>
            <a:pPr marL="342900" indent="-342900">
              <a:buFont typeface="Arial" panose="020B0604020202020204" pitchFamily="34" charset="0"/>
              <a:buChar char="•"/>
            </a:pPr>
            <a:r>
              <a:rPr lang="en-CA" sz="2400" b="1" dirty="0">
                <a:solidFill>
                  <a:srgbClr val="FFFF00"/>
                </a:solidFill>
                <a:latin typeface="Garamond" panose="02020404030301010803" pitchFamily="18" charset="0"/>
              </a:rPr>
              <a:t>The rapid growth and spread of computing power places increasing pressure on energy supplies</a:t>
            </a:r>
            <a:r>
              <a:rPr lang="en-CA" sz="2400" dirty="0">
                <a:solidFill>
                  <a:srgbClr val="FFFF00"/>
                </a:solidFill>
                <a:latin typeface="Garamond" panose="02020404030301010803" pitchFamily="18" charset="0"/>
              </a:rPr>
              <a:t>, </a:t>
            </a:r>
            <a:r>
              <a:rPr lang="en-CA" sz="2400" dirty="0">
                <a:solidFill>
                  <a:schemeClr val="bg1"/>
                </a:solidFill>
                <a:latin typeface="Garamond" panose="02020404030301010803" pitchFamily="18" charset="0"/>
              </a:rPr>
              <a:t>which contributes to continued carbon emissions and accelerated climate change. It also demands more intensive mining of rare earth minerals and other non-renewable natural resources. </a:t>
            </a:r>
          </a:p>
          <a:p>
            <a:pPr marL="342900" indent="-342900">
              <a:buFont typeface="Arial" panose="020B0604020202020204" pitchFamily="34" charset="0"/>
              <a:buChar char="•"/>
            </a:pPr>
            <a:endParaRPr lang="en-CA" sz="2400" dirty="0">
              <a:solidFill>
                <a:schemeClr val="bg1"/>
              </a:solidFill>
              <a:latin typeface="Garamond" panose="02020404030301010803" pitchFamily="18" charset="0"/>
            </a:endParaRPr>
          </a:p>
          <a:p>
            <a:pPr marL="342900" indent="-342900">
              <a:buFont typeface="Arial" panose="020B0604020202020204" pitchFamily="34" charset="0"/>
              <a:buChar char="•"/>
            </a:pPr>
            <a:r>
              <a:rPr lang="en-CA" sz="2400" b="1" dirty="0">
                <a:solidFill>
                  <a:srgbClr val="FFFF00"/>
                </a:solidFill>
                <a:latin typeface="Garamond" panose="02020404030301010803" pitchFamily="18" charset="0"/>
              </a:rPr>
              <a:t>Finally, the declining cost and growing disposability of digital devices is causing an explosion in non-biodegradable </a:t>
            </a:r>
            <a:r>
              <a:rPr lang="en-CA" sz="2400" b="1" dirty="0">
                <a:solidFill>
                  <a:schemeClr val="bg1"/>
                </a:solidFill>
                <a:latin typeface="Garamond" panose="02020404030301010803" pitchFamily="18" charset="0"/>
              </a:rPr>
              <a:t>and sometimes toxic 'e-waste</a:t>
            </a:r>
            <a:r>
              <a:rPr lang="en-CA" sz="2400" dirty="0">
                <a:solidFill>
                  <a:schemeClr val="bg1"/>
                </a:solidFill>
                <a:latin typeface="Garamond" panose="02020404030301010803" pitchFamily="18" charset="0"/>
              </a:rPr>
              <a:t>', much of which is shipped off to poorer countries for unsafe disposal.</a:t>
            </a:r>
          </a:p>
          <a:p>
            <a:endParaRPr lang="en-CA" sz="2400" dirty="0">
              <a:solidFill>
                <a:schemeClr val="bg1"/>
              </a:solidFill>
              <a:latin typeface="Garamond" panose="02020404030301010803" pitchFamily="18" charset="0"/>
            </a:endParaRPr>
          </a:p>
        </p:txBody>
      </p:sp>
      <p:sp>
        <p:nvSpPr>
          <p:cNvPr id="3" name="Title 2">
            <a:extLst>
              <a:ext uri="{FF2B5EF4-FFF2-40B4-BE49-F238E27FC236}">
                <a16:creationId xmlns:a16="http://schemas.microsoft.com/office/drawing/2014/main" id="{7DDB92DF-AF74-A041-B31F-5B0447752EDC}"/>
              </a:ext>
            </a:extLst>
          </p:cNvPr>
          <p:cNvSpPr txBox="1">
            <a:spLocks/>
          </p:cNvSpPr>
          <p:nvPr/>
        </p:nvSpPr>
        <p:spPr>
          <a:xfrm>
            <a:off x="0" y="204779"/>
            <a:ext cx="12741823"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GROWING CONCERNS &gt; TECHNOLOGY </a:t>
            </a:r>
            <a:r>
              <a:rPr lang="en-US" sz="2000" dirty="0">
                <a:solidFill>
                  <a:prstClr val="white"/>
                </a:solidFill>
                <a:latin typeface="Perpetua Titling MT Light" charset="0"/>
              </a:rPr>
              <a:t>(con’t)</a:t>
            </a:r>
          </a:p>
        </p:txBody>
      </p:sp>
      <p:sp>
        <p:nvSpPr>
          <p:cNvPr id="4" name="Rectangle 3">
            <a:extLst>
              <a:ext uri="{FF2B5EF4-FFF2-40B4-BE49-F238E27FC236}">
                <a16:creationId xmlns:a16="http://schemas.microsoft.com/office/drawing/2014/main" id="{2509C861-ABC8-9E46-8E63-8A1CDBC86377}"/>
              </a:ext>
            </a:extLst>
          </p:cNvPr>
          <p:cNvSpPr/>
          <p:nvPr/>
        </p:nvSpPr>
        <p:spPr bwMode="auto">
          <a:xfrm>
            <a:off x="5040878" y="8164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0F4C35D8-0EE4-3541-AA65-BC2C2F67BD26}"/>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39</a:t>
            </a:fld>
            <a:endParaRPr lang="en-US" sz="1400" dirty="0">
              <a:solidFill>
                <a:schemeClr val="bg1"/>
              </a:solidFill>
            </a:endParaRPr>
          </a:p>
        </p:txBody>
      </p:sp>
      <p:sp>
        <p:nvSpPr>
          <p:cNvPr id="6" name="Rectangle 5">
            <a:extLst>
              <a:ext uri="{FF2B5EF4-FFF2-40B4-BE49-F238E27FC236}">
                <a16:creationId xmlns:a16="http://schemas.microsoft.com/office/drawing/2014/main" id="{A28634E0-65E7-0341-A7CD-C8302F4F17A4}"/>
              </a:ext>
            </a:extLst>
          </p:cNvPr>
          <p:cNvSpPr/>
          <p:nvPr/>
        </p:nvSpPr>
        <p:spPr>
          <a:xfrm>
            <a:off x="1362408" y="5961216"/>
            <a:ext cx="10017005" cy="246221"/>
          </a:xfrm>
          <a:prstGeom prst="rect">
            <a:avLst/>
          </a:prstGeom>
        </p:spPr>
        <p:txBody>
          <a:bodyPr wrap="square">
            <a:spAutoFit/>
          </a:bodyPr>
          <a:lstStyle/>
          <a:p>
            <a:r>
              <a:rPr lang="en-US" sz="1000" dirty="0">
                <a:solidFill>
                  <a:schemeClr val="bg1"/>
                </a:solidFill>
              </a:rPr>
              <a:t>Source: Santa Clara University: Markkula Center for Applied Ethics https://www.scu.edu/ethics-in-technology-practice/overview-of-ethics-in-tech-practice/</a:t>
            </a:r>
          </a:p>
        </p:txBody>
      </p:sp>
      <p:sp>
        <p:nvSpPr>
          <p:cNvPr id="7" name="TextBox 6">
            <a:extLst>
              <a:ext uri="{FF2B5EF4-FFF2-40B4-BE49-F238E27FC236}">
                <a16:creationId xmlns:a16="http://schemas.microsoft.com/office/drawing/2014/main" id="{B9E11B7B-A0E7-C347-AAC5-F1DC21180AD9}"/>
              </a:ext>
            </a:extLst>
          </p:cNvPr>
          <p:cNvSpPr txBox="1"/>
          <p:nvPr/>
        </p:nvSpPr>
        <p:spPr>
          <a:xfrm>
            <a:off x="515225" y="1194468"/>
            <a:ext cx="3920646" cy="400110"/>
          </a:xfrm>
          <a:prstGeom prst="rect">
            <a:avLst/>
          </a:prstGeom>
          <a:noFill/>
        </p:spPr>
        <p:txBody>
          <a:bodyPr wrap="square" rtlCol="0">
            <a:spAutoFit/>
          </a:bodyPr>
          <a:lstStyle/>
          <a:p>
            <a:r>
              <a:rPr lang="en-US" sz="2000" b="1" dirty="0">
                <a:solidFill>
                  <a:srgbClr val="FFFF00"/>
                </a:solidFill>
              </a:rPr>
              <a:t>CONTEXT</a:t>
            </a:r>
          </a:p>
        </p:txBody>
      </p:sp>
      <p:sp>
        <p:nvSpPr>
          <p:cNvPr id="8" name="TextBox 7">
            <a:extLst>
              <a:ext uri="{FF2B5EF4-FFF2-40B4-BE49-F238E27FC236}">
                <a16:creationId xmlns:a16="http://schemas.microsoft.com/office/drawing/2014/main" id="{AFE5DEC9-A493-B54E-B02A-9F3D220A8AF1}"/>
              </a:ext>
            </a:extLst>
          </p:cNvPr>
          <p:cNvSpPr txBox="1"/>
          <p:nvPr/>
        </p:nvSpPr>
        <p:spPr>
          <a:xfrm>
            <a:off x="293960" y="878579"/>
            <a:ext cx="6076950" cy="369332"/>
          </a:xfrm>
          <a:prstGeom prst="rect">
            <a:avLst/>
          </a:prstGeom>
          <a:noFill/>
        </p:spPr>
        <p:txBody>
          <a:bodyPr wrap="square" rtlCol="0">
            <a:spAutoFit/>
          </a:bodyPr>
          <a:lstStyle/>
          <a:p>
            <a:r>
              <a:rPr lang="en-US" b="1" dirty="0">
                <a:solidFill>
                  <a:srgbClr val="FF0000"/>
                </a:solidFill>
              </a:rPr>
              <a:t>NO IN CLASS DISCUSSION – LAB EXERCISE</a:t>
            </a:r>
          </a:p>
        </p:txBody>
      </p:sp>
    </p:spTree>
    <p:extLst>
      <p:ext uri="{BB962C8B-B14F-4D97-AF65-F5344CB8AC3E}">
        <p14:creationId xmlns:p14="http://schemas.microsoft.com/office/powerpoint/2010/main" val="16615245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36C18A-E690-B348-90DC-E5D76BC8099D}"/>
              </a:ext>
            </a:extLst>
          </p:cNvPr>
          <p:cNvSpPr/>
          <p:nvPr/>
        </p:nvSpPr>
        <p:spPr>
          <a:xfrm>
            <a:off x="463826" y="799009"/>
            <a:ext cx="11251923" cy="4955203"/>
          </a:xfrm>
          <a:prstGeom prst="rect">
            <a:avLst/>
          </a:prstGeom>
        </p:spPr>
        <p:txBody>
          <a:bodyPr wrap="square">
            <a:spAutoFit/>
          </a:bodyPr>
          <a:lstStyle/>
          <a:p>
            <a:endParaRPr lang="en-CA" sz="2400" dirty="0">
              <a:solidFill>
                <a:schemeClr val="bg1"/>
              </a:solidFill>
              <a:latin typeface="Garamond" panose="02020404030301010803" pitchFamily="18" charset="0"/>
            </a:endParaRPr>
          </a:p>
          <a:p>
            <a:r>
              <a:rPr lang="en-CA" sz="2800" b="1" dirty="0">
                <a:solidFill>
                  <a:srgbClr val="FFFF00"/>
                </a:solidFill>
                <a:latin typeface="Garamond" panose="02020404030301010803" pitchFamily="18" charset="0"/>
              </a:rPr>
              <a:t>Democracy vs. Technocracy/Tech 'Solutionism’</a:t>
            </a:r>
          </a:p>
          <a:p>
            <a:endParaRPr lang="en-CA" sz="2400" b="1" dirty="0">
              <a:solidFill>
                <a:schemeClr val="bg1"/>
              </a:solidFill>
              <a:latin typeface="Garamond" panose="02020404030301010803" pitchFamily="18" charset="0"/>
            </a:endParaRPr>
          </a:p>
          <a:p>
            <a:pPr marL="342900" indent="-342900">
              <a:buFont typeface="Arial" panose="020B0604020202020204" pitchFamily="34" charset="0"/>
              <a:buChar char="•"/>
            </a:pPr>
            <a:r>
              <a:rPr lang="en-CA" sz="2400" b="1" dirty="0">
                <a:solidFill>
                  <a:srgbClr val="FFFF00"/>
                </a:solidFill>
                <a:latin typeface="Garamond" panose="02020404030301010803" pitchFamily="18" charset="0"/>
              </a:rPr>
              <a:t>Many technologists believe the risks and challenges described above can best be solved by the development of more and better technology</a:t>
            </a:r>
            <a:r>
              <a:rPr lang="en-CA" sz="2400" dirty="0">
                <a:solidFill>
                  <a:schemeClr val="bg1"/>
                </a:solidFill>
                <a:latin typeface="Garamond" panose="02020404030301010803" pitchFamily="18" charset="0"/>
              </a:rPr>
              <a:t>. Critics challenge this ‘technological solutionism’ as ignoring the underlying social, political, and economic ills that perpetuate ethical failures in society, and placing unwarranted faith in superficial ‘techno-fixes’ as opposed to more robust social, political, and economic reforms. </a:t>
            </a:r>
          </a:p>
          <a:p>
            <a:endParaRPr lang="en-CA" sz="2400" dirty="0">
              <a:solidFill>
                <a:schemeClr val="bg1"/>
              </a:solidFill>
              <a:latin typeface="Garamond" panose="02020404030301010803" pitchFamily="18" charset="0"/>
            </a:endParaRPr>
          </a:p>
          <a:p>
            <a:pPr marL="342900" indent="-342900">
              <a:buFont typeface="Arial" panose="020B0604020202020204" pitchFamily="34" charset="0"/>
              <a:buChar char="•"/>
            </a:pPr>
            <a:r>
              <a:rPr lang="en-CA" sz="2400" b="1" dirty="0">
                <a:solidFill>
                  <a:srgbClr val="FFFF00"/>
                </a:solidFill>
                <a:latin typeface="Garamond" panose="02020404030301010803" pitchFamily="18" charset="0"/>
              </a:rPr>
              <a:t>They also question whether technologists in democratic nations act as unelected 'technocrats' – trespassing on the democratic franchise of the citizenry by means of regulatory capture</a:t>
            </a:r>
            <a:r>
              <a:rPr lang="en-CA" sz="2400" dirty="0">
                <a:solidFill>
                  <a:schemeClr val="bg1"/>
                </a:solidFill>
                <a:latin typeface="Garamond" panose="02020404030301010803" pitchFamily="18" charset="0"/>
              </a:rPr>
              <a:t>, relentless privatization of public functions, and degradation of the civic power of communities to design their own solutions to social problems.</a:t>
            </a:r>
            <a:endParaRPr lang="en-CA" sz="2400" b="0" i="0" dirty="0">
              <a:solidFill>
                <a:schemeClr val="bg1"/>
              </a:solidFill>
              <a:effectLst/>
              <a:latin typeface="Garamond" panose="02020404030301010803" pitchFamily="18" charset="0"/>
            </a:endParaRPr>
          </a:p>
        </p:txBody>
      </p:sp>
      <p:sp>
        <p:nvSpPr>
          <p:cNvPr id="3" name="Title 2">
            <a:extLst>
              <a:ext uri="{FF2B5EF4-FFF2-40B4-BE49-F238E27FC236}">
                <a16:creationId xmlns:a16="http://schemas.microsoft.com/office/drawing/2014/main" id="{7DDB92DF-AF74-A041-B31F-5B0447752EDC}"/>
              </a:ext>
            </a:extLst>
          </p:cNvPr>
          <p:cNvSpPr txBox="1">
            <a:spLocks/>
          </p:cNvSpPr>
          <p:nvPr/>
        </p:nvSpPr>
        <p:spPr>
          <a:xfrm>
            <a:off x="0" y="204779"/>
            <a:ext cx="12741823"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GROWING CONCERNS &gt; TECHNOLOGY </a:t>
            </a:r>
            <a:r>
              <a:rPr lang="en-US" sz="2000" dirty="0">
                <a:solidFill>
                  <a:prstClr val="white"/>
                </a:solidFill>
                <a:latin typeface="Perpetua Titling MT Light" charset="0"/>
              </a:rPr>
              <a:t>(con’t)</a:t>
            </a:r>
          </a:p>
        </p:txBody>
      </p:sp>
      <p:sp>
        <p:nvSpPr>
          <p:cNvPr id="4" name="Rectangle 3">
            <a:extLst>
              <a:ext uri="{FF2B5EF4-FFF2-40B4-BE49-F238E27FC236}">
                <a16:creationId xmlns:a16="http://schemas.microsoft.com/office/drawing/2014/main" id="{2509C861-ABC8-9E46-8E63-8A1CDBC86377}"/>
              </a:ext>
            </a:extLst>
          </p:cNvPr>
          <p:cNvSpPr/>
          <p:nvPr/>
        </p:nvSpPr>
        <p:spPr bwMode="auto">
          <a:xfrm>
            <a:off x="5040878" y="8164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0F4C35D8-0EE4-3541-AA65-BC2C2F67BD26}"/>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40</a:t>
            </a:fld>
            <a:endParaRPr lang="en-US" sz="1400" dirty="0">
              <a:solidFill>
                <a:schemeClr val="bg1"/>
              </a:solidFill>
            </a:endParaRPr>
          </a:p>
        </p:txBody>
      </p:sp>
      <p:sp>
        <p:nvSpPr>
          <p:cNvPr id="6" name="Rectangle 5">
            <a:extLst>
              <a:ext uri="{FF2B5EF4-FFF2-40B4-BE49-F238E27FC236}">
                <a16:creationId xmlns:a16="http://schemas.microsoft.com/office/drawing/2014/main" id="{A28634E0-65E7-0341-A7CD-C8302F4F17A4}"/>
              </a:ext>
            </a:extLst>
          </p:cNvPr>
          <p:cNvSpPr/>
          <p:nvPr/>
        </p:nvSpPr>
        <p:spPr>
          <a:xfrm>
            <a:off x="912842" y="6000433"/>
            <a:ext cx="10353890" cy="246221"/>
          </a:xfrm>
          <a:prstGeom prst="rect">
            <a:avLst/>
          </a:prstGeom>
        </p:spPr>
        <p:txBody>
          <a:bodyPr wrap="square">
            <a:spAutoFit/>
          </a:bodyPr>
          <a:lstStyle/>
          <a:p>
            <a:r>
              <a:rPr lang="en-US" sz="1000" dirty="0">
                <a:solidFill>
                  <a:schemeClr val="bg1"/>
                </a:solidFill>
              </a:rPr>
              <a:t>Source: Santa Clara University: Markkula Center for Applied Ethics https://www.scu.edu/ethics-in-technology-practice/overview-of-ethics-in-tech-practice/</a:t>
            </a:r>
          </a:p>
        </p:txBody>
      </p:sp>
      <p:sp>
        <p:nvSpPr>
          <p:cNvPr id="7" name="TextBox 6">
            <a:extLst>
              <a:ext uri="{FF2B5EF4-FFF2-40B4-BE49-F238E27FC236}">
                <a16:creationId xmlns:a16="http://schemas.microsoft.com/office/drawing/2014/main" id="{0D966C85-9504-944A-B1FB-D300579041AB}"/>
              </a:ext>
            </a:extLst>
          </p:cNvPr>
          <p:cNvSpPr txBox="1"/>
          <p:nvPr/>
        </p:nvSpPr>
        <p:spPr>
          <a:xfrm>
            <a:off x="177022" y="862199"/>
            <a:ext cx="3920646" cy="400110"/>
          </a:xfrm>
          <a:prstGeom prst="rect">
            <a:avLst/>
          </a:prstGeom>
          <a:noFill/>
        </p:spPr>
        <p:txBody>
          <a:bodyPr wrap="square" rtlCol="0">
            <a:spAutoFit/>
          </a:bodyPr>
          <a:lstStyle/>
          <a:p>
            <a:r>
              <a:rPr lang="en-US" sz="2000" b="1" dirty="0">
                <a:solidFill>
                  <a:srgbClr val="FFFF00"/>
                </a:solidFill>
              </a:rPr>
              <a:t>CONTEXT</a:t>
            </a:r>
          </a:p>
        </p:txBody>
      </p:sp>
      <p:sp>
        <p:nvSpPr>
          <p:cNvPr id="8" name="TextBox 7">
            <a:extLst>
              <a:ext uri="{FF2B5EF4-FFF2-40B4-BE49-F238E27FC236}">
                <a16:creationId xmlns:a16="http://schemas.microsoft.com/office/drawing/2014/main" id="{51664802-81B9-2040-8B40-6E2EF0E92172}"/>
              </a:ext>
            </a:extLst>
          </p:cNvPr>
          <p:cNvSpPr txBox="1"/>
          <p:nvPr/>
        </p:nvSpPr>
        <p:spPr>
          <a:xfrm>
            <a:off x="3525125" y="816393"/>
            <a:ext cx="6076950" cy="369332"/>
          </a:xfrm>
          <a:prstGeom prst="rect">
            <a:avLst/>
          </a:prstGeom>
          <a:noFill/>
        </p:spPr>
        <p:txBody>
          <a:bodyPr wrap="square" rtlCol="0">
            <a:spAutoFit/>
          </a:bodyPr>
          <a:lstStyle/>
          <a:p>
            <a:r>
              <a:rPr lang="en-US" b="1" dirty="0">
                <a:solidFill>
                  <a:srgbClr val="FF0000"/>
                </a:solidFill>
              </a:rPr>
              <a:t>NO IN CLASS DISCUSSION – LAB EXERCISE</a:t>
            </a:r>
          </a:p>
        </p:txBody>
      </p:sp>
    </p:spTree>
    <p:extLst>
      <p:ext uri="{BB962C8B-B14F-4D97-AF65-F5344CB8AC3E}">
        <p14:creationId xmlns:p14="http://schemas.microsoft.com/office/powerpoint/2010/main" val="3109543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0979F0-0F49-E943-B4E2-9F7DC6D2011D}"/>
              </a:ext>
            </a:extLst>
          </p:cNvPr>
          <p:cNvSpPr txBox="1">
            <a:spLocks/>
          </p:cNvSpPr>
          <p:nvPr/>
        </p:nvSpPr>
        <p:spPr>
          <a:xfrm>
            <a:off x="1762272" y="141550"/>
            <a:ext cx="12741823"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solidFill>
                  <a:prstClr val="white"/>
                </a:solidFill>
                <a:latin typeface="Perpetua Titling MT Light" charset="0"/>
              </a:rPr>
              <a:t> Con’T - AI ETHICAL CONCERNS</a:t>
            </a:r>
            <a:endParaRPr lang="en-US" sz="2000" dirty="0">
              <a:solidFill>
                <a:prstClr val="white"/>
              </a:solidFill>
              <a:latin typeface="Perpetua Titling MT Light" charset="0"/>
            </a:endParaRPr>
          </a:p>
        </p:txBody>
      </p:sp>
      <p:sp>
        <p:nvSpPr>
          <p:cNvPr id="4" name="Rectangle 3">
            <a:extLst>
              <a:ext uri="{FF2B5EF4-FFF2-40B4-BE49-F238E27FC236}">
                <a16:creationId xmlns:a16="http://schemas.microsoft.com/office/drawing/2014/main" id="{20FD5DF8-3859-9B4B-8C55-0A873BEF12F5}"/>
              </a:ext>
            </a:extLst>
          </p:cNvPr>
          <p:cNvSpPr/>
          <p:nvPr/>
        </p:nvSpPr>
        <p:spPr bwMode="auto">
          <a:xfrm>
            <a:off x="5040878" y="8164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TextBox 4">
            <a:extLst>
              <a:ext uri="{FF2B5EF4-FFF2-40B4-BE49-F238E27FC236}">
                <a16:creationId xmlns:a16="http://schemas.microsoft.com/office/drawing/2014/main" id="{604CB055-A393-624F-9AD9-2000E885CFEB}"/>
              </a:ext>
            </a:extLst>
          </p:cNvPr>
          <p:cNvSpPr txBox="1"/>
          <p:nvPr/>
        </p:nvSpPr>
        <p:spPr>
          <a:xfrm>
            <a:off x="763710" y="1240878"/>
            <a:ext cx="11345720" cy="5847755"/>
          </a:xfrm>
          <a:prstGeom prst="rect">
            <a:avLst/>
          </a:prstGeom>
          <a:noFill/>
        </p:spPr>
        <p:txBody>
          <a:bodyPr wrap="square" rtlCol="0">
            <a:spAutoFit/>
          </a:bodyPr>
          <a:lstStyle/>
          <a:p>
            <a:r>
              <a:rPr lang="en-US" sz="2200" b="1" u="sng" dirty="0">
                <a:solidFill>
                  <a:srgbClr val="FFFF00"/>
                </a:solidFill>
              </a:rPr>
              <a:t>DISCUSSION:</a:t>
            </a:r>
          </a:p>
          <a:p>
            <a:r>
              <a:rPr lang="en-US" sz="2200" b="1" dirty="0">
                <a:solidFill>
                  <a:schemeClr val="bg1"/>
                </a:solidFill>
              </a:rPr>
              <a:t>Here are some AI specific ethical concerns, can you think of others that you are familiar with or would like us to discuss over the next few weeks together?</a:t>
            </a:r>
          </a:p>
          <a:p>
            <a:endParaRPr lang="en-US" sz="2200" b="1" dirty="0">
              <a:solidFill>
                <a:schemeClr val="bg1"/>
              </a:solidFill>
            </a:endParaRPr>
          </a:p>
          <a:p>
            <a:pPr marL="457200" indent="-457200">
              <a:buAutoNum type="arabicPeriod"/>
            </a:pPr>
            <a:r>
              <a:rPr lang="en-US" sz="2200" b="1" dirty="0">
                <a:solidFill>
                  <a:schemeClr val="bg1"/>
                </a:solidFill>
              </a:rPr>
              <a:t>Technical Safety </a:t>
            </a:r>
            <a:r>
              <a:rPr lang="en-US" sz="2200" dirty="0">
                <a:solidFill>
                  <a:schemeClr val="bg1"/>
                </a:solidFill>
              </a:rPr>
              <a:t>– ie: Semi-Autonomous Vehicles</a:t>
            </a:r>
          </a:p>
          <a:p>
            <a:pPr marL="457200" indent="-457200">
              <a:buAutoNum type="arabicPeriod"/>
            </a:pPr>
            <a:r>
              <a:rPr lang="en-US" sz="2200" b="1" dirty="0">
                <a:solidFill>
                  <a:schemeClr val="bg1"/>
                </a:solidFill>
              </a:rPr>
              <a:t>Transparency and Privacy </a:t>
            </a:r>
            <a:r>
              <a:rPr lang="en-US" sz="2200" dirty="0">
                <a:solidFill>
                  <a:schemeClr val="bg1"/>
                </a:solidFill>
              </a:rPr>
              <a:t>– ie: difficulty explaining why a machine learning model makes choices</a:t>
            </a:r>
          </a:p>
          <a:p>
            <a:pPr marL="457200" indent="-457200">
              <a:buAutoNum type="arabicPeriod"/>
            </a:pPr>
            <a:r>
              <a:rPr lang="en-US" sz="2200" b="1" dirty="0">
                <a:solidFill>
                  <a:schemeClr val="bg1"/>
                </a:solidFill>
              </a:rPr>
              <a:t>Beneficial Use and Capacity for Good </a:t>
            </a:r>
            <a:r>
              <a:rPr lang="en-US" sz="2200" dirty="0">
                <a:solidFill>
                  <a:schemeClr val="bg1"/>
                </a:solidFill>
              </a:rPr>
              <a:t>– ie: Spraying weeds controlled by drones, but misclassifying flower plans as weeds</a:t>
            </a:r>
          </a:p>
          <a:p>
            <a:pPr marL="457200" indent="-457200">
              <a:buAutoNum type="arabicPeriod"/>
            </a:pPr>
            <a:r>
              <a:rPr lang="en-US" sz="2200" b="1" dirty="0">
                <a:solidFill>
                  <a:schemeClr val="bg1"/>
                </a:solidFill>
              </a:rPr>
              <a:t>Malicious Use and Capacity for Evil </a:t>
            </a:r>
            <a:r>
              <a:rPr lang="en-US" sz="2200" dirty="0">
                <a:solidFill>
                  <a:schemeClr val="bg1"/>
                </a:solidFill>
              </a:rPr>
              <a:t>– ie: Killer Robots</a:t>
            </a:r>
          </a:p>
          <a:p>
            <a:pPr marL="457200" indent="-457200">
              <a:buAutoNum type="arabicPeriod"/>
            </a:pPr>
            <a:r>
              <a:rPr lang="en-US" sz="2200" b="1" dirty="0">
                <a:solidFill>
                  <a:schemeClr val="bg1"/>
                </a:solidFill>
              </a:rPr>
              <a:t>Bias in Training Data Sets </a:t>
            </a:r>
            <a:r>
              <a:rPr lang="en-US" sz="2200" dirty="0">
                <a:solidFill>
                  <a:schemeClr val="bg1"/>
                </a:solidFill>
              </a:rPr>
              <a:t>– ie: photograph capture misclassifications</a:t>
            </a:r>
          </a:p>
          <a:p>
            <a:pPr marL="457200" indent="-457200">
              <a:buAutoNum type="arabicPeriod"/>
            </a:pPr>
            <a:r>
              <a:rPr lang="en-US" sz="2200" b="1" dirty="0">
                <a:solidFill>
                  <a:schemeClr val="bg1"/>
                </a:solidFill>
              </a:rPr>
              <a:t>Unemployment/Lack of Purpose/Meaning </a:t>
            </a:r>
            <a:r>
              <a:rPr lang="en-US" sz="2200" dirty="0">
                <a:solidFill>
                  <a:schemeClr val="bg1"/>
                </a:solidFill>
              </a:rPr>
              <a:t>– AI impacting professional lives in law, medicine, education</a:t>
            </a:r>
          </a:p>
          <a:p>
            <a:r>
              <a:rPr lang="en-US" sz="2200" b="1" u="sng" dirty="0">
                <a:solidFill>
                  <a:srgbClr val="FFFF00"/>
                </a:solidFill>
              </a:rPr>
              <a:t>LEARNING OUTCOME: </a:t>
            </a:r>
          </a:p>
          <a:p>
            <a:r>
              <a:rPr lang="en-US" sz="2200" dirty="0">
                <a:solidFill>
                  <a:schemeClr val="bg1"/>
                </a:solidFill>
              </a:rPr>
              <a:t>Increased understanding of reasons for ethical concerns in different contexts/use cases.</a:t>
            </a:r>
          </a:p>
          <a:p>
            <a:endParaRPr lang="en-US" sz="2200" dirty="0">
              <a:solidFill>
                <a:schemeClr val="bg1"/>
              </a:solidFill>
            </a:endParaRPr>
          </a:p>
          <a:p>
            <a:endParaRPr lang="en-US" sz="2200" dirty="0">
              <a:solidFill>
                <a:schemeClr val="bg1"/>
              </a:solidFill>
            </a:endParaRPr>
          </a:p>
        </p:txBody>
      </p:sp>
      <p:pic>
        <p:nvPicPr>
          <p:cNvPr id="6" name="Picture 5">
            <a:extLst>
              <a:ext uri="{FF2B5EF4-FFF2-40B4-BE49-F238E27FC236}">
                <a16:creationId xmlns:a16="http://schemas.microsoft.com/office/drawing/2014/main" id="{A478477B-9A83-F64A-B933-41B9745BCC6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66668" y="68115"/>
            <a:ext cx="794084" cy="794084"/>
          </a:xfrm>
          <a:prstGeom prst="rect">
            <a:avLst/>
          </a:prstGeom>
        </p:spPr>
      </p:pic>
      <p:sp>
        <p:nvSpPr>
          <p:cNvPr id="7" name="Slide Number Placeholder 4">
            <a:extLst>
              <a:ext uri="{FF2B5EF4-FFF2-40B4-BE49-F238E27FC236}">
                <a16:creationId xmlns:a16="http://schemas.microsoft.com/office/drawing/2014/main" id="{134C60FA-06EE-3C46-BAB6-88D6ED46BEA7}"/>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41</a:t>
            </a:fld>
            <a:endParaRPr lang="en-US" sz="1400" dirty="0">
              <a:solidFill>
                <a:schemeClr val="bg1"/>
              </a:solidFill>
            </a:endParaRPr>
          </a:p>
        </p:txBody>
      </p:sp>
      <p:sp>
        <p:nvSpPr>
          <p:cNvPr id="8" name="TextBox 7">
            <a:extLst>
              <a:ext uri="{FF2B5EF4-FFF2-40B4-BE49-F238E27FC236}">
                <a16:creationId xmlns:a16="http://schemas.microsoft.com/office/drawing/2014/main" id="{66B90258-B270-8249-8C01-B7B74953E125}"/>
              </a:ext>
            </a:extLst>
          </p:cNvPr>
          <p:cNvSpPr txBox="1"/>
          <p:nvPr/>
        </p:nvSpPr>
        <p:spPr>
          <a:xfrm>
            <a:off x="2056233" y="879038"/>
            <a:ext cx="6076950" cy="369332"/>
          </a:xfrm>
          <a:prstGeom prst="rect">
            <a:avLst/>
          </a:prstGeom>
          <a:noFill/>
        </p:spPr>
        <p:txBody>
          <a:bodyPr wrap="square" rtlCol="0">
            <a:spAutoFit/>
          </a:bodyPr>
          <a:lstStyle/>
          <a:p>
            <a:r>
              <a:rPr lang="en-US" b="1" dirty="0">
                <a:solidFill>
                  <a:srgbClr val="FF0000"/>
                </a:solidFill>
              </a:rPr>
              <a:t>NO IN CLASS DISCUSSION – LAB EXERCISE</a:t>
            </a:r>
          </a:p>
        </p:txBody>
      </p:sp>
    </p:spTree>
    <p:extLst>
      <p:ext uri="{BB962C8B-B14F-4D97-AF65-F5344CB8AC3E}">
        <p14:creationId xmlns:p14="http://schemas.microsoft.com/office/powerpoint/2010/main" val="41590672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flipV="1">
            <a:off x="4925573" y="3933667"/>
            <a:ext cx="2409789" cy="1358722"/>
            <a:chOff x="5102832" y="2169695"/>
            <a:chExt cx="2411289" cy="1299410"/>
          </a:xfrm>
        </p:grpSpPr>
        <p:cxnSp>
          <p:nvCxnSpPr>
            <p:cNvPr id="30" name="Straight Connector 29"/>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3" name="Title 2"/>
          <p:cNvSpPr>
            <a:spLocks noGrp="1"/>
          </p:cNvSpPr>
          <p:nvPr>
            <p:ph type="title"/>
          </p:nvPr>
        </p:nvSpPr>
        <p:spPr>
          <a:xfrm>
            <a:off x="358204" y="170393"/>
            <a:ext cx="11474881" cy="543475"/>
          </a:xfrm>
        </p:spPr>
        <p:txBody>
          <a:bodyPr>
            <a:noAutofit/>
          </a:bodyPr>
          <a:lstStyle/>
          <a:p>
            <a:r>
              <a:rPr lang="en-US" dirty="0">
                <a:solidFill>
                  <a:prstClr val="white"/>
                </a:solidFill>
                <a:latin typeface="Perpetua Titling MT Light" charset="0"/>
              </a:rPr>
              <a:t>AI ETHICS LEGAL Risk Zones</a:t>
            </a:r>
          </a:p>
        </p:txBody>
      </p:sp>
      <p:sp>
        <p:nvSpPr>
          <p:cNvPr id="5" name="Slide Number Placeholder 4"/>
          <p:cNvSpPr>
            <a:spLocks noGrp="1"/>
          </p:cNvSpPr>
          <p:nvPr>
            <p:ph type="sldNum" sz="quarter" idx="4"/>
          </p:nvPr>
        </p:nvSpPr>
        <p:spPr>
          <a:xfrm flipH="1">
            <a:off x="11484653" y="5984021"/>
            <a:ext cx="216084" cy="161888"/>
          </a:xfrm>
        </p:spPr>
        <p:txBody>
          <a:bodyPr/>
          <a:lstStyle/>
          <a:p>
            <a:fld id="{4F9AC08D-23A9-440E-BCB9-AA1E9877CC38}" type="slidenum">
              <a:rPr lang="en-US" smtClean="0"/>
              <a:pPr/>
              <a:t>42</a:t>
            </a:fld>
            <a:endParaRPr lang="en-US" dirty="0"/>
          </a:p>
        </p:txBody>
      </p:sp>
      <p:sp>
        <p:nvSpPr>
          <p:cNvPr id="8" name="TextBox 7"/>
          <p:cNvSpPr txBox="1"/>
          <p:nvPr/>
        </p:nvSpPr>
        <p:spPr>
          <a:xfrm>
            <a:off x="819090" y="1536197"/>
            <a:ext cx="3110233" cy="2600683"/>
          </a:xfrm>
          <a:prstGeom prst="rect">
            <a:avLst/>
          </a:prstGeom>
          <a:noFill/>
        </p:spPr>
        <p:txBody>
          <a:bodyPr wrap="square" lIns="0" tIns="0" rIns="0" bIns="45691" rtlCol="0">
            <a:spAutoFit/>
          </a:bodyPr>
          <a:lstStyle/>
          <a:p>
            <a:pPr defTabSz="913851">
              <a:defRPr/>
            </a:pPr>
            <a:r>
              <a:rPr lang="en-US" sz="3600" b="1" dirty="0">
                <a:solidFill>
                  <a:srgbClr val="FF0000"/>
                </a:solidFill>
                <a:latin typeface="+mj-lt"/>
              </a:rPr>
              <a:t>DATA BIAS</a:t>
            </a:r>
            <a:r>
              <a:rPr lang="en-US" sz="3600" dirty="0">
                <a:solidFill>
                  <a:schemeClr val="accent2"/>
                </a:solidFill>
                <a:latin typeface="+mj-lt"/>
              </a:rPr>
              <a:t>: </a:t>
            </a:r>
            <a:r>
              <a:rPr lang="en-US" sz="2000" b="1" dirty="0">
                <a:solidFill>
                  <a:srgbClr val="FFFF00"/>
                </a:solidFill>
                <a:latin typeface="+mj-lt"/>
              </a:rPr>
              <a:t>ENSURE INCLUSION &amp; DIVERSITY</a:t>
            </a:r>
            <a:br>
              <a:rPr lang="en-US" dirty="0">
                <a:solidFill>
                  <a:schemeClr val="bg1"/>
                </a:solidFill>
                <a:latin typeface="+mj-lt"/>
              </a:rPr>
            </a:br>
            <a:r>
              <a:rPr lang="en-US" dirty="0">
                <a:solidFill>
                  <a:schemeClr val="bg1"/>
                </a:solidFill>
                <a:latin typeface="+mj-lt"/>
              </a:rPr>
              <a:t>AI relies on large amounts of data that may or may not reflect the population it seeks to serve.</a:t>
            </a:r>
          </a:p>
          <a:p>
            <a:pPr defTabSz="913851">
              <a:defRPr/>
            </a:pPr>
            <a:endParaRPr lang="en-US" dirty="0">
              <a:solidFill>
                <a:schemeClr val="bg1"/>
              </a:solidFill>
              <a:latin typeface="+mj-lt"/>
            </a:endParaRPr>
          </a:p>
          <a:p>
            <a:pPr defTabSz="913851">
              <a:defRPr/>
            </a:pPr>
            <a:endParaRPr lang="en-US" dirty="0">
              <a:solidFill>
                <a:schemeClr val="bg1"/>
              </a:solidFill>
              <a:latin typeface="+mj-lt"/>
            </a:endParaRPr>
          </a:p>
        </p:txBody>
      </p:sp>
      <p:sp>
        <p:nvSpPr>
          <p:cNvPr id="9" name="TextBox 8"/>
          <p:cNvSpPr txBox="1"/>
          <p:nvPr/>
        </p:nvSpPr>
        <p:spPr>
          <a:xfrm>
            <a:off x="252663" y="4391307"/>
            <a:ext cx="4332225" cy="2292906"/>
          </a:xfrm>
          <a:prstGeom prst="rect">
            <a:avLst/>
          </a:prstGeom>
          <a:noFill/>
        </p:spPr>
        <p:txBody>
          <a:bodyPr wrap="square" lIns="0" tIns="0" rIns="0" bIns="45691" rtlCol="0">
            <a:spAutoFit/>
          </a:bodyPr>
          <a:lstStyle/>
          <a:p>
            <a:pPr defTabSz="913851">
              <a:defRPr/>
            </a:pPr>
            <a:r>
              <a:rPr lang="en-US" sz="3600" b="1" dirty="0">
                <a:solidFill>
                  <a:srgbClr val="FF0000"/>
                </a:solidFill>
                <a:latin typeface="+mj-lt"/>
              </a:rPr>
              <a:t>ACCOUNTABILITY: </a:t>
            </a:r>
          </a:p>
          <a:p>
            <a:pPr defTabSz="913851">
              <a:defRPr/>
            </a:pPr>
            <a:r>
              <a:rPr lang="en-US" sz="2000" b="1" dirty="0">
                <a:solidFill>
                  <a:srgbClr val="FFFF00"/>
                </a:solidFill>
                <a:latin typeface="+mj-lt"/>
              </a:rPr>
              <a:t>WHO’S ON FIRST?</a:t>
            </a:r>
          </a:p>
          <a:p>
            <a:pPr defTabSz="913851">
              <a:defRPr/>
            </a:pPr>
            <a:r>
              <a:rPr lang="en-US" dirty="0">
                <a:solidFill>
                  <a:schemeClr val="bg1"/>
                </a:solidFill>
                <a:latin typeface="+mj-lt"/>
              </a:rPr>
              <a:t>With machines learning over time, and charting their own course to outcomes, who is accountable for their errors?</a:t>
            </a:r>
          </a:p>
          <a:p>
            <a:pPr defTabSz="913851">
              <a:defRPr/>
            </a:pPr>
            <a:endParaRPr lang="en-US" dirty="0">
              <a:solidFill>
                <a:schemeClr val="bg1"/>
              </a:solidFill>
              <a:latin typeface="+mj-lt"/>
            </a:endParaRPr>
          </a:p>
          <a:p>
            <a:pPr defTabSz="913851">
              <a:defRPr/>
            </a:pPr>
            <a:endParaRPr lang="en-US" dirty="0">
              <a:solidFill>
                <a:schemeClr val="bg1"/>
              </a:solidFill>
              <a:latin typeface="+mj-lt"/>
            </a:endParaRPr>
          </a:p>
        </p:txBody>
      </p:sp>
      <p:sp>
        <p:nvSpPr>
          <p:cNvPr id="11" name="TextBox 10"/>
          <p:cNvSpPr txBox="1"/>
          <p:nvPr/>
        </p:nvSpPr>
        <p:spPr>
          <a:xfrm>
            <a:off x="7836992" y="1563795"/>
            <a:ext cx="4110366" cy="2569905"/>
          </a:xfrm>
          <a:prstGeom prst="rect">
            <a:avLst/>
          </a:prstGeom>
          <a:noFill/>
        </p:spPr>
        <p:txBody>
          <a:bodyPr wrap="square" lIns="0" tIns="0" rIns="0" bIns="45691" rtlCol="0">
            <a:spAutoFit/>
          </a:bodyPr>
          <a:lstStyle/>
          <a:p>
            <a:pPr defTabSz="913851">
              <a:defRPr/>
            </a:pPr>
            <a:r>
              <a:rPr lang="en-US" sz="3600" b="1" dirty="0">
                <a:solidFill>
                  <a:srgbClr val="FF0000"/>
                </a:solidFill>
                <a:latin typeface="+mj-lt"/>
              </a:rPr>
              <a:t>EXPLAINABILITY:</a:t>
            </a:r>
            <a:r>
              <a:rPr lang="en-US" sz="3600" dirty="0">
                <a:solidFill>
                  <a:srgbClr val="89C542"/>
                </a:solidFill>
                <a:latin typeface="+mj-lt"/>
              </a:rPr>
              <a:t> </a:t>
            </a:r>
            <a:r>
              <a:rPr lang="en-US" sz="2000" b="1" dirty="0">
                <a:solidFill>
                  <a:srgbClr val="FFFF00"/>
                </a:solidFill>
                <a:latin typeface="+mj-lt"/>
              </a:rPr>
              <a:t>SAY WHAT?</a:t>
            </a:r>
          </a:p>
          <a:p>
            <a:pPr defTabSz="913851">
              <a:defRPr/>
            </a:pPr>
            <a:r>
              <a:rPr lang="en-US" dirty="0">
                <a:solidFill>
                  <a:schemeClr val="bg1"/>
                </a:solidFill>
                <a:latin typeface="+mj-lt"/>
              </a:rPr>
              <a:t>The deeper the AI, the more it struggles to explain itself.  Certain use cases require an understanding of the rationale for recommendations and decisions.</a:t>
            </a:r>
          </a:p>
          <a:p>
            <a:pPr defTabSz="913851">
              <a:defRPr/>
            </a:pPr>
            <a:endParaRPr lang="en-US" dirty="0">
              <a:solidFill>
                <a:schemeClr val="bg1"/>
              </a:solidFill>
              <a:latin typeface="+mj-lt"/>
            </a:endParaRPr>
          </a:p>
          <a:p>
            <a:pPr defTabSz="913851">
              <a:defRPr/>
            </a:pPr>
            <a:endParaRPr lang="en-US" dirty="0">
              <a:solidFill>
                <a:schemeClr val="bg1"/>
              </a:solidFill>
              <a:latin typeface="+mj-lt"/>
            </a:endParaRPr>
          </a:p>
        </p:txBody>
      </p:sp>
      <p:sp>
        <p:nvSpPr>
          <p:cNvPr id="12" name="TextBox 11"/>
          <p:cNvSpPr txBox="1"/>
          <p:nvPr/>
        </p:nvSpPr>
        <p:spPr>
          <a:xfrm>
            <a:off x="8036164" y="4504717"/>
            <a:ext cx="3911194" cy="2292906"/>
          </a:xfrm>
          <a:prstGeom prst="rect">
            <a:avLst/>
          </a:prstGeom>
          <a:noFill/>
        </p:spPr>
        <p:txBody>
          <a:bodyPr wrap="square" lIns="0" tIns="0" rIns="0" bIns="45691" rtlCol="0">
            <a:spAutoFit/>
          </a:bodyPr>
          <a:lstStyle/>
          <a:p>
            <a:pPr defTabSz="913851">
              <a:defRPr/>
            </a:pPr>
            <a:r>
              <a:rPr lang="en-US" sz="3600" b="1" dirty="0">
                <a:solidFill>
                  <a:srgbClr val="FF0000"/>
                </a:solidFill>
                <a:latin typeface="+mj-lt"/>
              </a:rPr>
              <a:t>PRIVACY:</a:t>
            </a:r>
            <a:r>
              <a:rPr lang="en-US" sz="2000" b="1" dirty="0">
                <a:solidFill>
                  <a:srgbClr val="FF0000"/>
                </a:solidFill>
                <a:latin typeface="+mj-lt"/>
              </a:rPr>
              <a:t> </a:t>
            </a:r>
          </a:p>
          <a:p>
            <a:pPr defTabSz="913851">
              <a:defRPr/>
            </a:pPr>
            <a:r>
              <a:rPr lang="en-US" sz="2000" b="1" dirty="0">
                <a:solidFill>
                  <a:srgbClr val="FFFF00"/>
                </a:solidFill>
                <a:latin typeface="+mj-lt"/>
              </a:rPr>
              <a:t>TRUST AND TRANSPARENCY</a:t>
            </a:r>
          </a:p>
          <a:p>
            <a:pPr defTabSz="913851">
              <a:defRPr/>
            </a:pPr>
            <a:r>
              <a:rPr lang="en-US" dirty="0">
                <a:solidFill>
                  <a:schemeClr val="bg1"/>
                </a:solidFill>
                <a:latin typeface="+mj-lt"/>
              </a:rPr>
              <a:t>AI threatens to erode our trust in traditional privacy tactics and do things with our data that we didn’t consent to.</a:t>
            </a:r>
          </a:p>
          <a:p>
            <a:pPr defTabSz="913851">
              <a:defRPr/>
            </a:pPr>
            <a:endParaRPr lang="en-US" dirty="0">
              <a:solidFill>
                <a:schemeClr val="bg1"/>
              </a:solidFill>
              <a:latin typeface="+mj-lt"/>
            </a:endParaRPr>
          </a:p>
          <a:p>
            <a:pPr defTabSz="913851">
              <a:defRPr/>
            </a:pPr>
            <a:endParaRPr lang="en-US" dirty="0">
              <a:solidFill>
                <a:schemeClr val="bg1"/>
              </a:solidFill>
              <a:latin typeface="+mj-lt"/>
            </a:endParaRPr>
          </a:p>
        </p:txBody>
      </p:sp>
      <p:grpSp>
        <p:nvGrpSpPr>
          <p:cNvPr id="28" name="Group 27"/>
          <p:cNvGrpSpPr/>
          <p:nvPr/>
        </p:nvGrpSpPr>
        <p:grpSpPr>
          <a:xfrm>
            <a:off x="4971103" y="1617026"/>
            <a:ext cx="2409789" cy="1298601"/>
            <a:chOff x="5102832" y="2169695"/>
            <a:chExt cx="2411289" cy="1299410"/>
          </a:xfrm>
        </p:grpSpPr>
        <p:cxnSp>
          <p:nvCxnSpPr>
            <p:cNvPr id="25" name="Straight Connector 24"/>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2" name="Oval 1"/>
          <p:cNvSpPr/>
          <p:nvPr/>
        </p:nvSpPr>
        <p:spPr>
          <a:xfrm>
            <a:off x="4584889" y="2045885"/>
            <a:ext cx="2613237" cy="2613237"/>
          </a:xfrm>
          <a:prstGeom prst="ellipse">
            <a:avLst/>
          </a:prstGeom>
          <a:solidFill>
            <a:schemeClr val="bg1"/>
          </a:solidFill>
          <a:ln w="76200">
            <a:solidFill>
              <a:srgbClr val="89C5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1">
              <a:defRPr/>
            </a:pPr>
            <a:endParaRPr lang="en-US" sz="1599" dirty="0">
              <a:solidFill>
                <a:prstClr val="white"/>
              </a:solidFill>
              <a:latin typeface="Arial"/>
            </a:endParaRPr>
          </a:p>
        </p:txBody>
      </p:sp>
      <p:pic>
        <p:nvPicPr>
          <p:cNvPr id="16" name="Picture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25573" y="1993783"/>
            <a:ext cx="1887782" cy="1887782"/>
          </a:xfrm>
          <a:prstGeom prst="rect">
            <a:avLst/>
          </a:prstGeom>
          <a:ln>
            <a:noFill/>
          </a:ln>
        </p:spPr>
      </p:pic>
      <p:sp>
        <p:nvSpPr>
          <p:cNvPr id="17" name="TextBox 16"/>
          <p:cNvSpPr txBox="1"/>
          <p:nvPr/>
        </p:nvSpPr>
        <p:spPr>
          <a:xfrm>
            <a:off x="4905160" y="3713150"/>
            <a:ext cx="1987984" cy="661690"/>
          </a:xfrm>
          <a:prstGeom prst="rect">
            <a:avLst/>
          </a:prstGeom>
          <a:noFill/>
        </p:spPr>
        <p:txBody>
          <a:bodyPr wrap="square" lIns="0" tIns="0" rIns="0" bIns="45691" rtlCol="0">
            <a:spAutoFit/>
          </a:bodyPr>
          <a:lstStyle/>
          <a:p>
            <a:pPr algn="ctr" defTabSz="913851">
              <a:lnSpc>
                <a:spcPts val="2399"/>
              </a:lnSpc>
              <a:defRPr/>
            </a:pPr>
            <a:r>
              <a:rPr lang="en-US" b="1" dirty="0">
                <a:latin typeface="+mj-lt"/>
              </a:rPr>
              <a:t>TRUSTED AI</a:t>
            </a:r>
          </a:p>
          <a:p>
            <a:pPr algn="ctr" defTabSz="913851">
              <a:lnSpc>
                <a:spcPts val="2399"/>
              </a:lnSpc>
              <a:defRPr/>
            </a:pPr>
            <a:r>
              <a:rPr lang="en-US" b="1" dirty="0">
                <a:latin typeface="+mj-lt"/>
              </a:rPr>
              <a:t>AI FOR GOOD</a:t>
            </a:r>
          </a:p>
        </p:txBody>
      </p:sp>
      <p:sp>
        <p:nvSpPr>
          <p:cNvPr id="18" name="Slide Number Placeholder 4">
            <a:extLst>
              <a:ext uri="{FF2B5EF4-FFF2-40B4-BE49-F238E27FC236}">
                <a16:creationId xmlns:a16="http://schemas.microsoft.com/office/drawing/2014/main" id="{22968E33-A64C-5C49-8688-F0299E8B512F}"/>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42</a:t>
            </a:fld>
            <a:endParaRPr lang="en-US" sz="1400" dirty="0">
              <a:solidFill>
                <a:schemeClr val="bg1"/>
              </a:solidFill>
            </a:endParaRPr>
          </a:p>
        </p:txBody>
      </p:sp>
      <p:sp>
        <p:nvSpPr>
          <p:cNvPr id="19" name="Rectangle 18">
            <a:extLst>
              <a:ext uri="{FF2B5EF4-FFF2-40B4-BE49-F238E27FC236}">
                <a16:creationId xmlns:a16="http://schemas.microsoft.com/office/drawing/2014/main" id="{C7FC69E1-D4A6-9648-94C0-9C6255590CE3}"/>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Tree>
    <p:extLst>
      <p:ext uri="{BB962C8B-B14F-4D97-AF65-F5344CB8AC3E}">
        <p14:creationId xmlns:p14="http://schemas.microsoft.com/office/powerpoint/2010/main" val="27948480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7719" y="393171"/>
            <a:ext cx="11474881" cy="543475"/>
          </a:xfrm>
        </p:spPr>
        <p:txBody>
          <a:bodyPr>
            <a:noAutofit/>
          </a:bodyPr>
          <a:lstStyle/>
          <a:p>
            <a:r>
              <a:rPr lang="en-US" dirty="0">
                <a:solidFill>
                  <a:prstClr val="white"/>
                </a:solidFill>
                <a:latin typeface="Perpetua Titling MT Light" charset="0"/>
              </a:rPr>
              <a:t>DATA BIAS RISKS </a:t>
            </a:r>
          </a:p>
        </p:txBody>
      </p:sp>
      <p:sp>
        <p:nvSpPr>
          <p:cNvPr id="5" name="Slide Number Placeholder 4"/>
          <p:cNvSpPr>
            <a:spLocks noGrp="1"/>
          </p:cNvSpPr>
          <p:nvPr>
            <p:ph type="sldNum" sz="quarter" idx="4"/>
          </p:nvPr>
        </p:nvSpPr>
        <p:spPr>
          <a:xfrm flipH="1">
            <a:off x="11484653" y="5506942"/>
            <a:ext cx="216084" cy="161888"/>
          </a:xfrm>
        </p:spPr>
        <p:txBody>
          <a:bodyPr/>
          <a:lstStyle/>
          <a:p>
            <a:fld id="{4F9AC08D-23A9-440E-BCB9-AA1E9877CC38}" type="slidenum">
              <a:rPr lang="en-US" smtClean="0"/>
              <a:pPr/>
              <a:t>43</a:t>
            </a:fld>
            <a:endParaRPr lang="en-US" dirty="0"/>
          </a:p>
        </p:txBody>
      </p:sp>
      <p:sp>
        <p:nvSpPr>
          <p:cNvPr id="8" name="TextBox 7"/>
          <p:cNvSpPr txBox="1"/>
          <p:nvPr/>
        </p:nvSpPr>
        <p:spPr>
          <a:xfrm>
            <a:off x="568858" y="1147571"/>
            <a:ext cx="11233742" cy="1523465"/>
          </a:xfrm>
          <a:prstGeom prst="rect">
            <a:avLst/>
          </a:prstGeom>
          <a:noFill/>
        </p:spPr>
        <p:txBody>
          <a:bodyPr wrap="square" lIns="0" tIns="0" rIns="0" bIns="45691" rtlCol="0">
            <a:spAutoFit/>
          </a:bodyPr>
          <a:lstStyle/>
          <a:p>
            <a:pPr defTabSz="913851">
              <a:defRPr/>
            </a:pPr>
            <a:r>
              <a:rPr lang="en-US" sz="2400" b="1" dirty="0">
                <a:solidFill>
                  <a:srgbClr val="FF0000"/>
                </a:solidFill>
                <a:latin typeface="+mj-lt"/>
              </a:rPr>
              <a:t>DATA BIAS</a:t>
            </a:r>
            <a:r>
              <a:rPr lang="en-US" sz="2400" dirty="0">
                <a:solidFill>
                  <a:srgbClr val="FF0000"/>
                </a:solidFill>
                <a:latin typeface="+mj-lt"/>
              </a:rPr>
              <a:t>: </a:t>
            </a:r>
            <a:r>
              <a:rPr lang="en-US" sz="2400" b="1" dirty="0">
                <a:solidFill>
                  <a:srgbClr val="FFFF00"/>
                </a:solidFill>
                <a:latin typeface="+mj-lt"/>
              </a:rPr>
              <a:t>ENSURE INCLUSION &amp; DIVERSITY</a:t>
            </a:r>
            <a:br>
              <a:rPr lang="en-US" sz="2400" dirty="0">
                <a:solidFill>
                  <a:schemeClr val="bg1"/>
                </a:solidFill>
                <a:latin typeface="+mj-lt"/>
              </a:rPr>
            </a:br>
            <a:r>
              <a:rPr lang="en-US" sz="2400" dirty="0">
                <a:solidFill>
                  <a:schemeClr val="bg1"/>
                </a:solidFill>
                <a:latin typeface="+mj-lt"/>
              </a:rPr>
              <a:t>AI relies on large amounts of data that may or may not reflect the population it seeks to serve.</a:t>
            </a:r>
          </a:p>
          <a:p>
            <a:pPr defTabSz="913851">
              <a:defRPr/>
            </a:pPr>
            <a:endParaRPr lang="en-US" sz="2400" dirty="0">
              <a:solidFill>
                <a:schemeClr val="bg1"/>
              </a:solidFill>
              <a:latin typeface="+mj-lt"/>
            </a:endParaRPr>
          </a:p>
          <a:p>
            <a:pPr defTabSz="913851">
              <a:defRPr/>
            </a:pPr>
            <a:endParaRPr lang="en-US" sz="2400" dirty="0">
              <a:solidFill>
                <a:schemeClr val="bg1"/>
              </a:solidFill>
              <a:latin typeface="+mj-lt"/>
            </a:endParaRPr>
          </a:p>
        </p:txBody>
      </p:sp>
      <p:sp>
        <p:nvSpPr>
          <p:cNvPr id="18" name="Slide Number Placeholder 4">
            <a:extLst>
              <a:ext uri="{FF2B5EF4-FFF2-40B4-BE49-F238E27FC236}">
                <a16:creationId xmlns:a16="http://schemas.microsoft.com/office/drawing/2014/main" id="{22968E33-A64C-5C49-8688-F0299E8B512F}"/>
              </a:ext>
            </a:extLst>
          </p:cNvPr>
          <p:cNvSpPr txBox="1">
            <a:spLocks/>
          </p:cNvSpPr>
          <p:nvPr/>
        </p:nvSpPr>
        <p:spPr>
          <a:xfrm>
            <a:off x="11715750" y="638754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43</a:t>
            </a:fld>
            <a:endParaRPr lang="en-US" sz="1400" dirty="0">
              <a:solidFill>
                <a:schemeClr val="bg1"/>
              </a:solidFill>
            </a:endParaRPr>
          </a:p>
        </p:txBody>
      </p:sp>
      <p:sp>
        <p:nvSpPr>
          <p:cNvPr id="19" name="Rectangle 18">
            <a:extLst>
              <a:ext uri="{FF2B5EF4-FFF2-40B4-BE49-F238E27FC236}">
                <a16:creationId xmlns:a16="http://schemas.microsoft.com/office/drawing/2014/main" id="{FA2A7E62-ED27-404E-A7F0-CB4D562D2903}"/>
              </a:ext>
            </a:extLst>
          </p:cNvPr>
          <p:cNvSpPr/>
          <p:nvPr/>
        </p:nvSpPr>
        <p:spPr bwMode="auto">
          <a:xfrm>
            <a:off x="5468123" y="973739"/>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10" name="Rectangle 9">
            <a:extLst>
              <a:ext uri="{FF2B5EF4-FFF2-40B4-BE49-F238E27FC236}">
                <a16:creationId xmlns:a16="http://schemas.microsoft.com/office/drawing/2014/main" id="{8C31AA59-A1E9-6E47-9852-A9313C0D5696}"/>
              </a:ext>
            </a:extLst>
          </p:cNvPr>
          <p:cNvSpPr/>
          <p:nvPr/>
        </p:nvSpPr>
        <p:spPr>
          <a:xfrm>
            <a:off x="354122" y="3511800"/>
            <a:ext cx="2606565" cy="2677656"/>
          </a:xfrm>
          <a:prstGeom prst="rect">
            <a:avLst/>
          </a:prstGeom>
          <a:noFill/>
        </p:spPr>
        <p:txBody>
          <a:bodyPr wrap="square">
            <a:spAutoFit/>
          </a:bodyPr>
          <a:lstStyle/>
          <a:p>
            <a:r>
              <a:rPr lang="en-CA" sz="2400" dirty="0">
                <a:solidFill>
                  <a:schemeClr val="bg1"/>
                </a:solidFill>
                <a:latin typeface="+mj-lt"/>
              </a:rPr>
              <a:t>More than 180 human biases have been defined and classified, and any one of which can affect how we make decisions</a:t>
            </a:r>
            <a:r>
              <a:rPr lang="en-CA" sz="2400" dirty="0">
                <a:solidFill>
                  <a:schemeClr val="bg1"/>
                </a:solidFill>
                <a:latin typeface="ibm-plex-sans"/>
              </a:rPr>
              <a:t>.</a:t>
            </a:r>
            <a:endParaRPr lang="en-US" sz="2400" dirty="0">
              <a:solidFill>
                <a:schemeClr val="bg1"/>
              </a:solidFill>
            </a:endParaRPr>
          </a:p>
        </p:txBody>
      </p:sp>
      <p:pic>
        <p:nvPicPr>
          <p:cNvPr id="99335" name="Picture 7" descr="global finance icon">
            <a:extLst>
              <a:ext uri="{FF2B5EF4-FFF2-40B4-BE49-F238E27FC236}">
                <a16:creationId xmlns:a16="http://schemas.microsoft.com/office/drawing/2014/main" id="{776CD776-0A21-9540-8FAA-B3A015B67AE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59573" y="2324094"/>
            <a:ext cx="860098" cy="860098"/>
          </a:xfrm>
          <a:prstGeom prst="rect">
            <a:avLst/>
          </a:prstGeom>
          <a:solidFill>
            <a:schemeClr val="bg1"/>
          </a:solidFill>
          <a:ln w="76200">
            <a:solidFill>
              <a:srgbClr val="FF0000"/>
            </a:solidFill>
          </a:ln>
        </p:spPr>
      </p:pic>
      <p:sp>
        <p:nvSpPr>
          <p:cNvPr id="11" name="TextBox 10">
            <a:extLst>
              <a:ext uri="{FF2B5EF4-FFF2-40B4-BE49-F238E27FC236}">
                <a16:creationId xmlns:a16="http://schemas.microsoft.com/office/drawing/2014/main" id="{E8A3B4EC-77F8-6C47-A186-0E90960CE9AA}"/>
              </a:ext>
            </a:extLst>
          </p:cNvPr>
          <p:cNvSpPr txBox="1"/>
          <p:nvPr/>
        </p:nvSpPr>
        <p:spPr>
          <a:xfrm>
            <a:off x="3422960" y="3558710"/>
            <a:ext cx="2642201" cy="2677656"/>
          </a:xfrm>
          <a:prstGeom prst="rect">
            <a:avLst/>
          </a:prstGeom>
          <a:noFill/>
        </p:spPr>
        <p:txBody>
          <a:bodyPr wrap="square" rtlCol="0">
            <a:spAutoFit/>
          </a:bodyPr>
          <a:lstStyle/>
          <a:p>
            <a:r>
              <a:rPr lang="en-CA" sz="2400" dirty="0">
                <a:solidFill>
                  <a:schemeClr val="bg1"/>
                </a:solidFill>
                <a:latin typeface="+mj-lt"/>
              </a:rPr>
              <a:t>Biases find their way into the AI systems we design, and are used to make decisions by many, from governments to businesses.</a:t>
            </a:r>
            <a:endParaRPr lang="en-US" sz="2400" dirty="0">
              <a:solidFill>
                <a:schemeClr val="bg1"/>
              </a:solidFill>
              <a:latin typeface="+mj-lt"/>
            </a:endParaRPr>
          </a:p>
        </p:txBody>
      </p:sp>
      <p:pic>
        <p:nvPicPr>
          <p:cNvPr id="99337" name="Picture 9" descr="airplane icon">
            <a:extLst>
              <a:ext uri="{FF2B5EF4-FFF2-40B4-BE49-F238E27FC236}">
                <a16:creationId xmlns:a16="http://schemas.microsoft.com/office/drawing/2014/main" id="{37A305EC-1C88-D74C-9311-6DB1BA1AA59D}"/>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237006" y="2338275"/>
            <a:ext cx="882224" cy="882224"/>
          </a:xfrm>
          <a:prstGeom prst="rect">
            <a:avLst/>
          </a:prstGeom>
          <a:solidFill>
            <a:schemeClr val="bg1"/>
          </a:solidFill>
          <a:ln w="76200">
            <a:solidFill>
              <a:srgbClr val="FF0000"/>
            </a:solidFill>
          </a:ln>
        </p:spPr>
      </p:pic>
      <p:sp>
        <p:nvSpPr>
          <p:cNvPr id="12" name="Rectangle 11">
            <a:extLst>
              <a:ext uri="{FF2B5EF4-FFF2-40B4-BE49-F238E27FC236}">
                <a16:creationId xmlns:a16="http://schemas.microsoft.com/office/drawing/2014/main" id="{5E2BD6DA-CFD2-8840-8E9F-80A11DE117CE}"/>
              </a:ext>
            </a:extLst>
          </p:cNvPr>
          <p:cNvSpPr/>
          <p:nvPr/>
        </p:nvSpPr>
        <p:spPr>
          <a:xfrm>
            <a:off x="6527434" y="3558710"/>
            <a:ext cx="2269725" cy="2308324"/>
          </a:xfrm>
          <a:prstGeom prst="rect">
            <a:avLst/>
          </a:prstGeom>
          <a:noFill/>
        </p:spPr>
        <p:txBody>
          <a:bodyPr wrap="square">
            <a:spAutoFit/>
          </a:bodyPr>
          <a:lstStyle/>
          <a:p>
            <a:r>
              <a:rPr lang="en-CA" sz="2400" dirty="0">
                <a:solidFill>
                  <a:schemeClr val="bg1"/>
                </a:solidFill>
                <a:latin typeface="+mj-lt"/>
              </a:rPr>
              <a:t>Bad data used to train AI can contain implicit racial, gender, or ideological biases.</a:t>
            </a:r>
            <a:endParaRPr lang="en-US" sz="2400" dirty="0">
              <a:solidFill>
                <a:schemeClr val="bg1"/>
              </a:solidFill>
              <a:latin typeface="+mj-lt"/>
            </a:endParaRPr>
          </a:p>
        </p:txBody>
      </p:sp>
      <p:pic>
        <p:nvPicPr>
          <p:cNvPr id="99339" name="Picture 11" descr="medical icon">
            <a:extLst>
              <a:ext uri="{FF2B5EF4-FFF2-40B4-BE49-F238E27FC236}">
                <a16:creationId xmlns:a16="http://schemas.microsoft.com/office/drawing/2014/main" id="{0EF49273-4A1B-194F-8796-5CDD0723C7A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6973672" y="2324094"/>
            <a:ext cx="925786" cy="925786"/>
          </a:xfrm>
          <a:prstGeom prst="rect">
            <a:avLst/>
          </a:prstGeom>
          <a:solidFill>
            <a:schemeClr val="bg1"/>
          </a:solidFill>
          <a:ln w="76200">
            <a:solidFill>
              <a:srgbClr val="FF0000"/>
            </a:solidFill>
          </a:ln>
        </p:spPr>
      </p:pic>
      <p:sp>
        <p:nvSpPr>
          <p:cNvPr id="13" name="Rectangle 12">
            <a:extLst>
              <a:ext uri="{FF2B5EF4-FFF2-40B4-BE49-F238E27FC236}">
                <a16:creationId xmlns:a16="http://schemas.microsoft.com/office/drawing/2014/main" id="{C981A6D1-FC4B-B848-A0FE-803E545B6F13}"/>
              </a:ext>
            </a:extLst>
          </p:cNvPr>
          <p:cNvSpPr/>
          <p:nvPr/>
        </p:nvSpPr>
        <p:spPr>
          <a:xfrm>
            <a:off x="9345227" y="3558709"/>
            <a:ext cx="2370523" cy="1938992"/>
          </a:xfrm>
          <a:prstGeom prst="rect">
            <a:avLst/>
          </a:prstGeom>
        </p:spPr>
        <p:txBody>
          <a:bodyPr wrap="square">
            <a:spAutoFit/>
          </a:bodyPr>
          <a:lstStyle/>
          <a:p>
            <a:r>
              <a:rPr lang="en-CA" sz="2400" dirty="0">
                <a:solidFill>
                  <a:schemeClr val="bg1"/>
                </a:solidFill>
                <a:latin typeface="+mj-lt"/>
              </a:rPr>
              <a:t>Bias in AI systems could erode trust between humans and machines that learn.</a:t>
            </a:r>
            <a:endParaRPr lang="en-US" sz="2400" dirty="0">
              <a:solidFill>
                <a:schemeClr val="bg1"/>
              </a:solidFill>
              <a:latin typeface="+mj-lt"/>
            </a:endParaRPr>
          </a:p>
        </p:txBody>
      </p:sp>
      <p:pic>
        <p:nvPicPr>
          <p:cNvPr id="99341" name="Picture 13" descr="shoe icon">
            <a:extLst>
              <a:ext uri="{FF2B5EF4-FFF2-40B4-BE49-F238E27FC236}">
                <a16:creationId xmlns:a16="http://schemas.microsoft.com/office/drawing/2014/main" id="{5C6F3A6E-3073-774D-B1D1-69F3C2C2960C}"/>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9853199" y="2323068"/>
            <a:ext cx="897431" cy="897431"/>
          </a:xfrm>
          <a:prstGeom prst="rect">
            <a:avLst/>
          </a:prstGeom>
          <a:solidFill>
            <a:schemeClr val="bg1"/>
          </a:solidFill>
          <a:ln w="76200">
            <a:solidFill>
              <a:srgbClr val="FF0000"/>
            </a:solidFill>
          </a:ln>
        </p:spPr>
      </p:pic>
    </p:spTree>
    <p:extLst>
      <p:ext uri="{BB962C8B-B14F-4D97-AF65-F5344CB8AC3E}">
        <p14:creationId xmlns:p14="http://schemas.microsoft.com/office/powerpoint/2010/main" val="1538632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2"/>
            </p:custDataLst>
          </p:nvPr>
        </p:nvGraphicFramePr>
        <p:xfrm>
          <a:off x="1588" y="3373"/>
          <a:ext cx="1587" cy="1587"/>
        </p:xfrm>
        <a:graphic>
          <a:graphicData uri="http://schemas.openxmlformats.org/presentationml/2006/ole">
            <mc:AlternateContent xmlns:mc="http://schemas.openxmlformats.org/markup-compatibility/2006">
              <mc:Choice xmlns:v="urn:schemas-microsoft-com:vml" Requires="v">
                <p:oleObj spid="_x0000_s22556" name="think-cell Slide" r:id="rId6" imgW="352" imgH="318" progId="TCLayout.ActiveDocument.1">
                  <p:embed/>
                </p:oleObj>
              </mc:Choice>
              <mc:Fallback>
                <p:oleObj name="think-cell Slide" r:id="rId6" imgW="352" imgH="318" progId="TCLayout.ActiveDocument.1">
                  <p:embed/>
                  <p:pic>
                    <p:nvPicPr>
                      <p:cNvPr id="4" name="Objekt 3" hidden="1"/>
                      <p:cNvPicPr/>
                      <p:nvPr/>
                    </p:nvPicPr>
                    <p:blipFill>
                      <a:blip r:embed="rId7"/>
                      <a:stretch>
                        <a:fillRect/>
                      </a:stretch>
                    </p:blipFill>
                    <p:spPr>
                      <a:xfrm>
                        <a:off x="1588" y="3373"/>
                        <a:ext cx="1587" cy="1587"/>
                      </a:xfrm>
                      <a:prstGeom prst="rect">
                        <a:avLst/>
                      </a:prstGeom>
                    </p:spPr>
                  </p:pic>
                </p:oleObj>
              </mc:Fallback>
            </mc:AlternateContent>
          </a:graphicData>
        </a:graphic>
      </p:graphicFrame>
      <p:sp>
        <p:nvSpPr>
          <p:cNvPr id="3" name="Rechteck 2" hidden="1"/>
          <p:cNvSpPr/>
          <p:nvPr>
            <p:custDataLst>
              <p:tags r:id="rId3"/>
            </p:custDataLst>
          </p:nvPr>
        </p:nvSpPr>
        <p:spPr>
          <a:xfrm>
            <a:off x="1" y="1786"/>
            <a:ext cx="158667" cy="158667"/>
          </a:xfrm>
          <a:prstGeom prst="rect">
            <a:avLst/>
          </a:prstGeom>
          <a:solidFill>
            <a:srgbClr val="D2D2DA"/>
          </a:solidFill>
          <a:ln w="12700" cap="sq" cmpd="sng" algn="ctr">
            <a:noFill/>
            <a:prstDash val="solid"/>
            <a:miter lim="800000"/>
            <a:tailEnd type="none"/>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13958">
              <a:spcBef>
                <a:spcPct val="0"/>
              </a:spcBef>
              <a:spcAft>
                <a:spcPct val="0"/>
              </a:spcAft>
              <a:defRPr/>
            </a:pPr>
            <a:endParaRPr lang="en-US" sz="2399" kern="0" dirty="0">
              <a:solidFill>
                <a:srgbClr val="2E2E38"/>
              </a:solidFill>
              <a:latin typeface="EYInterstate Light" panose="02000506000000020004" pitchFamily="2" charset="0"/>
              <a:cs typeface="Arial" panose="020B0604020202020204" pitchFamily="34" charset="0"/>
              <a:sym typeface="EYInterstate Light" panose="02000506000000020004" pitchFamily="2" charset="0"/>
            </a:endParaRPr>
          </a:p>
        </p:txBody>
      </p:sp>
      <p:sp>
        <p:nvSpPr>
          <p:cNvPr id="25" name="Text Placeholder 5">
            <a:extLst>
              <a:ext uri="{FF2B5EF4-FFF2-40B4-BE49-F238E27FC236}">
                <a16:creationId xmlns:a16="http://schemas.microsoft.com/office/drawing/2014/main" id="{942441DD-82A1-4679-A1D4-25594F841680}"/>
              </a:ext>
            </a:extLst>
          </p:cNvPr>
          <p:cNvSpPr txBox="1">
            <a:spLocks/>
          </p:cNvSpPr>
          <p:nvPr/>
        </p:nvSpPr>
        <p:spPr>
          <a:xfrm>
            <a:off x="609600" y="429407"/>
            <a:ext cx="10972800" cy="859952"/>
          </a:xfrm>
          <a:prstGeom prst="rect">
            <a:avLst/>
          </a:prstGeom>
        </p:spPr>
        <p:txBody>
          <a:bodyPr anchor="ctr"/>
          <a:lstStyle>
            <a:lvl1pPr marL="0" marR="0" indent="0" algn="l" defTabSz="914400" rtl="0" eaLnBrk="1" fontAlgn="auto" latinLnBrk="0" hangingPunct="1">
              <a:lnSpc>
                <a:spcPct val="100000"/>
              </a:lnSpc>
              <a:spcBef>
                <a:spcPct val="20000"/>
              </a:spcBef>
              <a:spcAft>
                <a:spcPts val="0"/>
              </a:spcAft>
              <a:buClr>
                <a:schemeClr val="accent2"/>
              </a:buClr>
              <a:buSzPct val="70000"/>
              <a:buFont typeface="Arial" pitchFamily="34" charset="0"/>
              <a:buNone/>
              <a:tabLst/>
              <a:defRPr kumimoji="0" lang="de-CH" sz="2400" b="1" i="0" u="none" strike="noStrike" kern="1200" cap="none" spc="0" normalizeH="0" baseline="0" noProof="0" smtClean="0">
                <a:ln>
                  <a:noFill/>
                </a:ln>
                <a:solidFill>
                  <a:srgbClr val="FFFFFF"/>
                </a:solidFill>
                <a:effectLst/>
                <a:uLnTx/>
                <a:uFillTx/>
                <a:latin typeface="EYInterstate " charset="0"/>
                <a:ea typeface="+mn-ea"/>
                <a:cs typeface="Arial" pitchFamily="34" charset="0"/>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3958">
              <a:buClr>
                <a:srgbClr val="FFE600"/>
              </a:buClr>
              <a:defRPr/>
            </a:pPr>
            <a:endParaRPr lang="en-US" sz="2399" b="0" dirty="0">
              <a:solidFill>
                <a:prstClr val="white"/>
              </a:solidFill>
            </a:endParaRPr>
          </a:p>
        </p:txBody>
      </p:sp>
      <p:sp>
        <p:nvSpPr>
          <p:cNvPr id="10" name="Content Placeholder 2">
            <a:extLst>
              <a:ext uri="{FF2B5EF4-FFF2-40B4-BE49-F238E27FC236}">
                <a16:creationId xmlns:a16="http://schemas.microsoft.com/office/drawing/2014/main" id="{CB026A12-3A98-485A-ADBC-4E6F3FCD97CC}"/>
              </a:ext>
            </a:extLst>
          </p:cNvPr>
          <p:cNvSpPr>
            <a:spLocks noGrp="1"/>
          </p:cNvSpPr>
          <p:nvPr>
            <p:ph type="body" sz="quarter" idx="1"/>
          </p:nvPr>
        </p:nvSpPr>
        <p:spPr>
          <a:xfrm>
            <a:off x="266700" y="213016"/>
            <a:ext cx="11417300" cy="914401"/>
          </a:xfrm>
        </p:spPr>
        <p:txBody>
          <a:bodyPr>
            <a:noAutofit/>
          </a:bodyPr>
          <a:lstStyle/>
          <a:p>
            <a:r>
              <a:rPr lang="en-GB" sz="4000" dirty="0">
                <a:solidFill>
                  <a:prstClr val="white"/>
                </a:solidFill>
                <a:latin typeface="Perpetua Titling MT Light" charset="0"/>
              </a:rPr>
              <a:t>Case Study – Prevalence of Bias in AI Models</a:t>
            </a:r>
          </a:p>
        </p:txBody>
      </p:sp>
      <p:sp>
        <p:nvSpPr>
          <p:cNvPr id="11" name="TextBox 10">
            <a:extLst>
              <a:ext uri="{FF2B5EF4-FFF2-40B4-BE49-F238E27FC236}">
                <a16:creationId xmlns:a16="http://schemas.microsoft.com/office/drawing/2014/main" id="{9EDAF9D6-9C91-4B52-95CF-895AF146ADD3}"/>
              </a:ext>
            </a:extLst>
          </p:cNvPr>
          <p:cNvSpPr txBox="1"/>
          <p:nvPr/>
        </p:nvSpPr>
        <p:spPr>
          <a:xfrm>
            <a:off x="665134" y="5939580"/>
            <a:ext cx="11534681" cy="350846"/>
          </a:xfrm>
          <a:prstGeom prst="rect">
            <a:avLst/>
          </a:prstGeom>
          <a:noFill/>
        </p:spPr>
        <p:txBody>
          <a:bodyPr wrap="square" lIns="0" tIns="36557" rIns="0" bIns="0" rtlCol="0">
            <a:spAutoFit/>
          </a:bodyPr>
          <a:lstStyle/>
          <a:p>
            <a:pPr>
              <a:lnSpc>
                <a:spcPct val="85000"/>
              </a:lnSpc>
              <a:spcAft>
                <a:spcPts val="600"/>
              </a:spcAft>
              <a:buClr>
                <a:srgbClr val="27ACAA"/>
              </a:buClr>
              <a:buSzPct val="70000"/>
            </a:pPr>
            <a:r>
              <a:rPr lang="nl-BE" sz="2400" b="1">
                <a:solidFill>
                  <a:srgbClr val="336699"/>
                </a:solidFill>
                <a:latin typeface="Arial" panose="020B0604020202020204" pitchFamily="34" charset="0"/>
                <a:cs typeface="Arial" panose="020B0604020202020204" pitchFamily="34" charset="0"/>
              </a:rPr>
              <a:t>Reputational Risk is likely faster &amp; bigger, than risk of eventual Legal Risk </a:t>
            </a:r>
          </a:p>
        </p:txBody>
      </p:sp>
      <p:sp>
        <p:nvSpPr>
          <p:cNvPr id="14" name="Content Placeholder 2">
            <a:extLst>
              <a:ext uri="{FF2B5EF4-FFF2-40B4-BE49-F238E27FC236}">
                <a16:creationId xmlns:a16="http://schemas.microsoft.com/office/drawing/2014/main" id="{EF731D3B-8E29-4B99-95E1-7BF2E98EEB92}"/>
              </a:ext>
            </a:extLst>
          </p:cNvPr>
          <p:cNvSpPr txBox="1">
            <a:spLocks/>
          </p:cNvSpPr>
          <p:nvPr/>
        </p:nvSpPr>
        <p:spPr bwMode="auto">
          <a:xfrm>
            <a:off x="609600" y="1972360"/>
            <a:ext cx="11074400" cy="914401"/>
          </a:xfrm>
          <a:prstGeom prst="rect">
            <a:avLst/>
          </a:prstGeom>
          <a:noFill/>
          <a:ln w="9525">
            <a:noFill/>
            <a:miter lim="800000"/>
            <a:headEnd/>
            <a:tailEnd/>
          </a:ln>
        </p:spPr>
        <p:txBody>
          <a:bodyPr vert="horz" wrap="square" lIns="0" tIns="0" rIns="0" bIns="0" numCol="1" anchor="t" anchorCtr="0" compatLnSpc="1">
            <a:prstTxWarp prst="textNoShape">
              <a:avLst/>
            </a:prstTxWarp>
            <a:normAutofit fontScale="25000" lnSpcReduction="20000"/>
          </a:bodyPr>
          <a:lstStyle>
            <a:lvl1pPr marL="0" indent="0" algn="l" defTabSz="1445697" rtl="0" eaLnBrk="1" fontAlgn="base" hangingPunct="1">
              <a:spcBef>
                <a:spcPts val="853"/>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0" indent="529733"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L="0" indent="1059468"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L="0" indent="1589206"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L="0" indent="2118939" algn="l" defTabSz="1445697" rtl="0" eaLnBrk="1" fontAlgn="base" hangingPunct="1">
              <a:spcBef>
                <a:spcPct val="20000"/>
              </a:spcBef>
              <a:spcAft>
                <a:spcPct val="0"/>
              </a:spcAft>
              <a:buClrTx/>
              <a:buSzTx/>
              <a:buFontTx/>
              <a:buNone/>
              <a:defRPr sz="2025">
                <a:solidFill>
                  <a:srgbClr val="FFFFFF"/>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L="2190601"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6pPr>
            <a:lvl7pPr marL="2839666"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7pPr>
            <a:lvl8pPr marL="3488731"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8pPr>
            <a:lvl9pPr marL="4137798" indent="-243400" algn="l" defTabSz="1446876" rtl="0" eaLnBrk="1" fontAlgn="base" hangingPunct="1">
              <a:spcBef>
                <a:spcPct val="20000"/>
              </a:spcBef>
              <a:spcAft>
                <a:spcPct val="0"/>
              </a:spcAft>
              <a:buClr>
                <a:schemeClr val="accent1"/>
              </a:buClr>
              <a:buFont typeface="EYInterstate" pitchFamily="2" charset="0"/>
              <a:buChar char="•"/>
              <a:defRPr sz="1823">
                <a:solidFill>
                  <a:schemeClr val="bg2"/>
                </a:solidFill>
                <a:latin typeface="+mn-lt"/>
              </a:defRPr>
            </a:lvl9pPr>
          </a:lstStyle>
          <a:p>
            <a:pPr marL="304815" indent="-304815">
              <a:buClr>
                <a:srgbClr val="336699"/>
              </a:buClr>
              <a:buFont typeface="Wingdings" panose="05000000000000000000" pitchFamily="2" charset="2"/>
              <a:buChar char="§"/>
            </a:pPr>
            <a:r>
              <a:rPr lang="en-CA" sz="7467" kern="0" dirty="0">
                <a:solidFill>
                  <a:schemeClr val="tx1"/>
                </a:solidFill>
              </a:rPr>
              <a:t>After a visual recognition system was trained on a gender biased data set, which associated the activity of cooking 33% more often with women, the trained model amplified this disparity to 68% </a:t>
            </a:r>
            <a:br>
              <a:rPr lang="en-GB" sz="7467" kern="0" dirty="0">
                <a:solidFill>
                  <a:schemeClr val="tx1"/>
                </a:solidFill>
              </a:rPr>
            </a:br>
            <a:endParaRPr lang="en-GB" sz="7467" kern="0" dirty="0">
              <a:solidFill>
                <a:schemeClr val="tx1"/>
              </a:solidFill>
            </a:endParaRPr>
          </a:p>
          <a:p>
            <a:pPr marL="304815" indent="-304815">
              <a:buClr>
                <a:srgbClr val="336699"/>
              </a:buClr>
              <a:buFont typeface="Wingdings" panose="05000000000000000000" pitchFamily="2" charset="2"/>
              <a:buChar char="§"/>
            </a:pPr>
            <a:r>
              <a:rPr lang="en-GB" sz="7467" kern="0" dirty="0">
                <a:solidFill>
                  <a:schemeClr val="tx1"/>
                </a:solidFill>
              </a:rPr>
              <a:t>SyRI a Dutch based algorithm used to analyse personal data to detect tax or benefit fraud ruled by court to be inconsistent with the European Convention on Human Rights (article 8 - privacy)</a:t>
            </a:r>
            <a:br>
              <a:rPr lang="en-GB" sz="7467" kern="0" dirty="0">
                <a:solidFill>
                  <a:schemeClr val="tx1"/>
                </a:solidFill>
              </a:rPr>
            </a:br>
            <a:endParaRPr lang="en-GB" sz="7467" kern="0" dirty="0">
              <a:solidFill>
                <a:schemeClr val="tx1"/>
              </a:solidFill>
            </a:endParaRPr>
          </a:p>
          <a:p>
            <a:pPr marL="304815" indent="-304815">
              <a:buClr>
                <a:srgbClr val="336699"/>
              </a:buClr>
              <a:buFont typeface="Wingdings" panose="05000000000000000000" pitchFamily="2" charset="2"/>
              <a:buChar char="§"/>
            </a:pPr>
            <a:r>
              <a:rPr lang="en-GB" sz="7467" kern="0" dirty="0">
                <a:solidFill>
                  <a:schemeClr val="tx1"/>
                </a:solidFill>
              </a:rPr>
              <a:t>Some US car insurers charge significantly higher premiums in predominantly minority zip codes than in similarly risky non-minority zip codes</a:t>
            </a:r>
            <a:r>
              <a:rPr lang="en-GB" sz="7467" kern="0" baseline="30000" dirty="0">
                <a:solidFill>
                  <a:schemeClr val="tx1"/>
                </a:solidFill>
              </a:rPr>
              <a:t>1</a:t>
            </a:r>
            <a:br>
              <a:rPr lang="en-GB" sz="7467" kern="0" baseline="30000" dirty="0">
                <a:solidFill>
                  <a:schemeClr val="tx1"/>
                </a:solidFill>
              </a:rPr>
            </a:br>
            <a:endParaRPr lang="en-GB" sz="7467" kern="0" baseline="30000" dirty="0">
              <a:solidFill>
                <a:schemeClr val="tx1"/>
              </a:solidFill>
            </a:endParaRPr>
          </a:p>
          <a:p>
            <a:pPr marL="304815" indent="-304815">
              <a:buClr>
                <a:srgbClr val="336699"/>
              </a:buClr>
              <a:buFont typeface="Wingdings" panose="05000000000000000000" pitchFamily="2" charset="2"/>
              <a:buChar char="§"/>
            </a:pPr>
            <a:r>
              <a:rPr lang="en-GB" sz="7467" kern="0" dirty="0">
                <a:solidFill>
                  <a:schemeClr val="tx1"/>
                </a:solidFill>
              </a:rPr>
              <a:t>Apple Card received discrimination complaints due to (possible) gender biased algorithm</a:t>
            </a:r>
            <a:br>
              <a:rPr lang="en-GB" sz="7467" kern="0" dirty="0">
                <a:solidFill>
                  <a:schemeClr val="tx1"/>
                </a:solidFill>
              </a:rPr>
            </a:br>
            <a:endParaRPr lang="en-GB" sz="7467" kern="0" dirty="0">
              <a:solidFill>
                <a:schemeClr val="tx1"/>
              </a:solidFill>
            </a:endParaRPr>
          </a:p>
          <a:p>
            <a:pPr marL="304815" indent="-304815">
              <a:buClr>
                <a:srgbClr val="336699"/>
              </a:buClr>
              <a:buFont typeface="Wingdings" panose="05000000000000000000" pitchFamily="2" charset="2"/>
              <a:buChar char="§"/>
            </a:pPr>
            <a:r>
              <a:rPr lang="en-GB" sz="7467" kern="0" dirty="0">
                <a:solidFill>
                  <a:schemeClr val="tx1"/>
                </a:solidFill>
              </a:rPr>
              <a:t>Svea Ekonomi AB’s credit scoring breaches the </a:t>
            </a:r>
            <a:r>
              <a:rPr lang="en-US" sz="7467" kern="0" dirty="0">
                <a:solidFill>
                  <a:schemeClr val="tx1"/>
                </a:solidFill>
              </a:rPr>
              <a:t>Equality Act and the Non-Discrimination Act according to the</a:t>
            </a:r>
            <a:r>
              <a:rPr lang="en-GB" sz="7467" kern="0" dirty="0">
                <a:solidFill>
                  <a:schemeClr val="tx1"/>
                </a:solidFill>
              </a:rPr>
              <a:t> Data Protection Ombudsman based on use of an upper age limit</a:t>
            </a:r>
          </a:p>
          <a:p>
            <a:pPr marL="304815" indent="-304815">
              <a:buClr>
                <a:srgbClr val="336699"/>
              </a:buClr>
              <a:buFont typeface="Wingdings" panose="05000000000000000000" pitchFamily="2" charset="2"/>
              <a:buChar char="§"/>
            </a:pPr>
            <a:endParaRPr lang="en-GB" sz="7467" kern="0" baseline="30000" dirty="0">
              <a:solidFill>
                <a:schemeClr val="tx1"/>
              </a:solidFill>
            </a:endParaRPr>
          </a:p>
          <a:p>
            <a:pPr marL="304815" indent="-304815">
              <a:buClr>
                <a:srgbClr val="336699"/>
              </a:buClr>
              <a:buFont typeface="Wingdings" panose="05000000000000000000" pitchFamily="2" charset="2"/>
              <a:buChar char="§"/>
            </a:pPr>
            <a:r>
              <a:rPr lang="en-GB" sz="7467" kern="0" dirty="0">
                <a:solidFill>
                  <a:schemeClr val="tx1"/>
                </a:solidFill>
              </a:rPr>
              <a:t>Predictive policing has stopped all over the world due to “algorithmically disguised racism”</a:t>
            </a:r>
          </a:p>
          <a:p>
            <a:endParaRPr lang="en-GB" sz="1350" kern="0" dirty="0">
              <a:solidFill>
                <a:schemeClr val="tx1"/>
              </a:solidFill>
            </a:endParaRPr>
          </a:p>
          <a:p>
            <a:endParaRPr lang="en-GB" sz="1350" kern="0" dirty="0">
              <a:solidFill>
                <a:schemeClr val="tx1"/>
              </a:solidFill>
            </a:endParaRPr>
          </a:p>
          <a:p>
            <a:endParaRPr lang="en-GB" sz="1350" kern="0" dirty="0"/>
          </a:p>
        </p:txBody>
      </p:sp>
      <p:sp>
        <p:nvSpPr>
          <p:cNvPr id="12" name="Slide Number Placeholder 4">
            <a:extLst>
              <a:ext uri="{FF2B5EF4-FFF2-40B4-BE49-F238E27FC236}">
                <a16:creationId xmlns:a16="http://schemas.microsoft.com/office/drawing/2014/main" id="{B4D46E8B-17A7-4546-8387-DC1AEE047B36}"/>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pPr/>
              <a:t>44</a:t>
            </a:fld>
            <a:endParaRPr lang="en-US" sz="1400" dirty="0"/>
          </a:p>
        </p:txBody>
      </p:sp>
    </p:spTree>
    <p:extLst>
      <p:ext uri="{BB962C8B-B14F-4D97-AF65-F5344CB8AC3E}">
        <p14:creationId xmlns:p14="http://schemas.microsoft.com/office/powerpoint/2010/main" val="1653982061"/>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53469DA-475B-534F-9688-08494C12979D}"/>
              </a:ext>
            </a:extLst>
          </p:cNvPr>
          <p:cNvSpPr/>
          <p:nvPr/>
        </p:nvSpPr>
        <p:spPr>
          <a:xfrm>
            <a:off x="799934" y="1461494"/>
            <a:ext cx="10757066" cy="4401205"/>
          </a:xfrm>
          <a:prstGeom prst="rect">
            <a:avLst/>
          </a:prstGeom>
        </p:spPr>
        <p:txBody>
          <a:bodyPr wrap="square">
            <a:spAutoFit/>
          </a:bodyPr>
          <a:lstStyle/>
          <a:p>
            <a:pPr marL="342900" indent="-342900">
              <a:buFont typeface="Arial" panose="020B0604020202020204" pitchFamily="34" charset="0"/>
              <a:buChar char="•"/>
            </a:pPr>
            <a:r>
              <a:rPr lang="en-CA" sz="2800" b="1" dirty="0">
                <a:solidFill>
                  <a:srgbClr val="FFFF00"/>
                </a:solidFill>
                <a:latin typeface="Garamond" panose="02020404030301010803" pitchFamily="18" charset="0"/>
              </a:rPr>
              <a:t>Bias in algorithms can emanate from unrepresentative or incomplete training data </a:t>
            </a:r>
            <a:r>
              <a:rPr lang="en-CA" sz="2800" dirty="0">
                <a:solidFill>
                  <a:schemeClr val="bg1"/>
                </a:solidFill>
                <a:latin typeface="Garamond" panose="02020404030301010803" pitchFamily="18" charset="0"/>
              </a:rPr>
              <a:t>or the reliance on flawed information that reflects historical inequalities.</a:t>
            </a:r>
          </a:p>
          <a:p>
            <a:pPr marL="342900" indent="-342900">
              <a:buFont typeface="Arial" panose="020B0604020202020204" pitchFamily="34" charset="0"/>
              <a:buChar char="•"/>
            </a:pPr>
            <a:r>
              <a:rPr lang="en-CA" sz="2800" dirty="0">
                <a:solidFill>
                  <a:schemeClr val="bg1"/>
                </a:solidFill>
                <a:latin typeface="Garamond" panose="02020404030301010803" pitchFamily="18" charset="0"/>
              </a:rPr>
              <a:t> </a:t>
            </a:r>
            <a:r>
              <a:rPr lang="en-CA" sz="2800" b="1" dirty="0">
                <a:solidFill>
                  <a:srgbClr val="FFFF00"/>
                </a:solidFill>
                <a:latin typeface="Garamond" panose="02020404030301010803" pitchFamily="18" charset="0"/>
              </a:rPr>
              <a:t>If left unchecked, biased algorithms can lead to decisions which can have a collective, disparate impact on certain groups of people </a:t>
            </a:r>
            <a:r>
              <a:rPr lang="en-CA" sz="2800" dirty="0">
                <a:solidFill>
                  <a:schemeClr val="bg1"/>
                </a:solidFill>
                <a:latin typeface="Garamond" panose="02020404030301010803" pitchFamily="18" charset="0"/>
              </a:rPr>
              <a:t>even without the programmer’s intention to discriminate. </a:t>
            </a:r>
          </a:p>
          <a:p>
            <a:pPr marL="342900" indent="-342900">
              <a:buFont typeface="Arial" panose="020B0604020202020204" pitchFamily="34" charset="0"/>
              <a:buChar char="•"/>
            </a:pPr>
            <a:r>
              <a:rPr lang="en-CA" sz="2800" b="1" dirty="0">
                <a:solidFill>
                  <a:srgbClr val="FFFF00"/>
                </a:solidFill>
                <a:latin typeface="Garamond" panose="02020404030301010803" pitchFamily="18" charset="0"/>
              </a:rPr>
              <a:t>The exploration of the intended and unintended consequences of algorithms is both necessary and timely, </a:t>
            </a:r>
            <a:r>
              <a:rPr lang="en-CA" sz="2800" dirty="0">
                <a:solidFill>
                  <a:schemeClr val="bg1"/>
                </a:solidFill>
                <a:latin typeface="Garamond" panose="02020404030301010803" pitchFamily="18" charset="0"/>
              </a:rPr>
              <a:t>particularly since current public policies may not be sufficient to identify, mitigate, and remedy consumer impacts.</a:t>
            </a:r>
            <a:endParaRPr lang="en-US" sz="2800" dirty="0">
              <a:solidFill>
                <a:schemeClr val="bg1"/>
              </a:solidFill>
              <a:latin typeface="Garamond" panose="02020404030301010803" pitchFamily="18" charset="0"/>
            </a:endParaRPr>
          </a:p>
        </p:txBody>
      </p:sp>
      <p:sp>
        <p:nvSpPr>
          <p:cNvPr id="9" name="Title 2">
            <a:extLst>
              <a:ext uri="{FF2B5EF4-FFF2-40B4-BE49-F238E27FC236}">
                <a16:creationId xmlns:a16="http://schemas.microsoft.com/office/drawing/2014/main" id="{3A6F0B73-6320-FB4F-9EF6-C7207030CE16}"/>
              </a:ext>
            </a:extLst>
          </p:cNvPr>
          <p:cNvSpPr>
            <a:spLocks noGrp="1"/>
          </p:cNvSpPr>
          <p:nvPr>
            <p:ph type="title"/>
          </p:nvPr>
        </p:nvSpPr>
        <p:spPr>
          <a:xfrm>
            <a:off x="327719" y="393171"/>
            <a:ext cx="11474881" cy="543475"/>
          </a:xfrm>
        </p:spPr>
        <p:txBody>
          <a:bodyPr>
            <a:noAutofit/>
          </a:bodyPr>
          <a:lstStyle/>
          <a:p>
            <a:r>
              <a:rPr lang="en-US" dirty="0">
                <a:solidFill>
                  <a:prstClr val="white"/>
                </a:solidFill>
                <a:latin typeface="Perpetua Titling MT Light" charset="0"/>
              </a:rPr>
              <a:t>DATA BIAS IN ALGOS</a:t>
            </a:r>
          </a:p>
        </p:txBody>
      </p:sp>
      <p:sp>
        <p:nvSpPr>
          <p:cNvPr id="10" name="Rectangle 9">
            <a:extLst>
              <a:ext uri="{FF2B5EF4-FFF2-40B4-BE49-F238E27FC236}">
                <a16:creationId xmlns:a16="http://schemas.microsoft.com/office/drawing/2014/main" id="{B2016158-DBEC-7A4F-A4C4-CB35A8CFDB05}"/>
              </a:ext>
            </a:extLst>
          </p:cNvPr>
          <p:cNvSpPr/>
          <p:nvPr/>
        </p:nvSpPr>
        <p:spPr bwMode="auto">
          <a:xfrm>
            <a:off x="5468123" y="973739"/>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11" name="Slide Number Placeholder 4">
            <a:extLst>
              <a:ext uri="{FF2B5EF4-FFF2-40B4-BE49-F238E27FC236}">
                <a16:creationId xmlns:a16="http://schemas.microsoft.com/office/drawing/2014/main" id="{3EB61085-6D51-7A49-95CE-5DB89F41EAFA}"/>
              </a:ext>
            </a:extLst>
          </p:cNvPr>
          <p:cNvSpPr txBox="1">
            <a:spLocks/>
          </p:cNvSpPr>
          <p:nvPr/>
        </p:nvSpPr>
        <p:spPr>
          <a:xfrm>
            <a:off x="11715750" y="638754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45</a:t>
            </a:fld>
            <a:endParaRPr lang="en-US" sz="1400" dirty="0">
              <a:solidFill>
                <a:schemeClr val="bg1"/>
              </a:solidFill>
            </a:endParaRPr>
          </a:p>
        </p:txBody>
      </p:sp>
    </p:spTree>
    <p:extLst>
      <p:ext uri="{BB962C8B-B14F-4D97-AF65-F5344CB8AC3E}">
        <p14:creationId xmlns:p14="http://schemas.microsoft.com/office/powerpoint/2010/main" val="16981767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8D3E6B-E08F-CE4B-B5FA-DF636BDA0F77}"/>
              </a:ext>
            </a:extLst>
          </p:cNvPr>
          <p:cNvSpPr>
            <a:spLocks noGrp="1"/>
          </p:cNvSpPr>
          <p:nvPr>
            <p:ph type="title"/>
          </p:nvPr>
        </p:nvSpPr>
        <p:spPr>
          <a:xfrm>
            <a:off x="383959" y="359771"/>
            <a:ext cx="11474881" cy="543475"/>
          </a:xfrm>
        </p:spPr>
        <p:txBody>
          <a:bodyPr>
            <a:noAutofit/>
          </a:bodyPr>
          <a:lstStyle/>
          <a:p>
            <a:r>
              <a:rPr lang="en-US" sz="4200" dirty="0">
                <a:solidFill>
                  <a:prstClr val="white"/>
                </a:solidFill>
                <a:latin typeface="Perpetua Titling MT Light" charset="0"/>
              </a:rPr>
              <a:t>BIAS IN ONLINE RECRUITMENT TOOLS</a:t>
            </a:r>
          </a:p>
        </p:txBody>
      </p:sp>
      <p:sp>
        <p:nvSpPr>
          <p:cNvPr id="6" name="Rectangle 5">
            <a:extLst>
              <a:ext uri="{FF2B5EF4-FFF2-40B4-BE49-F238E27FC236}">
                <a16:creationId xmlns:a16="http://schemas.microsoft.com/office/drawing/2014/main" id="{077538AF-730C-2440-97A7-D8C2419B3611}"/>
              </a:ext>
            </a:extLst>
          </p:cNvPr>
          <p:cNvSpPr/>
          <p:nvPr/>
        </p:nvSpPr>
        <p:spPr>
          <a:xfrm>
            <a:off x="4159535" y="1244876"/>
            <a:ext cx="7778465" cy="5401479"/>
          </a:xfrm>
          <a:prstGeom prst="rect">
            <a:avLst/>
          </a:prstGeom>
        </p:spPr>
        <p:txBody>
          <a:bodyPr wrap="square">
            <a:spAutoFit/>
          </a:bodyPr>
          <a:lstStyle/>
          <a:p>
            <a:pPr fontAlgn="base"/>
            <a:r>
              <a:rPr lang="en-CA" sz="2300" b="1" dirty="0">
                <a:solidFill>
                  <a:srgbClr val="FFFF00"/>
                </a:solidFill>
              </a:rPr>
              <a:t>Online retailer Amazon, whose global workforce is 60 percent male and where men hold 74 percent of the company’s managerial positions, recently discontinued use of a recruiting algorithm after discovering gender bias.</a:t>
            </a:r>
            <a:endParaRPr lang="en-CA" sz="2300" b="1" baseline="30000" dirty="0">
              <a:solidFill>
                <a:srgbClr val="FFFF00"/>
              </a:solidFill>
            </a:endParaRPr>
          </a:p>
          <a:p>
            <a:pPr marL="342900" indent="-342900" fontAlgn="base">
              <a:buFont typeface="Arial" panose="020B0604020202020204" pitchFamily="34" charset="0"/>
              <a:buChar char="•"/>
            </a:pPr>
            <a:r>
              <a:rPr lang="en-CA" sz="2300" dirty="0">
                <a:solidFill>
                  <a:schemeClr val="bg1"/>
                </a:solidFill>
              </a:rPr>
              <a:t>The data that engineers used to create the algorithm were derived from the resumes submitted to Amazon over a 10-year period, which were predominantly from white males. The algorithm was taught to recognize word patterns in the resumes, rather than relevant skill sets, and these data were benchmarked against the company’s predominantly male engineering department to determine an applicant’s fit. </a:t>
            </a:r>
          </a:p>
          <a:p>
            <a:pPr marL="342900" indent="-342900" fontAlgn="base">
              <a:buFont typeface="Arial" panose="020B0604020202020204" pitchFamily="34" charset="0"/>
              <a:buChar char="•"/>
            </a:pPr>
            <a:r>
              <a:rPr lang="en-CA" sz="2300" dirty="0">
                <a:solidFill>
                  <a:schemeClr val="bg1"/>
                </a:solidFill>
              </a:rPr>
              <a:t>As a result, the AI software penalized any resume that contained the word “women’s” in the text and downgraded the resumes of women who attended women’s colleges, resulting in gender bias.</a:t>
            </a:r>
          </a:p>
        </p:txBody>
      </p:sp>
      <p:sp>
        <p:nvSpPr>
          <p:cNvPr id="7" name="Rectangle 6">
            <a:extLst>
              <a:ext uri="{FF2B5EF4-FFF2-40B4-BE49-F238E27FC236}">
                <a16:creationId xmlns:a16="http://schemas.microsoft.com/office/drawing/2014/main" id="{A7659AB7-73A8-2B49-86A1-003028EBEF8A}"/>
              </a:ext>
            </a:extLst>
          </p:cNvPr>
          <p:cNvSpPr/>
          <p:nvPr/>
        </p:nvSpPr>
        <p:spPr bwMode="auto">
          <a:xfrm>
            <a:off x="4927325" y="1097747"/>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pic>
        <p:nvPicPr>
          <p:cNvPr id="8" name="Picture 7">
            <a:extLst>
              <a:ext uri="{FF2B5EF4-FFF2-40B4-BE49-F238E27FC236}">
                <a16:creationId xmlns:a16="http://schemas.microsoft.com/office/drawing/2014/main" id="{F593F8DD-1BFB-E246-B70F-72CAD410F485}"/>
              </a:ext>
            </a:extLst>
          </p:cNvPr>
          <p:cNvPicPr>
            <a:picLocks noChangeAspect="1"/>
          </p:cNvPicPr>
          <p:nvPr/>
        </p:nvPicPr>
        <p:blipFill>
          <a:blip r:embed="rId2"/>
          <a:stretch>
            <a:fillRect/>
          </a:stretch>
        </p:blipFill>
        <p:spPr>
          <a:xfrm>
            <a:off x="121107" y="1225688"/>
            <a:ext cx="3931650" cy="2622411"/>
          </a:xfrm>
          <a:prstGeom prst="rect">
            <a:avLst/>
          </a:prstGeom>
        </p:spPr>
      </p:pic>
      <p:sp>
        <p:nvSpPr>
          <p:cNvPr id="9" name="Slide Number Placeholder 4">
            <a:extLst>
              <a:ext uri="{FF2B5EF4-FFF2-40B4-BE49-F238E27FC236}">
                <a16:creationId xmlns:a16="http://schemas.microsoft.com/office/drawing/2014/main" id="{6BC76E85-FB19-4349-96E3-381938295CBA}"/>
              </a:ext>
            </a:extLst>
          </p:cNvPr>
          <p:cNvSpPr txBox="1">
            <a:spLocks/>
          </p:cNvSpPr>
          <p:nvPr/>
        </p:nvSpPr>
        <p:spPr>
          <a:xfrm>
            <a:off x="11715750" y="638754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46</a:t>
            </a:fld>
            <a:endParaRPr lang="en-US" sz="1400" dirty="0">
              <a:solidFill>
                <a:schemeClr val="bg1"/>
              </a:solidFill>
            </a:endParaRPr>
          </a:p>
        </p:txBody>
      </p:sp>
      <p:sp>
        <p:nvSpPr>
          <p:cNvPr id="10" name="TextBox 9">
            <a:extLst>
              <a:ext uri="{FF2B5EF4-FFF2-40B4-BE49-F238E27FC236}">
                <a16:creationId xmlns:a16="http://schemas.microsoft.com/office/drawing/2014/main" id="{1E5B4E90-5A9F-2844-BD27-CA7857D3DEAD}"/>
              </a:ext>
            </a:extLst>
          </p:cNvPr>
          <p:cNvSpPr txBox="1"/>
          <p:nvPr/>
        </p:nvSpPr>
        <p:spPr>
          <a:xfrm>
            <a:off x="179363" y="4056241"/>
            <a:ext cx="3815138" cy="1477328"/>
          </a:xfrm>
          <a:prstGeom prst="rect">
            <a:avLst/>
          </a:prstGeom>
          <a:noFill/>
        </p:spPr>
        <p:txBody>
          <a:bodyPr wrap="square" rtlCol="0">
            <a:spAutoFit/>
          </a:bodyPr>
          <a:lstStyle/>
          <a:p>
            <a:r>
              <a:rPr lang="en-US" b="1" dirty="0">
                <a:solidFill>
                  <a:schemeClr val="bg1"/>
                </a:solidFill>
              </a:rPr>
              <a:t>Source:</a:t>
            </a:r>
          </a:p>
          <a:p>
            <a:r>
              <a:rPr lang="en-US" dirty="0">
                <a:solidFill>
                  <a:schemeClr val="bg1"/>
                </a:solidFill>
              </a:rPr>
              <a:t>https://www.brookings.edu/research/algorithmic-bias-detection-and-mitigation-best-practices-and-policies-to-reduce-consumer-harms/</a:t>
            </a:r>
          </a:p>
        </p:txBody>
      </p:sp>
    </p:spTree>
    <p:extLst>
      <p:ext uri="{BB962C8B-B14F-4D97-AF65-F5344CB8AC3E}">
        <p14:creationId xmlns:p14="http://schemas.microsoft.com/office/powerpoint/2010/main" val="15830127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8D3E6B-E08F-CE4B-B5FA-DF636BDA0F77}"/>
              </a:ext>
            </a:extLst>
          </p:cNvPr>
          <p:cNvSpPr>
            <a:spLocks noGrp="1"/>
          </p:cNvSpPr>
          <p:nvPr>
            <p:ph type="title"/>
          </p:nvPr>
        </p:nvSpPr>
        <p:spPr>
          <a:xfrm>
            <a:off x="383959" y="231830"/>
            <a:ext cx="11474881" cy="543475"/>
          </a:xfrm>
        </p:spPr>
        <p:txBody>
          <a:bodyPr>
            <a:noAutofit/>
          </a:bodyPr>
          <a:lstStyle/>
          <a:p>
            <a:r>
              <a:rPr lang="en-US" dirty="0">
                <a:solidFill>
                  <a:prstClr val="white"/>
                </a:solidFill>
                <a:latin typeface="Perpetua Titling MT Light" charset="0"/>
              </a:rPr>
              <a:t>BIAS IN WORD ASSOCIATIONS</a:t>
            </a:r>
          </a:p>
        </p:txBody>
      </p:sp>
      <p:sp>
        <p:nvSpPr>
          <p:cNvPr id="6" name="Rectangle 5">
            <a:extLst>
              <a:ext uri="{FF2B5EF4-FFF2-40B4-BE49-F238E27FC236}">
                <a16:creationId xmlns:a16="http://schemas.microsoft.com/office/drawing/2014/main" id="{077538AF-730C-2440-97A7-D8C2419B3611}"/>
              </a:ext>
            </a:extLst>
          </p:cNvPr>
          <p:cNvSpPr/>
          <p:nvPr/>
        </p:nvSpPr>
        <p:spPr>
          <a:xfrm>
            <a:off x="3079751" y="1155700"/>
            <a:ext cx="8858250" cy="4893647"/>
          </a:xfrm>
          <a:prstGeom prst="rect">
            <a:avLst/>
          </a:prstGeom>
        </p:spPr>
        <p:txBody>
          <a:bodyPr wrap="square">
            <a:spAutoFit/>
          </a:bodyPr>
          <a:lstStyle/>
          <a:p>
            <a:pPr marL="342900" indent="-342900" fontAlgn="base">
              <a:buFont typeface="Arial" panose="020B0604020202020204" pitchFamily="34" charset="0"/>
              <a:buChar char="•"/>
            </a:pPr>
            <a:r>
              <a:rPr lang="en-CA" sz="2400" b="1" dirty="0">
                <a:solidFill>
                  <a:srgbClr val="FFFF00"/>
                </a:solidFill>
              </a:rPr>
              <a:t>Princeton University researchers used off-the-shelf machine learning AI software to analyze and link 2.2 million words. </a:t>
            </a:r>
          </a:p>
          <a:p>
            <a:pPr marL="342900" indent="-342900" fontAlgn="base">
              <a:buFont typeface="Arial" panose="020B0604020202020204" pitchFamily="34" charset="0"/>
              <a:buChar char="•"/>
            </a:pPr>
            <a:r>
              <a:rPr lang="en-CA" sz="2400" b="1" dirty="0">
                <a:solidFill>
                  <a:srgbClr val="FFFF00"/>
                </a:solidFill>
              </a:rPr>
              <a:t>They found that European names were perceived as more pleasant than those of African-Americans, and that the words “woman” and “girl” were more likely to be associated with the arts instead of science and math, which were most likely connected to males.</a:t>
            </a:r>
            <a:endParaRPr lang="en-CA" sz="2400" b="1" baseline="30000" dirty="0">
              <a:solidFill>
                <a:srgbClr val="FFFF00"/>
              </a:solidFill>
            </a:endParaRPr>
          </a:p>
          <a:p>
            <a:pPr marL="800100" lvl="1" indent="-342900" fontAlgn="base">
              <a:buFont typeface="Arial" panose="020B0604020202020204" pitchFamily="34" charset="0"/>
              <a:buChar char="•"/>
            </a:pPr>
            <a:r>
              <a:rPr lang="en-CA" sz="2000" dirty="0">
                <a:solidFill>
                  <a:schemeClr val="bg1"/>
                </a:solidFill>
              </a:rPr>
              <a:t>In analyzing these word-associations in the training data, the machine learning algorithm picked up on existing racial and gender biases shown by humans. </a:t>
            </a:r>
          </a:p>
          <a:p>
            <a:pPr marL="800100" lvl="1" indent="-342900" fontAlgn="base">
              <a:buFont typeface="Arial" panose="020B0604020202020204" pitchFamily="34" charset="0"/>
              <a:buChar char="•"/>
            </a:pPr>
            <a:r>
              <a:rPr lang="en-CA" sz="2000" dirty="0">
                <a:solidFill>
                  <a:schemeClr val="bg1"/>
                </a:solidFill>
              </a:rPr>
              <a:t>If the learned associations of these algorithms were used as part of a search-engine ranking algorithm or to generate word suggestions as part of an auto-complete tool, it could have a cumulative effect of reinforcing racial and gender biases.</a:t>
            </a:r>
          </a:p>
          <a:p>
            <a:pPr marL="342900" indent="-342900" fontAlgn="base">
              <a:buFont typeface="Arial" panose="020B0604020202020204" pitchFamily="34" charset="0"/>
              <a:buChar char="•"/>
            </a:pPr>
            <a:endParaRPr lang="en-CA" sz="2400" dirty="0">
              <a:solidFill>
                <a:schemeClr val="bg1"/>
              </a:solidFill>
            </a:endParaRPr>
          </a:p>
        </p:txBody>
      </p:sp>
      <p:sp>
        <p:nvSpPr>
          <p:cNvPr id="7" name="Rectangle 6">
            <a:extLst>
              <a:ext uri="{FF2B5EF4-FFF2-40B4-BE49-F238E27FC236}">
                <a16:creationId xmlns:a16="http://schemas.microsoft.com/office/drawing/2014/main" id="{A7659AB7-73A8-2B49-86A1-003028EBEF8A}"/>
              </a:ext>
            </a:extLst>
          </p:cNvPr>
          <p:cNvSpPr/>
          <p:nvPr/>
        </p:nvSpPr>
        <p:spPr bwMode="auto">
          <a:xfrm>
            <a:off x="5016225" y="806252"/>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9" name="Slide Number Placeholder 4">
            <a:extLst>
              <a:ext uri="{FF2B5EF4-FFF2-40B4-BE49-F238E27FC236}">
                <a16:creationId xmlns:a16="http://schemas.microsoft.com/office/drawing/2014/main" id="{1B05D27B-616C-E246-BE19-FE4C5BDBE1F7}"/>
              </a:ext>
            </a:extLst>
          </p:cNvPr>
          <p:cNvSpPr txBox="1">
            <a:spLocks/>
          </p:cNvSpPr>
          <p:nvPr/>
        </p:nvSpPr>
        <p:spPr>
          <a:xfrm>
            <a:off x="11715750" y="638754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47</a:t>
            </a:fld>
            <a:endParaRPr lang="en-US" sz="1400" dirty="0">
              <a:solidFill>
                <a:schemeClr val="bg1"/>
              </a:solidFill>
            </a:endParaRPr>
          </a:p>
        </p:txBody>
      </p:sp>
      <p:sp>
        <p:nvSpPr>
          <p:cNvPr id="10" name="TextBox 9">
            <a:extLst>
              <a:ext uri="{FF2B5EF4-FFF2-40B4-BE49-F238E27FC236}">
                <a16:creationId xmlns:a16="http://schemas.microsoft.com/office/drawing/2014/main" id="{3DA7027B-2FEE-9245-BB4B-B1EB9AA616AF}"/>
              </a:ext>
            </a:extLst>
          </p:cNvPr>
          <p:cNvSpPr txBox="1"/>
          <p:nvPr/>
        </p:nvSpPr>
        <p:spPr>
          <a:xfrm>
            <a:off x="3570263" y="5697568"/>
            <a:ext cx="7885137" cy="923330"/>
          </a:xfrm>
          <a:prstGeom prst="rect">
            <a:avLst/>
          </a:prstGeom>
          <a:noFill/>
        </p:spPr>
        <p:txBody>
          <a:bodyPr wrap="square" rtlCol="0">
            <a:spAutoFit/>
          </a:bodyPr>
          <a:lstStyle/>
          <a:p>
            <a:r>
              <a:rPr lang="en-US" b="1" dirty="0">
                <a:solidFill>
                  <a:schemeClr val="bg1"/>
                </a:solidFill>
              </a:rPr>
              <a:t>Source:</a:t>
            </a:r>
          </a:p>
          <a:p>
            <a:r>
              <a:rPr lang="en-US" dirty="0">
                <a:solidFill>
                  <a:schemeClr val="bg1"/>
                </a:solidFill>
              </a:rPr>
              <a:t>https://www.brookings.edu/research/algorithmic-bias-detection-and-mitigation-best-practices-and-policies-to-reduce-consumer-harms/</a:t>
            </a:r>
          </a:p>
        </p:txBody>
      </p:sp>
      <p:pic>
        <p:nvPicPr>
          <p:cNvPr id="2" name="Picture 1">
            <a:extLst>
              <a:ext uri="{FF2B5EF4-FFF2-40B4-BE49-F238E27FC236}">
                <a16:creationId xmlns:a16="http://schemas.microsoft.com/office/drawing/2014/main" id="{1A10B065-7F70-9542-9FD4-47C5EB9E6146}"/>
              </a:ext>
            </a:extLst>
          </p:cNvPr>
          <p:cNvPicPr>
            <a:picLocks noChangeAspect="1"/>
          </p:cNvPicPr>
          <p:nvPr/>
        </p:nvPicPr>
        <p:blipFill>
          <a:blip r:embed="rId2"/>
          <a:stretch>
            <a:fillRect/>
          </a:stretch>
        </p:blipFill>
        <p:spPr>
          <a:xfrm>
            <a:off x="552450" y="1631950"/>
            <a:ext cx="2527300" cy="3213100"/>
          </a:xfrm>
          <a:prstGeom prst="rect">
            <a:avLst/>
          </a:prstGeom>
        </p:spPr>
      </p:pic>
      <p:sp>
        <p:nvSpPr>
          <p:cNvPr id="4" name="TextBox 3">
            <a:extLst>
              <a:ext uri="{FF2B5EF4-FFF2-40B4-BE49-F238E27FC236}">
                <a16:creationId xmlns:a16="http://schemas.microsoft.com/office/drawing/2014/main" id="{E75C154D-C1BF-3E49-950F-DA45167516A5}"/>
              </a:ext>
            </a:extLst>
          </p:cNvPr>
          <p:cNvSpPr txBox="1"/>
          <p:nvPr/>
        </p:nvSpPr>
        <p:spPr>
          <a:xfrm>
            <a:off x="466725" y="4845050"/>
            <a:ext cx="2698750" cy="369332"/>
          </a:xfrm>
          <a:prstGeom prst="rect">
            <a:avLst/>
          </a:prstGeom>
          <a:noFill/>
        </p:spPr>
        <p:txBody>
          <a:bodyPr wrap="square" rtlCol="0">
            <a:spAutoFit/>
          </a:bodyPr>
          <a:lstStyle/>
          <a:p>
            <a:r>
              <a:rPr lang="en-US" b="1" dirty="0">
                <a:solidFill>
                  <a:schemeClr val="bg1"/>
                </a:solidFill>
              </a:rPr>
              <a:t>Location: </a:t>
            </a:r>
            <a:r>
              <a:rPr lang="en-US" dirty="0">
                <a:solidFill>
                  <a:schemeClr val="bg1"/>
                </a:solidFill>
              </a:rPr>
              <a:t>New Jersey, USA</a:t>
            </a:r>
          </a:p>
        </p:txBody>
      </p:sp>
    </p:spTree>
    <p:extLst>
      <p:ext uri="{BB962C8B-B14F-4D97-AF65-F5344CB8AC3E}">
        <p14:creationId xmlns:p14="http://schemas.microsoft.com/office/powerpoint/2010/main" val="6309503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F0EC735-04F0-E645-A389-42D488B9E2C7}"/>
              </a:ext>
            </a:extLst>
          </p:cNvPr>
          <p:cNvSpPr/>
          <p:nvPr/>
        </p:nvSpPr>
        <p:spPr>
          <a:xfrm>
            <a:off x="606209" y="1229310"/>
            <a:ext cx="11109541" cy="4524315"/>
          </a:xfrm>
          <a:prstGeom prst="rect">
            <a:avLst/>
          </a:prstGeom>
        </p:spPr>
        <p:txBody>
          <a:bodyPr wrap="square">
            <a:spAutoFit/>
          </a:bodyPr>
          <a:lstStyle/>
          <a:p>
            <a:pPr fontAlgn="base"/>
            <a:r>
              <a:rPr lang="en-CA" sz="2400" dirty="0">
                <a:solidFill>
                  <a:schemeClr val="bg1"/>
                </a:solidFill>
                <a:latin typeface="Garamond" panose="02020404030301010803" pitchFamily="18" charset="0"/>
              </a:rPr>
              <a:t>Latanya Sweeney, Harvard researcher and former chief technology officer at the Federal Trade Commission (FTC), </a:t>
            </a:r>
            <a:r>
              <a:rPr lang="en-CA" sz="2400" b="1" dirty="0">
                <a:solidFill>
                  <a:srgbClr val="FFFF00"/>
                </a:solidFill>
                <a:latin typeface="Garamond" panose="02020404030301010803" pitchFamily="18" charset="0"/>
              </a:rPr>
              <a:t>found that online search queries for African-American names were more likely to return ads to that person from a service that renders arrest records, as compared to the ad results for white names.</a:t>
            </a:r>
            <a:endParaRPr lang="en-CA" sz="2400" baseline="30000" dirty="0">
              <a:solidFill>
                <a:schemeClr val="bg1"/>
              </a:solidFill>
              <a:latin typeface="Garamond" panose="02020404030301010803" pitchFamily="18" charset="0"/>
            </a:endParaRPr>
          </a:p>
          <a:p>
            <a:pPr marL="742950" lvl="1" indent="-285750" fontAlgn="base">
              <a:buFont typeface="Arial" panose="020B0604020202020204" pitchFamily="34" charset="0"/>
              <a:buChar char="•"/>
            </a:pPr>
            <a:r>
              <a:rPr lang="en-CA" sz="2400" dirty="0">
                <a:solidFill>
                  <a:schemeClr val="bg1"/>
                </a:solidFill>
                <a:latin typeface="Garamond" panose="02020404030301010803" pitchFamily="18" charset="0"/>
              </a:rPr>
              <a:t>Her research also found that the same differential treatment occurred in the micro-targeting of higher-interest credit cards and other financial products when the computer inferred that the subjects were African-Americans, despite having similar backgrounds to whites.</a:t>
            </a:r>
            <a:endParaRPr lang="en-CA" sz="2400" baseline="30000" dirty="0">
              <a:solidFill>
                <a:schemeClr val="bg1"/>
              </a:solidFill>
              <a:latin typeface="Garamond" panose="02020404030301010803" pitchFamily="18" charset="0"/>
            </a:endParaRPr>
          </a:p>
          <a:p>
            <a:pPr marL="742950" lvl="1" indent="-285750" fontAlgn="base">
              <a:buFont typeface="Arial" panose="020B0604020202020204" pitchFamily="34" charset="0"/>
              <a:buChar char="•"/>
            </a:pPr>
            <a:r>
              <a:rPr lang="en-CA" sz="2400" dirty="0">
                <a:solidFill>
                  <a:schemeClr val="bg1"/>
                </a:solidFill>
                <a:latin typeface="Garamond" panose="02020404030301010803" pitchFamily="18" charset="0"/>
              </a:rPr>
              <a:t>During a public presentation at a FTC hearing on big data, Sweeney demonstrated how a web site, which marketed the centennial celebration of an all-black fraternity, received continuous ad suggestions for purchasing “arrest records” or accepting high-interest credit card offerings</a:t>
            </a:r>
            <a:endParaRPr lang="en-CA" sz="2400" b="0" i="0" dirty="0">
              <a:solidFill>
                <a:schemeClr val="bg1"/>
              </a:solidFill>
              <a:effectLst/>
              <a:latin typeface="Garamond" panose="02020404030301010803" pitchFamily="18" charset="0"/>
            </a:endParaRPr>
          </a:p>
        </p:txBody>
      </p:sp>
      <p:sp>
        <p:nvSpPr>
          <p:cNvPr id="7" name="Title 2">
            <a:extLst>
              <a:ext uri="{FF2B5EF4-FFF2-40B4-BE49-F238E27FC236}">
                <a16:creationId xmlns:a16="http://schemas.microsoft.com/office/drawing/2014/main" id="{779C808B-ED5C-614E-BF4A-F7579F13D9F9}"/>
              </a:ext>
            </a:extLst>
          </p:cNvPr>
          <p:cNvSpPr txBox="1">
            <a:spLocks/>
          </p:cNvSpPr>
          <p:nvPr/>
        </p:nvSpPr>
        <p:spPr>
          <a:xfrm>
            <a:off x="383959" y="359771"/>
            <a:ext cx="11474881" cy="54347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prstClr val="white"/>
                </a:solidFill>
                <a:latin typeface="Perpetua Titling MT Light" charset="0"/>
              </a:rPr>
              <a:t>BIAS IN ONLINE ADS</a:t>
            </a:r>
          </a:p>
        </p:txBody>
      </p:sp>
      <p:sp>
        <p:nvSpPr>
          <p:cNvPr id="8" name="Rectangle 7">
            <a:extLst>
              <a:ext uri="{FF2B5EF4-FFF2-40B4-BE49-F238E27FC236}">
                <a16:creationId xmlns:a16="http://schemas.microsoft.com/office/drawing/2014/main" id="{C0589BB3-BB28-5C48-A160-5AAFCD3377B1}"/>
              </a:ext>
            </a:extLst>
          </p:cNvPr>
          <p:cNvSpPr/>
          <p:nvPr/>
        </p:nvSpPr>
        <p:spPr bwMode="auto">
          <a:xfrm>
            <a:off x="4927325" y="1097747"/>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9" name="TextBox 8">
            <a:extLst>
              <a:ext uri="{FF2B5EF4-FFF2-40B4-BE49-F238E27FC236}">
                <a16:creationId xmlns:a16="http://schemas.microsoft.com/office/drawing/2014/main" id="{F327B212-1147-3A44-AA3C-F66C9D13D52A}"/>
              </a:ext>
            </a:extLst>
          </p:cNvPr>
          <p:cNvSpPr txBox="1"/>
          <p:nvPr/>
        </p:nvSpPr>
        <p:spPr>
          <a:xfrm>
            <a:off x="1333500" y="5639808"/>
            <a:ext cx="10045700" cy="923330"/>
          </a:xfrm>
          <a:prstGeom prst="rect">
            <a:avLst/>
          </a:prstGeom>
          <a:noFill/>
        </p:spPr>
        <p:txBody>
          <a:bodyPr wrap="square" rtlCol="0">
            <a:spAutoFit/>
          </a:bodyPr>
          <a:lstStyle/>
          <a:p>
            <a:r>
              <a:rPr lang="en-US" b="1" dirty="0">
                <a:solidFill>
                  <a:schemeClr val="bg1"/>
                </a:solidFill>
              </a:rPr>
              <a:t>Source:</a:t>
            </a:r>
          </a:p>
          <a:p>
            <a:r>
              <a:rPr lang="en-US" dirty="0">
                <a:solidFill>
                  <a:schemeClr val="bg1"/>
                </a:solidFill>
              </a:rPr>
              <a:t>https://www.brookings.edu/research/algorithmic-bias-detection-and-mitigation-best-practices-and-policies-to-reduce-consumer-harms/</a:t>
            </a:r>
          </a:p>
        </p:txBody>
      </p:sp>
      <p:sp>
        <p:nvSpPr>
          <p:cNvPr id="10" name="Slide Number Placeholder 4">
            <a:extLst>
              <a:ext uri="{FF2B5EF4-FFF2-40B4-BE49-F238E27FC236}">
                <a16:creationId xmlns:a16="http://schemas.microsoft.com/office/drawing/2014/main" id="{F51E80AA-7EEB-524C-BE6A-48FF535635E6}"/>
              </a:ext>
            </a:extLst>
          </p:cNvPr>
          <p:cNvSpPr txBox="1">
            <a:spLocks/>
          </p:cNvSpPr>
          <p:nvPr/>
        </p:nvSpPr>
        <p:spPr>
          <a:xfrm>
            <a:off x="11715750" y="638754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48</a:t>
            </a:fld>
            <a:endParaRPr lang="en-US" sz="1400" dirty="0">
              <a:solidFill>
                <a:schemeClr val="bg1"/>
              </a:solidFill>
            </a:endParaRPr>
          </a:p>
        </p:txBody>
      </p:sp>
    </p:spTree>
    <p:extLst>
      <p:ext uri="{BB962C8B-B14F-4D97-AF65-F5344CB8AC3E}">
        <p14:creationId xmlns:p14="http://schemas.microsoft.com/office/powerpoint/2010/main" val="35632743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023881-5DF0-6649-B048-411DD9012FAE}"/>
              </a:ext>
            </a:extLst>
          </p:cNvPr>
          <p:cNvSpPr>
            <a:spLocks noGrp="1"/>
          </p:cNvSpPr>
          <p:nvPr>
            <p:ph sz="quarter" idx="11"/>
          </p:nvPr>
        </p:nvSpPr>
        <p:spPr>
          <a:xfrm>
            <a:off x="355739" y="1030254"/>
            <a:ext cx="11315560" cy="4175033"/>
          </a:xfrm>
        </p:spPr>
        <p:txBody>
          <a:bodyPr>
            <a:noAutofit/>
          </a:bodyPr>
          <a:lstStyle/>
          <a:p>
            <a:pPr marL="0" indent="0" fontAlgn="base">
              <a:buNone/>
            </a:pPr>
            <a:r>
              <a:rPr lang="en-CA" sz="2800" b="1" dirty="0">
                <a:solidFill>
                  <a:srgbClr val="FFFF00"/>
                </a:solidFill>
                <a:latin typeface="Garamond" panose="02020404030301010803" pitchFamily="18" charset="0"/>
              </a:rPr>
              <a:t>MIT researcher Joy Buolamwini found that the algorithms powering three commercially available facial recognition software systems were failing to recognize darker-skinned complexions.</a:t>
            </a:r>
            <a:endParaRPr lang="en-CA" sz="2800" b="1" baseline="30000" dirty="0">
              <a:solidFill>
                <a:srgbClr val="FFFF00"/>
              </a:solidFill>
              <a:latin typeface="Garamond" panose="02020404030301010803" pitchFamily="18" charset="0"/>
            </a:endParaRPr>
          </a:p>
          <a:p>
            <a:pPr lvl="1" fontAlgn="base"/>
            <a:r>
              <a:rPr lang="en-CA" dirty="0">
                <a:solidFill>
                  <a:schemeClr val="bg1"/>
                </a:solidFill>
                <a:latin typeface="Garamond" panose="02020404030301010803" pitchFamily="18" charset="0"/>
              </a:rPr>
              <a:t>Generally, most facial recognition training data sets are estimated to be more than 75 percent male and more than 80 percent white. </a:t>
            </a:r>
          </a:p>
          <a:p>
            <a:pPr lvl="1" fontAlgn="base"/>
            <a:r>
              <a:rPr lang="en-CA" dirty="0">
                <a:solidFill>
                  <a:schemeClr val="bg1"/>
                </a:solidFill>
                <a:latin typeface="Garamond" panose="02020404030301010803" pitchFamily="18" charset="0"/>
              </a:rPr>
              <a:t>When the person in the photo was a white man, the software was accurate 99 percent of the time at identifying the person as male. </a:t>
            </a:r>
          </a:p>
          <a:p>
            <a:pPr lvl="1" fontAlgn="base"/>
            <a:r>
              <a:rPr lang="en-CA" dirty="0">
                <a:solidFill>
                  <a:schemeClr val="bg1"/>
                </a:solidFill>
                <a:latin typeface="Garamond" panose="02020404030301010803" pitchFamily="18" charset="0"/>
              </a:rPr>
              <a:t>According to Buolamwini’s research, the product error rates for the three products were less than one percent overall, but increased to more than 20 percent in one product and 34 percent in the other two in the identification of darker-skinned women as female.</a:t>
            </a:r>
            <a:r>
              <a:rPr lang="en-CA" baseline="30000" dirty="0">
                <a:solidFill>
                  <a:schemeClr val="bg1"/>
                </a:solidFill>
                <a:latin typeface="Garamond" panose="02020404030301010803" pitchFamily="18" charset="0"/>
                <a:hlinkClick r:id="rId2">
                  <a:extLst>
                    <a:ext uri="{A12FA001-AC4F-418D-AE19-62706E023703}">
                      <ahyp:hlinkClr xmlns:ahyp="http://schemas.microsoft.com/office/drawing/2018/hyperlinkcolor" val="tx"/>
                    </a:ext>
                  </a:extLst>
                </a:hlinkClick>
              </a:rPr>
              <a:t>[</a:t>
            </a:r>
            <a:endParaRPr lang="en-CA" baseline="30000" dirty="0">
              <a:solidFill>
                <a:schemeClr val="bg1"/>
              </a:solidFill>
              <a:latin typeface="Garamond" panose="02020404030301010803" pitchFamily="18" charset="0"/>
            </a:endParaRPr>
          </a:p>
          <a:p>
            <a:pPr lvl="1" fontAlgn="base"/>
            <a:r>
              <a:rPr lang="en-CA" dirty="0">
                <a:solidFill>
                  <a:schemeClr val="bg1"/>
                </a:solidFill>
                <a:latin typeface="Garamond" panose="02020404030301010803" pitchFamily="18" charset="0"/>
              </a:rPr>
              <a:t>In response to Buolamwini’s facial-analysis findings, both IBM and Microsoft committed to improving the accuracy of their recognition software for darker-skinned faces.</a:t>
            </a:r>
          </a:p>
          <a:p>
            <a:endParaRPr lang="en-US" sz="2400" dirty="0">
              <a:solidFill>
                <a:schemeClr val="bg1"/>
              </a:solidFill>
              <a:latin typeface="Garamond" panose="02020404030301010803" pitchFamily="18" charset="0"/>
            </a:endParaRPr>
          </a:p>
        </p:txBody>
      </p:sp>
      <p:sp>
        <p:nvSpPr>
          <p:cNvPr id="3" name="Title 2">
            <a:extLst>
              <a:ext uri="{FF2B5EF4-FFF2-40B4-BE49-F238E27FC236}">
                <a16:creationId xmlns:a16="http://schemas.microsoft.com/office/drawing/2014/main" id="{2C5848BE-24F3-7440-A93E-28B534449684}"/>
              </a:ext>
            </a:extLst>
          </p:cNvPr>
          <p:cNvSpPr>
            <a:spLocks noGrp="1"/>
          </p:cNvSpPr>
          <p:nvPr>
            <p:ph type="title"/>
          </p:nvPr>
        </p:nvSpPr>
        <p:spPr>
          <a:xfrm>
            <a:off x="355739" y="194679"/>
            <a:ext cx="11963259" cy="543475"/>
          </a:xfrm>
        </p:spPr>
        <p:txBody>
          <a:bodyPr>
            <a:normAutofit fontScale="90000"/>
          </a:bodyPr>
          <a:lstStyle/>
          <a:p>
            <a:r>
              <a:rPr lang="en-US" dirty="0">
                <a:solidFill>
                  <a:prstClr val="white"/>
                </a:solidFill>
                <a:latin typeface="Perpetua Titling MT Light" charset="0"/>
              </a:rPr>
              <a:t>BIAS IN FACIAL RECOGNITION TECHNOLOGY</a:t>
            </a:r>
          </a:p>
        </p:txBody>
      </p:sp>
      <p:sp>
        <p:nvSpPr>
          <p:cNvPr id="7" name="Rectangle 6">
            <a:extLst>
              <a:ext uri="{FF2B5EF4-FFF2-40B4-BE49-F238E27FC236}">
                <a16:creationId xmlns:a16="http://schemas.microsoft.com/office/drawing/2014/main" id="{FF227CDD-E6DD-1846-B279-E825ECC83A76}"/>
              </a:ext>
            </a:extLst>
          </p:cNvPr>
          <p:cNvSpPr/>
          <p:nvPr/>
        </p:nvSpPr>
        <p:spPr bwMode="auto">
          <a:xfrm>
            <a:off x="5257525" y="768606"/>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8" name="TextBox 7">
            <a:extLst>
              <a:ext uri="{FF2B5EF4-FFF2-40B4-BE49-F238E27FC236}">
                <a16:creationId xmlns:a16="http://schemas.microsoft.com/office/drawing/2014/main" id="{92770075-22BE-EF4D-83E2-A6A39DCDB840}"/>
              </a:ext>
            </a:extLst>
          </p:cNvPr>
          <p:cNvSpPr txBox="1"/>
          <p:nvPr/>
        </p:nvSpPr>
        <p:spPr>
          <a:xfrm>
            <a:off x="1066800" y="6097369"/>
            <a:ext cx="10452100" cy="461665"/>
          </a:xfrm>
          <a:prstGeom prst="rect">
            <a:avLst/>
          </a:prstGeom>
          <a:noFill/>
        </p:spPr>
        <p:txBody>
          <a:bodyPr wrap="square" rtlCol="0">
            <a:spAutoFit/>
          </a:bodyPr>
          <a:lstStyle/>
          <a:p>
            <a:r>
              <a:rPr lang="en-US" sz="1200" b="1" dirty="0">
                <a:solidFill>
                  <a:schemeClr val="bg1"/>
                </a:solidFill>
              </a:rPr>
              <a:t>Source:</a:t>
            </a:r>
          </a:p>
          <a:p>
            <a:r>
              <a:rPr lang="en-US" sz="1200" dirty="0">
                <a:solidFill>
                  <a:schemeClr val="bg1"/>
                </a:solidFill>
              </a:rPr>
              <a:t>https://www.brookings.edu/research/algorithmic-bias-detection-and-mitigation-best-practices-and-policies-to-reduce-consumer-harms/</a:t>
            </a:r>
          </a:p>
        </p:txBody>
      </p:sp>
      <p:sp>
        <p:nvSpPr>
          <p:cNvPr id="9" name="Slide Number Placeholder 4">
            <a:extLst>
              <a:ext uri="{FF2B5EF4-FFF2-40B4-BE49-F238E27FC236}">
                <a16:creationId xmlns:a16="http://schemas.microsoft.com/office/drawing/2014/main" id="{DED8994B-54C8-ED49-A4EC-2B51799737AA}"/>
              </a:ext>
            </a:extLst>
          </p:cNvPr>
          <p:cNvSpPr txBox="1">
            <a:spLocks/>
          </p:cNvSpPr>
          <p:nvPr/>
        </p:nvSpPr>
        <p:spPr>
          <a:xfrm>
            <a:off x="11715750" y="638754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49</a:t>
            </a:fld>
            <a:endParaRPr lang="en-US" sz="1400" dirty="0">
              <a:solidFill>
                <a:schemeClr val="bg1"/>
              </a:solidFill>
            </a:endParaRPr>
          </a:p>
        </p:txBody>
      </p:sp>
    </p:spTree>
    <p:extLst>
      <p:ext uri="{BB962C8B-B14F-4D97-AF65-F5344CB8AC3E}">
        <p14:creationId xmlns:p14="http://schemas.microsoft.com/office/powerpoint/2010/main" val="29883425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D5BC73-6199-594B-A4AD-3FE0D86C4E24}"/>
              </a:ext>
            </a:extLst>
          </p:cNvPr>
          <p:cNvSpPr>
            <a:spLocks noGrp="1"/>
          </p:cNvSpPr>
          <p:nvPr>
            <p:ph sz="quarter" idx="11"/>
          </p:nvPr>
        </p:nvSpPr>
        <p:spPr>
          <a:xfrm>
            <a:off x="355738" y="1025115"/>
            <a:ext cx="11429861" cy="4175033"/>
          </a:xfrm>
        </p:spPr>
        <p:txBody>
          <a:bodyPr>
            <a:noAutofit/>
          </a:bodyPr>
          <a:lstStyle/>
          <a:p>
            <a:pPr marL="0" indent="0" fontAlgn="base">
              <a:buNone/>
            </a:pPr>
            <a:r>
              <a:rPr lang="en-CA" sz="2400" b="1" dirty="0">
                <a:solidFill>
                  <a:srgbClr val="FFFF00"/>
                </a:solidFill>
                <a:latin typeface="Garamond" panose="02020404030301010803" pitchFamily="18" charset="0"/>
              </a:rPr>
              <a:t>The COMPAS (Correctional Offender Management Profiling for Alternative Sanctions) algorithm, which is used by judges to predict whether defendants should be detained or released on bail pending trial, was found to be biased against African-Americans, according to a report from ProPublica.</a:t>
            </a:r>
            <a:endParaRPr lang="en-CA" sz="2400" b="1" baseline="30000" dirty="0">
              <a:solidFill>
                <a:srgbClr val="FFFF00"/>
              </a:solidFill>
              <a:latin typeface="Garamond" panose="02020404030301010803" pitchFamily="18" charset="0"/>
            </a:endParaRPr>
          </a:p>
          <a:p>
            <a:pPr lvl="1" fontAlgn="base"/>
            <a:r>
              <a:rPr lang="en-CA" sz="2400" dirty="0">
                <a:solidFill>
                  <a:schemeClr val="bg1"/>
                </a:solidFill>
                <a:latin typeface="Garamond" panose="02020404030301010803" pitchFamily="18" charset="0"/>
              </a:rPr>
              <a:t> The algorithm assigns a risk score to a defendant’s likelihood to commit a future offense, relying on the voluminous data available on arrest records, defendant demographics, and other variables. </a:t>
            </a:r>
          </a:p>
          <a:p>
            <a:pPr lvl="1" fontAlgn="base"/>
            <a:r>
              <a:rPr lang="en-CA" sz="2400" dirty="0">
                <a:solidFill>
                  <a:schemeClr val="bg1"/>
                </a:solidFill>
                <a:latin typeface="Garamond" panose="02020404030301010803" pitchFamily="18" charset="0"/>
              </a:rPr>
              <a:t>Compared to whites who were equally likely to re-offend, African-Americans were more likely to be assigned a higher-risk score, resulting in longer periods of detention while awaiting trial.</a:t>
            </a:r>
            <a:endParaRPr lang="en-CA" sz="2400" baseline="30000" dirty="0">
              <a:solidFill>
                <a:schemeClr val="bg1"/>
              </a:solidFill>
              <a:latin typeface="Garamond" panose="02020404030301010803" pitchFamily="18" charset="0"/>
            </a:endParaRPr>
          </a:p>
          <a:p>
            <a:pPr lvl="1" fontAlgn="base"/>
            <a:r>
              <a:rPr lang="en-CA" sz="2400" dirty="0">
                <a:solidFill>
                  <a:schemeClr val="bg1"/>
                </a:solidFill>
                <a:latin typeface="Garamond" panose="02020404030301010803" pitchFamily="18" charset="0"/>
              </a:rPr>
              <a:t>Northpointe, the firm that sells the algorithm’s outputs, offers evidence to refute such claims and argues that wrong metrics are being used to assess fairness in the product.</a:t>
            </a:r>
          </a:p>
          <a:p>
            <a:endParaRPr lang="en-US" sz="2400" dirty="0">
              <a:solidFill>
                <a:schemeClr val="bg1"/>
              </a:solidFill>
              <a:latin typeface="Garamond" panose="02020404030301010803" pitchFamily="18" charset="0"/>
            </a:endParaRPr>
          </a:p>
        </p:txBody>
      </p:sp>
      <p:sp>
        <p:nvSpPr>
          <p:cNvPr id="6" name="Title 2">
            <a:extLst>
              <a:ext uri="{FF2B5EF4-FFF2-40B4-BE49-F238E27FC236}">
                <a16:creationId xmlns:a16="http://schemas.microsoft.com/office/drawing/2014/main" id="{4F932478-DC77-6544-BF33-C34BF060BD30}"/>
              </a:ext>
            </a:extLst>
          </p:cNvPr>
          <p:cNvSpPr>
            <a:spLocks noGrp="1"/>
          </p:cNvSpPr>
          <p:nvPr>
            <p:ph type="title"/>
          </p:nvPr>
        </p:nvSpPr>
        <p:spPr>
          <a:xfrm>
            <a:off x="355739" y="194679"/>
            <a:ext cx="11963259" cy="543475"/>
          </a:xfrm>
        </p:spPr>
        <p:txBody>
          <a:bodyPr>
            <a:normAutofit fontScale="90000"/>
          </a:bodyPr>
          <a:lstStyle/>
          <a:p>
            <a:r>
              <a:rPr lang="en-US" dirty="0">
                <a:solidFill>
                  <a:prstClr val="white"/>
                </a:solidFill>
                <a:latin typeface="Perpetua Titling MT Light" charset="0"/>
              </a:rPr>
              <a:t>BIAS IN CRIMINAL JUSTICE ALGOS</a:t>
            </a:r>
          </a:p>
        </p:txBody>
      </p:sp>
      <p:sp>
        <p:nvSpPr>
          <p:cNvPr id="7" name="Rectangle 6">
            <a:extLst>
              <a:ext uri="{FF2B5EF4-FFF2-40B4-BE49-F238E27FC236}">
                <a16:creationId xmlns:a16="http://schemas.microsoft.com/office/drawing/2014/main" id="{CF49EE6A-095F-294C-A845-F6533DD9A3A5}"/>
              </a:ext>
            </a:extLst>
          </p:cNvPr>
          <p:cNvSpPr/>
          <p:nvPr/>
        </p:nvSpPr>
        <p:spPr bwMode="auto">
          <a:xfrm>
            <a:off x="5257525" y="768606"/>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8" name="TextBox 7">
            <a:extLst>
              <a:ext uri="{FF2B5EF4-FFF2-40B4-BE49-F238E27FC236}">
                <a16:creationId xmlns:a16="http://schemas.microsoft.com/office/drawing/2014/main" id="{3C0BF6E1-54E5-134F-91C8-BC4B839ADC28}"/>
              </a:ext>
            </a:extLst>
          </p:cNvPr>
          <p:cNvSpPr txBox="1"/>
          <p:nvPr/>
        </p:nvSpPr>
        <p:spPr>
          <a:xfrm>
            <a:off x="3248698" y="6239972"/>
            <a:ext cx="8912592" cy="461665"/>
          </a:xfrm>
          <a:prstGeom prst="rect">
            <a:avLst/>
          </a:prstGeom>
          <a:noFill/>
        </p:spPr>
        <p:txBody>
          <a:bodyPr wrap="square" rtlCol="0">
            <a:spAutoFit/>
          </a:bodyPr>
          <a:lstStyle/>
          <a:p>
            <a:r>
              <a:rPr lang="en-US" sz="1200" b="1" dirty="0">
                <a:solidFill>
                  <a:schemeClr val="bg1"/>
                </a:solidFill>
              </a:rPr>
              <a:t>Source:</a:t>
            </a:r>
          </a:p>
          <a:p>
            <a:r>
              <a:rPr lang="en-US" sz="1200" dirty="0">
                <a:solidFill>
                  <a:schemeClr val="bg1"/>
                </a:solidFill>
              </a:rPr>
              <a:t>https://www.brookings.edu/research/algorithmic-bias-detection-and-mitigation-best-practices-and-policies-to-reduce-consumer-harms/</a:t>
            </a:r>
          </a:p>
        </p:txBody>
      </p:sp>
      <p:sp>
        <p:nvSpPr>
          <p:cNvPr id="9" name="Slide Number Placeholder 4">
            <a:extLst>
              <a:ext uri="{FF2B5EF4-FFF2-40B4-BE49-F238E27FC236}">
                <a16:creationId xmlns:a16="http://schemas.microsoft.com/office/drawing/2014/main" id="{0714BF60-EC27-2940-846A-65A4A5B8E851}"/>
              </a:ext>
            </a:extLst>
          </p:cNvPr>
          <p:cNvSpPr txBox="1">
            <a:spLocks/>
          </p:cNvSpPr>
          <p:nvPr/>
        </p:nvSpPr>
        <p:spPr>
          <a:xfrm>
            <a:off x="11715750" y="638754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50</a:t>
            </a:fld>
            <a:endParaRPr lang="en-US" sz="1400" dirty="0">
              <a:solidFill>
                <a:schemeClr val="bg1"/>
              </a:solidFill>
            </a:endParaRPr>
          </a:p>
        </p:txBody>
      </p:sp>
    </p:spTree>
    <p:extLst>
      <p:ext uri="{BB962C8B-B14F-4D97-AF65-F5344CB8AC3E}">
        <p14:creationId xmlns:p14="http://schemas.microsoft.com/office/powerpoint/2010/main" val="32568176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25AAA4-E9DE-5B4A-BF4F-304E91D2C6CB}"/>
              </a:ext>
            </a:extLst>
          </p:cNvPr>
          <p:cNvSpPr>
            <a:spLocks noGrp="1"/>
          </p:cNvSpPr>
          <p:nvPr>
            <p:ph sz="quarter" idx="11"/>
          </p:nvPr>
        </p:nvSpPr>
        <p:spPr>
          <a:xfrm>
            <a:off x="5799221" y="1330469"/>
            <a:ext cx="6003379" cy="4175033"/>
          </a:xfrm>
        </p:spPr>
        <p:txBody>
          <a:bodyPr>
            <a:noAutofit/>
          </a:bodyPr>
          <a:lstStyle/>
          <a:p>
            <a:r>
              <a:rPr lang="en-US" sz="1800" b="1" dirty="0">
                <a:solidFill>
                  <a:schemeClr val="bg1"/>
                </a:solidFill>
                <a:latin typeface="Garamond" panose="02020404030301010803" pitchFamily="18" charset="0"/>
              </a:rPr>
              <a:t>Video Viewings</a:t>
            </a:r>
            <a:r>
              <a:rPr lang="en-US" sz="1800" b="1" dirty="0">
                <a:solidFill>
                  <a:srgbClr val="FFFF00"/>
                </a:solidFill>
                <a:latin typeface="Garamond" panose="02020404030301010803" pitchFamily="18" charset="0"/>
              </a:rPr>
              <a:t>: Machine Learning and Human Bias, Produced by Google and Joy Buolamwini, Founder, Algorithmic Justice</a:t>
            </a:r>
          </a:p>
          <a:p>
            <a:endParaRPr lang="en-US" sz="1800" dirty="0">
              <a:solidFill>
                <a:schemeClr val="bg1"/>
              </a:solidFill>
              <a:latin typeface="Garamond" panose="02020404030301010803" pitchFamily="18" charset="0"/>
            </a:endParaRPr>
          </a:p>
          <a:p>
            <a:r>
              <a:rPr lang="en-US" sz="1800" b="1" dirty="0">
                <a:solidFill>
                  <a:srgbClr val="FFFF00"/>
                </a:solidFill>
                <a:latin typeface="Garamond" panose="02020404030301010803" pitchFamily="18" charset="0"/>
              </a:rPr>
              <a:t>Source: </a:t>
            </a:r>
            <a:r>
              <a:rPr lang="en-US" sz="1800" b="1" dirty="0">
                <a:solidFill>
                  <a:schemeClr val="bg1"/>
                </a:solidFill>
                <a:latin typeface="Garamond" panose="02020404030301010803" pitchFamily="18" charset="0"/>
              </a:rPr>
              <a:t>YouTube Length: 2.33 min Aug, 2017 </a:t>
            </a:r>
            <a:r>
              <a:rPr lang="en-US" sz="1800" dirty="0">
                <a:solidFill>
                  <a:schemeClr val="bg1"/>
                </a:solidFill>
                <a:latin typeface="Garamond" panose="02020404030301010803" pitchFamily="18" charset="0"/>
                <a:hlinkClick r:id="rId2">
                  <a:extLst>
                    <a:ext uri="{A12FA001-AC4F-418D-AE19-62706E023703}">
                      <ahyp:hlinkClr xmlns:ahyp="http://schemas.microsoft.com/office/drawing/2018/hyperlinkcolor" val="tx"/>
                    </a:ext>
                  </a:extLst>
                </a:hlinkClick>
              </a:rPr>
              <a:t>https://www.youtube.com/watch?v=59bMh59JQDo&amp;feature=emb_logo</a:t>
            </a:r>
            <a:endParaRPr lang="en-US" sz="1800" dirty="0">
              <a:solidFill>
                <a:schemeClr val="bg1"/>
              </a:solidFill>
              <a:latin typeface="Garamond" panose="02020404030301010803" pitchFamily="18" charset="0"/>
            </a:endParaRPr>
          </a:p>
          <a:p>
            <a:endParaRPr lang="en-US" sz="1800" dirty="0">
              <a:solidFill>
                <a:schemeClr val="bg1"/>
              </a:solidFill>
              <a:latin typeface="Garamond" panose="02020404030301010803" pitchFamily="18" charset="0"/>
            </a:endParaRPr>
          </a:p>
          <a:p>
            <a:r>
              <a:rPr lang="en-US" sz="1800" b="1" dirty="0">
                <a:solidFill>
                  <a:srgbClr val="FFFF00"/>
                </a:solidFill>
                <a:latin typeface="Garamond" panose="02020404030301010803" pitchFamily="18" charset="0"/>
              </a:rPr>
              <a:t>Source: </a:t>
            </a:r>
            <a:r>
              <a:rPr lang="en-CA" sz="1800" b="1" dirty="0">
                <a:solidFill>
                  <a:schemeClr val="bg1"/>
                </a:solidFill>
                <a:latin typeface="Garamond" panose="02020404030301010803" pitchFamily="18" charset="0"/>
              </a:rPr>
              <a:t>Joy Buolamwini, founder of the Algorithmic Justice League, presents at the Bloomberg Equality Summit in New York</a:t>
            </a:r>
            <a:r>
              <a:rPr lang="en-CA" sz="1800" dirty="0">
                <a:solidFill>
                  <a:schemeClr val="bg1"/>
                </a:solidFill>
                <a:latin typeface="Garamond" panose="02020404030301010803" pitchFamily="18" charset="0"/>
              </a:rPr>
              <a:t>. </a:t>
            </a:r>
            <a:r>
              <a:rPr lang="en-CA" sz="1800" dirty="0">
                <a:solidFill>
                  <a:schemeClr val="bg1"/>
                </a:solidFill>
                <a:latin typeface="Garamond" panose="02020404030301010803" pitchFamily="18" charset="0"/>
                <a:hlinkClick r:id="rId3">
                  <a:extLst>
                    <a:ext uri="{A12FA001-AC4F-418D-AE19-62706E023703}">
                      <ahyp:hlinkClr xmlns:ahyp="http://schemas.microsoft.com/office/drawing/2018/hyperlinkcolor" val="tx"/>
                    </a:ext>
                  </a:extLst>
                </a:hlinkClick>
              </a:rPr>
              <a:t>#BloombergEquality</a:t>
            </a:r>
            <a:r>
              <a:rPr lang="en-CA" sz="1800" dirty="0">
                <a:solidFill>
                  <a:schemeClr val="bg1"/>
                </a:solidFill>
                <a:latin typeface="Garamond" panose="02020404030301010803" pitchFamily="18" charset="0"/>
              </a:rPr>
              <a:t>  (13 Min)</a:t>
            </a:r>
          </a:p>
          <a:p>
            <a:pPr marL="0" indent="0">
              <a:buNone/>
            </a:pPr>
            <a:r>
              <a:rPr lang="en-CA" sz="1800" dirty="0">
                <a:solidFill>
                  <a:schemeClr val="bg1"/>
                </a:solidFill>
                <a:latin typeface="Garamond" panose="02020404030301010803" pitchFamily="18" charset="0"/>
              </a:rPr>
              <a:t>     </a:t>
            </a:r>
            <a:r>
              <a:rPr lang="en-US" sz="1800" dirty="0">
                <a:solidFill>
                  <a:schemeClr val="bg1"/>
                </a:solidFill>
                <a:latin typeface="Garamond" panose="02020404030301010803" pitchFamily="18" charset="0"/>
              </a:rPr>
              <a:t> https://www.youtube.com/watch?v=eRUEVYndh9c</a:t>
            </a:r>
          </a:p>
          <a:p>
            <a:r>
              <a:rPr lang="en-US" sz="1800" b="1" dirty="0">
                <a:solidFill>
                  <a:schemeClr val="bg1"/>
                </a:solidFill>
                <a:latin typeface="Garamond" panose="02020404030301010803" pitchFamily="18" charset="0"/>
              </a:rPr>
              <a:t>Learning Outcome: </a:t>
            </a:r>
            <a:r>
              <a:rPr lang="en-US" sz="1800" dirty="0">
                <a:solidFill>
                  <a:schemeClr val="bg1"/>
                </a:solidFill>
                <a:latin typeface="Garamond" panose="02020404030301010803" pitchFamily="18" charset="0"/>
              </a:rPr>
              <a:t>Stronger appreciation of Data Bias in Machine Learning Methods and Risks</a:t>
            </a:r>
          </a:p>
        </p:txBody>
      </p:sp>
      <p:sp>
        <p:nvSpPr>
          <p:cNvPr id="8" name="Title 2">
            <a:extLst>
              <a:ext uri="{FF2B5EF4-FFF2-40B4-BE49-F238E27FC236}">
                <a16:creationId xmlns:a16="http://schemas.microsoft.com/office/drawing/2014/main" id="{45DB3F83-0310-194E-BFE8-211667E78BFA}"/>
              </a:ext>
            </a:extLst>
          </p:cNvPr>
          <p:cNvSpPr>
            <a:spLocks noGrp="1"/>
          </p:cNvSpPr>
          <p:nvPr>
            <p:ph type="title"/>
          </p:nvPr>
        </p:nvSpPr>
        <p:spPr>
          <a:xfrm>
            <a:off x="327719" y="393171"/>
            <a:ext cx="11474881" cy="543475"/>
          </a:xfrm>
        </p:spPr>
        <p:txBody>
          <a:bodyPr>
            <a:noAutofit/>
          </a:bodyPr>
          <a:lstStyle/>
          <a:p>
            <a:r>
              <a:rPr lang="en-US" dirty="0">
                <a:solidFill>
                  <a:prstClr val="white"/>
                </a:solidFill>
                <a:latin typeface="Perpetua Titling MT Light" charset="0"/>
              </a:rPr>
              <a:t>DATA BIAS RISKS </a:t>
            </a:r>
          </a:p>
        </p:txBody>
      </p:sp>
      <p:sp>
        <p:nvSpPr>
          <p:cNvPr id="9" name="Rectangle 8">
            <a:extLst>
              <a:ext uri="{FF2B5EF4-FFF2-40B4-BE49-F238E27FC236}">
                <a16:creationId xmlns:a16="http://schemas.microsoft.com/office/drawing/2014/main" id="{AC84EBCD-FB94-804A-AD55-82B7595B2E46}"/>
              </a:ext>
            </a:extLst>
          </p:cNvPr>
          <p:cNvSpPr/>
          <p:nvPr/>
        </p:nvSpPr>
        <p:spPr bwMode="auto">
          <a:xfrm>
            <a:off x="5468123" y="973739"/>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10" name="Rectangle 9">
            <a:extLst>
              <a:ext uri="{FF2B5EF4-FFF2-40B4-BE49-F238E27FC236}">
                <a16:creationId xmlns:a16="http://schemas.microsoft.com/office/drawing/2014/main" id="{4CF5D4BC-CB43-1147-992D-9320333C0262}"/>
              </a:ext>
            </a:extLst>
          </p:cNvPr>
          <p:cNvSpPr/>
          <p:nvPr/>
        </p:nvSpPr>
        <p:spPr>
          <a:xfrm>
            <a:off x="501944" y="1330469"/>
            <a:ext cx="4966179" cy="5062924"/>
          </a:xfrm>
          <a:prstGeom prst="rect">
            <a:avLst/>
          </a:prstGeom>
          <a:solidFill>
            <a:schemeClr val="accent6"/>
          </a:solidFill>
          <a:ln w="76200">
            <a:solidFill>
              <a:srgbClr val="FF0000"/>
            </a:solidFill>
          </a:ln>
        </p:spPr>
        <p:txBody>
          <a:bodyPr wrap="square">
            <a:spAutoFit/>
          </a:bodyPr>
          <a:lstStyle/>
          <a:p>
            <a:r>
              <a:rPr lang="en-CA" sz="1900" b="1" dirty="0">
                <a:solidFill>
                  <a:schemeClr val="bg1"/>
                </a:solidFill>
                <a:latin typeface="Garamond" panose="02020404030301010803" pitchFamily="18" charset="0"/>
              </a:rPr>
              <a:t>Bias is a well-established facet of AI (or of human intelligence, for that matter). </a:t>
            </a:r>
          </a:p>
          <a:p>
            <a:endParaRPr lang="en-CA" sz="1900" b="1" dirty="0">
              <a:solidFill>
                <a:schemeClr val="bg1"/>
              </a:solidFill>
              <a:latin typeface="Garamond" panose="02020404030301010803" pitchFamily="18" charset="0"/>
            </a:endParaRPr>
          </a:p>
          <a:p>
            <a:r>
              <a:rPr lang="en-CA" sz="1900" b="1" dirty="0">
                <a:solidFill>
                  <a:schemeClr val="bg1"/>
                </a:solidFill>
                <a:latin typeface="Garamond" panose="02020404030301010803" pitchFamily="18" charset="0"/>
              </a:rPr>
              <a:t>AI takes on the biases of the dataset it learns from. </a:t>
            </a:r>
          </a:p>
          <a:p>
            <a:endParaRPr lang="en-CA" sz="1900" b="1" dirty="0">
              <a:solidFill>
                <a:schemeClr val="bg1"/>
              </a:solidFill>
              <a:latin typeface="Garamond" panose="02020404030301010803" pitchFamily="18" charset="0"/>
            </a:endParaRPr>
          </a:p>
          <a:p>
            <a:r>
              <a:rPr lang="en-CA" sz="1900" b="1" dirty="0">
                <a:solidFill>
                  <a:schemeClr val="bg1"/>
                </a:solidFill>
                <a:latin typeface="Garamond" panose="02020404030301010803" pitchFamily="18" charset="0"/>
              </a:rPr>
              <a:t>This means that if researchers train an AI on data that are skewed for race, gender, education, wealth, or any other point of bias, the AI will learn that bias. </a:t>
            </a:r>
          </a:p>
          <a:p>
            <a:endParaRPr lang="en-CA" sz="1900" b="1" dirty="0">
              <a:solidFill>
                <a:schemeClr val="bg1"/>
              </a:solidFill>
              <a:latin typeface="Garamond" panose="02020404030301010803" pitchFamily="18" charset="0"/>
            </a:endParaRPr>
          </a:p>
          <a:p>
            <a:r>
              <a:rPr lang="en-CA" sz="1900" b="1" dirty="0">
                <a:solidFill>
                  <a:schemeClr val="bg1"/>
                </a:solidFill>
                <a:latin typeface="Garamond" panose="02020404030301010803" pitchFamily="18" charset="0"/>
              </a:rPr>
              <a:t>For instance, an artificial intelligence application used to </a:t>
            </a:r>
            <a:r>
              <a:rPr lang="en-CA" sz="1900" b="1" dirty="0">
                <a:solidFill>
                  <a:schemeClr val="bg1"/>
                </a:solidFill>
                <a:latin typeface="Garamond" panose="02020404030301010803" pitchFamily="18" charset="0"/>
                <a:hlinkClick r:id="rId4">
                  <a:extLst>
                    <a:ext uri="{A12FA001-AC4F-418D-AE19-62706E023703}">
                      <ahyp:hlinkClr xmlns:ahyp="http://schemas.microsoft.com/office/drawing/2018/hyperlinkcolor" val="tx"/>
                    </a:ext>
                  </a:extLst>
                </a:hlinkClick>
              </a:rPr>
              <a:t>predict future criminals</a:t>
            </a:r>
            <a:r>
              <a:rPr lang="en-CA" sz="1900" b="1" dirty="0">
                <a:solidFill>
                  <a:schemeClr val="bg1"/>
                </a:solidFill>
                <a:latin typeface="Garamond" panose="02020404030301010803" pitchFamily="18" charset="0"/>
              </a:rPr>
              <a:t> in the United States showed higher risk scores and recommended harsher actions for black people than white based on the racial bias in America’s criminal incarceration data.</a:t>
            </a:r>
            <a:endParaRPr lang="en-US" sz="1900" b="1" dirty="0">
              <a:solidFill>
                <a:schemeClr val="bg1"/>
              </a:solidFill>
              <a:latin typeface="Garamond" panose="02020404030301010803" pitchFamily="18" charset="0"/>
            </a:endParaRPr>
          </a:p>
        </p:txBody>
      </p:sp>
      <p:sp>
        <p:nvSpPr>
          <p:cNvPr id="6" name="Slide Number Placeholder 4">
            <a:extLst>
              <a:ext uri="{FF2B5EF4-FFF2-40B4-BE49-F238E27FC236}">
                <a16:creationId xmlns:a16="http://schemas.microsoft.com/office/drawing/2014/main" id="{D26C06F8-4A8E-FA45-9B7B-92F2622C04A8}"/>
              </a:ext>
            </a:extLst>
          </p:cNvPr>
          <p:cNvSpPr txBox="1">
            <a:spLocks/>
          </p:cNvSpPr>
          <p:nvPr/>
        </p:nvSpPr>
        <p:spPr>
          <a:xfrm>
            <a:off x="11715750" y="638754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51</a:t>
            </a:fld>
            <a:endParaRPr lang="en-US" sz="1400" dirty="0">
              <a:solidFill>
                <a:schemeClr val="bg1"/>
              </a:solidFill>
            </a:endParaRPr>
          </a:p>
        </p:txBody>
      </p:sp>
    </p:spTree>
    <p:extLst>
      <p:ext uri="{BB962C8B-B14F-4D97-AF65-F5344CB8AC3E}">
        <p14:creationId xmlns:p14="http://schemas.microsoft.com/office/powerpoint/2010/main" val="29553501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A3E898-9F85-F74E-AC78-498B7E50102F}"/>
              </a:ext>
            </a:extLst>
          </p:cNvPr>
          <p:cNvSpPr>
            <a:spLocks noGrp="1"/>
          </p:cNvSpPr>
          <p:nvPr>
            <p:ph sz="quarter" idx="11"/>
          </p:nvPr>
        </p:nvSpPr>
        <p:spPr>
          <a:xfrm>
            <a:off x="865726" y="2089134"/>
            <a:ext cx="10454909" cy="4175033"/>
          </a:xfrm>
        </p:spPr>
        <p:txBody>
          <a:bodyPr>
            <a:noAutofit/>
          </a:bodyPr>
          <a:lstStyle/>
          <a:p>
            <a:pPr fontAlgn="base"/>
            <a:r>
              <a:rPr lang="en-CA" sz="2800" b="1" dirty="0">
                <a:solidFill>
                  <a:srgbClr val="FFFF00"/>
                </a:solidFill>
                <a:latin typeface="+mn-lt"/>
                <a:ea typeface="+mn-ea"/>
              </a:rPr>
              <a:t>Within five years, the number of biased AI systems and algorithms will </a:t>
            </a:r>
            <a:r>
              <a:rPr lang="en-CA" sz="2800" b="1" u="sng" dirty="0">
                <a:solidFill>
                  <a:srgbClr val="FFFF00"/>
                </a:solidFill>
                <a:latin typeface="+mn-lt"/>
                <a:ea typeface="+mn-ea"/>
              </a:rPr>
              <a:t>increase ten fold. </a:t>
            </a:r>
          </a:p>
          <a:p>
            <a:pPr lvl="1" fontAlgn="base"/>
            <a:r>
              <a:rPr lang="en-CA" sz="2800" b="1" dirty="0">
                <a:solidFill>
                  <a:schemeClr val="bg1"/>
                </a:solidFill>
                <a:latin typeface="+mn-lt"/>
                <a:ea typeface="+mn-ea"/>
              </a:rPr>
              <a:t>Leaders must understand the </a:t>
            </a:r>
            <a:r>
              <a:rPr lang="en-CA" sz="2800" b="1" dirty="0">
                <a:solidFill>
                  <a:schemeClr val="accent6"/>
                </a:solidFill>
                <a:latin typeface="+mn-lt"/>
                <a:ea typeface="+mn-ea"/>
              </a:rPr>
              <a:t>risks of data bias in data sets and ensure that they manage risk very carefully</a:t>
            </a:r>
            <a:r>
              <a:rPr lang="en-CA" sz="2800" b="1" dirty="0">
                <a:solidFill>
                  <a:schemeClr val="bg1"/>
                </a:solidFill>
                <a:latin typeface="+mn-lt"/>
                <a:ea typeface="+mn-ea"/>
              </a:rPr>
              <a:t> </a:t>
            </a:r>
            <a:r>
              <a:rPr lang="en-CA" sz="2800" dirty="0">
                <a:solidFill>
                  <a:schemeClr val="bg1"/>
                </a:solidFill>
                <a:latin typeface="+mn-lt"/>
                <a:ea typeface="+mn-ea"/>
              </a:rPr>
              <a:t>and </a:t>
            </a:r>
            <a:r>
              <a:rPr lang="en-CA" sz="2800" b="1" dirty="0">
                <a:solidFill>
                  <a:schemeClr val="bg1"/>
                </a:solidFill>
                <a:latin typeface="+mn-lt"/>
                <a:ea typeface="+mn-ea"/>
              </a:rPr>
              <a:t>have experts verify tolerance thresholds are worth the risk </a:t>
            </a:r>
            <a:r>
              <a:rPr lang="en-CA" sz="2800" dirty="0">
                <a:solidFill>
                  <a:schemeClr val="bg1"/>
                </a:solidFill>
                <a:latin typeface="+mn-lt"/>
                <a:ea typeface="+mn-ea"/>
              </a:rPr>
              <a:t>in misclassifications and increasing legal suits in Facial Recognition practices.</a:t>
            </a:r>
          </a:p>
        </p:txBody>
      </p:sp>
      <p:sp>
        <p:nvSpPr>
          <p:cNvPr id="3" name="Title 2">
            <a:extLst>
              <a:ext uri="{FF2B5EF4-FFF2-40B4-BE49-F238E27FC236}">
                <a16:creationId xmlns:a16="http://schemas.microsoft.com/office/drawing/2014/main" id="{BFBB4D0F-021C-4442-B10A-8579677F9B65}"/>
              </a:ext>
            </a:extLst>
          </p:cNvPr>
          <p:cNvSpPr>
            <a:spLocks noGrp="1"/>
          </p:cNvSpPr>
          <p:nvPr>
            <p:ph type="title"/>
          </p:nvPr>
        </p:nvSpPr>
        <p:spPr/>
        <p:txBody>
          <a:bodyPr>
            <a:noAutofit/>
          </a:bodyPr>
          <a:lstStyle/>
          <a:p>
            <a:r>
              <a:rPr lang="en-US" dirty="0">
                <a:solidFill>
                  <a:prstClr val="white"/>
                </a:solidFill>
                <a:latin typeface="Perpetua Titling MT Light" charset="0"/>
              </a:rPr>
              <a:t>AI BIAS WILL EXPLODE: </a:t>
            </a:r>
            <a:br>
              <a:rPr lang="en-US" dirty="0">
                <a:solidFill>
                  <a:prstClr val="white"/>
                </a:solidFill>
                <a:latin typeface="Perpetua Titling MT Light" charset="0"/>
              </a:rPr>
            </a:br>
            <a:r>
              <a:rPr lang="en-US" dirty="0">
                <a:solidFill>
                  <a:prstClr val="white"/>
                </a:solidFill>
                <a:latin typeface="Perpetua Titling MT Light" charset="0"/>
              </a:rPr>
              <a:t>BUT ONLY THE UBIASED WILL SURVIVE</a:t>
            </a:r>
          </a:p>
        </p:txBody>
      </p:sp>
      <p:sp>
        <p:nvSpPr>
          <p:cNvPr id="6" name="Slide Number Placeholder 4">
            <a:extLst>
              <a:ext uri="{FF2B5EF4-FFF2-40B4-BE49-F238E27FC236}">
                <a16:creationId xmlns:a16="http://schemas.microsoft.com/office/drawing/2014/main" id="{00FA4F63-FC8C-9946-B822-AC6CC03071D3}"/>
              </a:ext>
            </a:extLst>
          </p:cNvPr>
          <p:cNvSpPr txBox="1">
            <a:spLocks/>
          </p:cNvSpPr>
          <p:nvPr/>
        </p:nvSpPr>
        <p:spPr>
          <a:xfrm>
            <a:off x="11715750" y="6264167"/>
            <a:ext cx="445540" cy="59383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52</a:t>
            </a:fld>
            <a:endParaRPr lang="en-US" sz="1400" dirty="0">
              <a:solidFill>
                <a:schemeClr val="bg1"/>
              </a:solidFill>
            </a:endParaRPr>
          </a:p>
        </p:txBody>
      </p:sp>
      <p:sp>
        <p:nvSpPr>
          <p:cNvPr id="7" name="Rectangle 6">
            <a:extLst>
              <a:ext uri="{FF2B5EF4-FFF2-40B4-BE49-F238E27FC236}">
                <a16:creationId xmlns:a16="http://schemas.microsoft.com/office/drawing/2014/main" id="{E4BD0A72-C36C-0D41-8099-281EA502ED52}"/>
              </a:ext>
            </a:extLst>
          </p:cNvPr>
          <p:cNvSpPr/>
          <p:nvPr/>
        </p:nvSpPr>
        <p:spPr bwMode="auto">
          <a:xfrm>
            <a:off x="5065623" y="1385378"/>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Tree>
    <p:extLst>
      <p:ext uri="{BB962C8B-B14F-4D97-AF65-F5344CB8AC3E}">
        <p14:creationId xmlns:p14="http://schemas.microsoft.com/office/powerpoint/2010/main" val="26645703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A3E898-9F85-F74E-AC78-498B7E50102F}"/>
              </a:ext>
            </a:extLst>
          </p:cNvPr>
          <p:cNvSpPr>
            <a:spLocks noGrp="1"/>
          </p:cNvSpPr>
          <p:nvPr>
            <p:ph sz="quarter" idx="11"/>
          </p:nvPr>
        </p:nvSpPr>
        <p:spPr>
          <a:xfrm>
            <a:off x="586853" y="1624967"/>
            <a:ext cx="11128897" cy="4175033"/>
          </a:xfrm>
        </p:spPr>
        <p:txBody>
          <a:bodyPr>
            <a:noAutofit/>
          </a:bodyPr>
          <a:lstStyle/>
          <a:p>
            <a:pPr marL="0" indent="0" fontAlgn="base">
              <a:buNone/>
            </a:pPr>
            <a:r>
              <a:rPr lang="en-CA" sz="2400" b="1" dirty="0">
                <a:solidFill>
                  <a:srgbClr val="FFFF00"/>
                </a:solidFill>
                <a:latin typeface="+mn-lt"/>
                <a:ea typeface="+mn-ea"/>
              </a:rPr>
              <a:t>One econometric study at Stanford University </a:t>
            </a:r>
            <a:r>
              <a:rPr lang="en-CA" sz="2400" b="1" dirty="0">
                <a:solidFill>
                  <a:srgbClr val="FFFF00"/>
                </a:solidFill>
                <a:latin typeface="+mn-lt"/>
                <a:ea typeface="+mn-ea"/>
                <a:hlinkClick r:id="rId2">
                  <a:extLst>
                    <a:ext uri="{A12FA001-AC4F-418D-AE19-62706E023703}">
                      <ahyp:hlinkClr xmlns:ahyp="http://schemas.microsoft.com/office/drawing/2018/hyperlinkcolor" val="tx"/>
                    </a:ext>
                  </a:extLst>
                </a:hlinkClick>
              </a:rPr>
              <a:t>found</a:t>
            </a:r>
            <a:r>
              <a:rPr lang="en-CA" sz="2400" b="1" dirty="0">
                <a:solidFill>
                  <a:srgbClr val="FFFF00"/>
                </a:solidFill>
                <a:latin typeface="+mn-lt"/>
                <a:ea typeface="+mn-ea"/>
              </a:rPr>
              <a:t> that at least “25% of growth in U.S. GDP between 1960 and 2010 can be attributed to greater gender and racial balance in the workplace,” and that the figure could be as high as 40%. </a:t>
            </a:r>
          </a:p>
          <a:p>
            <a:pPr marL="0" indent="0" fontAlgn="base">
              <a:buNone/>
            </a:pPr>
            <a:r>
              <a:rPr lang="en-CA" sz="2400" b="1" dirty="0">
                <a:solidFill>
                  <a:schemeClr val="bg1"/>
                </a:solidFill>
                <a:latin typeface="+mn-lt"/>
                <a:ea typeface="+mn-ea"/>
              </a:rPr>
              <a:t>	Source: </a:t>
            </a:r>
            <a:r>
              <a:rPr lang="en-CA" sz="2400" dirty="0">
                <a:solidFill>
                  <a:schemeClr val="bg1"/>
                </a:solidFill>
                <a:latin typeface="+mn-lt"/>
                <a:ea typeface="+mn-ea"/>
              </a:rPr>
              <a:t>Stanford University Insights  	https://www.gsb.stanford.edu/insights/workplace-equality-economys-hidden-	engine</a:t>
            </a:r>
          </a:p>
          <a:p>
            <a:pPr fontAlgn="base"/>
            <a:r>
              <a:rPr lang="en-CA" sz="2400" dirty="0">
                <a:solidFill>
                  <a:schemeClr val="bg1"/>
                </a:solidFill>
                <a:latin typeface="+mn-lt"/>
                <a:ea typeface="+mn-ea"/>
              </a:rPr>
              <a:t>IBM like other leading AI vendors are striving to develop data bias analytical toolkits to evaluate inherent bias in data sets, and making good progress with MIT Media Research Labs.</a:t>
            </a:r>
          </a:p>
          <a:p>
            <a:pPr marL="0" indent="0" fontAlgn="base">
              <a:buNone/>
            </a:pPr>
            <a:endParaRPr lang="en-CA" sz="2400" b="1" u="sng" dirty="0">
              <a:solidFill>
                <a:schemeClr val="bg1"/>
              </a:solidFill>
              <a:latin typeface="+mn-lt"/>
              <a:ea typeface="+mn-ea"/>
            </a:endParaRPr>
          </a:p>
        </p:txBody>
      </p:sp>
      <p:sp>
        <p:nvSpPr>
          <p:cNvPr id="3" name="Title 2">
            <a:extLst>
              <a:ext uri="{FF2B5EF4-FFF2-40B4-BE49-F238E27FC236}">
                <a16:creationId xmlns:a16="http://schemas.microsoft.com/office/drawing/2014/main" id="{BFBB4D0F-021C-4442-B10A-8579677F9B65}"/>
              </a:ext>
            </a:extLst>
          </p:cNvPr>
          <p:cNvSpPr>
            <a:spLocks noGrp="1"/>
          </p:cNvSpPr>
          <p:nvPr>
            <p:ph type="title"/>
          </p:nvPr>
        </p:nvSpPr>
        <p:spPr>
          <a:xfrm>
            <a:off x="355739" y="157230"/>
            <a:ext cx="11474881" cy="543475"/>
          </a:xfrm>
        </p:spPr>
        <p:txBody>
          <a:bodyPr>
            <a:noAutofit/>
          </a:bodyPr>
          <a:lstStyle/>
          <a:p>
            <a:br>
              <a:rPr lang="en-US" dirty="0">
                <a:solidFill>
                  <a:schemeClr val="bg1"/>
                </a:solidFill>
              </a:rPr>
            </a:br>
            <a:r>
              <a:rPr lang="en-US" dirty="0">
                <a:solidFill>
                  <a:schemeClr val="bg1"/>
                </a:solidFill>
              </a:rPr>
              <a:t>DATA BIAS RISKS OF AI</a:t>
            </a:r>
            <a:endParaRPr lang="en-US" dirty="0"/>
          </a:p>
        </p:txBody>
      </p:sp>
      <p:sp>
        <p:nvSpPr>
          <p:cNvPr id="6" name="Slide Number Placeholder 4">
            <a:extLst>
              <a:ext uri="{FF2B5EF4-FFF2-40B4-BE49-F238E27FC236}">
                <a16:creationId xmlns:a16="http://schemas.microsoft.com/office/drawing/2014/main" id="{00FA4F63-FC8C-9946-B822-AC6CC03071D3}"/>
              </a:ext>
            </a:extLst>
          </p:cNvPr>
          <p:cNvSpPr txBox="1">
            <a:spLocks/>
          </p:cNvSpPr>
          <p:nvPr/>
        </p:nvSpPr>
        <p:spPr>
          <a:xfrm>
            <a:off x="11715750" y="6264167"/>
            <a:ext cx="445540" cy="59383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53</a:t>
            </a:fld>
            <a:endParaRPr lang="en-US" sz="1400" dirty="0">
              <a:solidFill>
                <a:schemeClr val="bg1"/>
              </a:solidFill>
            </a:endParaRPr>
          </a:p>
        </p:txBody>
      </p:sp>
      <p:sp>
        <p:nvSpPr>
          <p:cNvPr id="7" name="Rectangle 6">
            <a:extLst>
              <a:ext uri="{FF2B5EF4-FFF2-40B4-BE49-F238E27FC236}">
                <a16:creationId xmlns:a16="http://schemas.microsoft.com/office/drawing/2014/main" id="{E4BD0A72-C36C-0D41-8099-281EA502ED52}"/>
              </a:ext>
            </a:extLst>
          </p:cNvPr>
          <p:cNvSpPr/>
          <p:nvPr/>
        </p:nvSpPr>
        <p:spPr bwMode="auto">
          <a:xfrm>
            <a:off x="5052176" y="1345037"/>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Tree>
    <p:extLst>
      <p:ext uri="{BB962C8B-B14F-4D97-AF65-F5344CB8AC3E}">
        <p14:creationId xmlns:p14="http://schemas.microsoft.com/office/powerpoint/2010/main" val="39052496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B5D788-3002-C544-8421-E14D2ECD696C}"/>
              </a:ext>
            </a:extLst>
          </p:cNvPr>
          <p:cNvSpPr/>
          <p:nvPr/>
        </p:nvSpPr>
        <p:spPr>
          <a:xfrm>
            <a:off x="479998" y="976409"/>
            <a:ext cx="11315938" cy="5632311"/>
          </a:xfrm>
          <a:prstGeom prst="rect">
            <a:avLst/>
          </a:prstGeom>
        </p:spPr>
        <p:txBody>
          <a:bodyPr wrap="square">
            <a:spAutoFit/>
          </a:bodyPr>
          <a:lstStyle/>
          <a:p>
            <a:r>
              <a:rPr lang="en-CA" sz="2400" b="1" dirty="0">
                <a:solidFill>
                  <a:srgbClr val="FFFF00"/>
                </a:solidFill>
                <a:latin typeface="Garamond" panose="02020404030301010803" pitchFamily="18" charset="0"/>
              </a:rPr>
              <a:t>From massive face-recognition-based surveillance and machine-learning-based decision systems predicting crime recidivism rates, to the move towards automated health diagnostic systems, artificial intelligence (AI) is being used in scenarios that have serious consequences in people's lives. </a:t>
            </a:r>
          </a:p>
          <a:p>
            <a:pPr marL="285750" indent="-285750">
              <a:buFont typeface="Arial" panose="020B0604020202020204" pitchFamily="34" charset="0"/>
              <a:buChar char="•"/>
            </a:pPr>
            <a:r>
              <a:rPr lang="en-CA" sz="2400" dirty="0">
                <a:solidFill>
                  <a:schemeClr val="bg1"/>
                </a:solidFill>
                <a:latin typeface="Garamond" panose="02020404030301010803" pitchFamily="18" charset="0"/>
              </a:rPr>
              <a:t>However, this rapid permeation of AI into society has not been accompanied by a thorough investigation of the sociopolitical issues that cause certain groups of people to be harmed rather than advantaged by it. </a:t>
            </a:r>
          </a:p>
          <a:p>
            <a:pPr marL="285750" indent="-285750">
              <a:buFont typeface="Arial" panose="020B0604020202020204" pitchFamily="34" charset="0"/>
              <a:buChar char="•"/>
            </a:pPr>
            <a:r>
              <a:rPr lang="en-CA" sz="2400" dirty="0">
                <a:solidFill>
                  <a:schemeClr val="bg1"/>
                </a:solidFill>
                <a:latin typeface="Garamond" panose="02020404030301010803" pitchFamily="18" charset="0"/>
              </a:rPr>
              <a:t>For instance, recent studies have shown that commercial face recognition systems have much higher error rates for dark skinned women while having minimal errors on light skinned men. </a:t>
            </a:r>
          </a:p>
          <a:p>
            <a:pPr marL="285750" indent="-285750">
              <a:buFont typeface="Arial" panose="020B0604020202020204" pitchFamily="34" charset="0"/>
              <a:buChar char="•"/>
            </a:pPr>
            <a:r>
              <a:rPr lang="en-CA" sz="2400" dirty="0">
                <a:solidFill>
                  <a:schemeClr val="bg1"/>
                </a:solidFill>
                <a:latin typeface="Garamond" panose="02020404030301010803" pitchFamily="18" charset="0"/>
              </a:rPr>
              <a:t>A 2016 ProPublica investigation uncovered that machine learning based tools that assess crime recidivism rates in the US are biased against African Americans. </a:t>
            </a:r>
          </a:p>
          <a:p>
            <a:pPr marL="285750" indent="-285750">
              <a:buFont typeface="Arial" panose="020B0604020202020204" pitchFamily="34" charset="0"/>
              <a:buChar char="•"/>
            </a:pPr>
            <a:r>
              <a:rPr lang="en-CA" sz="2400" dirty="0">
                <a:solidFill>
                  <a:schemeClr val="bg1"/>
                </a:solidFill>
                <a:latin typeface="Garamond" panose="02020404030301010803" pitchFamily="18" charset="0"/>
              </a:rPr>
              <a:t>Other studies show that natural language processing tools trained on newspapers exhibit societal biases (e.g. finishing the analogy "Man is to computer programmer as woman is to X" by homemaker). </a:t>
            </a:r>
          </a:p>
        </p:txBody>
      </p:sp>
      <p:sp>
        <p:nvSpPr>
          <p:cNvPr id="7" name="Title 2">
            <a:extLst>
              <a:ext uri="{FF2B5EF4-FFF2-40B4-BE49-F238E27FC236}">
                <a16:creationId xmlns:a16="http://schemas.microsoft.com/office/drawing/2014/main" id="{1F46EBB1-F51E-1244-8251-C2B9FD502F35}"/>
              </a:ext>
            </a:extLst>
          </p:cNvPr>
          <p:cNvSpPr>
            <a:spLocks noGrp="1"/>
          </p:cNvSpPr>
          <p:nvPr>
            <p:ph type="title"/>
          </p:nvPr>
        </p:nvSpPr>
        <p:spPr>
          <a:xfrm>
            <a:off x="321055" y="139700"/>
            <a:ext cx="11474881" cy="543475"/>
          </a:xfrm>
        </p:spPr>
        <p:txBody>
          <a:bodyPr>
            <a:noAutofit/>
          </a:bodyPr>
          <a:lstStyle/>
          <a:p>
            <a:r>
              <a:rPr lang="en-US" dirty="0">
                <a:solidFill>
                  <a:schemeClr val="bg1"/>
                </a:solidFill>
              </a:rPr>
              <a:t>DATA BIAS RISKS OF AI</a:t>
            </a:r>
            <a:endParaRPr lang="en-US" dirty="0"/>
          </a:p>
        </p:txBody>
      </p:sp>
      <p:sp>
        <p:nvSpPr>
          <p:cNvPr id="8" name="Rectangle 7">
            <a:extLst>
              <a:ext uri="{FF2B5EF4-FFF2-40B4-BE49-F238E27FC236}">
                <a16:creationId xmlns:a16="http://schemas.microsoft.com/office/drawing/2014/main" id="{B14A72BC-672E-FB41-80FF-E71D74370EB7}"/>
              </a:ext>
            </a:extLst>
          </p:cNvPr>
          <p:cNvSpPr/>
          <p:nvPr/>
        </p:nvSpPr>
        <p:spPr bwMode="auto">
          <a:xfrm>
            <a:off x="5147092" y="693859"/>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9" name="Slide Number Placeholder 4">
            <a:extLst>
              <a:ext uri="{FF2B5EF4-FFF2-40B4-BE49-F238E27FC236}">
                <a16:creationId xmlns:a16="http://schemas.microsoft.com/office/drawing/2014/main" id="{0E19CE2B-7664-B44E-AC49-F5C94CD19EAB}"/>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54</a:t>
            </a:fld>
            <a:endParaRPr lang="en-US" sz="1400" dirty="0">
              <a:solidFill>
                <a:schemeClr val="bg1"/>
              </a:solidFill>
            </a:endParaRPr>
          </a:p>
        </p:txBody>
      </p:sp>
    </p:spTree>
    <p:extLst>
      <p:ext uri="{BB962C8B-B14F-4D97-AF65-F5344CB8AC3E}">
        <p14:creationId xmlns:p14="http://schemas.microsoft.com/office/powerpoint/2010/main" val="37272779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B5D788-3002-C544-8421-E14D2ECD696C}"/>
              </a:ext>
            </a:extLst>
          </p:cNvPr>
          <p:cNvSpPr/>
          <p:nvPr/>
        </p:nvSpPr>
        <p:spPr>
          <a:xfrm>
            <a:off x="597138" y="1436534"/>
            <a:ext cx="11125200" cy="4708981"/>
          </a:xfrm>
          <a:prstGeom prst="rect">
            <a:avLst/>
          </a:prstGeom>
        </p:spPr>
        <p:txBody>
          <a:bodyPr wrap="square">
            <a:spAutoFit/>
          </a:bodyPr>
          <a:lstStyle/>
          <a:p>
            <a:r>
              <a:rPr lang="en-CA" sz="2500" b="1" dirty="0">
                <a:solidFill>
                  <a:srgbClr val="FFFF00"/>
                </a:solidFill>
                <a:latin typeface="Garamond" panose="02020404030301010803" pitchFamily="18" charset="0"/>
              </a:rPr>
              <a:t>At the same time, books such as Weapons of Math Destruction and Automated Inequality detail how people in lower socioeconomic classes in the US are subjected to more automated decision making tools than those who are in the upper class. </a:t>
            </a:r>
          </a:p>
          <a:p>
            <a:pPr marL="342900" indent="-342900">
              <a:buFont typeface="Arial" panose="020B0604020202020204" pitchFamily="34" charset="0"/>
              <a:buChar char="•"/>
            </a:pPr>
            <a:r>
              <a:rPr lang="en-CA" sz="2500" dirty="0">
                <a:solidFill>
                  <a:schemeClr val="bg1"/>
                </a:solidFill>
                <a:latin typeface="Garamond" panose="02020404030301010803" pitchFamily="18" charset="0"/>
              </a:rPr>
              <a:t>Thus, AI tools are most often used on people towards whom they exhibit the most bias. </a:t>
            </a:r>
          </a:p>
          <a:p>
            <a:pPr marL="342900" indent="-342900">
              <a:buFont typeface="Arial" panose="020B0604020202020204" pitchFamily="34" charset="0"/>
              <a:buChar char="•"/>
            </a:pPr>
            <a:r>
              <a:rPr lang="en-CA" sz="2500" dirty="0">
                <a:solidFill>
                  <a:schemeClr val="bg1"/>
                </a:solidFill>
                <a:latin typeface="Garamond" panose="02020404030301010803" pitchFamily="18" charset="0"/>
              </a:rPr>
              <a:t>While many technical solutions have been proposed to alleviate bias in machine learning systems, we have to take a holistic and multifaceted approach. </a:t>
            </a:r>
          </a:p>
          <a:p>
            <a:pPr marL="342900" indent="-342900">
              <a:buFont typeface="Arial" panose="020B0604020202020204" pitchFamily="34" charset="0"/>
              <a:buChar char="•"/>
            </a:pPr>
            <a:r>
              <a:rPr lang="en-CA" sz="2500" dirty="0">
                <a:solidFill>
                  <a:schemeClr val="bg1"/>
                </a:solidFill>
                <a:latin typeface="Garamond" panose="02020404030301010803" pitchFamily="18" charset="0"/>
              </a:rPr>
              <a:t>This includes standardization bodies determining what types of systems can be used in which scenarios, making sure that automated decision tools are created by people from diverse backgrounds, and understanding the historical and political factors that disadvantage certain groups who are subjected to these tools.</a:t>
            </a:r>
            <a:endParaRPr lang="en-US" sz="2500" dirty="0">
              <a:solidFill>
                <a:schemeClr val="bg1"/>
              </a:solidFill>
              <a:latin typeface="Garamond" panose="02020404030301010803" pitchFamily="18" charset="0"/>
            </a:endParaRPr>
          </a:p>
        </p:txBody>
      </p:sp>
      <p:sp>
        <p:nvSpPr>
          <p:cNvPr id="7" name="Title 2">
            <a:extLst>
              <a:ext uri="{FF2B5EF4-FFF2-40B4-BE49-F238E27FC236}">
                <a16:creationId xmlns:a16="http://schemas.microsoft.com/office/drawing/2014/main" id="{1F46EBB1-F51E-1244-8251-C2B9FD502F35}"/>
              </a:ext>
            </a:extLst>
          </p:cNvPr>
          <p:cNvSpPr>
            <a:spLocks noGrp="1"/>
          </p:cNvSpPr>
          <p:nvPr>
            <p:ph type="title"/>
          </p:nvPr>
        </p:nvSpPr>
        <p:spPr>
          <a:xfrm>
            <a:off x="247457" y="0"/>
            <a:ext cx="11474881" cy="543475"/>
          </a:xfrm>
        </p:spPr>
        <p:txBody>
          <a:bodyPr>
            <a:noAutofit/>
          </a:bodyPr>
          <a:lstStyle/>
          <a:p>
            <a:br>
              <a:rPr lang="en-US" dirty="0">
                <a:solidFill>
                  <a:schemeClr val="bg1"/>
                </a:solidFill>
              </a:rPr>
            </a:br>
            <a:r>
              <a:rPr lang="en-US" dirty="0">
                <a:solidFill>
                  <a:schemeClr val="bg1"/>
                </a:solidFill>
              </a:rPr>
              <a:t>DATA BIAS RISKS OF AI</a:t>
            </a:r>
            <a:endParaRPr lang="en-US" dirty="0"/>
          </a:p>
        </p:txBody>
      </p:sp>
      <p:sp>
        <p:nvSpPr>
          <p:cNvPr id="8" name="Rectangle 7">
            <a:extLst>
              <a:ext uri="{FF2B5EF4-FFF2-40B4-BE49-F238E27FC236}">
                <a16:creationId xmlns:a16="http://schemas.microsoft.com/office/drawing/2014/main" id="{B14A72BC-672E-FB41-80FF-E71D74370EB7}"/>
              </a:ext>
            </a:extLst>
          </p:cNvPr>
          <p:cNvSpPr/>
          <p:nvPr/>
        </p:nvSpPr>
        <p:spPr bwMode="auto">
          <a:xfrm>
            <a:off x="4965663" y="83872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ED213043-7C51-E749-AC37-0C0BF1B98F5E}"/>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55</a:t>
            </a:fld>
            <a:endParaRPr lang="en-US" sz="1400" dirty="0">
              <a:solidFill>
                <a:schemeClr val="bg1"/>
              </a:solidFill>
            </a:endParaRPr>
          </a:p>
        </p:txBody>
      </p:sp>
    </p:spTree>
    <p:extLst>
      <p:ext uri="{BB962C8B-B14F-4D97-AF65-F5344CB8AC3E}">
        <p14:creationId xmlns:p14="http://schemas.microsoft.com/office/powerpoint/2010/main" val="22183334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A3E898-9F85-F74E-AC78-498B7E50102F}"/>
              </a:ext>
            </a:extLst>
          </p:cNvPr>
          <p:cNvSpPr>
            <a:spLocks noGrp="1"/>
          </p:cNvSpPr>
          <p:nvPr>
            <p:ph sz="quarter" idx="11"/>
          </p:nvPr>
        </p:nvSpPr>
        <p:spPr>
          <a:xfrm>
            <a:off x="355740" y="1199987"/>
            <a:ext cx="11474881" cy="4834656"/>
          </a:xfrm>
        </p:spPr>
        <p:txBody>
          <a:bodyPr>
            <a:noAutofit/>
          </a:bodyPr>
          <a:lstStyle/>
          <a:p>
            <a:pPr marL="0" indent="0" fontAlgn="base">
              <a:buNone/>
            </a:pPr>
            <a:r>
              <a:rPr lang="en-CA" sz="2400" b="1" dirty="0">
                <a:solidFill>
                  <a:srgbClr val="FFFF00"/>
                </a:solidFill>
                <a:latin typeface="+mn-lt"/>
                <a:ea typeface="+mn-ea"/>
                <a:hlinkClick r:id="rId2">
                  <a:extLst>
                    <a:ext uri="{A12FA001-AC4F-418D-AE19-62706E023703}">
                      <ahyp:hlinkClr xmlns:ahyp="http://schemas.microsoft.com/office/drawing/2018/hyperlinkcolor" val="tx"/>
                    </a:ext>
                  </a:extLst>
                </a:hlinkClick>
              </a:rPr>
              <a:t>INSTRUCTIONS : </a:t>
            </a:r>
            <a:r>
              <a:rPr lang="en-CA" sz="2400" b="1" dirty="0">
                <a:solidFill>
                  <a:schemeClr val="bg1"/>
                </a:solidFill>
                <a:latin typeface="+mn-lt"/>
                <a:ea typeface="+mn-ea"/>
                <a:hlinkClick r:id="rId2">
                  <a:extLst>
                    <a:ext uri="{A12FA001-AC4F-418D-AE19-62706E023703}">
                      <ahyp:hlinkClr xmlns:ahyp="http://schemas.microsoft.com/office/drawing/2018/hyperlinkcolor" val="tx"/>
                    </a:ext>
                  </a:extLst>
                </a:hlinkClick>
              </a:rPr>
              <a:t>Review Video : IBM Perspective on Data Bias (2 Min Video)</a:t>
            </a:r>
          </a:p>
          <a:p>
            <a:pPr marL="0" indent="0" fontAlgn="base">
              <a:buNone/>
            </a:pPr>
            <a:r>
              <a:rPr lang="en-CA" sz="1200" dirty="0">
                <a:solidFill>
                  <a:schemeClr val="bg1"/>
                </a:solidFill>
                <a:latin typeface="+mn-lt"/>
                <a:ea typeface="+mn-ea"/>
              </a:rPr>
              <a:t>Source: </a:t>
            </a:r>
            <a:r>
              <a:rPr lang="en-CA" sz="1200" dirty="0">
                <a:solidFill>
                  <a:schemeClr val="bg1"/>
                </a:solidFill>
                <a:latin typeface="+mn-lt"/>
                <a:ea typeface="+mn-ea"/>
                <a:hlinkClick r:id="rId3">
                  <a:extLst>
                    <a:ext uri="{A12FA001-AC4F-418D-AE19-62706E023703}">
                      <ahyp:hlinkClr xmlns:ahyp="http://schemas.microsoft.com/office/drawing/2018/hyperlinkcolor" val="tx"/>
                    </a:ext>
                  </a:extLst>
                </a:hlinkClick>
              </a:rPr>
              <a:t>https://www.youtube.com/watch?v=q44XUZdCIMM</a:t>
            </a:r>
            <a:br>
              <a:rPr lang="en-CA" sz="2400" dirty="0">
                <a:solidFill>
                  <a:schemeClr val="bg1"/>
                </a:solidFill>
                <a:latin typeface="+mn-lt"/>
                <a:ea typeface="+mn-ea"/>
              </a:rPr>
            </a:br>
            <a:r>
              <a:rPr lang="en-CA" sz="2400" b="1" u="sng" dirty="0">
                <a:solidFill>
                  <a:srgbClr val="FFFF00"/>
                </a:solidFill>
                <a:latin typeface="+mn-lt"/>
                <a:ea typeface="+mn-ea"/>
              </a:rPr>
              <a:t>IN CLASS DISCUSSION:</a:t>
            </a:r>
          </a:p>
          <a:p>
            <a:pPr marL="0" indent="0" fontAlgn="base">
              <a:buNone/>
            </a:pPr>
            <a:r>
              <a:rPr lang="en-CA" sz="1800" dirty="0">
                <a:solidFill>
                  <a:schemeClr val="bg1"/>
                </a:solidFill>
                <a:latin typeface="+mn-lt"/>
                <a:ea typeface="+mn-ea"/>
              </a:rPr>
              <a:t>Data Bias is one of the most significant legal and regulatory concerns, what types of measures do you think can be applied to remove data bias, or protect citizens, and society from data bias risks?</a:t>
            </a:r>
          </a:p>
          <a:p>
            <a:pPr marL="0" indent="0" fontAlgn="base">
              <a:buNone/>
            </a:pPr>
            <a:r>
              <a:rPr lang="en-CA" sz="2400" b="1" u="sng" dirty="0">
                <a:solidFill>
                  <a:srgbClr val="FFFF00"/>
                </a:solidFill>
                <a:latin typeface="+mn-lt"/>
                <a:ea typeface="+mn-ea"/>
              </a:rPr>
              <a:t>ADDITIONAL ARTICLE  &amp; VIDEO: READ AND PARTICIPATE IN DISCUSSION FORUM SHARE YOUR OBSERVATIONS</a:t>
            </a:r>
          </a:p>
          <a:p>
            <a:pPr fontAlgn="base"/>
            <a:r>
              <a:rPr lang="en-CA" sz="2400" dirty="0">
                <a:solidFill>
                  <a:schemeClr val="bg1"/>
                </a:solidFill>
                <a:latin typeface="+mn-lt"/>
                <a:ea typeface="+mn-ea"/>
              </a:rPr>
              <a:t>Fairness is Not Just an Ethical Issue (Harvard Business Press, October 2020). Source: (https://hbr.org/2020/10/ai-fairness-is -just-an-ethical-issue</a:t>
            </a:r>
          </a:p>
          <a:p>
            <a:pPr fontAlgn="base"/>
            <a:r>
              <a:rPr lang="en-CA" sz="2400" dirty="0">
                <a:solidFill>
                  <a:schemeClr val="bg1"/>
                </a:solidFill>
                <a:latin typeface="+mn-lt"/>
                <a:ea typeface="+mn-ea"/>
              </a:rPr>
              <a:t>Additional Video: </a:t>
            </a:r>
            <a:r>
              <a:rPr lang="en-CA" sz="1400" dirty="0">
                <a:solidFill>
                  <a:schemeClr val="bg1"/>
                </a:solidFill>
                <a:latin typeface="Garamond" panose="02020404030301010803" pitchFamily="18" charset="0"/>
              </a:rPr>
              <a:t>At “Vision &amp; Justice” on Friday, April 26, Joy Buolamwini, Latanya Sweeney, and Darren Walker come together to discuss the limits of technology in the face of algorithmic bias, or the fact that AI systems often either mischaracterize or fail to recognize dark-skinned faces.  (30 Min- Video: 2019)</a:t>
            </a:r>
            <a:endParaRPr lang="en-CA" sz="1400" dirty="0">
              <a:solidFill>
                <a:schemeClr val="bg1"/>
              </a:solidFill>
              <a:latin typeface="Garamond" panose="02020404030301010803" pitchFamily="18" charset="0"/>
              <a:ea typeface="+mn-ea"/>
            </a:endParaRPr>
          </a:p>
          <a:p>
            <a:pPr marL="0" indent="0" fontAlgn="base">
              <a:buNone/>
            </a:pPr>
            <a:r>
              <a:rPr lang="en-CA" sz="2400" b="1" dirty="0">
                <a:solidFill>
                  <a:schemeClr val="bg1"/>
                </a:solidFill>
                <a:latin typeface="+mn-lt"/>
                <a:ea typeface="+mn-ea"/>
              </a:rPr>
              <a:t>LEARNING OUTCOME: </a:t>
            </a:r>
            <a:r>
              <a:rPr lang="en-CA" dirty="0">
                <a:solidFill>
                  <a:schemeClr val="bg1"/>
                </a:solidFill>
                <a:latin typeface="+mn-lt"/>
                <a:ea typeface="+mn-ea"/>
              </a:rPr>
              <a:t>Appreciation of the importance of AI Ethics from a Data Bias Perspective</a:t>
            </a:r>
          </a:p>
          <a:p>
            <a:pPr marL="0" indent="0" fontAlgn="base">
              <a:buNone/>
            </a:pPr>
            <a:endParaRPr lang="en-CA" sz="2400" dirty="0">
              <a:solidFill>
                <a:schemeClr val="bg1"/>
              </a:solidFill>
              <a:latin typeface="+mn-lt"/>
              <a:ea typeface="+mn-ea"/>
            </a:endParaRPr>
          </a:p>
          <a:p>
            <a:pPr marL="0" indent="0" fontAlgn="base">
              <a:buNone/>
            </a:pPr>
            <a:endParaRPr lang="en-CA" sz="2400" b="1" u="sng" dirty="0">
              <a:solidFill>
                <a:schemeClr val="bg1"/>
              </a:solidFill>
              <a:latin typeface="+mn-lt"/>
              <a:ea typeface="+mn-ea"/>
            </a:endParaRPr>
          </a:p>
        </p:txBody>
      </p:sp>
      <p:sp>
        <p:nvSpPr>
          <p:cNvPr id="3" name="Title 2">
            <a:extLst>
              <a:ext uri="{FF2B5EF4-FFF2-40B4-BE49-F238E27FC236}">
                <a16:creationId xmlns:a16="http://schemas.microsoft.com/office/drawing/2014/main" id="{BFBB4D0F-021C-4442-B10A-8579677F9B65}"/>
              </a:ext>
            </a:extLst>
          </p:cNvPr>
          <p:cNvSpPr>
            <a:spLocks noGrp="1"/>
          </p:cNvSpPr>
          <p:nvPr>
            <p:ph type="title"/>
          </p:nvPr>
        </p:nvSpPr>
        <p:spPr>
          <a:xfrm>
            <a:off x="355740" y="380398"/>
            <a:ext cx="11474881" cy="543475"/>
          </a:xfrm>
        </p:spPr>
        <p:txBody>
          <a:bodyPr>
            <a:noAutofit/>
          </a:bodyPr>
          <a:lstStyle/>
          <a:p>
            <a:r>
              <a:rPr lang="en-US" b="1" dirty="0">
                <a:solidFill>
                  <a:schemeClr val="bg1"/>
                </a:solidFill>
              </a:rPr>
              <a:t>LAB EXERCISE 4:  Self-Paced Learning</a:t>
            </a:r>
            <a:br>
              <a:rPr lang="en-US" dirty="0">
                <a:solidFill>
                  <a:schemeClr val="bg1"/>
                </a:solidFill>
              </a:rPr>
            </a:br>
            <a:r>
              <a:rPr lang="en-US" dirty="0">
                <a:solidFill>
                  <a:schemeClr val="bg1"/>
                </a:solidFill>
              </a:rPr>
              <a:t>DATA BIAS RISKS OF AI</a:t>
            </a:r>
            <a:endParaRPr lang="en-US" dirty="0"/>
          </a:p>
        </p:txBody>
      </p:sp>
      <p:sp>
        <p:nvSpPr>
          <p:cNvPr id="6" name="Slide Number Placeholder 4">
            <a:extLst>
              <a:ext uri="{FF2B5EF4-FFF2-40B4-BE49-F238E27FC236}">
                <a16:creationId xmlns:a16="http://schemas.microsoft.com/office/drawing/2014/main" id="{00FA4F63-FC8C-9946-B822-AC6CC03071D3}"/>
              </a:ext>
            </a:extLst>
          </p:cNvPr>
          <p:cNvSpPr txBox="1">
            <a:spLocks/>
          </p:cNvSpPr>
          <p:nvPr/>
        </p:nvSpPr>
        <p:spPr>
          <a:xfrm>
            <a:off x="11715750" y="6264167"/>
            <a:ext cx="445540" cy="59383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56</a:t>
            </a:fld>
            <a:endParaRPr lang="en-US" sz="1400" dirty="0">
              <a:solidFill>
                <a:schemeClr val="bg1"/>
              </a:solidFill>
            </a:endParaRPr>
          </a:p>
        </p:txBody>
      </p:sp>
      <p:sp>
        <p:nvSpPr>
          <p:cNvPr id="7" name="Rectangle 6">
            <a:extLst>
              <a:ext uri="{FF2B5EF4-FFF2-40B4-BE49-F238E27FC236}">
                <a16:creationId xmlns:a16="http://schemas.microsoft.com/office/drawing/2014/main" id="{E4BD0A72-C36C-0D41-8099-281EA502ED52}"/>
              </a:ext>
            </a:extLst>
          </p:cNvPr>
          <p:cNvSpPr/>
          <p:nvPr/>
        </p:nvSpPr>
        <p:spPr bwMode="auto">
          <a:xfrm>
            <a:off x="5039476" y="1177127"/>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pic>
        <p:nvPicPr>
          <p:cNvPr id="8" name="Picture 7">
            <a:extLst>
              <a:ext uri="{FF2B5EF4-FFF2-40B4-BE49-F238E27FC236}">
                <a16:creationId xmlns:a16="http://schemas.microsoft.com/office/drawing/2014/main" id="{DA689722-1EA8-EB4F-AFEB-8870D3C1328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9477" y="311029"/>
            <a:ext cx="794084" cy="794084"/>
          </a:xfrm>
          <a:prstGeom prst="rect">
            <a:avLst/>
          </a:prstGeom>
        </p:spPr>
      </p:pic>
    </p:spTree>
    <p:extLst>
      <p:ext uri="{BB962C8B-B14F-4D97-AF65-F5344CB8AC3E}">
        <p14:creationId xmlns:p14="http://schemas.microsoft.com/office/powerpoint/2010/main" val="8940247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B5D788-3002-C544-8421-E14D2ECD696C}"/>
              </a:ext>
            </a:extLst>
          </p:cNvPr>
          <p:cNvSpPr/>
          <p:nvPr/>
        </p:nvSpPr>
        <p:spPr>
          <a:xfrm>
            <a:off x="590550" y="1028394"/>
            <a:ext cx="11125200" cy="5478423"/>
          </a:xfrm>
          <a:prstGeom prst="rect">
            <a:avLst/>
          </a:prstGeom>
        </p:spPr>
        <p:txBody>
          <a:bodyPr wrap="square">
            <a:spAutoFit/>
          </a:bodyPr>
          <a:lstStyle/>
          <a:p>
            <a:r>
              <a:rPr lang="en-US" sz="2500" b="1" dirty="0">
                <a:solidFill>
                  <a:srgbClr val="FFFF00"/>
                </a:solidFill>
                <a:latin typeface="Garamond" panose="02020404030301010803" pitchFamily="18" charset="0"/>
              </a:rPr>
              <a:t>Real Time Analysis of AI bring to light both intentional and unintentional biases</a:t>
            </a:r>
          </a:p>
          <a:p>
            <a:pPr marL="342900" indent="-342900">
              <a:buFont typeface="Arial" panose="020B0604020202020204" pitchFamily="34" charset="0"/>
              <a:buChar char="•"/>
            </a:pPr>
            <a:r>
              <a:rPr lang="en-US" sz="2500" dirty="0">
                <a:solidFill>
                  <a:schemeClr val="bg1"/>
                </a:solidFill>
                <a:latin typeface="Garamond" panose="02020404030301010803" pitchFamily="18" charset="0"/>
              </a:rPr>
              <a:t>When Bias in data becomes apparent, the team must investigate and understand where the bias originated, and how the bias can be mitigated</a:t>
            </a:r>
          </a:p>
          <a:p>
            <a:pPr marL="342900" indent="-342900">
              <a:buFont typeface="Arial" panose="020B0604020202020204" pitchFamily="34" charset="0"/>
              <a:buChar char="•"/>
            </a:pPr>
            <a:r>
              <a:rPr lang="en-US" sz="2500" dirty="0">
                <a:solidFill>
                  <a:schemeClr val="bg1"/>
                </a:solidFill>
                <a:latin typeface="Garamond" panose="02020404030301010803" pitchFamily="18" charset="0"/>
              </a:rPr>
              <a:t>Design and develop without intentional biases and schedule team reviews to avoid unintentional biases</a:t>
            </a:r>
          </a:p>
          <a:p>
            <a:pPr marL="342900" indent="-342900">
              <a:buFont typeface="Arial" panose="020B0604020202020204" pitchFamily="34" charset="0"/>
              <a:buChar char="•"/>
            </a:pPr>
            <a:r>
              <a:rPr lang="en-US" sz="2500" dirty="0">
                <a:solidFill>
                  <a:schemeClr val="bg1"/>
                </a:solidFill>
                <a:latin typeface="Garamond" panose="02020404030301010803" pitchFamily="18" charset="0"/>
              </a:rPr>
              <a:t>Unintentional biases include: stereotyping, confirmation bias, and sunk cost bias</a:t>
            </a:r>
          </a:p>
          <a:p>
            <a:pPr marL="342900" indent="-342900">
              <a:buFont typeface="Arial" panose="020B0604020202020204" pitchFamily="34" charset="0"/>
              <a:buChar char="•"/>
            </a:pPr>
            <a:r>
              <a:rPr lang="en-US" sz="2500" dirty="0">
                <a:solidFill>
                  <a:schemeClr val="bg1"/>
                </a:solidFill>
                <a:latin typeface="Garamond" panose="02020404030301010803" pitchFamily="18" charset="0"/>
              </a:rPr>
              <a:t>Instill feedback mechanisms for open dialogue with users to raise awareness of user identified biases, or issues.</a:t>
            </a:r>
          </a:p>
          <a:p>
            <a:pPr marL="342900" indent="-342900">
              <a:buFont typeface="Arial" panose="020B0604020202020204" pitchFamily="34" charset="0"/>
              <a:buChar char="•"/>
            </a:pPr>
            <a:r>
              <a:rPr lang="en-US" sz="2500" b="1" dirty="0">
                <a:solidFill>
                  <a:srgbClr val="FFFF00"/>
                </a:solidFill>
                <a:latin typeface="Garamond" panose="02020404030301010803" pitchFamily="18" charset="0"/>
              </a:rPr>
              <a:t>Ensure:</a:t>
            </a:r>
          </a:p>
          <a:p>
            <a:pPr marL="800100" lvl="1" indent="-342900">
              <a:buFont typeface="Arial" panose="020B0604020202020204" pitchFamily="34" charset="0"/>
              <a:buChar char="•"/>
            </a:pPr>
            <a:r>
              <a:rPr lang="en-US" sz="2500" dirty="0">
                <a:solidFill>
                  <a:schemeClr val="bg1"/>
                </a:solidFill>
                <a:latin typeface="Garamond" panose="02020404030301010803" pitchFamily="18" charset="0"/>
              </a:rPr>
              <a:t>AI project have diverse teams, with diverse experiences to minimize bias</a:t>
            </a:r>
          </a:p>
          <a:p>
            <a:pPr marL="800100" lvl="1" indent="-342900">
              <a:buFont typeface="Arial" panose="020B0604020202020204" pitchFamily="34" charset="0"/>
              <a:buChar char="•"/>
            </a:pPr>
            <a:r>
              <a:rPr lang="en-US" sz="2500" dirty="0">
                <a:solidFill>
                  <a:schemeClr val="bg1"/>
                </a:solidFill>
                <a:latin typeface="Garamond" panose="02020404030301010803" pitchFamily="18" charset="0"/>
              </a:rPr>
              <a:t>Embrace team members of different ages, ethnicities, genders, educational disciplines, cultural perspectives, etc. </a:t>
            </a:r>
          </a:p>
          <a:p>
            <a:pPr marL="800100" lvl="1" indent="-342900">
              <a:buFont typeface="Arial" panose="020B0604020202020204" pitchFamily="34" charset="0"/>
              <a:buChar char="•"/>
            </a:pPr>
            <a:r>
              <a:rPr lang="en-US" sz="2500" dirty="0">
                <a:solidFill>
                  <a:schemeClr val="bg1"/>
                </a:solidFill>
                <a:latin typeface="Garamond" panose="02020404030301010803" pitchFamily="18" charset="0"/>
              </a:rPr>
              <a:t>Leverage Bias Detection Toolkits </a:t>
            </a:r>
          </a:p>
          <a:p>
            <a:pPr marL="800100" lvl="1" indent="-342900">
              <a:buFont typeface="Arial" panose="020B0604020202020204" pitchFamily="34" charset="0"/>
              <a:buChar char="•"/>
            </a:pPr>
            <a:r>
              <a:rPr lang="en-US" sz="2500" dirty="0">
                <a:solidFill>
                  <a:schemeClr val="bg1"/>
                </a:solidFill>
                <a:latin typeface="Garamond" panose="02020404030301010803" pitchFamily="18" charset="0"/>
              </a:rPr>
              <a:t>Third Party Audits</a:t>
            </a:r>
          </a:p>
        </p:txBody>
      </p:sp>
      <p:sp>
        <p:nvSpPr>
          <p:cNvPr id="7" name="Title 2">
            <a:extLst>
              <a:ext uri="{FF2B5EF4-FFF2-40B4-BE49-F238E27FC236}">
                <a16:creationId xmlns:a16="http://schemas.microsoft.com/office/drawing/2014/main" id="{1F46EBB1-F51E-1244-8251-C2B9FD502F35}"/>
              </a:ext>
            </a:extLst>
          </p:cNvPr>
          <p:cNvSpPr>
            <a:spLocks noGrp="1"/>
          </p:cNvSpPr>
          <p:nvPr>
            <p:ph type="title"/>
          </p:nvPr>
        </p:nvSpPr>
        <p:spPr>
          <a:xfrm>
            <a:off x="247457" y="0"/>
            <a:ext cx="11474881" cy="543475"/>
          </a:xfrm>
        </p:spPr>
        <p:txBody>
          <a:bodyPr>
            <a:noAutofit/>
          </a:bodyPr>
          <a:lstStyle/>
          <a:p>
            <a:br>
              <a:rPr lang="en-US" dirty="0">
                <a:solidFill>
                  <a:schemeClr val="bg1"/>
                </a:solidFill>
              </a:rPr>
            </a:br>
            <a:r>
              <a:rPr lang="en-US" dirty="0">
                <a:solidFill>
                  <a:prstClr val="white"/>
                </a:solidFill>
                <a:latin typeface="Perpetua Titling MT Light" charset="0"/>
              </a:rPr>
              <a:t>Approaches to Data Bias</a:t>
            </a:r>
          </a:p>
        </p:txBody>
      </p:sp>
      <p:sp>
        <p:nvSpPr>
          <p:cNvPr id="8" name="Rectangle 7">
            <a:extLst>
              <a:ext uri="{FF2B5EF4-FFF2-40B4-BE49-F238E27FC236}">
                <a16:creationId xmlns:a16="http://schemas.microsoft.com/office/drawing/2014/main" id="{B14A72BC-672E-FB41-80FF-E71D74370EB7}"/>
              </a:ext>
            </a:extLst>
          </p:cNvPr>
          <p:cNvSpPr/>
          <p:nvPr/>
        </p:nvSpPr>
        <p:spPr bwMode="auto">
          <a:xfrm>
            <a:off x="4965663" y="83872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ED213043-7C51-E749-AC37-0C0BF1B98F5E}"/>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57</a:t>
            </a:fld>
            <a:endParaRPr lang="en-US" sz="1400" dirty="0">
              <a:solidFill>
                <a:schemeClr val="bg1"/>
              </a:solidFill>
            </a:endParaRPr>
          </a:p>
        </p:txBody>
      </p:sp>
    </p:spTree>
    <p:extLst>
      <p:ext uri="{BB962C8B-B14F-4D97-AF65-F5344CB8AC3E}">
        <p14:creationId xmlns:p14="http://schemas.microsoft.com/office/powerpoint/2010/main" val="17030284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13107F40-6B4A-AD4B-9E84-542C1F8EF7E4}"/>
              </a:ext>
            </a:extLst>
          </p:cNvPr>
          <p:cNvGraphicFramePr>
            <a:graphicFrameLocks noGrp="1"/>
          </p:cNvGraphicFramePr>
          <p:nvPr>
            <p:extLst>
              <p:ext uri="{D42A27DB-BD31-4B8C-83A1-F6EECF244321}">
                <p14:modId xmlns:p14="http://schemas.microsoft.com/office/powerpoint/2010/main" val="15761863"/>
              </p:ext>
            </p:extLst>
          </p:nvPr>
        </p:nvGraphicFramePr>
        <p:xfrm>
          <a:off x="481330" y="1129824"/>
          <a:ext cx="11126470" cy="2781300"/>
        </p:xfrm>
        <a:graphic>
          <a:graphicData uri="http://schemas.openxmlformats.org/drawingml/2006/table">
            <a:tbl>
              <a:tblPr firstRow="1" firstCol="1" bandRow="1">
                <a:tableStyleId>{5C22544A-7EE6-4342-B048-85BDC9FD1C3A}</a:tableStyleId>
              </a:tblPr>
              <a:tblGrid>
                <a:gridCol w="11126470">
                  <a:extLst>
                    <a:ext uri="{9D8B030D-6E8A-4147-A177-3AD203B41FA5}">
                      <a16:colId xmlns:a16="http://schemas.microsoft.com/office/drawing/2014/main" val="1147525989"/>
                    </a:ext>
                  </a:extLst>
                </a:gridCol>
              </a:tblGrid>
              <a:tr h="0">
                <a:tc>
                  <a:txBody>
                    <a:bodyPr/>
                    <a:lstStyle/>
                    <a:p>
                      <a:pPr algn="l">
                        <a:spcAft>
                          <a:spcPts val="0"/>
                        </a:spcAft>
                      </a:pPr>
                      <a:r>
                        <a:rPr lang="en-CA" sz="2000" dirty="0">
                          <a:solidFill>
                            <a:srgbClr val="FFFF00"/>
                          </a:solidFill>
                          <a:effectLst/>
                        </a:rPr>
                        <a:t>1.0 - WHAT WILL THE AUTOMATED DECISION DO</a:t>
                      </a:r>
                      <a:endParaRPr lang="en-CA" sz="2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1652666951"/>
                  </a:ext>
                </a:extLst>
              </a:tr>
              <a:tr h="0">
                <a:tc>
                  <a:txBody>
                    <a:bodyPr/>
                    <a:lstStyle/>
                    <a:p>
                      <a:pPr algn="l">
                        <a:spcAft>
                          <a:spcPts val="0"/>
                        </a:spcAft>
                      </a:pPr>
                      <a:r>
                        <a:rPr lang="en-CA" sz="2000" dirty="0">
                          <a:effectLst/>
                        </a:rPr>
                        <a:t>1.1 - Who is the audience for the algorithm and who will be most affected by it?</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70644981"/>
                  </a:ext>
                </a:extLst>
              </a:tr>
              <a:tr h="0">
                <a:tc>
                  <a:txBody>
                    <a:bodyPr/>
                    <a:lstStyle/>
                    <a:p>
                      <a:pPr algn="l">
                        <a:spcAft>
                          <a:spcPts val="0"/>
                        </a:spcAft>
                      </a:pPr>
                      <a:r>
                        <a:rPr lang="en-CA" sz="2000" dirty="0">
                          <a:effectLst/>
                        </a:rPr>
                        <a:t>1.2 - Do we have training data to make the correct predictions about the decision?</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476409110"/>
                  </a:ext>
                </a:extLst>
              </a:tr>
              <a:tr h="0">
                <a:tc>
                  <a:txBody>
                    <a:bodyPr/>
                    <a:lstStyle/>
                    <a:p>
                      <a:pPr algn="l">
                        <a:spcAft>
                          <a:spcPts val="0"/>
                        </a:spcAft>
                      </a:pPr>
                      <a:r>
                        <a:rPr lang="en-CA" sz="2000" dirty="0">
                          <a:effectLst/>
                        </a:rPr>
                        <a:t>1.3 - Is the training data sufficiently diverse and reliable? What is the data lifecycle of the algorithm?</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3423898458"/>
                  </a:ext>
                </a:extLst>
              </a:tr>
              <a:tr h="0">
                <a:tc>
                  <a:txBody>
                    <a:bodyPr/>
                    <a:lstStyle/>
                    <a:p>
                      <a:pPr algn="l">
                        <a:spcAft>
                          <a:spcPts val="0"/>
                        </a:spcAft>
                      </a:pPr>
                      <a:r>
                        <a:rPr lang="en-CA" sz="2000" dirty="0">
                          <a:effectLst/>
                        </a:rPr>
                        <a:t>1.4 - Which groups are we worried about when it comes to training data errors, disparate treatment, and impact?</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3322477995"/>
                  </a:ext>
                </a:extLst>
              </a:tr>
            </a:tbl>
          </a:graphicData>
        </a:graphic>
      </p:graphicFrame>
      <p:sp>
        <p:nvSpPr>
          <p:cNvPr id="9" name="Title 2">
            <a:extLst>
              <a:ext uri="{FF2B5EF4-FFF2-40B4-BE49-F238E27FC236}">
                <a16:creationId xmlns:a16="http://schemas.microsoft.com/office/drawing/2014/main" id="{3366FD91-4854-3444-BE90-70ECA635FA24}"/>
              </a:ext>
            </a:extLst>
          </p:cNvPr>
          <p:cNvSpPr>
            <a:spLocks noGrp="1"/>
          </p:cNvSpPr>
          <p:nvPr>
            <p:ph type="title"/>
          </p:nvPr>
        </p:nvSpPr>
        <p:spPr>
          <a:xfrm>
            <a:off x="-28434" y="-99177"/>
            <a:ext cx="12376343" cy="543475"/>
          </a:xfrm>
        </p:spPr>
        <p:txBody>
          <a:bodyPr>
            <a:noAutofit/>
          </a:bodyPr>
          <a:lstStyle/>
          <a:p>
            <a:br>
              <a:rPr lang="en-US" dirty="0">
                <a:solidFill>
                  <a:schemeClr val="bg1"/>
                </a:solidFill>
              </a:rPr>
            </a:br>
            <a:r>
              <a:rPr lang="en-US" dirty="0">
                <a:solidFill>
                  <a:prstClr val="white"/>
                </a:solidFill>
                <a:latin typeface="Perpetua Titling MT Light" charset="0"/>
              </a:rPr>
              <a:t>QUESTIONS FOR BIAS DETECTION</a:t>
            </a:r>
          </a:p>
        </p:txBody>
      </p:sp>
      <p:sp>
        <p:nvSpPr>
          <p:cNvPr id="10" name="Rectangle 9">
            <a:extLst>
              <a:ext uri="{FF2B5EF4-FFF2-40B4-BE49-F238E27FC236}">
                <a16:creationId xmlns:a16="http://schemas.microsoft.com/office/drawing/2014/main" id="{F9C57538-19AB-E74A-8C50-F972352B9820}"/>
              </a:ext>
            </a:extLst>
          </p:cNvPr>
          <p:cNvSpPr/>
          <p:nvPr/>
        </p:nvSpPr>
        <p:spPr bwMode="auto">
          <a:xfrm>
            <a:off x="4965663" y="83872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graphicFrame>
        <p:nvGraphicFramePr>
          <p:cNvPr id="11" name="Table 10">
            <a:extLst>
              <a:ext uri="{FF2B5EF4-FFF2-40B4-BE49-F238E27FC236}">
                <a16:creationId xmlns:a16="http://schemas.microsoft.com/office/drawing/2014/main" id="{5F613158-B72F-2D45-82FA-C20EAC201926}"/>
              </a:ext>
            </a:extLst>
          </p:cNvPr>
          <p:cNvGraphicFramePr>
            <a:graphicFrameLocks noGrp="1"/>
          </p:cNvGraphicFramePr>
          <p:nvPr>
            <p:extLst>
              <p:ext uri="{D42A27DB-BD31-4B8C-83A1-F6EECF244321}">
                <p14:modId xmlns:p14="http://schemas.microsoft.com/office/powerpoint/2010/main" val="1316741422"/>
              </p:ext>
            </p:extLst>
          </p:nvPr>
        </p:nvGraphicFramePr>
        <p:xfrm>
          <a:off x="481330" y="4156504"/>
          <a:ext cx="11126470" cy="1790700"/>
        </p:xfrm>
        <a:graphic>
          <a:graphicData uri="http://schemas.openxmlformats.org/drawingml/2006/table">
            <a:tbl>
              <a:tblPr firstRow="1" firstCol="1" bandRow="1">
                <a:tableStyleId>{5C22544A-7EE6-4342-B048-85BDC9FD1C3A}</a:tableStyleId>
              </a:tblPr>
              <a:tblGrid>
                <a:gridCol w="11126470">
                  <a:extLst>
                    <a:ext uri="{9D8B030D-6E8A-4147-A177-3AD203B41FA5}">
                      <a16:colId xmlns:a16="http://schemas.microsoft.com/office/drawing/2014/main" val="2093847929"/>
                    </a:ext>
                  </a:extLst>
                </a:gridCol>
              </a:tblGrid>
              <a:tr h="0">
                <a:tc>
                  <a:txBody>
                    <a:bodyPr/>
                    <a:lstStyle/>
                    <a:p>
                      <a:pPr algn="l">
                        <a:spcAft>
                          <a:spcPts val="0"/>
                        </a:spcAft>
                      </a:pPr>
                      <a:r>
                        <a:rPr lang="en-CA" sz="2000" dirty="0">
                          <a:solidFill>
                            <a:srgbClr val="FFFF00"/>
                          </a:solidFill>
                          <a:effectLst/>
                        </a:rPr>
                        <a:t>2.0 - HOW WILL POTENTIAL BIAS BE DETECTED?</a:t>
                      </a:r>
                      <a:endParaRPr lang="en-CA" sz="2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1193943409"/>
                  </a:ext>
                </a:extLst>
              </a:tr>
              <a:tr h="0">
                <a:tc>
                  <a:txBody>
                    <a:bodyPr/>
                    <a:lstStyle/>
                    <a:p>
                      <a:pPr algn="l">
                        <a:spcAft>
                          <a:spcPts val="0"/>
                        </a:spcAft>
                      </a:pPr>
                      <a:r>
                        <a:rPr lang="en-CA" sz="2000" dirty="0">
                          <a:effectLst/>
                        </a:rPr>
                        <a:t>2.1 - How and when will the algorithm be tested? Who will be the targets for testing?</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91282462"/>
                  </a:ext>
                </a:extLst>
              </a:tr>
              <a:tr h="295910">
                <a:tc>
                  <a:txBody>
                    <a:bodyPr/>
                    <a:lstStyle/>
                    <a:p>
                      <a:pPr algn="l">
                        <a:spcAft>
                          <a:spcPts val="0"/>
                        </a:spcAft>
                      </a:pPr>
                      <a:r>
                        <a:rPr lang="en-CA" sz="2000" dirty="0">
                          <a:effectLst/>
                        </a:rPr>
                        <a:t>2.2 - What will be the threshold for measuring and correcting for bias in the algorithm, especially as it relates to protected groups?</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3817632488"/>
                  </a:ext>
                </a:extLst>
              </a:tr>
            </a:tbl>
          </a:graphicData>
        </a:graphic>
      </p:graphicFrame>
      <p:sp>
        <p:nvSpPr>
          <p:cNvPr id="12" name="Slide Number Placeholder 4">
            <a:extLst>
              <a:ext uri="{FF2B5EF4-FFF2-40B4-BE49-F238E27FC236}">
                <a16:creationId xmlns:a16="http://schemas.microsoft.com/office/drawing/2014/main" id="{E8BA2981-BE18-4246-9313-8DE4A4FDD2B3}"/>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58</a:t>
            </a:fld>
            <a:endParaRPr lang="en-US" sz="1400" dirty="0">
              <a:solidFill>
                <a:schemeClr val="bg1"/>
              </a:solidFill>
            </a:endParaRPr>
          </a:p>
        </p:txBody>
      </p:sp>
      <p:sp>
        <p:nvSpPr>
          <p:cNvPr id="14" name="TextBox 13">
            <a:extLst>
              <a:ext uri="{FF2B5EF4-FFF2-40B4-BE49-F238E27FC236}">
                <a16:creationId xmlns:a16="http://schemas.microsoft.com/office/drawing/2014/main" id="{F7F8E8E2-198A-584C-8652-8AA4D222D6ED}"/>
              </a:ext>
            </a:extLst>
          </p:cNvPr>
          <p:cNvSpPr txBox="1"/>
          <p:nvPr/>
        </p:nvSpPr>
        <p:spPr>
          <a:xfrm>
            <a:off x="542527" y="5992025"/>
            <a:ext cx="11234420" cy="461665"/>
          </a:xfrm>
          <a:prstGeom prst="rect">
            <a:avLst/>
          </a:prstGeom>
          <a:noFill/>
        </p:spPr>
        <p:txBody>
          <a:bodyPr wrap="square" rtlCol="0">
            <a:spAutoFit/>
          </a:bodyPr>
          <a:lstStyle/>
          <a:p>
            <a:r>
              <a:rPr lang="en-US" sz="1200" b="1" dirty="0">
                <a:solidFill>
                  <a:schemeClr val="bg1"/>
                </a:solidFill>
              </a:rPr>
              <a:t>Source:</a:t>
            </a:r>
          </a:p>
          <a:p>
            <a:r>
              <a:rPr lang="en-US" sz="1200" dirty="0">
                <a:solidFill>
                  <a:schemeClr val="bg1"/>
                </a:solidFill>
              </a:rPr>
              <a:t>https://www.brookings.edu/research/algorithmic-bias-detection-and-mitigation-best-practices-and-policies-to-reduce-consumer-harms/</a:t>
            </a:r>
          </a:p>
        </p:txBody>
      </p:sp>
    </p:spTree>
    <p:extLst>
      <p:ext uri="{BB962C8B-B14F-4D97-AF65-F5344CB8AC3E}">
        <p14:creationId xmlns:p14="http://schemas.microsoft.com/office/powerpoint/2010/main" val="10778121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3366FD91-4854-3444-BE90-70ECA635FA24}"/>
              </a:ext>
            </a:extLst>
          </p:cNvPr>
          <p:cNvSpPr>
            <a:spLocks noGrp="1"/>
          </p:cNvSpPr>
          <p:nvPr>
            <p:ph type="title"/>
          </p:nvPr>
        </p:nvSpPr>
        <p:spPr>
          <a:xfrm>
            <a:off x="-28434" y="-99177"/>
            <a:ext cx="12376343" cy="543475"/>
          </a:xfrm>
        </p:spPr>
        <p:txBody>
          <a:bodyPr>
            <a:noAutofit/>
          </a:bodyPr>
          <a:lstStyle/>
          <a:p>
            <a:br>
              <a:rPr lang="en-US" dirty="0">
                <a:solidFill>
                  <a:schemeClr val="bg1"/>
                </a:solidFill>
              </a:rPr>
            </a:br>
            <a:r>
              <a:rPr lang="en-US" dirty="0">
                <a:solidFill>
                  <a:prstClr val="white"/>
                </a:solidFill>
                <a:latin typeface="Perpetua Titling MT Light" charset="0"/>
              </a:rPr>
              <a:t>DESIGN QUESTIONS FOR BIAS DETECTION</a:t>
            </a:r>
          </a:p>
        </p:txBody>
      </p:sp>
      <p:sp>
        <p:nvSpPr>
          <p:cNvPr id="10" name="Rectangle 9">
            <a:extLst>
              <a:ext uri="{FF2B5EF4-FFF2-40B4-BE49-F238E27FC236}">
                <a16:creationId xmlns:a16="http://schemas.microsoft.com/office/drawing/2014/main" id="{F9C57538-19AB-E74A-8C50-F972352B9820}"/>
              </a:ext>
            </a:extLst>
          </p:cNvPr>
          <p:cNvSpPr/>
          <p:nvPr/>
        </p:nvSpPr>
        <p:spPr bwMode="auto">
          <a:xfrm>
            <a:off x="4965663" y="83872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12" name="Slide Number Placeholder 4">
            <a:extLst>
              <a:ext uri="{FF2B5EF4-FFF2-40B4-BE49-F238E27FC236}">
                <a16:creationId xmlns:a16="http://schemas.microsoft.com/office/drawing/2014/main" id="{E8BA2981-BE18-4246-9313-8DE4A4FDD2B3}"/>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59</a:t>
            </a:fld>
            <a:endParaRPr lang="en-US" sz="1400" dirty="0">
              <a:solidFill>
                <a:schemeClr val="bg1"/>
              </a:solidFill>
            </a:endParaRPr>
          </a:p>
        </p:txBody>
      </p:sp>
      <p:graphicFrame>
        <p:nvGraphicFramePr>
          <p:cNvPr id="2" name="Table 1">
            <a:extLst>
              <a:ext uri="{FF2B5EF4-FFF2-40B4-BE49-F238E27FC236}">
                <a16:creationId xmlns:a16="http://schemas.microsoft.com/office/drawing/2014/main" id="{DA595506-8904-504C-A37B-6E1F75A69AE2}"/>
              </a:ext>
            </a:extLst>
          </p:cNvPr>
          <p:cNvGraphicFramePr>
            <a:graphicFrameLocks noGrp="1"/>
          </p:cNvGraphicFramePr>
          <p:nvPr>
            <p:extLst>
              <p:ext uri="{D42A27DB-BD31-4B8C-83A1-F6EECF244321}">
                <p14:modId xmlns:p14="http://schemas.microsoft.com/office/powerpoint/2010/main" val="2779778348"/>
              </p:ext>
            </p:extLst>
          </p:nvPr>
        </p:nvGraphicFramePr>
        <p:xfrm>
          <a:off x="481330" y="1062971"/>
          <a:ext cx="11234420" cy="3086100"/>
        </p:xfrm>
        <a:graphic>
          <a:graphicData uri="http://schemas.openxmlformats.org/drawingml/2006/table">
            <a:tbl>
              <a:tblPr firstRow="1" firstCol="1" bandRow="1">
                <a:tableStyleId>{5C22544A-7EE6-4342-B048-85BDC9FD1C3A}</a:tableStyleId>
              </a:tblPr>
              <a:tblGrid>
                <a:gridCol w="11234420">
                  <a:extLst>
                    <a:ext uri="{9D8B030D-6E8A-4147-A177-3AD203B41FA5}">
                      <a16:colId xmlns:a16="http://schemas.microsoft.com/office/drawing/2014/main" val="619650519"/>
                    </a:ext>
                  </a:extLst>
                </a:gridCol>
              </a:tblGrid>
              <a:tr h="0">
                <a:tc>
                  <a:txBody>
                    <a:bodyPr/>
                    <a:lstStyle/>
                    <a:p>
                      <a:pPr algn="l">
                        <a:spcAft>
                          <a:spcPts val="0"/>
                        </a:spcAft>
                      </a:pPr>
                      <a:r>
                        <a:rPr lang="en-CA" sz="2000" dirty="0">
                          <a:solidFill>
                            <a:srgbClr val="FFFF00"/>
                          </a:solidFill>
                          <a:effectLst/>
                        </a:rPr>
                        <a:t>3.0 - WHAT ARE THE OPERATOR INCENTIVES?</a:t>
                      </a:r>
                      <a:endParaRPr lang="en-CA" sz="2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20150617"/>
                  </a:ext>
                </a:extLst>
              </a:tr>
              <a:tr h="0">
                <a:tc>
                  <a:txBody>
                    <a:bodyPr/>
                    <a:lstStyle/>
                    <a:p>
                      <a:pPr algn="l">
                        <a:spcAft>
                          <a:spcPts val="0"/>
                        </a:spcAft>
                      </a:pPr>
                      <a:r>
                        <a:rPr lang="en-CA" sz="2000" dirty="0">
                          <a:effectLst/>
                        </a:rPr>
                        <a:t>3.1 - What will we gain in the development of the algorithm?</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739776489"/>
                  </a:ext>
                </a:extLst>
              </a:tr>
              <a:tr h="0">
                <a:tc>
                  <a:txBody>
                    <a:bodyPr/>
                    <a:lstStyle/>
                    <a:p>
                      <a:pPr algn="l">
                        <a:spcAft>
                          <a:spcPts val="0"/>
                        </a:spcAft>
                      </a:pPr>
                      <a:r>
                        <a:rPr lang="en-CA" sz="2000" dirty="0">
                          <a:effectLst/>
                        </a:rPr>
                        <a:t>3.2 - What are the potential bad outcomes and how will we know?</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2346977655"/>
                  </a:ext>
                </a:extLst>
              </a:tr>
              <a:tr h="0">
                <a:tc>
                  <a:txBody>
                    <a:bodyPr/>
                    <a:lstStyle/>
                    <a:p>
                      <a:pPr algn="l">
                        <a:spcAft>
                          <a:spcPts val="0"/>
                        </a:spcAft>
                      </a:pPr>
                      <a:r>
                        <a:rPr lang="en-CA" sz="2000" dirty="0">
                          <a:effectLst/>
                        </a:rPr>
                        <a:t>3.3 - How open (e.g., in code or intent) will we make the design process of the algorithm to internal partners, clients, and customers?</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3730551463"/>
                  </a:ext>
                </a:extLst>
              </a:tr>
              <a:tr h="0">
                <a:tc>
                  <a:txBody>
                    <a:bodyPr/>
                    <a:lstStyle/>
                    <a:p>
                      <a:pPr algn="l">
                        <a:spcAft>
                          <a:spcPts val="0"/>
                        </a:spcAft>
                      </a:pPr>
                      <a:r>
                        <a:rPr lang="en-CA" sz="2000" dirty="0">
                          <a:effectLst/>
                        </a:rPr>
                        <a:t>3.4 - What intervention will be taken if we predict that there might be bad outcomes associated with the development  or deployment of the algorithm?</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239222994"/>
                  </a:ext>
                </a:extLst>
              </a:tr>
            </a:tbl>
          </a:graphicData>
        </a:graphic>
      </p:graphicFrame>
      <p:graphicFrame>
        <p:nvGraphicFramePr>
          <p:cNvPr id="3" name="Table 2">
            <a:extLst>
              <a:ext uri="{FF2B5EF4-FFF2-40B4-BE49-F238E27FC236}">
                <a16:creationId xmlns:a16="http://schemas.microsoft.com/office/drawing/2014/main" id="{8D72BAA8-59EA-FC4C-AA24-56C30917FFB8}"/>
              </a:ext>
            </a:extLst>
          </p:cNvPr>
          <p:cNvGraphicFramePr>
            <a:graphicFrameLocks noGrp="1"/>
          </p:cNvGraphicFramePr>
          <p:nvPr>
            <p:extLst>
              <p:ext uri="{D42A27DB-BD31-4B8C-83A1-F6EECF244321}">
                <p14:modId xmlns:p14="http://schemas.microsoft.com/office/powerpoint/2010/main" val="1227208171"/>
              </p:ext>
            </p:extLst>
          </p:nvPr>
        </p:nvGraphicFramePr>
        <p:xfrm>
          <a:off x="481330" y="4327598"/>
          <a:ext cx="11234420" cy="1485900"/>
        </p:xfrm>
        <a:graphic>
          <a:graphicData uri="http://schemas.openxmlformats.org/drawingml/2006/table">
            <a:tbl>
              <a:tblPr firstRow="1" firstCol="1" bandRow="1">
                <a:tableStyleId>{5C22544A-7EE6-4342-B048-85BDC9FD1C3A}</a:tableStyleId>
              </a:tblPr>
              <a:tblGrid>
                <a:gridCol w="11234420">
                  <a:extLst>
                    <a:ext uri="{9D8B030D-6E8A-4147-A177-3AD203B41FA5}">
                      <a16:colId xmlns:a16="http://schemas.microsoft.com/office/drawing/2014/main" val="3938930027"/>
                    </a:ext>
                  </a:extLst>
                </a:gridCol>
              </a:tblGrid>
              <a:tr h="0">
                <a:tc>
                  <a:txBody>
                    <a:bodyPr/>
                    <a:lstStyle/>
                    <a:p>
                      <a:pPr algn="l">
                        <a:spcAft>
                          <a:spcPts val="0"/>
                        </a:spcAft>
                      </a:pPr>
                      <a:r>
                        <a:rPr lang="en-CA" sz="2000" dirty="0">
                          <a:solidFill>
                            <a:srgbClr val="FFFF00"/>
                          </a:solidFill>
                          <a:effectLst/>
                        </a:rPr>
                        <a:t>4.0 – HOW ARE OTHER STAKEHOLDERS BEING ENGAGED?</a:t>
                      </a:r>
                      <a:endParaRPr lang="en-CA" sz="2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832027014"/>
                  </a:ext>
                </a:extLst>
              </a:tr>
              <a:tr h="0">
                <a:tc>
                  <a:txBody>
                    <a:bodyPr/>
                    <a:lstStyle/>
                    <a:p>
                      <a:pPr algn="l">
                        <a:spcAft>
                          <a:spcPts val="0"/>
                        </a:spcAft>
                      </a:pPr>
                      <a:r>
                        <a:rPr lang="en-CA" sz="2000" dirty="0">
                          <a:effectLst/>
                        </a:rPr>
                        <a:t>4.1 - What’s the feedback loop for the algorithm for developers, internal partners and customers?</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3194822355"/>
                  </a:ext>
                </a:extLst>
              </a:tr>
              <a:tr h="0">
                <a:tc>
                  <a:txBody>
                    <a:bodyPr/>
                    <a:lstStyle/>
                    <a:p>
                      <a:pPr algn="l">
                        <a:spcAft>
                          <a:spcPts val="0"/>
                        </a:spcAft>
                      </a:pPr>
                      <a:r>
                        <a:rPr lang="en-CA" sz="2000" dirty="0">
                          <a:effectLst/>
                        </a:rPr>
                        <a:t>4.2 - Is there a role for civil society organizations in the design of the algorithm?</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3467873860"/>
                  </a:ext>
                </a:extLst>
              </a:tr>
            </a:tbl>
          </a:graphicData>
        </a:graphic>
      </p:graphicFrame>
      <p:sp>
        <p:nvSpPr>
          <p:cNvPr id="13" name="TextBox 12">
            <a:extLst>
              <a:ext uri="{FF2B5EF4-FFF2-40B4-BE49-F238E27FC236}">
                <a16:creationId xmlns:a16="http://schemas.microsoft.com/office/drawing/2014/main" id="{0918AEF4-BB23-D342-BB27-08F782770BEF}"/>
              </a:ext>
            </a:extLst>
          </p:cNvPr>
          <p:cNvSpPr txBox="1"/>
          <p:nvPr/>
        </p:nvSpPr>
        <p:spPr>
          <a:xfrm>
            <a:off x="542527" y="5992025"/>
            <a:ext cx="11234420" cy="461665"/>
          </a:xfrm>
          <a:prstGeom prst="rect">
            <a:avLst/>
          </a:prstGeom>
          <a:noFill/>
        </p:spPr>
        <p:txBody>
          <a:bodyPr wrap="square" rtlCol="0">
            <a:spAutoFit/>
          </a:bodyPr>
          <a:lstStyle/>
          <a:p>
            <a:r>
              <a:rPr lang="en-US" sz="1200" b="1" dirty="0">
                <a:solidFill>
                  <a:schemeClr val="bg1"/>
                </a:solidFill>
              </a:rPr>
              <a:t>Source:</a:t>
            </a:r>
          </a:p>
          <a:p>
            <a:r>
              <a:rPr lang="en-US" sz="1200" dirty="0">
                <a:solidFill>
                  <a:schemeClr val="bg1"/>
                </a:solidFill>
              </a:rPr>
              <a:t>https://www.brookings.edu/research/algorithmic-bias-detection-and-mitigation-best-practices-and-policies-to-reduce-consumer-harms/</a:t>
            </a:r>
          </a:p>
        </p:txBody>
      </p:sp>
    </p:spTree>
    <p:extLst>
      <p:ext uri="{BB962C8B-B14F-4D97-AF65-F5344CB8AC3E}">
        <p14:creationId xmlns:p14="http://schemas.microsoft.com/office/powerpoint/2010/main" val="26488022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3366FD91-4854-3444-BE90-70ECA635FA24}"/>
              </a:ext>
            </a:extLst>
          </p:cNvPr>
          <p:cNvSpPr>
            <a:spLocks noGrp="1"/>
          </p:cNvSpPr>
          <p:nvPr>
            <p:ph type="title"/>
          </p:nvPr>
        </p:nvSpPr>
        <p:spPr>
          <a:xfrm>
            <a:off x="-28434" y="-99177"/>
            <a:ext cx="12376343" cy="543475"/>
          </a:xfrm>
        </p:spPr>
        <p:txBody>
          <a:bodyPr>
            <a:noAutofit/>
          </a:bodyPr>
          <a:lstStyle/>
          <a:p>
            <a:br>
              <a:rPr lang="en-US" dirty="0">
                <a:solidFill>
                  <a:schemeClr val="bg1"/>
                </a:solidFill>
              </a:rPr>
            </a:br>
            <a:r>
              <a:rPr lang="en-US" dirty="0">
                <a:solidFill>
                  <a:prstClr val="white"/>
                </a:solidFill>
                <a:latin typeface="Perpetua Titling MT Light" charset="0"/>
              </a:rPr>
              <a:t>DESIGN QUESTIONS FOR BIAS DETECTION</a:t>
            </a:r>
          </a:p>
        </p:txBody>
      </p:sp>
      <p:sp>
        <p:nvSpPr>
          <p:cNvPr id="10" name="Rectangle 9">
            <a:extLst>
              <a:ext uri="{FF2B5EF4-FFF2-40B4-BE49-F238E27FC236}">
                <a16:creationId xmlns:a16="http://schemas.microsoft.com/office/drawing/2014/main" id="{F9C57538-19AB-E74A-8C50-F972352B9820}"/>
              </a:ext>
            </a:extLst>
          </p:cNvPr>
          <p:cNvSpPr/>
          <p:nvPr/>
        </p:nvSpPr>
        <p:spPr bwMode="auto">
          <a:xfrm>
            <a:off x="4965663" y="83872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12" name="Slide Number Placeholder 4">
            <a:extLst>
              <a:ext uri="{FF2B5EF4-FFF2-40B4-BE49-F238E27FC236}">
                <a16:creationId xmlns:a16="http://schemas.microsoft.com/office/drawing/2014/main" id="{E8BA2981-BE18-4246-9313-8DE4A4FDD2B3}"/>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60</a:t>
            </a:fld>
            <a:endParaRPr lang="en-US" sz="1400" dirty="0">
              <a:solidFill>
                <a:schemeClr val="bg1"/>
              </a:solidFill>
            </a:endParaRPr>
          </a:p>
        </p:txBody>
      </p:sp>
      <p:graphicFrame>
        <p:nvGraphicFramePr>
          <p:cNvPr id="4" name="Table 3">
            <a:extLst>
              <a:ext uri="{FF2B5EF4-FFF2-40B4-BE49-F238E27FC236}">
                <a16:creationId xmlns:a16="http://schemas.microsoft.com/office/drawing/2014/main" id="{FB4E669D-76F5-D940-831E-029C3C4895FC}"/>
              </a:ext>
            </a:extLst>
          </p:cNvPr>
          <p:cNvGraphicFramePr>
            <a:graphicFrameLocks noGrp="1"/>
          </p:cNvGraphicFramePr>
          <p:nvPr>
            <p:extLst>
              <p:ext uri="{D42A27DB-BD31-4B8C-83A1-F6EECF244321}">
                <p14:modId xmlns:p14="http://schemas.microsoft.com/office/powerpoint/2010/main" val="4213703465"/>
              </p:ext>
            </p:extLst>
          </p:nvPr>
        </p:nvGraphicFramePr>
        <p:xfrm>
          <a:off x="481330" y="1117600"/>
          <a:ext cx="11234420" cy="3695700"/>
        </p:xfrm>
        <a:graphic>
          <a:graphicData uri="http://schemas.openxmlformats.org/drawingml/2006/table">
            <a:tbl>
              <a:tblPr firstRow="1" firstCol="1" bandRow="1">
                <a:tableStyleId>{5C22544A-7EE6-4342-B048-85BDC9FD1C3A}</a:tableStyleId>
              </a:tblPr>
              <a:tblGrid>
                <a:gridCol w="11234420">
                  <a:extLst>
                    <a:ext uri="{9D8B030D-6E8A-4147-A177-3AD203B41FA5}">
                      <a16:colId xmlns:a16="http://schemas.microsoft.com/office/drawing/2014/main" val="2863925177"/>
                    </a:ext>
                  </a:extLst>
                </a:gridCol>
              </a:tblGrid>
              <a:tr h="482600">
                <a:tc>
                  <a:txBody>
                    <a:bodyPr/>
                    <a:lstStyle/>
                    <a:p>
                      <a:pPr algn="l">
                        <a:spcAft>
                          <a:spcPts val="0"/>
                        </a:spcAft>
                      </a:pPr>
                      <a:r>
                        <a:rPr lang="en-CA" sz="2000" dirty="0">
                          <a:solidFill>
                            <a:srgbClr val="FFFF00"/>
                          </a:solidFill>
                          <a:effectLst/>
                        </a:rPr>
                        <a:t>5.0 - HAS DIVERSITY BEEN CONSIDERED IN THE DESIGN AND EXECUTION?</a:t>
                      </a:r>
                      <a:endParaRPr lang="en-CA" sz="2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2242471744"/>
                  </a:ext>
                </a:extLst>
              </a:tr>
              <a:tr h="0">
                <a:tc>
                  <a:txBody>
                    <a:bodyPr/>
                    <a:lstStyle/>
                    <a:p>
                      <a:pPr algn="l">
                        <a:spcAft>
                          <a:spcPts val="0"/>
                        </a:spcAft>
                      </a:pPr>
                      <a:r>
                        <a:rPr lang="en-CA" sz="2000" dirty="0">
                          <a:effectLst/>
                        </a:rPr>
                        <a:t>5.1 - Will the algorithm have implications for cultural groups and play out differently in cultural contexts?</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748074604"/>
                  </a:ext>
                </a:extLst>
              </a:tr>
              <a:tr h="370550">
                <a:tc>
                  <a:txBody>
                    <a:bodyPr/>
                    <a:lstStyle/>
                    <a:p>
                      <a:pPr algn="l">
                        <a:spcAft>
                          <a:spcPts val="0"/>
                        </a:spcAft>
                      </a:pPr>
                      <a:r>
                        <a:rPr lang="en-CA" sz="2000" dirty="0">
                          <a:effectLst/>
                        </a:rPr>
                        <a:t>5.2 - Is the design team representative enough to capture these nuances and predict the application of the algorithm within different cultural contexts? If not, what steps are being taken to make these scenarios more salient and understandable to designers?</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2693265441"/>
                  </a:ext>
                </a:extLst>
              </a:tr>
              <a:tr h="0">
                <a:tc>
                  <a:txBody>
                    <a:bodyPr/>
                    <a:lstStyle/>
                    <a:p>
                      <a:pPr algn="l">
                        <a:spcAft>
                          <a:spcPts val="0"/>
                        </a:spcAft>
                      </a:pPr>
                      <a:r>
                        <a:rPr lang="en-CA" sz="2000" dirty="0">
                          <a:effectLst/>
                        </a:rPr>
                        <a:t>5.3 - Given the algorithm’s purpose, is the training data sufficiently diverse?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1256479261"/>
                  </a:ext>
                </a:extLst>
              </a:tr>
              <a:tr h="280967">
                <a:tc>
                  <a:txBody>
                    <a:bodyPr/>
                    <a:lstStyle/>
                    <a:p>
                      <a:pPr algn="l">
                        <a:spcAft>
                          <a:spcPts val="0"/>
                        </a:spcAft>
                      </a:pPr>
                      <a:r>
                        <a:rPr lang="en-CA" sz="2000" dirty="0">
                          <a:effectLst/>
                        </a:rPr>
                        <a:t>5.4 - Are there statutory guardrails that companies should be reviewing to ensure that the algorithm is both legal and ethical?</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42875" marR="142875" marT="95250" marB="95250" anchor="b">
                    <a:solidFill>
                      <a:schemeClr val="tx1"/>
                    </a:solidFill>
                  </a:tcPr>
                </a:tc>
                <a:extLst>
                  <a:ext uri="{0D108BD9-81ED-4DB2-BD59-A6C34878D82A}">
                    <a16:rowId xmlns:a16="http://schemas.microsoft.com/office/drawing/2014/main" val="2925979545"/>
                  </a:ext>
                </a:extLst>
              </a:tr>
            </a:tbl>
          </a:graphicData>
        </a:graphic>
      </p:graphicFrame>
      <p:sp>
        <p:nvSpPr>
          <p:cNvPr id="5" name="TextBox 4">
            <a:extLst>
              <a:ext uri="{FF2B5EF4-FFF2-40B4-BE49-F238E27FC236}">
                <a16:creationId xmlns:a16="http://schemas.microsoft.com/office/drawing/2014/main" id="{70B8530B-B1E0-EA4D-A3BF-A4F9B0745E37}"/>
              </a:ext>
            </a:extLst>
          </p:cNvPr>
          <p:cNvSpPr txBox="1"/>
          <p:nvPr/>
        </p:nvSpPr>
        <p:spPr>
          <a:xfrm>
            <a:off x="481330" y="4937157"/>
            <a:ext cx="11234420" cy="2031325"/>
          </a:xfrm>
          <a:prstGeom prst="rect">
            <a:avLst/>
          </a:prstGeom>
          <a:noFill/>
        </p:spPr>
        <p:txBody>
          <a:bodyPr wrap="square" rtlCol="0">
            <a:spAutoFit/>
          </a:bodyPr>
          <a:lstStyle/>
          <a:p>
            <a:pPr fontAlgn="base"/>
            <a:r>
              <a:rPr lang="en-US" sz="1400" b="1" dirty="0">
                <a:solidFill>
                  <a:schemeClr val="bg1"/>
                </a:solidFill>
              </a:rPr>
              <a:t>Note</a:t>
            </a:r>
            <a:r>
              <a:rPr lang="en-CA" sz="1400" b="1" dirty="0">
                <a:solidFill>
                  <a:schemeClr val="bg1"/>
                </a:solidFill>
              </a:rPr>
              <a:t> The New York University’s AI Now Institute </a:t>
            </a:r>
            <a:r>
              <a:rPr lang="en-CA" sz="1400" dirty="0">
                <a:solidFill>
                  <a:schemeClr val="bg1"/>
                </a:solidFill>
              </a:rPr>
              <a:t>has already introduced a model framework for governmental entities to use to create algorithmic impact assessments (AIAs), which evaluate the potential detrimental effects of an algorithm in the same manner as environmental, privacy, data, or human rights impact statements.</a:t>
            </a:r>
            <a:r>
              <a:rPr lang="en-CA" sz="1400" baseline="30000" dirty="0">
                <a:solidFill>
                  <a:schemeClr val="bg1"/>
                </a:solidFill>
                <a:hlinkClick r:id="rId2">
                  <a:extLst>
                    <a:ext uri="{A12FA001-AC4F-418D-AE19-62706E023703}">
                      <ahyp:hlinkClr xmlns:ahyp="http://schemas.microsoft.com/office/drawing/2018/hyperlinkcolor" val="tx"/>
                    </a:ext>
                  </a:extLst>
                </a:hlinkClick>
              </a:rPr>
              <a:t>[</a:t>
            </a:r>
            <a:r>
              <a:rPr lang="en-CA" sz="1400" baseline="30000" dirty="0">
                <a:solidFill>
                  <a:schemeClr val="bg1"/>
                </a:solidFill>
              </a:rPr>
              <a:t> </a:t>
            </a:r>
            <a:r>
              <a:rPr lang="en-CA" sz="1400" dirty="0">
                <a:solidFill>
                  <a:schemeClr val="bg1"/>
                </a:solidFill>
              </a:rPr>
              <a:t>While there may be differences in implementation given the type of predictive model, the AIA encompasses multiple rounds of review from internal, external, and public audiences. First, it assumes that after this review, a company will develop a list of potential harms or biases in their self-assessment, with the assistance of more technical outside experts. Second, if bias appears to have occurred, the AIA pushes for notice to be given to impacted populations and a comment period opened for response. And third, the AIA process looks to federal and other entities to support users’ right to challenge algorithmic decisions that feel unfair.</a:t>
            </a:r>
          </a:p>
          <a:p>
            <a:br>
              <a:rPr lang="en-CA" sz="1400" dirty="0">
                <a:solidFill>
                  <a:schemeClr val="bg1"/>
                </a:solidFill>
              </a:rPr>
            </a:br>
            <a:endParaRPr lang="en-US" sz="1400" dirty="0">
              <a:solidFill>
                <a:schemeClr val="bg1"/>
              </a:solidFill>
            </a:endParaRPr>
          </a:p>
        </p:txBody>
      </p:sp>
      <p:sp>
        <p:nvSpPr>
          <p:cNvPr id="11" name="TextBox 10">
            <a:extLst>
              <a:ext uri="{FF2B5EF4-FFF2-40B4-BE49-F238E27FC236}">
                <a16:creationId xmlns:a16="http://schemas.microsoft.com/office/drawing/2014/main" id="{75924B8A-30AE-AE4B-A4E0-6594989E7509}"/>
              </a:ext>
            </a:extLst>
          </p:cNvPr>
          <p:cNvSpPr txBox="1"/>
          <p:nvPr/>
        </p:nvSpPr>
        <p:spPr>
          <a:xfrm>
            <a:off x="3289299" y="6322151"/>
            <a:ext cx="8178801" cy="369332"/>
          </a:xfrm>
          <a:prstGeom prst="rect">
            <a:avLst/>
          </a:prstGeom>
          <a:noFill/>
        </p:spPr>
        <p:txBody>
          <a:bodyPr wrap="square" rtlCol="0">
            <a:spAutoFit/>
          </a:bodyPr>
          <a:lstStyle/>
          <a:p>
            <a:r>
              <a:rPr lang="en-US" sz="900" b="1" dirty="0">
                <a:solidFill>
                  <a:schemeClr val="bg1"/>
                </a:solidFill>
              </a:rPr>
              <a:t>Source:</a:t>
            </a:r>
          </a:p>
          <a:p>
            <a:r>
              <a:rPr lang="en-US" sz="900" dirty="0">
                <a:solidFill>
                  <a:schemeClr val="bg1"/>
                </a:solidFill>
              </a:rPr>
              <a:t>https://www.brookings.edu/research/algorithmic-bias-detection-and-mitigation-best-practices-and-policies-to-reduce-consumer-harms/</a:t>
            </a:r>
          </a:p>
        </p:txBody>
      </p:sp>
    </p:spTree>
    <p:extLst>
      <p:ext uri="{BB962C8B-B14F-4D97-AF65-F5344CB8AC3E}">
        <p14:creationId xmlns:p14="http://schemas.microsoft.com/office/powerpoint/2010/main" val="24526139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F540F-3492-5B44-8E26-A8606F65147B}"/>
              </a:ext>
            </a:extLst>
          </p:cNvPr>
          <p:cNvPicPr>
            <a:picLocks noChangeAspect="1"/>
          </p:cNvPicPr>
          <p:nvPr/>
        </p:nvPicPr>
        <p:blipFill>
          <a:blip r:embed="rId2">
            <a:alphaModFix amt="35000"/>
          </a:blip>
          <a:stretch>
            <a:fillRect/>
          </a:stretch>
        </p:blipFill>
        <p:spPr>
          <a:xfrm>
            <a:off x="0" y="0"/>
            <a:ext cx="12192000" cy="6858000"/>
          </a:xfrm>
          <a:prstGeom prst="rect">
            <a:avLst/>
          </a:prstGeom>
        </p:spPr>
      </p:pic>
      <p:sp>
        <p:nvSpPr>
          <p:cNvPr id="4" name="Rectangle 3"/>
          <p:cNvSpPr/>
          <p:nvPr/>
        </p:nvSpPr>
        <p:spPr>
          <a:xfrm>
            <a:off x="0" y="2157413"/>
            <a:ext cx="12192000" cy="222885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5EA39E8C-FF6B-D84A-9F1B-4DA182E19CA1}"/>
              </a:ext>
            </a:extLst>
          </p:cNvPr>
          <p:cNvSpPr/>
          <p:nvPr/>
        </p:nvSpPr>
        <p:spPr bwMode="auto">
          <a:xfrm>
            <a:off x="5366098" y="3598098"/>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3" name="Title 1">
            <a:extLst>
              <a:ext uri="{FF2B5EF4-FFF2-40B4-BE49-F238E27FC236}">
                <a16:creationId xmlns:a16="http://schemas.microsoft.com/office/drawing/2014/main" id="{A44AD90D-4B77-294C-839C-B3215A2A803C}"/>
              </a:ext>
            </a:extLst>
          </p:cNvPr>
          <p:cNvSpPr txBox="1">
            <a:spLocks/>
          </p:cNvSpPr>
          <p:nvPr/>
        </p:nvSpPr>
        <p:spPr>
          <a:xfrm>
            <a:off x="283853" y="2157413"/>
            <a:ext cx="11358563" cy="1568556"/>
          </a:xfrm>
          <a:prstGeom prst="rect">
            <a:avLst/>
          </a:prstGeom>
        </p:spPr>
        <p:txBody>
          <a:bodyPr vert="horz" lIns="91440" tIns="45720" rIns="91440" bIns="45720" rtlCol="0" anchor="ctr">
            <a:normAutofit fontScale="92500" lnSpcReduction="10000"/>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0" dirty="0">
                <a:solidFill>
                  <a:prstClr val="white"/>
                </a:solidFill>
                <a:latin typeface="Perpetua Titling MT Light" charset="0"/>
                <a:ea typeface="Perpetua Titling MT Light" charset="0"/>
                <a:cs typeface="Perpetua Titling MT Light" charset="0"/>
              </a:rPr>
              <a:t>Section 3.0 : </a:t>
            </a:r>
          </a:p>
          <a:p>
            <a:pPr algn="ctr"/>
            <a:r>
              <a:rPr lang="en-US" sz="3600" b="0" dirty="0">
                <a:solidFill>
                  <a:prstClr val="white"/>
                </a:solidFill>
                <a:latin typeface="Perpetua Titling MT Light" charset="0"/>
                <a:ea typeface="Perpetua Titling MT Light" charset="0"/>
                <a:cs typeface="Perpetua Titling MT Light" charset="0"/>
              </a:rPr>
              <a:t>INTRODUCTION TO LEGAL AND POLICY FRAMEWORKS</a:t>
            </a:r>
            <a:endParaRPr lang="en-US" sz="3600" b="0" dirty="0">
              <a:solidFill>
                <a:srgbClr val="89C542"/>
              </a:solidFill>
              <a:latin typeface="Perpetua Titling MT Light" charset="0"/>
              <a:ea typeface="Perpetua Titling MT Light" charset="0"/>
              <a:cs typeface="Perpetua Titling MT Light" charset="0"/>
            </a:endParaRPr>
          </a:p>
        </p:txBody>
      </p:sp>
    </p:spTree>
    <p:extLst>
      <p:ext uri="{BB962C8B-B14F-4D97-AF65-F5344CB8AC3E}">
        <p14:creationId xmlns:p14="http://schemas.microsoft.com/office/powerpoint/2010/main" val="32688829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37E6CF-1C60-BE40-A3D3-D38FFEACAAE6}"/>
              </a:ext>
            </a:extLst>
          </p:cNvPr>
          <p:cNvSpPr/>
          <p:nvPr/>
        </p:nvSpPr>
        <p:spPr>
          <a:xfrm>
            <a:off x="164825" y="2108309"/>
            <a:ext cx="5753375" cy="3785652"/>
          </a:xfrm>
          <a:prstGeom prst="rect">
            <a:avLst/>
          </a:prstGeom>
        </p:spPr>
        <p:txBody>
          <a:bodyPr wrap="square">
            <a:spAutoFit/>
          </a:bodyPr>
          <a:lstStyle/>
          <a:p>
            <a:r>
              <a:rPr lang="en-CA" sz="2400" b="1" dirty="0">
                <a:solidFill>
                  <a:schemeClr val="bg1"/>
                </a:solidFill>
                <a:latin typeface="Garamond" panose="02020404030301010803" pitchFamily="18" charset="0"/>
              </a:rPr>
              <a:t>Legal standards </a:t>
            </a:r>
            <a:r>
              <a:rPr lang="en-CA" sz="2400" dirty="0">
                <a:solidFill>
                  <a:schemeClr val="bg1"/>
                </a:solidFill>
                <a:latin typeface="Garamond" panose="02020404030301010803" pitchFamily="18" charset="0"/>
              </a:rPr>
              <a:t>are those standards that are set forth in governmental </a:t>
            </a:r>
            <a:r>
              <a:rPr lang="en-CA" sz="2400" b="1" dirty="0">
                <a:solidFill>
                  <a:schemeClr val="bg1"/>
                </a:solidFill>
                <a:latin typeface="Garamond" panose="02020404030301010803" pitchFamily="18" charset="0"/>
              </a:rPr>
              <a:t>laws</a:t>
            </a:r>
            <a:r>
              <a:rPr lang="en-CA" sz="2400" dirty="0">
                <a:solidFill>
                  <a:schemeClr val="bg1"/>
                </a:solidFill>
                <a:latin typeface="Garamond" panose="02020404030301010803" pitchFamily="18" charset="0"/>
              </a:rPr>
              <a:t>. </a:t>
            </a:r>
          </a:p>
          <a:p>
            <a:endParaRPr lang="en-CA" sz="2400" b="1" dirty="0">
              <a:solidFill>
                <a:schemeClr val="bg1"/>
              </a:solidFill>
              <a:latin typeface="Garamond" panose="02020404030301010803" pitchFamily="18" charset="0"/>
            </a:endParaRPr>
          </a:p>
          <a:p>
            <a:r>
              <a:rPr lang="en-CA" sz="2400" b="1" dirty="0">
                <a:solidFill>
                  <a:schemeClr val="bg1"/>
                </a:solidFill>
                <a:latin typeface="Garamond" panose="02020404030301010803" pitchFamily="18" charset="0"/>
              </a:rPr>
              <a:t>Ethical</a:t>
            </a:r>
            <a:r>
              <a:rPr lang="en-CA" sz="2400" dirty="0">
                <a:solidFill>
                  <a:schemeClr val="bg1"/>
                </a:solidFill>
                <a:latin typeface="Garamond" panose="02020404030301010803" pitchFamily="18" charset="0"/>
              </a:rPr>
              <a:t> </a:t>
            </a:r>
            <a:r>
              <a:rPr lang="en-CA" sz="2400" b="1" dirty="0">
                <a:solidFill>
                  <a:schemeClr val="bg1"/>
                </a:solidFill>
                <a:latin typeface="Garamond" panose="02020404030301010803" pitchFamily="18" charset="0"/>
              </a:rPr>
              <a:t>standards</a:t>
            </a:r>
            <a:r>
              <a:rPr lang="en-CA" sz="2400" dirty="0">
                <a:solidFill>
                  <a:schemeClr val="bg1"/>
                </a:solidFill>
                <a:latin typeface="Garamond" panose="02020404030301010803" pitchFamily="18" charset="0"/>
              </a:rPr>
              <a:t> are based on the human principles of right and wrong. The differences between them are these: </a:t>
            </a:r>
          </a:p>
          <a:p>
            <a:endParaRPr lang="en-CA" sz="2400" b="1" dirty="0">
              <a:solidFill>
                <a:schemeClr val="bg1"/>
              </a:solidFill>
              <a:latin typeface="Garamond" panose="02020404030301010803" pitchFamily="18" charset="0"/>
            </a:endParaRPr>
          </a:p>
          <a:p>
            <a:r>
              <a:rPr lang="en-CA" sz="2400" b="1" dirty="0">
                <a:solidFill>
                  <a:schemeClr val="bg1"/>
                </a:solidFill>
                <a:latin typeface="Garamond" panose="02020404030301010803" pitchFamily="18" charset="0"/>
              </a:rPr>
              <a:t>Legal</a:t>
            </a:r>
            <a:r>
              <a:rPr lang="en-CA" sz="2400" dirty="0">
                <a:solidFill>
                  <a:schemeClr val="bg1"/>
                </a:solidFill>
                <a:latin typeface="Garamond" panose="02020404030301010803" pitchFamily="18" charset="0"/>
              </a:rPr>
              <a:t> </a:t>
            </a:r>
            <a:r>
              <a:rPr lang="en-CA" sz="2400" b="1" dirty="0">
                <a:solidFill>
                  <a:schemeClr val="bg1"/>
                </a:solidFill>
                <a:latin typeface="Garamond" panose="02020404030301010803" pitchFamily="18" charset="0"/>
              </a:rPr>
              <a:t>standards</a:t>
            </a:r>
            <a:r>
              <a:rPr lang="en-CA" sz="2400" dirty="0">
                <a:solidFill>
                  <a:schemeClr val="bg1"/>
                </a:solidFill>
                <a:latin typeface="Garamond" panose="02020404030301010803" pitchFamily="18" charset="0"/>
              </a:rPr>
              <a:t> are based on written </a:t>
            </a:r>
            <a:r>
              <a:rPr lang="en-CA" sz="2400" b="1" dirty="0">
                <a:solidFill>
                  <a:schemeClr val="bg1"/>
                </a:solidFill>
                <a:latin typeface="Garamond" panose="02020404030301010803" pitchFamily="18" charset="0"/>
              </a:rPr>
              <a:t>law</a:t>
            </a:r>
            <a:r>
              <a:rPr lang="en-CA" sz="2400" dirty="0">
                <a:solidFill>
                  <a:schemeClr val="bg1"/>
                </a:solidFill>
                <a:latin typeface="Garamond" panose="02020404030301010803" pitchFamily="18" charset="0"/>
              </a:rPr>
              <a:t>, while </a:t>
            </a:r>
            <a:r>
              <a:rPr lang="en-CA" sz="2400" b="1" dirty="0">
                <a:solidFill>
                  <a:schemeClr val="bg1"/>
                </a:solidFill>
                <a:latin typeface="Garamond" panose="02020404030301010803" pitchFamily="18" charset="0"/>
              </a:rPr>
              <a:t>ethical</a:t>
            </a:r>
            <a:r>
              <a:rPr lang="en-CA" sz="2400" dirty="0">
                <a:solidFill>
                  <a:schemeClr val="bg1"/>
                </a:solidFill>
                <a:latin typeface="Garamond" panose="02020404030301010803" pitchFamily="18" charset="0"/>
              </a:rPr>
              <a:t> </a:t>
            </a:r>
            <a:r>
              <a:rPr lang="en-CA" sz="2400" b="1" dirty="0">
                <a:solidFill>
                  <a:schemeClr val="bg1"/>
                </a:solidFill>
                <a:latin typeface="Garamond" panose="02020404030301010803" pitchFamily="18" charset="0"/>
              </a:rPr>
              <a:t>standards</a:t>
            </a:r>
            <a:r>
              <a:rPr lang="en-CA" sz="2400" dirty="0">
                <a:solidFill>
                  <a:schemeClr val="bg1"/>
                </a:solidFill>
                <a:latin typeface="Garamond" panose="02020404030301010803" pitchFamily="18" charset="0"/>
              </a:rPr>
              <a:t> are based on human rights and wrongs.</a:t>
            </a:r>
            <a:endParaRPr lang="en-CA" sz="2400" b="0" i="0" dirty="0">
              <a:solidFill>
                <a:schemeClr val="bg1"/>
              </a:solidFill>
              <a:effectLst/>
              <a:latin typeface="Garamond" panose="02020404030301010803" pitchFamily="18" charset="0"/>
            </a:endParaRPr>
          </a:p>
        </p:txBody>
      </p:sp>
      <p:sp>
        <p:nvSpPr>
          <p:cNvPr id="3" name="Title 2">
            <a:extLst>
              <a:ext uri="{FF2B5EF4-FFF2-40B4-BE49-F238E27FC236}">
                <a16:creationId xmlns:a16="http://schemas.microsoft.com/office/drawing/2014/main" id="{90BE7B40-47B9-7B41-818A-3CBED5203EF7}"/>
              </a:ext>
            </a:extLst>
          </p:cNvPr>
          <p:cNvSpPr txBox="1">
            <a:spLocks/>
          </p:cNvSpPr>
          <p:nvPr/>
        </p:nvSpPr>
        <p:spPr>
          <a:xfrm>
            <a:off x="0" y="107025"/>
            <a:ext cx="12039600"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algn="ctr"/>
            <a:r>
              <a:rPr lang="en-US" dirty="0">
                <a:solidFill>
                  <a:prstClr val="white"/>
                </a:solidFill>
                <a:latin typeface="Perpetua Titling MT Light" charset="0"/>
              </a:rPr>
              <a:t>WHAT IS A LEGAL AND AN ETHICAL FRAMEWORK?</a:t>
            </a:r>
          </a:p>
        </p:txBody>
      </p:sp>
      <p:sp>
        <p:nvSpPr>
          <p:cNvPr id="4" name="Rectangle 3">
            <a:extLst>
              <a:ext uri="{FF2B5EF4-FFF2-40B4-BE49-F238E27FC236}">
                <a16:creationId xmlns:a16="http://schemas.microsoft.com/office/drawing/2014/main" id="{292EBECA-F482-7D41-AD69-ADBF08CE5633}"/>
              </a:ext>
            </a:extLst>
          </p:cNvPr>
          <p:cNvSpPr/>
          <p:nvPr/>
        </p:nvSpPr>
        <p:spPr bwMode="auto">
          <a:xfrm>
            <a:off x="4825725" y="13565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graphicFrame>
        <p:nvGraphicFramePr>
          <p:cNvPr id="6" name="Table 5">
            <a:extLst>
              <a:ext uri="{FF2B5EF4-FFF2-40B4-BE49-F238E27FC236}">
                <a16:creationId xmlns:a16="http://schemas.microsoft.com/office/drawing/2014/main" id="{15A73A6B-2793-A947-B86A-1E3620ED781D}"/>
              </a:ext>
            </a:extLst>
          </p:cNvPr>
          <p:cNvGraphicFramePr>
            <a:graphicFrameLocks noGrp="1"/>
          </p:cNvGraphicFramePr>
          <p:nvPr>
            <p:extLst>
              <p:ext uri="{D42A27DB-BD31-4B8C-83A1-F6EECF244321}">
                <p14:modId xmlns:p14="http://schemas.microsoft.com/office/powerpoint/2010/main" val="1497327607"/>
              </p:ext>
            </p:extLst>
          </p:nvPr>
        </p:nvGraphicFramePr>
        <p:xfrm>
          <a:off x="6019800" y="2248535"/>
          <a:ext cx="6019800" cy="3505200"/>
        </p:xfrm>
        <a:graphic>
          <a:graphicData uri="http://schemas.openxmlformats.org/drawingml/2006/table">
            <a:tbl>
              <a:tblPr firstRow="1" bandRow="1">
                <a:tableStyleId>{93296810-A885-4BE3-A3E7-6D5BEEA58F35}</a:tableStyleId>
              </a:tblPr>
              <a:tblGrid>
                <a:gridCol w="1496307">
                  <a:extLst>
                    <a:ext uri="{9D8B030D-6E8A-4147-A177-3AD203B41FA5}">
                      <a16:colId xmlns:a16="http://schemas.microsoft.com/office/drawing/2014/main" val="2116548351"/>
                    </a:ext>
                  </a:extLst>
                </a:gridCol>
                <a:gridCol w="2142707">
                  <a:extLst>
                    <a:ext uri="{9D8B030D-6E8A-4147-A177-3AD203B41FA5}">
                      <a16:colId xmlns:a16="http://schemas.microsoft.com/office/drawing/2014/main" val="2847283806"/>
                    </a:ext>
                  </a:extLst>
                </a:gridCol>
                <a:gridCol w="2380786">
                  <a:extLst>
                    <a:ext uri="{9D8B030D-6E8A-4147-A177-3AD203B41FA5}">
                      <a16:colId xmlns:a16="http://schemas.microsoft.com/office/drawing/2014/main" val="1581787099"/>
                    </a:ext>
                  </a:extLst>
                </a:gridCol>
              </a:tblGrid>
              <a:tr h="260621">
                <a:tc>
                  <a:txBody>
                    <a:bodyPr/>
                    <a:lstStyle/>
                    <a:p>
                      <a:pPr algn="ctr"/>
                      <a:r>
                        <a:rPr lang="en-US" sz="1400" b="1" dirty="0"/>
                        <a:t>FACTORS</a:t>
                      </a:r>
                    </a:p>
                  </a:txBody>
                  <a:tcPr/>
                </a:tc>
                <a:tc>
                  <a:txBody>
                    <a:bodyPr/>
                    <a:lstStyle/>
                    <a:p>
                      <a:pPr algn="ctr"/>
                      <a:r>
                        <a:rPr lang="en-US" sz="1400" b="1" dirty="0"/>
                        <a:t>LEGAL</a:t>
                      </a:r>
                    </a:p>
                  </a:txBody>
                  <a:tcPr/>
                </a:tc>
                <a:tc>
                  <a:txBody>
                    <a:bodyPr/>
                    <a:lstStyle/>
                    <a:p>
                      <a:pPr algn="ctr"/>
                      <a:r>
                        <a:rPr lang="en-US" sz="1400" b="1" dirty="0"/>
                        <a:t>ETHICAL</a:t>
                      </a:r>
                    </a:p>
                  </a:txBody>
                  <a:tcPr/>
                </a:tc>
                <a:extLst>
                  <a:ext uri="{0D108BD9-81ED-4DB2-BD59-A6C34878D82A}">
                    <a16:rowId xmlns:a16="http://schemas.microsoft.com/office/drawing/2014/main" val="2832841848"/>
                  </a:ext>
                </a:extLst>
              </a:tr>
              <a:tr h="585610">
                <a:tc>
                  <a:txBody>
                    <a:bodyPr/>
                    <a:lstStyle/>
                    <a:p>
                      <a:r>
                        <a:rPr lang="en-US" sz="1200" dirty="0"/>
                        <a:t>Ethos</a:t>
                      </a:r>
                    </a:p>
                  </a:txBody>
                  <a:tcPr/>
                </a:tc>
                <a:tc>
                  <a:txBody>
                    <a:bodyPr/>
                    <a:lstStyle/>
                    <a:p>
                      <a:r>
                        <a:rPr lang="en-US" sz="1200" dirty="0"/>
                        <a:t>Regards Ethics as a set of limits and something that has to be done.</a:t>
                      </a:r>
                    </a:p>
                  </a:txBody>
                  <a:tcPr/>
                </a:tc>
                <a:tc>
                  <a:txBody>
                    <a:bodyPr/>
                    <a:lstStyle/>
                    <a:p>
                      <a:r>
                        <a:rPr lang="en-US" sz="1200" dirty="0"/>
                        <a:t>Defines Ethics as a set of principles to guide choices.</a:t>
                      </a:r>
                    </a:p>
                  </a:txBody>
                  <a:tcPr/>
                </a:tc>
                <a:extLst>
                  <a:ext uri="{0D108BD9-81ED-4DB2-BD59-A6C34878D82A}">
                    <a16:rowId xmlns:a16="http://schemas.microsoft.com/office/drawing/2014/main" val="3176731429"/>
                  </a:ext>
                </a:extLst>
              </a:tr>
              <a:tr h="418293">
                <a:tc>
                  <a:txBody>
                    <a:bodyPr/>
                    <a:lstStyle/>
                    <a:p>
                      <a:r>
                        <a:rPr lang="en-US" sz="1200" dirty="0"/>
                        <a:t>Objectives</a:t>
                      </a:r>
                    </a:p>
                  </a:txBody>
                  <a:tcPr/>
                </a:tc>
                <a:tc>
                  <a:txBody>
                    <a:bodyPr/>
                    <a:lstStyle/>
                    <a:p>
                      <a:r>
                        <a:rPr lang="en-US" sz="1200" dirty="0"/>
                        <a:t>Geared toward preventing unlawful conduct.</a:t>
                      </a:r>
                    </a:p>
                  </a:txBody>
                  <a:tcPr/>
                </a:tc>
                <a:tc>
                  <a:txBody>
                    <a:bodyPr/>
                    <a:lstStyle/>
                    <a:p>
                      <a:r>
                        <a:rPr lang="en-US" sz="1200" dirty="0"/>
                        <a:t>Geared towards achieving responsible conduct.</a:t>
                      </a:r>
                    </a:p>
                  </a:txBody>
                  <a:tcPr/>
                </a:tc>
                <a:extLst>
                  <a:ext uri="{0D108BD9-81ED-4DB2-BD59-A6C34878D82A}">
                    <a16:rowId xmlns:a16="http://schemas.microsoft.com/office/drawing/2014/main" val="1114473354"/>
                  </a:ext>
                </a:extLst>
              </a:tr>
              <a:tr h="752927">
                <a:tc>
                  <a:txBody>
                    <a:bodyPr/>
                    <a:lstStyle/>
                    <a:p>
                      <a:r>
                        <a:rPr lang="en-US" sz="1200" dirty="0"/>
                        <a:t>Method</a:t>
                      </a:r>
                    </a:p>
                  </a:txBody>
                  <a:tcPr/>
                </a:tc>
                <a:tc>
                  <a:txBody>
                    <a:bodyPr/>
                    <a:lstStyle/>
                    <a:p>
                      <a:r>
                        <a:rPr lang="en-US" sz="1200" dirty="0"/>
                        <a:t>Emphasizes rules and uses increased monitoring and penalties to enforce these rules.</a:t>
                      </a:r>
                    </a:p>
                  </a:txBody>
                  <a:tcPr/>
                </a:tc>
                <a:tc>
                  <a:txBody>
                    <a:bodyPr/>
                    <a:lstStyle/>
                    <a:p>
                      <a:r>
                        <a:rPr lang="en-US" sz="1200" dirty="0"/>
                        <a:t>Treats ethics as infused in business practice (leadership, core systems, decision making processes, etc.)</a:t>
                      </a:r>
                    </a:p>
                    <a:p>
                      <a:endParaRPr lang="en-US" sz="1200" dirty="0"/>
                    </a:p>
                  </a:txBody>
                  <a:tcPr/>
                </a:tc>
                <a:extLst>
                  <a:ext uri="{0D108BD9-81ED-4DB2-BD59-A6C34878D82A}">
                    <a16:rowId xmlns:a16="http://schemas.microsoft.com/office/drawing/2014/main" val="2077728269"/>
                  </a:ext>
                </a:extLst>
              </a:tr>
              <a:tr h="920245">
                <a:tc>
                  <a:txBody>
                    <a:bodyPr/>
                    <a:lstStyle/>
                    <a:p>
                      <a:r>
                        <a:rPr lang="en-US" sz="1200" dirty="0"/>
                        <a:t>Behavioiral Assumptions</a:t>
                      </a:r>
                    </a:p>
                  </a:txBody>
                  <a:tcPr/>
                </a:tc>
                <a:tc>
                  <a:txBody>
                    <a:bodyPr/>
                    <a:lstStyle/>
                    <a:p>
                      <a:r>
                        <a:rPr lang="en-US" sz="1200" dirty="0"/>
                        <a:t>Rooted in deterrence theory (how to prevent people from doing bad things by manipulating the costs of misconduct)</a:t>
                      </a:r>
                    </a:p>
                  </a:txBody>
                  <a:tcPr/>
                </a:tc>
                <a:tc>
                  <a:txBody>
                    <a:bodyPr/>
                    <a:lstStyle/>
                    <a:p>
                      <a:r>
                        <a:rPr lang="en-US" sz="1200" dirty="0"/>
                        <a:t>Rooted in individual and communal values (both materials and spiritual)</a:t>
                      </a:r>
                    </a:p>
                  </a:txBody>
                  <a:tcPr/>
                </a:tc>
                <a:extLst>
                  <a:ext uri="{0D108BD9-81ED-4DB2-BD59-A6C34878D82A}">
                    <a16:rowId xmlns:a16="http://schemas.microsoft.com/office/drawing/2014/main" val="4004936838"/>
                  </a:ext>
                </a:extLst>
              </a:tr>
              <a:tr h="178799">
                <a:tc>
                  <a:txBody>
                    <a:bodyPr/>
                    <a:lstStyle/>
                    <a:p>
                      <a:r>
                        <a:rPr lang="en-US" sz="800" dirty="0"/>
                        <a:t>*Adapted from Paine (1996).</a:t>
                      </a:r>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2408107724"/>
                  </a:ext>
                </a:extLst>
              </a:tr>
            </a:tbl>
          </a:graphicData>
        </a:graphic>
      </p:graphicFrame>
      <p:sp>
        <p:nvSpPr>
          <p:cNvPr id="7" name="Slide Number Placeholder 4">
            <a:extLst>
              <a:ext uri="{FF2B5EF4-FFF2-40B4-BE49-F238E27FC236}">
                <a16:creationId xmlns:a16="http://schemas.microsoft.com/office/drawing/2014/main" id="{71548792-B606-8842-80B1-D1DE1EB77817}"/>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62</a:t>
            </a:fld>
            <a:endParaRPr lang="en-US" sz="1400" dirty="0">
              <a:solidFill>
                <a:schemeClr val="bg1"/>
              </a:solidFill>
            </a:endParaRPr>
          </a:p>
        </p:txBody>
      </p:sp>
    </p:spTree>
    <p:extLst>
      <p:ext uri="{BB962C8B-B14F-4D97-AF65-F5344CB8AC3E}">
        <p14:creationId xmlns:p14="http://schemas.microsoft.com/office/powerpoint/2010/main" val="2273294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327CC9-60FB-5C43-8123-E8BB0705C095}"/>
              </a:ext>
            </a:extLst>
          </p:cNvPr>
          <p:cNvSpPr/>
          <p:nvPr/>
        </p:nvSpPr>
        <p:spPr>
          <a:xfrm>
            <a:off x="482600" y="1641039"/>
            <a:ext cx="11214100" cy="4647426"/>
          </a:xfrm>
          <a:prstGeom prst="rect">
            <a:avLst/>
          </a:prstGeom>
        </p:spPr>
        <p:txBody>
          <a:bodyPr wrap="square">
            <a:spAutoFit/>
          </a:bodyPr>
          <a:lstStyle/>
          <a:p>
            <a:pPr fontAlgn="base"/>
            <a:r>
              <a:rPr lang="en-CA" sz="2800" b="1" dirty="0">
                <a:solidFill>
                  <a:srgbClr val="FFFF00"/>
                </a:solidFill>
                <a:latin typeface="Garamond" panose="02020404030301010803" pitchFamily="18" charset="0"/>
              </a:rPr>
              <a:t>A Legal framework for AI can be grouped as follows:</a:t>
            </a:r>
          </a:p>
          <a:p>
            <a:pPr fontAlgn="base"/>
            <a:endParaRPr lang="en-CA" sz="2800" dirty="0">
              <a:solidFill>
                <a:srgbClr val="FFFF00"/>
              </a:solidFill>
              <a:latin typeface="Garamond" panose="02020404030301010803" pitchFamily="18" charset="0"/>
            </a:endParaRPr>
          </a:p>
          <a:p>
            <a:pPr marL="457200" indent="-457200" fontAlgn="base">
              <a:buAutoNum type="arabicParenBoth"/>
            </a:pPr>
            <a:r>
              <a:rPr lang="en-CA" sz="2400" b="1" dirty="0">
                <a:solidFill>
                  <a:schemeClr val="bg1"/>
                </a:solidFill>
                <a:latin typeface="Garamond" panose="02020404030301010803" pitchFamily="18" charset="0"/>
              </a:rPr>
              <a:t>regulation specific to AI technology </a:t>
            </a:r>
            <a:r>
              <a:rPr lang="en-CA" sz="2400" dirty="0">
                <a:solidFill>
                  <a:schemeClr val="bg1"/>
                </a:solidFill>
                <a:latin typeface="Garamond" panose="02020404030301010803" pitchFamily="18" charset="0"/>
              </a:rPr>
              <a:t>(e.g. automated decision making, facial recognition)</a:t>
            </a:r>
          </a:p>
          <a:p>
            <a:pPr marL="457200" indent="-457200" fontAlgn="base">
              <a:buAutoNum type="arabicParenBoth"/>
            </a:pPr>
            <a:endParaRPr lang="en-CA" sz="2400" dirty="0">
              <a:solidFill>
                <a:schemeClr val="bg1"/>
              </a:solidFill>
              <a:latin typeface="Garamond" panose="02020404030301010803" pitchFamily="18" charset="0"/>
            </a:endParaRPr>
          </a:p>
          <a:p>
            <a:pPr fontAlgn="base"/>
            <a:r>
              <a:rPr lang="en-CA" sz="2400" dirty="0">
                <a:solidFill>
                  <a:schemeClr val="bg1"/>
                </a:solidFill>
                <a:latin typeface="Garamond" panose="02020404030301010803" pitchFamily="18" charset="0"/>
              </a:rPr>
              <a:t>(2) </a:t>
            </a:r>
            <a:r>
              <a:rPr lang="en-CA" sz="2400" b="1" dirty="0">
                <a:solidFill>
                  <a:schemeClr val="bg1"/>
                </a:solidFill>
                <a:latin typeface="Garamond" panose="02020404030301010803" pitchFamily="18" charset="0"/>
              </a:rPr>
              <a:t>regulation specific to a use case or industry application </a:t>
            </a:r>
            <a:r>
              <a:rPr lang="en-CA" sz="2400" dirty="0">
                <a:solidFill>
                  <a:schemeClr val="bg1"/>
                </a:solidFill>
                <a:latin typeface="Garamond" panose="02020404030301010803" pitchFamily="18" charset="0"/>
              </a:rPr>
              <a:t>(e.g. finance, health, human resources);</a:t>
            </a:r>
          </a:p>
          <a:p>
            <a:pPr fontAlgn="base"/>
            <a:endParaRPr lang="en-CA" sz="2400" dirty="0">
              <a:solidFill>
                <a:schemeClr val="bg1"/>
              </a:solidFill>
              <a:latin typeface="Garamond" panose="02020404030301010803" pitchFamily="18" charset="0"/>
            </a:endParaRPr>
          </a:p>
          <a:p>
            <a:pPr fontAlgn="base"/>
            <a:r>
              <a:rPr lang="en-CA" sz="2400" dirty="0">
                <a:solidFill>
                  <a:schemeClr val="bg1"/>
                </a:solidFill>
                <a:latin typeface="Garamond" panose="02020404030301010803" pitchFamily="18" charset="0"/>
              </a:rPr>
              <a:t>(3) </a:t>
            </a:r>
            <a:r>
              <a:rPr lang="en-CA" sz="2400" b="1" dirty="0">
                <a:solidFill>
                  <a:schemeClr val="bg1"/>
                </a:solidFill>
                <a:latin typeface="Garamond" panose="02020404030301010803" pitchFamily="18" charset="0"/>
              </a:rPr>
              <a:t>legal accountability for (unintended) consequences by use of AI </a:t>
            </a:r>
            <a:r>
              <a:rPr lang="en-CA" sz="2400" dirty="0">
                <a:solidFill>
                  <a:schemeClr val="bg1"/>
                </a:solidFill>
                <a:latin typeface="Garamond" panose="02020404030301010803" pitchFamily="18" charset="0"/>
              </a:rPr>
              <a:t>(e.g. criminal, civil); and</a:t>
            </a:r>
          </a:p>
          <a:p>
            <a:pPr fontAlgn="base"/>
            <a:endParaRPr lang="en-CA" sz="2400" dirty="0">
              <a:solidFill>
                <a:schemeClr val="bg1"/>
              </a:solidFill>
              <a:latin typeface="Garamond" panose="02020404030301010803" pitchFamily="18" charset="0"/>
            </a:endParaRPr>
          </a:p>
          <a:p>
            <a:pPr fontAlgn="base"/>
            <a:r>
              <a:rPr lang="en-CA" sz="2400" dirty="0">
                <a:solidFill>
                  <a:schemeClr val="bg1"/>
                </a:solidFill>
                <a:latin typeface="Garamond" panose="02020404030301010803" pitchFamily="18" charset="0"/>
              </a:rPr>
              <a:t>(4) </a:t>
            </a:r>
            <a:r>
              <a:rPr lang="en-CA" sz="2400" b="1" dirty="0">
                <a:solidFill>
                  <a:schemeClr val="bg1"/>
                </a:solidFill>
                <a:latin typeface="Garamond" panose="02020404030301010803" pitchFamily="18" charset="0"/>
              </a:rPr>
              <a:t>voluntary ethics c</a:t>
            </a:r>
            <a:r>
              <a:rPr lang="en-CA" sz="2400" dirty="0">
                <a:solidFill>
                  <a:schemeClr val="bg1"/>
                </a:solidFill>
                <a:latin typeface="Garamond" panose="02020404030301010803" pitchFamily="18" charset="0"/>
              </a:rPr>
              <a:t>odes;</a:t>
            </a:r>
            <a:endParaRPr lang="en-CA" sz="2400" b="0" i="0" dirty="0">
              <a:solidFill>
                <a:schemeClr val="bg1"/>
              </a:solidFill>
              <a:effectLst/>
              <a:latin typeface="Garamond" panose="02020404030301010803" pitchFamily="18" charset="0"/>
            </a:endParaRPr>
          </a:p>
        </p:txBody>
      </p:sp>
      <p:sp>
        <p:nvSpPr>
          <p:cNvPr id="3" name="Title 2">
            <a:extLst>
              <a:ext uri="{FF2B5EF4-FFF2-40B4-BE49-F238E27FC236}">
                <a16:creationId xmlns:a16="http://schemas.microsoft.com/office/drawing/2014/main" id="{2BE826F6-C53E-8549-826F-52FD3CF33FF5}"/>
              </a:ext>
            </a:extLst>
          </p:cNvPr>
          <p:cNvSpPr txBox="1">
            <a:spLocks/>
          </p:cNvSpPr>
          <p:nvPr/>
        </p:nvSpPr>
        <p:spPr>
          <a:xfrm>
            <a:off x="0" y="107025"/>
            <a:ext cx="12039600"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algn="ctr"/>
            <a:r>
              <a:rPr lang="en-US" dirty="0">
                <a:solidFill>
                  <a:prstClr val="white"/>
                </a:solidFill>
                <a:latin typeface="Perpetua Titling MT Light" charset="0"/>
              </a:rPr>
              <a:t>WHAT IS A LEGAL AND AN ETHICAL FRAMEWORK?</a:t>
            </a:r>
          </a:p>
        </p:txBody>
      </p:sp>
      <p:sp>
        <p:nvSpPr>
          <p:cNvPr id="4" name="Rectangle 3">
            <a:extLst>
              <a:ext uri="{FF2B5EF4-FFF2-40B4-BE49-F238E27FC236}">
                <a16:creationId xmlns:a16="http://schemas.microsoft.com/office/drawing/2014/main" id="{A2F6176F-CEE5-E240-8B69-7D3BAF48E35A}"/>
              </a:ext>
            </a:extLst>
          </p:cNvPr>
          <p:cNvSpPr/>
          <p:nvPr/>
        </p:nvSpPr>
        <p:spPr bwMode="auto">
          <a:xfrm>
            <a:off x="4825725" y="13565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05E31868-3EEB-2F41-B31D-F214D06308E8}"/>
              </a:ext>
            </a:extLst>
          </p:cNvPr>
          <p:cNvSpPr txBox="1">
            <a:spLocks/>
          </p:cNvSpPr>
          <p:nvPr/>
        </p:nvSpPr>
        <p:spPr>
          <a:xfrm>
            <a:off x="11715750" y="65322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63</a:t>
            </a:fld>
            <a:endParaRPr lang="en-US" sz="1400" dirty="0">
              <a:solidFill>
                <a:schemeClr val="bg1"/>
              </a:solidFill>
            </a:endParaRPr>
          </a:p>
        </p:txBody>
      </p:sp>
    </p:spTree>
    <p:extLst>
      <p:ext uri="{BB962C8B-B14F-4D97-AF65-F5344CB8AC3E}">
        <p14:creationId xmlns:p14="http://schemas.microsoft.com/office/powerpoint/2010/main" val="17590509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8ACED00F-D386-4849-9816-7C88001C0965}"/>
              </a:ext>
            </a:extLst>
          </p:cNvPr>
          <p:cNvSpPr txBox="1">
            <a:spLocks/>
          </p:cNvSpPr>
          <p:nvPr/>
        </p:nvSpPr>
        <p:spPr>
          <a:xfrm>
            <a:off x="-693553" y="83849"/>
            <a:ext cx="13786003"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algn="ctr"/>
            <a:r>
              <a:rPr lang="en-US" dirty="0">
                <a:solidFill>
                  <a:prstClr val="white"/>
                </a:solidFill>
                <a:latin typeface="Perpetua Titling MT Light" charset="0"/>
              </a:rPr>
              <a:t>THE MEDICAL COMMUNITY HAS STRONG MEDICAL ETHICS</a:t>
            </a:r>
          </a:p>
        </p:txBody>
      </p:sp>
      <p:sp>
        <p:nvSpPr>
          <p:cNvPr id="3" name="Rectangle 2">
            <a:extLst>
              <a:ext uri="{FF2B5EF4-FFF2-40B4-BE49-F238E27FC236}">
                <a16:creationId xmlns:a16="http://schemas.microsoft.com/office/drawing/2014/main" id="{D765F73C-BC9D-F345-A5D1-7A83B799A834}"/>
              </a:ext>
            </a:extLst>
          </p:cNvPr>
          <p:cNvSpPr/>
          <p:nvPr/>
        </p:nvSpPr>
        <p:spPr bwMode="auto">
          <a:xfrm>
            <a:off x="5488930" y="1425542"/>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TextBox 4">
            <a:extLst>
              <a:ext uri="{FF2B5EF4-FFF2-40B4-BE49-F238E27FC236}">
                <a16:creationId xmlns:a16="http://schemas.microsoft.com/office/drawing/2014/main" id="{16BDEC17-1E5C-574F-B558-FFFD7B95F98D}"/>
              </a:ext>
            </a:extLst>
          </p:cNvPr>
          <p:cNvSpPr txBox="1"/>
          <p:nvPr/>
        </p:nvSpPr>
        <p:spPr>
          <a:xfrm>
            <a:off x="5289900" y="2006600"/>
            <a:ext cx="6902100" cy="3539430"/>
          </a:xfrm>
          <a:prstGeom prst="rect">
            <a:avLst/>
          </a:prstGeom>
          <a:noFill/>
        </p:spPr>
        <p:txBody>
          <a:bodyPr wrap="square" rtlCol="0">
            <a:spAutoFit/>
          </a:bodyPr>
          <a:lstStyle/>
          <a:p>
            <a:r>
              <a:rPr lang="en-CA" sz="2800" b="1" dirty="0">
                <a:solidFill>
                  <a:srgbClr val="FFFF00"/>
                </a:solidFill>
              </a:rPr>
              <a:t>There are four pillars of medical ethics which are defined as follows: </a:t>
            </a:r>
          </a:p>
          <a:p>
            <a:endParaRPr lang="en-CA" sz="2400" dirty="0">
              <a:solidFill>
                <a:schemeClr val="bg1"/>
              </a:solidFill>
            </a:endParaRPr>
          </a:p>
          <a:p>
            <a:pPr marL="342900" indent="-342900">
              <a:buFont typeface="Arial" panose="020B0604020202020204" pitchFamily="34" charset="0"/>
              <a:buChar char="•"/>
            </a:pPr>
            <a:r>
              <a:rPr lang="en-CA" sz="2400" b="1" dirty="0">
                <a:solidFill>
                  <a:schemeClr val="bg1"/>
                </a:solidFill>
              </a:rPr>
              <a:t>Autonomy</a:t>
            </a:r>
            <a:r>
              <a:rPr lang="en-CA" sz="2400" dirty="0">
                <a:solidFill>
                  <a:schemeClr val="bg1"/>
                </a:solidFill>
              </a:rPr>
              <a:t> – respect for the patient's right to self-determination. </a:t>
            </a:r>
          </a:p>
          <a:p>
            <a:pPr marL="342900" indent="-342900">
              <a:buFont typeface="Arial" panose="020B0604020202020204" pitchFamily="34" charset="0"/>
              <a:buChar char="•"/>
            </a:pPr>
            <a:r>
              <a:rPr lang="en-CA" sz="2400" b="1" dirty="0">
                <a:solidFill>
                  <a:schemeClr val="bg1"/>
                </a:solidFill>
              </a:rPr>
              <a:t>Beneficence</a:t>
            </a:r>
            <a:r>
              <a:rPr lang="en-CA" sz="2400" dirty="0">
                <a:solidFill>
                  <a:schemeClr val="bg1"/>
                </a:solidFill>
              </a:rPr>
              <a:t> – the duty to 'do good’ </a:t>
            </a:r>
          </a:p>
          <a:p>
            <a:pPr marL="342900" indent="-342900">
              <a:buFont typeface="Arial" panose="020B0604020202020204" pitchFamily="34" charset="0"/>
              <a:buChar char="•"/>
            </a:pPr>
            <a:r>
              <a:rPr lang="en-CA" sz="2400" b="1" dirty="0">
                <a:solidFill>
                  <a:schemeClr val="bg1"/>
                </a:solidFill>
              </a:rPr>
              <a:t>Non-Maleficence</a:t>
            </a:r>
            <a:r>
              <a:rPr lang="en-CA" sz="2400" dirty="0">
                <a:solidFill>
                  <a:schemeClr val="bg1"/>
                </a:solidFill>
              </a:rPr>
              <a:t> – the duty to 'not do bad’</a:t>
            </a:r>
          </a:p>
          <a:p>
            <a:pPr marL="342900" indent="-342900">
              <a:buFont typeface="Arial" panose="020B0604020202020204" pitchFamily="34" charset="0"/>
              <a:buChar char="•"/>
            </a:pPr>
            <a:r>
              <a:rPr lang="en-CA" sz="2400" b="1" dirty="0">
                <a:solidFill>
                  <a:schemeClr val="bg1"/>
                </a:solidFill>
              </a:rPr>
              <a:t>Justice</a:t>
            </a:r>
            <a:r>
              <a:rPr lang="en-CA" sz="2400" dirty="0">
                <a:solidFill>
                  <a:schemeClr val="bg1"/>
                </a:solidFill>
              </a:rPr>
              <a:t> – to treat all people equally and equitably.</a:t>
            </a:r>
          </a:p>
          <a:p>
            <a:pPr marL="342900" indent="-342900">
              <a:buFont typeface="Arial" panose="020B0604020202020204" pitchFamily="34" charset="0"/>
              <a:buChar char="•"/>
            </a:pPr>
            <a:endParaRPr lang="en-US" sz="2400" dirty="0">
              <a:solidFill>
                <a:schemeClr val="bg1"/>
              </a:solidFill>
            </a:endParaRPr>
          </a:p>
        </p:txBody>
      </p:sp>
      <p:pic>
        <p:nvPicPr>
          <p:cNvPr id="6" name="Picture 5">
            <a:extLst>
              <a:ext uri="{FF2B5EF4-FFF2-40B4-BE49-F238E27FC236}">
                <a16:creationId xmlns:a16="http://schemas.microsoft.com/office/drawing/2014/main" id="{38622669-211A-E54E-B517-0CD153B6822E}"/>
              </a:ext>
            </a:extLst>
          </p:cNvPr>
          <p:cNvPicPr>
            <a:picLocks noChangeAspect="1"/>
          </p:cNvPicPr>
          <p:nvPr/>
        </p:nvPicPr>
        <p:blipFill>
          <a:blip r:embed="rId2"/>
          <a:stretch>
            <a:fillRect/>
          </a:stretch>
        </p:blipFill>
        <p:spPr>
          <a:xfrm>
            <a:off x="152608" y="2006600"/>
            <a:ext cx="4851191" cy="3048000"/>
          </a:xfrm>
          <a:prstGeom prst="rect">
            <a:avLst/>
          </a:prstGeom>
        </p:spPr>
      </p:pic>
      <p:sp>
        <p:nvSpPr>
          <p:cNvPr id="7" name="Slide Number Placeholder 4">
            <a:extLst>
              <a:ext uri="{FF2B5EF4-FFF2-40B4-BE49-F238E27FC236}">
                <a16:creationId xmlns:a16="http://schemas.microsoft.com/office/drawing/2014/main" id="{43D6CF65-ABBF-5E41-8A2E-496363A4E84D}"/>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64</a:t>
            </a:fld>
            <a:endParaRPr lang="en-US" sz="1400" dirty="0">
              <a:solidFill>
                <a:schemeClr val="bg1"/>
              </a:solidFill>
            </a:endParaRPr>
          </a:p>
        </p:txBody>
      </p:sp>
    </p:spTree>
    <p:extLst>
      <p:ext uri="{BB962C8B-B14F-4D97-AF65-F5344CB8AC3E}">
        <p14:creationId xmlns:p14="http://schemas.microsoft.com/office/powerpoint/2010/main" val="12056264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8ACED00F-D386-4849-9816-7C88001C0965}"/>
              </a:ext>
            </a:extLst>
          </p:cNvPr>
          <p:cNvSpPr txBox="1">
            <a:spLocks/>
          </p:cNvSpPr>
          <p:nvPr/>
        </p:nvSpPr>
        <p:spPr>
          <a:xfrm>
            <a:off x="463639" y="109183"/>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algn="ctr"/>
            <a:r>
              <a:rPr lang="en-US" dirty="0">
                <a:solidFill>
                  <a:prstClr val="white"/>
                </a:solidFill>
                <a:latin typeface="Perpetua Titling MT Light" charset="0"/>
              </a:rPr>
              <a:t>THE LAW REFLECTS THESE </a:t>
            </a:r>
          </a:p>
          <a:p>
            <a:pPr algn="ctr"/>
            <a:r>
              <a:rPr lang="en-US" dirty="0">
                <a:solidFill>
                  <a:prstClr val="white"/>
                </a:solidFill>
                <a:latin typeface="Perpetua Titling MT Light" charset="0"/>
              </a:rPr>
              <a:t>ETHICAL PRINCIPLES</a:t>
            </a:r>
          </a:p>
        </p:txBody>
      </p:sp>
      <p:sp>
        <p:nvSpPr>
          <p:cNvPr id="3" name="Rectangle 2">
            <a:extLst>
              <a:ext uri="{FF2B5EF4-FFF2-40B4-BE49-F238E27FC236}">
                <a16:creationId xmlns:a16="http://schemas.microsoft.com/office/drawing/2014/main" id="{D765F73C-BC9D-F345-A5D1-7A83B799A834}"/>
              </a:ext>
            </a:extLst>
          </p:cNvPr>
          <p:cNvSpPr/>
          <p:nvPr/>
        </p:nvSpPr>
        <p:spPr bwMode="auto">
          <a:xfrm>
            <a:off x="5366100" y="13193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4" name="Rectangle 3">
            <a:extLst>
              <a:ext uri="{FF2B5EF4-FFF2-40B4-BE49-F238E27FC236}">
                <a16:creationId xmlns:a16="http://schemas.microsoft.com/office/drawing/2014/main" id="{EA7066D7-2982-2649-9074-27E0FBD1B483}"/>
              </a:ext>
            </a:extLst>
          </p:cNvPr>
          <p:cNvSpPr/>
          <p:nvPr/>
        </p:nvSpPr>
        <p:spPr>
          <a:xfrm>
            <a:off x="6108700" y="1485900"/>
            <a:ext cx="7683500" cy="4893647"/>
          </a:xfrm>
          <a:prstGeom prst="rect">
            <a:avLst/>
          </a:prstGeom>
        </p:spPr>
        <p:txBody>
          <a:bodyPr wrap="square">
            <a:spAutoFit/>
          </a:bodyPr>
          <a:lstStyle/>
          <a:p>
            <a:pPr fontAlgn="base"/>
            <a:r>
              <a:rPr lang="en-CA" sz="2400" b="1" dirty="0">
                <a:solidFill>
                  <a:schemeClr val="bg1"/>
                </a:solidFill>
                <a:latin typeface="Garamond" panose="02020404030301010803" pitchFamily="18" charset="0"/>
              </a:rPr>
              <a:t>The law reflects these ethical principles:</a:t>
            </a:r>
          </a:p>
          <a:p>
            <a:pPr fontAlgn="base"/>
            <a:r>
              <a:rPr lang="en-CA" sz="2400" b="1" dirty="0">
                <a:solidFill>
                  <a:schemeClr val="bg1"/>
                </a:solidFill>
                <a:latin typeface="Garamond" panose="02020404030301010803" pitchFamily="18" charset="0"/>
              </a:rPr>
              <a:t> </a:t>
            </a:r>
          </a:p>
          <a:p>
            <a:pPr fontAlgn="base"/>
            <a:r>
              <a:rPr lang="en-CA" sz="2400" b="1" dirty="0">
                <a:solidFill>
                  <a:schemeClr val="bg1"/>
                </a:solidFill>
                <a:latin typeface="Garamond" panose="02020404030301010803" pitchFamily="18" charset="0"/>
              </a:rPr>
              <a:t>1.) Autonomy:</a:t>
            </a:r>
            <a:endParaRPr lang="en-CA" sz="2400" dirty="0">
              <a:solidFill>
                <a:schemeClr val="bg1"/>
              </a:solidFill>
              <a:latin typeface="Garamond" panose="02020404030301010803" pitchFamily="18" charset="0"/>
            </a:endParaRPr>
          </a:p>
          <a:p>
            <a:pPr lvl="1" fontAlgn="base">
              <a:buFont typeface="Arial" panose="020B0604020202020204" pitchFamily="34" charset="0"/>
              <a:buChar char="•"/>
            </a:pPr>
            <a:r>
              <a:rPr lang="en-CA" sz="2400" dirty="0">
                <a:solidFill>
                  <a:schemeClr val="bg1"/>
                </a:solidFill>
                <a:latin typeface="Garamond" panose="02020404030301010803" pitchFamily="18" charset="0"/>
              </a:rPr>
              <a:t> Consent</a:t>
            </a:r>
          </a:p>
          <a:p>
            <a:pPr lvl="1" fontAlgn="base">
              <a:buFont typeface="Arial" panose="020B0604020202020204" pitchFamily="34" charset="0"/>
              <a:buChar char="•"/>
            </a:pPr>
            <a:r>
              <a:rPr lang="en-CA" sz="2400" dirty="0">
                <a:solidFill>
                  <a:schemeClr val="bg1"/>
                </a:solidFill>
                <a:latin typeface="Garamond" panose="02020404030301010803" pitchFamily="18" charset="0"/>
              </a:rPr>
              <a:t> Confidentiality/Privacy</a:t>
            </a:r>
          </a:p>
          <a:p>
            <a:pPr lvl="1" fontAlgn="base">
              <a:buFont typeface="Arial" panose="020B0604020202020204" pitchFamily="34" charset="0"/>
              <a:buChar char="•"/>
            </a:pPr>
            <a:r>
              <a:rPr lang="en-CA" sz="2400" dirty="0">
                <a:solidFill>
                  <a:schemeClr val="bg1"/>
                </a:solidFill>
                <a:latin typeface="Garamond" panose="02020404030301010803" pitchFamily="18" charset="0"/>
              </a:rPr>
              <a:t> Access to Records</a:t>
            </a:r>
          </a:p>
          <a:p>
            <a:pPr fontAlgn="base"/>
            <a:r>
              <a:rPr lang="en-CA" sz="2400" b="1" dirty="0">
                <a:solidFill>
                  <a:schemeClr val="bg1"/>
                </a:solidFill>
                <a:latin typeface="Garamond" panose="02020404030301010803" pitchFamily="18" charset="0"/>
              </a:rPr>
              <a:t>2.)Beneficence:</a:t>
            </a:r>
            <a:endParaRPr lang="en-CA" sz="2400" dirty="0">
              <a:solidFill>
                <a:schemeClr val="bg1"/>
              </a:solidFill>
              <a:latin typeface="Garamond" panose="02020404030301010803" pitchFamily="18" charset="0"/>
            </a:endParaRPr>
          </a:p>
          <a:p>
            <a:pPr lvl="1" fontAlgn="base">
              <a:buFont typeface="Arial" panose="020B0604020202020204" pitchFamily="34" charset="0"/>
              <a:buChar char="•"/>
            </a:pPr>
            <a:r>
              <a:rPr lang="en-CA" sz="2400" dirty="0">
                <a:solidFill>
                  <a:schemeClr val="bg1"/>
                </a:solidFill>
                <a:latin typeface="Garamond" panose="02020404030301010803" pitchFamily="18" charset="0"/>
              </a:rPr>
              <a:t> Negligence Law</a:t>
            </a:r>
          </a:p>
          <a:p>
            <a:pPr fontAlgn="base"/>
            <a:r>
              <a:rPr lang="en-CA" sz="2400" b="1" dirty="0">
                <a:solidFill>
                  <a:schemeClr val="bg1"/>
                </a:solidFill>
                <a:latin typeface="Garamond" panose="02020404030301010803" pitchFamily="18" charset="0"/>
              </a:rPr>
              <a:t>3.) Non-Maleficence</a:t>
            </a:r>
            <a:endParaRPr lang="en-CA" sz="2400" dirty="0">
              <a:solidFill>
                <a:schemeClr val="bg1"/>
              </a:solidFill>
              <a:latin typeface="Garamond" panose="02020404030301010803" pitchFamily="18" charset="0"/>
            </a:endParaRPr>
          </a:p>
          <a:p>
            <a:pPr lvl="1" fontAlgn="base">
              <a:buFont typeface="Arial" panose="020B0604020202020204" pitchFamily="34" charset="0"/>
              <a:buChar char="•"/>
            </a:pPr>
            <a:r>
              <a:rPr lang="en-CA" sz="2400" dirty="0">
                <a:solidFill>
                  <a:schemeClr val="bg1"/>
                </a:solidFill>
                <a:latin typeface="Garamond" panose="02020404030301010803" pitchFamily="18" charset="0"/>
              </a:rPr>
              <a:t> Criminal Law</a:t>
            </a:r>
          </a:p>
          <a:p>
            <a:pPr lvl="1" fontAlgn="base">
              <a:buFont typeface="Arial" panose="020B0604020202020204" pitchFamily="34" charset="0"/>
              <a:buChar char="•"/>
            </a:pPr>
            <a:r>
              <a:rPr lang="en-CA" sz="2400" dirty="0">
                <a:solidFill>
                  <a:schemeClr val="bg1"/>
                </a:solidFill>
                <a:latin typeface="Garamond" panose="02020404030301010803" pitchFamily="18" charset="0"/>
              </a:rPr>
              <a:t> Negligence Law Regulation</a:t>
            </a:r>
          </a:p>
          <a:p>
            <a:pPr fontAlgn="base"/>
            <a:r>
              <a:rPr lang="en-CA" sz="2400" b="1" dirty="0">
                <a:solidFill>
                  <a:schemeClr val="bg1"/>
                </a:solidFill>
                <a:latin typeface="Garamond" panose="02020404030301010803" pitchFamily="18" charset="0"/>
              </a:rPr>
              <a:t>4.) Justice</a:t>
            </a:r>
            <a:endParaRPr lang="en-CA" sz="2400" dirty="0">
              <a:solidFill>
                <a:schemeClr val="bg1"/>
              </a:solidFill>
              <a:latin typeface="Garamond" panose="02020404030301010803" pitchFamily="18" charset="0"/>
            </a:endParaRPr>
          </a:p>
          <a:p>
            <a:pPr lvl="1" fontAlgn="base">
              <a:buFont typeface="Arial" panose="020B0604020202020204" pitchFamily="34" charset="0"/>
              <a:buChar char="•"/>
            </a:pPr>
            <a:r>
              <a:rPr lang="en-CA" sz="2400" dirty="0">
                <a:solidFill>
                  <a:schemeClr val="bg1"/>
                </a:solidFill>
                <a:latin typeface="Garamond" panose="02020404030301010803" pitchFamily="18" charset="0"/>
              </a:rPr>
              <a:t> Anti-Discrimination Law</a:t>
            </a:r>
            <a:endParaRPr lang="en-CA" sz="2400" b="0" i="0" dirty="0">
              <a:solidFill>
                <a:schemeClr val="bg1"/>
              </a:solidFill>
              <a:effectLst/>
              <a:latin typeface="Garamond" panose="02020404030301010803" pitchFamily="18" charset="0"/>
            </a:endParaRPr>
          </a:p>
        </p:txBody>
      </p:sp>
      <p:pic>
        <p:nvPicPr>
          <p:cNvPr id="6" name="Picture 5">
            <a:extLst>
              <a:ext uri="{FF2B5EF4-FFF2-40B4-BE49-F238E27FC236}">
                <a16:creationId xmlns:a16="http://schemas.microsoft.com/office/drawing/2014/main" id="{3546599E-6F95-604A-98ED-9F7E591DC0FB}"/>
              </a:ext>
            </a:extLst>
          </p:cNvPr>
          <p:cNvPicPr>
            <a:picLocks noChangeAspect="1"/>
          </p:cNvPicPr>
          <p:nvPr/>
        </p:nvPicPr>
        <p:blipFill>
          <a:blip r:embed="rId2"/>
          <a:stretch>
            <a:fillRect/>
          </a:stretch>
        </p:blipFill>
        <p:spPr>
          <a:xfrm>
            <a:off x="189623" y="1837999"/>
            <a:ext cx="5564446" cy="4189448"/>
          </a:xfrm>
          <a:prstGeom prst="rect">
            <a:avLst/>
          </a:prstGeom>
        </p:spPr>
      </p:pic>
      <p:sp>
        <p:nvSpPr>
          <p:cNvPr id="7" name="Slide Number Placeholder 4">
            <a:extLst>
              <a:ext uri="{FF2B5EF4-FFF2-40B4-BE49-F238E27FC236}">
                <a16:creationId xmlns:a16="http://schemas.microsoft.com/office/drawing/2014/main" id="{68903B8E-E2AE-8843-ABF7-E7D23C7ABA3E}"/>
              </a:ext>
            </a:extLst>
          </p:cNvPr>
          <p:cNvSpPr txBox="1">
            <a:spLocks/>
          </p:cNvSpPr>
          <p:nvPr/>
        </p:nvSpPr>
        <p:spPr>
          <a:xfrm>
            <a:off x="11715750" y="6492875"/>
            <a:ext cx="44554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65</a:t>
            </a:fld>
            <a:endParaRPr lang="en-US" sz="1400" dirty="0">
              <a:solidFill>
                <a:schemeClr val="bg1"/>
              </a:solidFill>
            </a:endParaRPr>
          </a:p>
        </p:txBody>
      </p:sp>
    </p:spTree>
    <p:extLst>
      <p:ext uri="{BB962C8B-B14F-4D97-AF65-F5344CB8AC3E}">
        <p14:creationId xmlns:p14="http://schemas.microsoft.com/office/powerpoint/2010/main" val="18416255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8667A2-E6A2-A647-9330-588496865266}"/>
              </a:ext>
            </a:extLst>
          </p:cNvPr>
          <p:cNvSpPr txBox="1"/>
          <p:nvPr/>
        </p:nvSpPr>
        <p:spPr>
          <a:xfrm>
            <a:off x="583176" y="39379"/>
            <a:ext cx="11304023" cy="738664"/>
          </a:xfrm>
          <a:prstGeom prst="rect">
            <a:avLst/>
          </a:prstGeom>
          <a:noFill/>
        </p:spPr>
        <p:txBody>
          <a:bodyPr wrap="square" rtlCol="0">
            <a:spAutoFit/>
          </a:bodyPr>
          <a:lstStyle/>
          <a:p>
            <a:pPr algn="ctr"/>
            <a:r>
              <a:rPr lang="en-US" sz="4200" dirty="0">
                <a:solidFill>
                  <a:prstClr val="white"/>
                </a:solidFill>
                <a:latin typeface="Perpetua Titling MT Light" charset="0"/>
              </a:rPr>
              <a:t>WEEK ONE – WHAT YOU HAVE LEARNED</a:t>
            </a:r>
          </a:p>
        </p:txBody>
      </p:sp>
      <p:sp>
        <p:nvSpPr>
          <p:cNvPr id="3" name="TextBox 2">
            <a:extLst>
              <a:ext uri="{FF2B5EF4-FFF2-40B4-BE49-F238E27FC236}">
                <a16:creationId xmlns:a16="http://schemas.microsoft.com/office/drawing/2014/main" id="{93B68377-9ADD-1249-A7F7-0B2FB85E2E6B}"/>
              </a:ext>
            </a:extLst>
          </p:cNvPr>
          <p:cNvSpPr txBox="1"/>
          <p:nvPr/>
        </p:nvSpPr>
        <p:spPr>
          <a:xfrm>
            <a:off x="842210" y="1653006"/>
            <a:ext cx="11044989" cy="2400657"/>
          </a:xfrm>
          <a:prstGeom prst="rect">
            <a:avLst/>
          </a:prstGeom>
          <a:noFill/>
        </p:spPr>
        <p:txBody>
          <a:bodyPr wrap="square" rtlCol="0">
            <a:spAutoFit/>
          </a:bodyPr>
          <a:lstStyle/>
          <a:p>
            <a:pPr marL="457200" lvl="0" indent="-457200">
              <a:buFont typeface="Arial" panose="020B0604020202020204" pitchFamily="34" charset="0"/>
              <a:buChar char="•"/>
            </a:pPr>
            <a:r>
              <a:rPr lang="en-US" sz="3000" b="1" dirty="0">
                <a:solidFill>
                  <a:schemeClr val="bg1"/>
                </a:solidFill>
              </a:rPr>
              <a:t>Section 1.0 </a:t>
            </a:r>
            <a:r>
              <a:rPr lang="en-US" sz="3000" dirty="0">
                <a:solidFill>
                  <a:schemeClr val="bg1"/>
                </a:solidFill>
              </a:rPr>
              <a:t>- What is AI? </a:t>
            </a:r>
          </a:p>
          <a:p>
            <a:pPr marL="457200" lvl="0" indent="-457200">
              <a:buFont typeface="Arial" panose="020B0604020202020204" pitchFamily="34" charset="0"/>
              <a:buChar char="•"/>
            </a:pPr>
            <a:r>
              <a:rPr lang="en-US" sz="3000" b="1" dirty="0">
                <a:solidFill>
                  <a:schemeClr val="bg1"/>
                </a:solidFill>
              </a:rPr>
              <a:t>Section 2.0 </a:t>
            </a:r>
            <a:r>
              <a:rPr lang="en-US" sz="3000" dirty="0">
                <a:solidFill>
                  <a:schemeClr val="bg1"/>
                </a:solidFill>
              </a:rPr>
              <a:t>- Introduction to AI Ethics, Data Privacy and Key Issues</a:t>
            </a:r>
            <a:endParaRPr lang="en-CA" sz="3000" dirty="0">
              <a:solidFill>
                <a:schemeClr val="bg1"/>
              </a:solidFill>
            </a:endParaRPr>
          </a:p>
          <a:p>
            <a:pPr marL="457200" indent="-457200">
              <a:buFont typeface="Arial" panose="020B0604020202020204" pitchFamily="34" charset="0"/>
              <a:buChar char="•"/>
            </a:pPr>
            <a:r>
              <a:rPr lang="en-US" sz="3000" b="1" dirty="0">
                <a:solidFill>
                  <a:schemeClr val="bg1"/>
                </a:solidFill>
              </a:rPr>
              <a:t>Section 3.0 </a:t>
            </a:r>
            <a:r>
              <a:rPr lang="en-US" sz="3000" dirty="0">
                <a:solidFill>
                  <a:schemeClr val="bg1"/>
                </a:solidFill>
              </a:rPr>
              <a:t>- Introduction to the Structure of Legal and Policy 			       Frameworks</a:t>
            </a:r>
          </a:p>
          <a:p>
            <a:endParaRPr lang="en-US" sz="3000" dirty="0">
              <a:solidFill>
                <a:schemeClr val="bg1"/>
              </a:solidFill>
            </a:endParaRPr>
          </a:p>
        </p:txBody>
      </p:sp>
      <p:sp>
        <p:nvSpPr>
          <p:cNvPr id="4" name="Rectangle 3">
            <a:extLst>
              <a:ext uri="{FF2B5EF4-FFF2-40B4-BE49-F238E27FC236}">
                <a16:creationId xmlns:a16="http://schemas.microsoft.com/office/drawing/2014/main" id="{06AF6494-92BD-C246-961F-EF2A43049FF6}"/>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pic>
        <p:nvPicPr>
          <p:cNvPr id="5" name="Picture 4">
            <a:extLst>
              <a:ext uri="{FF2B5EF4-FFF2-40B4-BE49-F238E27FC236}">
                <a16:creationId xmlns:a16="http://schemas.microsoft.com/office/drawing/2014/main" id="{3E75F57A-9238-774D-A5D8-32FF9532B29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88594" y="4661485"/>
            <a:ext cx="1284705" cy="1284705"/>
          </a:xfrm>
          <a:prstGeom prst="rect">
            <a:avLst/>
          </a:prstGeom>
        </p:spPr>
      </p:pic>
      <p:sp>
        <p:nvSpPr>
          <p:cNvPr id="6" name="TextBox 5">
            <a:extLst>
              <a:ext uri="{FF2B5EF4-FFF2-40B4-BE49-F238E27FC236}">
                <a16:creationId xmlns:a16="http://schemas.microsoft.com/office/drawing/2014/main" id="{CB5CB417-2CD7-B145-8B31-710A8E0E5FF0}"/>
              </a:ext>
            </a:extLst>
          </p:cNvPr>
          <p:cNvSpPr txBox="1"/>
          <p:nvPr/>
        </p:nvSpPr>
        <p:spPr>
          <a:xfrm>
            <a:off x="2461795" y="5022860"/>
            <a:ext cx="9321800" cy="923330"/>
          </a:xfrm>
          <a:prstGeom prst="rect">
            <a:avLst/>
          </a:prstGeom>
          <a:noFill/>
        </p:spPr>
        <p:txBody>
          <a:bodyPr wrap="square" rtlCol="0">
            <a:spAutoFit/>
          </a:bodyPr>
          <a:lstStyle/>
          <a:p>
            <a:r>
              <a:rPr lang="en-US" dirty="0">
                <a:solidFill>
                  <a:schemeClr val="bg1"/>
                </a:solidFill>
              </a:rPr>
              <a:t>= NOTE: Every time you see this learning image, there is an exercise, either in a group or self – learning mode. Some of these may be  optional , while others are recommended, or mandatory. Read closely the instructions, and we recommend you complete all the learning sources provided.</a:t>
            </a:r>
          </a:p>
        </p:txBody>
      </p:sp>
      <p:sp>
        <p:nvSpPr>
          <p:cNvPr id="7" name="Slide Number Placeholder 4">
            <a:extLst>
              <a:ext uri="{FF2B5EF4-FFF2-40B4-BE49-F238E27FC236}">
                <a16:creationId xmlns:a16="http://schemas.microsoft.com/office/drawing/2014/main" id="{E3BC915A-19D2-E64C-A1D9-CDAE86F61B3E}"/>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66</a:t>
            </a:fld>
            <a:endParaRPr lang="en-US" sz="1400" dirty="0">
              <a:solidFill>
                <a:schemeClr val="bg1"/>
              </a:solidFill>
            </a:endParaRPr>
          </a:p>
        </p:txBody>
      </p:sp>
    </p:spTree>
    <p:extLst>
      <p:ext uri="{BB962C8B-B14F-4D97-AF65-F5344CB8AC3E}">
        <p14:creationId xmlns:p14="http://schemas.microsoft.com/office/powerpoint/2010/main" val="13135599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8667A2-E6A2-A647-9330-588496865266}"/>
              </a:ext>
            </a:extLst>
          </p:cNvPr>
          <p:cNvSpPr txBox="1"/>
          <p:nvPr/>
        </p:nvSpPr>
        <p:spPr>
          <a:xfrm>
            <a:off x="1125307" y="104800"/>
            <a:ext cx="10178716" cy="738664"/>
          </a:xfrm>
          <a:prstGeom prst="rect">
            <a:avLst/>
          </a:prstGeom>
          <a:noFill/>
        </p:spPr>
        <p:txBody>
          <a:bodyPr wrap="square" rtlCol="0">
            <a:spAutoFit/>
          </a:bodyPr>
          <a:lstStyle/>
          <a:p>
            <a:pPr algn="ctr"/>
            <a:r>
              <a:rPr lang="en-US" sz="4200" dirty="0">
                <a:solidFill>
                  <a:prstClr val="white"/>
                </a:solidFill>
                <a:latin typeface="Perpetua Titling MT Light" charset="0"/>
              </a:rPr>
              <a:t>WEEK TWO– OUTLINE OVERVIEW</a:t>
            </a:r>
          </a:p>
        </p:txBody>
      </p:sp>
      <p:sp>
        <p:nvSpPr>
          <p:cNvPr id="3" name="TextBox 2">
            <a:extLst>
              <a:ext uri="{FF2B5EF4-FFF2-40B4-BE49-F238E27FC236}">
                <a16:creationId xmlns:a16="http://schemas.microsoft.com/office/drawing/2014/main" id="{93B68377-9ADD-1249-A7F7-0B2FB85E2E6B}"/>
              </a:ext>
            </a:extLst>
          </p:cNvPr>
          <p:cNvSpPr txBox="1"/>
          <p:nvPr/>
        </p:nvSpPr>
        <p:spPr>
          <a:xfrm>
            <a:off x="842210" y="1653006"/>
            <a:ext cx="11044989" cy="1477328"/>
          </a:xfrm>
          <a:prstGeom prst="rect">
            <a:avLst/>
          </a:prstGeom>
          <a:noFill/>
        </p:spPr>
        <p:txBody>
          <a:bodyPr wrap="square" rtlCol="0">
            <a:spAutoFit/>
          </a:bodyPr>
          <a:lstStyle/>
          <a:p>
            <a:pPr marL="457200" lvl="0" indent="-457200">
              <a:buFont typeface="Arial" panose="020B0604020202020204" pitchFamily="34" charset="0"/>
              <a:buChar char="•"/>
            </a:pPr>
            <a:r>
              <a:rPr lang="en-US" sz="3000" b="1" dirty="0">
                <a:solidFill>
                  <a:schemeClr val="bg1"/>
                </a:solidFill>
              </a:rPr>
              <a:t>Section 1.0 </a:t>
            </a:r>
            <a:r>
              <a:rPr lang="en-US" sz="3000" dirty="0">
                <a:solidFill>
                  <a:schemeClr val="bg1"/>
                </a:solidFill>
              </a:rPr>
              <a:t>– AI in the Judicial Systems and Access to Justice</a:t>
            </a:r>
          </a:p>
          <a:p>
            <a:pPr marL="457200" lvl="0" indent="-457200">
              <a:buFont typeface="Arial" panose="020B0604020202020204" pitchFamily="34" charset="0"/>
              <a:buChar char="•"/>
            </a:pPr>
            <a:r>
              <a:rPr lang="en-US" sz="3000" b="1" dirty="0">
                <a:solidFill>
                  <a:schemeClr val="bg1"/>
                </a:solidFill>
              </a:rPr>
              <a:t>Section 2.0 </a:t>
            </a:r>
            <a:r>
              <a:rPr lang="en-US" sz="3000" dirty="0">
                <a:solidFill>
                  <a:schemeClr val="bg1"/>
                </a:solidFill>
              </a:rPr>
              <a:t>– Case Study Discussion</a:t>
            </a:r>
            <a:endParaRPr lang="en-CA" sz="3000" dirty="0">
              <a:solidFill>
                <a:schemeClr val="bg1"/>
              </a:solidFill>
            </a:endParaRPr>
          </a:p>
          <a:p>
            <a:pPr marL="457200" indent="-457200">
              <a:buFont typeface="Arial" panose="020B0604020202020204" pitchFamily="34" charset="0"/>
              <a:buChar char="•"/>
            </a:pPr>
            <a:r>
              <a:rPr lang="en-US" sz="3000" b="1" dirty="0">
                <a:solidFill>
                  <a:schemeClr val="bg1"/>
                </a:solidFill>
              </a:rPr>
              <a:t>Section 3.0 </a:t>
            </a:r>
            <a:r>
              <a:rPr lang="en-US" sz="3000" dirty="0">
                <a:solidFill>
                  <a:schemeClr val="bg1"/>
                </a:solidFill>
              </a:rPr>
              <a:t>– Individual Assignments Review /Requirements</a:t>
            </a:r>
          </a:p>
        </p:txBody>
      </p:sp>
      <p:sp>
        <p:nvSpPr>
          <p:cNvPr id="4" name="Rectangle 3">
            <a:extLst>
              <a:ext uri="{FF2B5EF4-FFF2-40B4-BE49-F238E27FC236}">
                <a16:creationId xmlns:a16="http://schemas.microsoft.com/office/drawing/2014/main" id="{06AF6494-92BD-C246-961F-EF2A43049FF6}"/>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pic>
        <p:nvPicPr>
          <p:cNvPr id="5" name="Picture 4">
            <a:extLst>
              <a:ext uri="{FF2B5EF4-FFF2-40B4-BE49-F238E27FC236}">
                <a16:creationId xmlns:a16="http://schemas.microsoft.com/office/drawing/2014/main" id="{3E75F57A-9238-774D-A5D8-32FF9532B29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88594" y="4661485"/>
            <a:ext cx="1284705" cy="1284705"/>
          </a:xfrm>
          <a:prstGeom prst="rect">
            <a:avLst/>
          </a:prstGeom>
        </p:spPr>
      </p:pic>
      <p:sp>
        <p:nvSpPr>
          <p:cNvPr id="6" name="TextBox 5">
            <a:extLst>
              <a:ext uri="{FF2B5EF4-FFF2-40B4-BE49-F238E27FC236}">
                <a16:creationId xmlns:a16="http://schemas.microsoft.com/office/drawing/2014/main" id="{CB5CB417-2CD7-B145-8B31-710A8E0E5FF0}"/>
              </a:ext>
            </a:extLst>
          </p:cNvPr>
          <p:cNvSpPr txBox="1"/>
          <p:nvPr/>
        </p:nvSpPr>
        <p:spPr>
          <a:xfrm>
            <a:off x="2461795" y="5022860"/>
            <a:ext cx="9321800" cy="923330"/>
          </a:xfrm>
          <a:prstGeom prst="rect">
            <a:avLst/>
          </a:prstGeom>
          <a:noFill/>
        </p:spPr>
        <p:txBody>
          <a:bodyPr wrap="square" rtlCol="0">
            <a:spAutoFit/>
          </a:bodyPr>
          <a:lstStyle/>
          <a:p>
            <a:r>
              <a:rPr lang="en-US" dirty="0">
                <a:solidFill>
                  <a:schemeClr val="bg1"/>
                </a:solidFill>
              </a:rPr>
              <a:t>= NOTE: Every time you see this learning image, there is an exercise, either in a group or self – learning mode. Some of these may be  optional , while others are recommended, or mandatory. Read closely the instructions, and we recommend you complete all the learning sources provided.</a:t>
            </a:r>
          </a:p>
        </p:txBody>
      </p:sp>
      <p:sp>
        <p:nvSpPr>
          <p:cNvPr id="7" name="Slide Number Placeholder 4">
            <a:extLst>
              <a:ext uri="{FF2B5EF4-FFF2-40B4-BE49-F238E27FC236}">
                <a16:creationId xmlns:a16="http://schemas.microsoft.com/office/drawing/2014/main" id="{E3BC915A-19D2-E64C-A1D9-CDAE86F61B3E}"/>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67</a:t>
            </a:fld>
            <a:endParaRPr lang="en-US" sz="1400" dirty="0">
              <a:solidFill>
                <a:schemeClr val="bg1"/>
              </a:solidFill>
            </a:endParaRPr>
          </a:p>
        </p:txBody>
      </p:sp>
    </p:spTree>
    <p:extLst>
      <p:ext uri="{BB962C8B-B14F-4D97-AF65-F5344CB8AC3E}">
        <p14:creationId xmlns:p14="http://schemas.microsoft.com/office/powerpoint/2010/main" val="39168743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8E055-A182-674C-BF44-43A3448B1A6A}"/>
              </a:ext>
            </a:extLst>
          </p:cNvPr>
          <p:cNvSpPr txBox="1">
            <a:spLocks/>
          </p:cNvSpPr>
          <p:nvPr/>
        </p:nvSpPr>
        <p:spPr>
          <a:xfrm>
            <a:off x="0" y="176430"/>
            <a:ext cx="12192000" cy="768957"/>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0" dirty="0">
                <a:solidFill>
                  <a:prstClr val="white"/>
                </a:solidFill>
                <a:latin typeface="Perpetua Titling MT Light" charset="0"/>
                <a:ea typeface="Perpetua Titling MT Light" charset="0"/>
                <a:cs typeface="Perpetua Titling MT Light" charset="0"/>
              </a:rPr>
              <a:t>Dr. Cindy Gordon</a:t>
            </a:r>
          </a:p>
        </p:txBody>
      </p:sp>
      <p:sp>
        <p:nvSpPr>
          <p:cNvPr id="3" name="Rectangle 2">
            <a:extLst>
              <a:ext uri="{FF2B5EF4-FFF2-40B4-BE49-F238E27FC236}">
                <a16:creationId xmlns:a16="http://schemas.microsoft.com/office/drawing/2014/main" id="{6EA27D24-5783-0146-BFFB-0585B901DD3A}"/>
              </a:ext>
            </a:extLst>
          </p:cNvPr>
          <p:cNvSpPr/>
          <p:nvPr/>
        </p:nvSpPr>
        <p:spPr>
          <a:xfrm>
            <a:off x="3649016" y="1346461"/>
            <a:ext cx="8140701" cy="5078313"/>
          </a:xfrm>
          <a:prstGeom prst="rect">
            <a:avLst/>
          </a:prstGeom>
        </p:spPr>
        <p:txBody>
          <a:bodyPr wrap="square">
            <a:spAutoFit/>
          </a:bodyPr>
          <a:lstStyle/>
          <a:p>
            <a:pPr>
              <a:spcAft>
                <a:spcPts val="0"/>
              </a:spcAft>
            </a:pPr>
            <a:r>
              <a:rPr lang="en-US" dirty="0">
                <a:solidFill>
                  <a:schemeClr val="bg1"/>
                </a:solidFill>
                <a:latin typeface="+mj-lt"/>
                <a:ea typeface="Calibri" panose="020F0502020204030204" pitchFamily="34" charset="0"/>
                <a:cs typeface="Times New Roman" panose="02020603050405020304" pitchFamily="18" charset="0"/>
              </a:rPr>
              <a:t>Dr. Cindy Gordon, CEO of SalesChoice Inc, (www.SalesChoice.com) an award-winning AI SaaS Company, specializing in using AI for financial performance improvements in revenue forecasting, mitigating risks in inflated forecasts, and improving resource utilization and cost efficiencies, using AI to bring CEO’s, CFO’s, CRO’s a greater peace of mind. SalesChoice offers a full solutioning and educational offer to help advance organization’s adoption of AI Solutions. Dr. Gordon is a Forbes Business School and Technology Strategy AI Advisor, a Forbes AI Thought Leader, and an AI Forum Board Advisor. She is well published author of over 14 books, and her 14th book: The AI Dilemma was released in 2022. She is also the Chair, and Co-Founder of the AI Directory Hub, an international Hub bringing business, and AI technology leaders together to advance their innovation needs. She is also a Board Advisor for CATA, Canada’s largest Technology Association, and a National Spokesperson for women in STEM. She also is passionate about Sustainability and the Environment, and is a former Board Director of RSI. Prior to Founding SalesChoice, Dr. Gordon was the Founder of Helix Commerce International Inc, an Innovation firm, a Venture Capitalist, a Partner with Accenture, a Senior Director and GM of Xerox and Vice President of Citicorp. She can be contacted at </a:t>
            </a:r>
            <a:r>
              <a:rPr lang="en-US" dirty="0">
                <a:solidFill>
                  <a:schemeClr val="bg1"/>
                </a:solidFill>
                <a:latin typeface="+mj-lt"/>
                <a:ea typeface="Calibri" panose="020F0502020204030204" pitchFamily="34" charset="0"/>
                <a:cs typeface="Times New Roman" panose="02020603050405020304" pitchFamily="18" charset="0"/>
                <a:hlinkClick r:id="rId2"/>
              </a:rPr>
              <a:t>cindy@saleschoice.com</a:t>
            </a:r>
            <a:r>
              <a:rPr lang="en-US" dirty="0">
                <a:solidFill>
                  <a:schemeClr val="bg1"/>
                </a:solidFill>
                <a:latin typeface="+mj-lt"/>
                <a:ea typeface="Calibri" panose="020F0502020204030204" pitchFamily="34" charset="0"/>
                <a:cs typeface="Times New Roman" panose="02020603050405020304" pitchFamily="18" charset="0"/>
              </a:rPr>
              <a:t>. She can also be reached on her cell at (416)230-6538)</a:t>
            </a:r>
            <a:endParaRPr lang="en-CA" dirty="0">
              <a:solidFill>
                <a:schemeClr val="bg1"/>
              </a:solidFill>
              <a:latin typeface="+mj-lt"/>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BEBF7F7-0E47-B74E-B96C-E53D2E2C4F93}"/>
              </a:ext>
            </a:extLst>
          </p:cNvPr>
          <p:cNvPicPr>
            <a:picLocks noChangeAspect="1"/>
          </p:cNvPicPr>
          <p:nvPr/>
        </p:nvPicPr>
        <p:blipFill>
          <a:blip r:embed="rId3"/>
          <a:stretch>
            <a:fillRect/>
          </a:stretch>
        </p:blipFill>
        <p:spPr>
          <a:xfrm>
            <a:off x="0" y="1571748"/>
            <a:ext cx="3649016" cy="1996952"/>
          </a:xfrm>
          <a:prstGeom prst="rect">
            <a:avLst/>
          </a:prstGeom>
        </p:spPr>
      </p:pic>
      <p:sp>
        <p:nvSpPr>
          <p:cNvPr id="5" name="Slide Number Placeholder 4">
            <a:extLst>
              <a:ext uri="{FF2B5EF4-FFF2-40B4-BE49-F238E27FC236}">
                <a16:creationId xmlns:a16="http://schemas.microsoft.com/office/drawing/2014/main" id="{4CD81B62-368D-444B-AA51-BBBA11D2A796}"/>
              </a:ext>
            </a:extLst>
          </p:cNvPr>
          <p:cNvSpPr txBox="1">
            <a:spLocks/>
          </p:cNvSpPr>
          <p:nvPr/>
        </p:nvSpPr>
        <p:spPr>
          <a:xfrm>
            <a:off x="11715750" y="65195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68</a:t>
            </a:fld>
            <a:endParaRPr lang="en-US" sz="1400" dirty="0">
              <a:solidFill>
                <a:schemeClr val="bg1"/>
              </a:solidFill>
            </a:endParaRPr>
          </a:p>
        </p:txBody>
      </p:sp>
    </p:spTree>
    <p:extLst>
      <p:ext uri="{BB962C8B-B14F-4D97-AF65-F5344CB8AC3E}">
        <p14:creationId xmlns:p14="http://schemas.microsoft.com/office/powerpoint/2010/main" val="32893184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
            <a:extLst>
              <a:ext uri="{FF2B5EF4-FFF2-40B4-BE49-F238E27FC236}">
                <a16:creationId xmlns:a16="http://schemas.microsoft.com/office/drawing/2014/main" id="{B3D9F9A8-38D8-42DD-A6CE-4014A59B3134}"/>
              </a:ext>
            </a:extLst>
          </p:cNvPr>
          <p:cNvSpPr>
            <a:spLocks noGrp="1"/>
          </p:cNvSpPr>
          <p:nvPr>
            <p:ph type="sldNum" sz="quarter" idx="12"/>
          </p:nvPr>
        </p:nvSpPr>
        <p:spPr>
          <a:xfrm>
            <a:off x="11594441" y="6434135"/>
            <a:ext cx="500921" cy="365125"/>
          </a:xfrm>
        </p:spPr>
        <p:txBody>
          <a:bodyPr/>
          <a:lstStyle/>
          <a:p>
            <a:fld id="{06EFA79E-D63B-49E3-825C-1CADDB72B0D1}" type="slidenum">
              <a:rPr lang="en-US" smtClean="0">
                <a:solidFill>
                  <a:prstClr val="black">
                    <a:tint val="75000"/>
                  </a:prstClr>
                </a:solidFill>
              </a:rPr>
              <a:pPr/>
              <a:t>69</a:t>
            </a:fld>
            <a:endParaRPr lang="en-US" dirty="0">
              <a:solidFill>
                <a:prstClr val="black">
                  <a:tint val="75000"/>
                </a:prstClr>
              </a:solidFill>
            </a:endParaRPr>
          </a:p>
        </p:txBody>
      </p:sp>
      <p:sp>
        <p:nvSpPr>
          <p:cNvPr id="28" name="Title 1"/>
          <p:cNvSpPr txBox="1">
            <a:spLocks/>
          </p:cNvSpPr>
          <p:nvPr/>
        </p:nvSpPr>
        <p:spPr>
          <a:xfrm>
            <a:off x="-96638" y="2773856"/>
            <a:ext cx="12192000" cy="768957"/>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0" dirty="0">
                <a:solidFill>
                  <a:prstClr val="white"/>
                </a:solidFill>
                <a:latin typeface="Perpetua Titling MT Light" charset="0"/>
                <a:ea typeface="Perpetua Titling MT Light" charset="0"/>
                <a:cs typeface="Perpetua Titling MT Light" charset="0"/>
              </a:rPr>
              <a:t>Thank You</a:t>
            </a:r>
          </a:p>
        </p:txBody>
      </p:sp>
      <p:sp>
        <p:nvSpPr>
          <p:cNvPr id="29" name="Rectangle 28"/>
          <p:cNvSpPr/>
          <p:nvPr/>
        </p:nvSpPr>
        <p:spPr bwMode="auto">
          <a:xfrm>
            <a:off x="5269462" y="3497094"/>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dirty="0">
              <a:solidFill>
                <a:srgbClr val="9BBB5C"/>
              </a:solidFill>
              <a:latin typeface="Open Sans Light"/>
            </a:endParaRPr>
          </a:p>
        </p:txBody>
      </p:sp>
      <p:sp>
        <p:nvSpPr>
          <p:cNvPr id="5" name="Slide Number Placeholder 4">
            <a:extLst>
              <a:ext uri="{FF2B5EF4-FFF2-40B4-BE49-F238E27FC236}">
                <a16:creationId xmlns:a16="http://schemas.microsoft.com/office/drawing/2014/main" id="{3D03645C-33BF-884D-80CF-61D1B426DBD3}"/>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69</a:t>
            </a:fld>
            <a:endParaRPr lang="en-US" sz="1400" dirty="0">
              <a:solidFill>
                <a:schemeClr val="bg1"/>
              </a:solidFill>
            </a:endParaRPr>
          </a:p>
        </p:txBody>
      </p:sp>
    </p:spTree>
    <p:extLst>
      <p:ext uri="{BB962C8B-B14F-4D97-AF65-F5344CB8AC3E}">
        <p14:creationId xmlns:p14="http://schemas.microsoft.com/office/powerpoint/2010/main" val="10065021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b5bj9jQfTFuedftp3KqUK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b5bj9jQfTFuedftp3KqUK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b5bj9jQfTFuedftp3KqUK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b5bj9jQfTFuedftp3KqUKw"/>
</p:tagLst>
</file>

<file path=ppt/tags/tag10.xml><?xml version="1.0" encoding="utf-8"?>
<p:tagLst xmlns:a="http://schemas.openxmlformats.org/drawingml/2006/main" xmlns:r="http://schemas.openxmlformats.org/officeDocument/2006/relationships" xmlns:p="http://schemas.openxmlformats.org/presentationml/2006/main">
  <p:tag name="NUM" val="5"/>
</p:tagLst>
</file>

<file path=ppt/tags/tag11.xml><?xml version="1.0" encoding="utf-8"?>
<p:tagLst xmlns:a="http://schemas.openxmlformats.org/drawingml/2006/main" xmlns:r="http://schemas.openxmlformats.org/officeDocument/2006/relationships" xmlns:p="http://schemas.openxmlformats.org/presentationml/2006/main">
  <p:tag name="NUM" val="5"/>
</p:tagLst>
</file>

<file path=ppt/tags/tag12.xml><?xml version="1.0" encoding="utf-8"?>
<p:tagLst xmlns:a="http://schemas.openxmlformats.org/drawingml/2006/main" xmlns:r="http://schemas.openxmlformats.org/officeDocument/2006/relationships" xmlns:p="http://schemas.openxmlformats.org/presentationml/2006/main">
  <p:tag name="NUM" val="5"/>
</p:tagLst>
</file>

<file path=ppt/tags/tag13.xml><?xml version="1.0" encoding="utf-8"?>
<p:tagLst xmlns:a="http://schemas.openxmlformats.org/drawingml/2006/main" xmlns:r="http://schemas.openxmlformats.org/officeDocument/2006/relationships" xmlns:p="http://schemas.openxmlformats.org/presentationml/2006/main">
  <p:tag name="NUM" val="5"/>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b5bj9jQfTFuedftp3KqUKw"/>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93456</TotalTime>
  <Words>8460</Words>
  <Application>Microsoft Macintosh PowerPoint</Application>
  <PresentationFormat>Widescreen</PresentationFormat>
  <Paragraphs>663</Paragraphs>
  <Slides>69</Slides>
  <Notes>10</Notes>
  <HiddenSlides>0</HiddenSlides>
  <MMClips>0</MMClips>
  <ScaleCrop>false</ScaleCrop>
  <HeadingPairs>
    <vt:vector size="8" baseType="variant">
      <vt:variant>
        <vt:lpstr>Fonts Used</vt:lpstr>
      </vt:variant>
      <vt:variant>
        <vt:i4>17</vt:i4>
      </vt:variant>
      <vt:variant>
        <vt:lpstr>Theme</vt:lpstr>
      </vt:variant>
      <vt:variant>
        <vt:i4>2</vt:i4>
      </vt:variant>
      <vt:variant>
        <vt:lpstr>Embedded OLE Servers</vt:lpstr>
      </vt:variant>
      <vt:variant>
        <vt:i4>1</vt:i4>
      </vt:variant>
      <vt:variant>
        <vt:lpstr>Slide Titles</vt:lpstr>
      </vt:variant>
      <vt:variant>
        <vt:i4>69</vt:i4>
      </vt:variant>
    </vt:vector>
  </HeadingPairs>
  <TitlesOfParts>
    <vt:vector size="89" baseType="lpstr">
      <vt:lpstr>Arial</vt:lpstr>
      <vt:lpstr>Arial Black</vt:lpstr>
      <vt:lpstr>Calibri</vt:lpstr>
      <vt:lpstr>Calibri Light</vt:lpstr>
      <vt:lpstr>EYInterstate</vt:lpstr>
      <vt:lpstr>EYInterstate </vt:lpstr>
      <vt:lpstr>EYInterstate Light</vt:lpstr>
      <vt:lpstr>Garamond</vt:lpstr>
      <vt:lpstr>Gotham Medium</vt:lpstr>
      <vt:lpstr>Graphik</vt:lpstr>
      <vt:lpstr>ibm-plex-sans</vt:lpstr>
      <vt:lpstr>Open Sans Light</vt:lpstr>
      <vt:lpstr>Perpetua Titling MT Light</vt:lpstr>
      <vt:lpstr>Roboto</vt:lpstr>
      <vt:lpstr>Roboto Light</vt:lpstr>
      <vt:lpstr>Times New Roman</vt:lpstr>
      <vt:lpstr>Wingdings</vt:lpstr>
      <vt:lpstr>Custom Design</vt:lpstr>
      <vt:lpstr>1_Office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 ETHICS LEGAL Risk Zones</vt:lpstr>
      <vt:lpstr>DATA BIAS RISKS </vt:lpstr>
      <vt:lpstr>PowerPoint Presentation</vt:lpstr>
      <vt:lpstr>DATA BIAS IN ALGOS</vt:lpstr>
      <vt:lpstr>BIAS IN ONLINE RECRUITMENT TOOLS</vt:lpstr>
      <vt:lpstr>BIAS IN WORD ASSOCIATIONS</vt:lpstr>
      <vt:lpstr>PowerPoint Presentation</vt:lpstr>
      <vt:lpstr>BIAS IN FACIAL RECOGNITION TECHNOLOGY</vt:lpstr>
      <vt:lpstr>BIAS IN CRIMINAL JUSTICE ALGOS</vt:lpstr>
      <vt:lpstr>DATA BIAS RISKS </vt:lpstr>
      <vt:lpstr>AI BIAS WILL EXPLODE:  BUT ONLY THE UBIASED WILL SURVIVE</vt:lpstr>
      <vt:lpstr> DATA BIAS RISKS OF AI</vt:lpstr>
      <vt:lpstr>DATA BIAS RISKS OF AI</vt:lpstr>
      <vt:lpstr> DATA BIAS RISKS OF AI</vt:lpstr>
      <vt:lpstr>LAB EXERCISE 4:  Self-Paced Learning DATA BIAS RISKS OF AI</vt:lpstr>
      <vt:lpstr> Approaches to Data Bias</vt:lpstr>
      <vt:lpstr> QUESTIONS FOR BIAS DETECTION</vt:lpstr>
      <vt:lpstr> DESIGN QUESTIONS FOR BIAS DETECTION</vt:lpstr>
      <vt:lpstr> DESIGN QUESTIONS FOR BIAS DETECTION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Rohit Mathur</dc:creator>
  <cp:lastModifiedBy>SalesChoice Inc</cp:lastModifiedBy>
  <cp:revision>885</cp:revision>
  <cp:lastPrinted>2022-11-19T19:03:46Z</cp:lastPrinted>
  <dcterms:created xsi:type="dcterms:W3CDTF">2016-11-01T14:50:08Z</dcterms:created>
  <dcterms:modified xsi:type="dcterms:W3CDTF">2022-11-19T19:24:45Z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3833130</vt:lpwstr>
  </property>
  <property fmtid="{D5CDD505-2E9C-101B-9397-08002B2CF9AE}" pid="3" name="NXPowerLiteSettings">
    <vt:lpwstr>C7000400038000</vt:lpwstr>
  </property>
  <property fmtid="{D5CDD505-2E9C-101B-9397-08002B2CF9AE}" pid="4" name="NXPowerLiteVersion">
    <vt:lpwstr>S8.2.0</vt:lpwstr>
  </property>
</Properties>
</file>