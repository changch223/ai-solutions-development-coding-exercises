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Roboto Mon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0B0D8F7-58A0-43B5-81CB-B893925A9D1F}">
  <a:tblStyle styleId="{70B0D8F7-58A0-43B5-81CB-B893925A9D1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bold.fntdata"/><Relationship Id="rId25" Type="http://schemas.openxmlformats.org/officeDocument/2006/relationships/font" Target="fonts/RobotoMono-regular.fntdata"/><Relationship Id="rId28" Type="http://schemas.openxmlformats.org/officeDocument/2006/relationships/font" Target="fonts/RobotoMono-boldItalic.fntdata"/><Relationship Id="rId27"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f27574b4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f27574b4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6f27574b4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6f27574b4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6f4ed9fd6e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6f4ed9fd6e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f4ed9fd6e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6f4ed9fd6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6f4ed9fd6e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6f4ed9fd6e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f3a391d71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f3a391d71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f7187fa60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f7187fa60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6f27574b4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6f27574b4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6f27574b44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6f27574b44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f27574b4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f27574b4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f27574b4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6f27574b4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70eb2900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70eb2900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6f7187fa60_6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6f7187fa60_6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f3a391d7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f3a391d7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70cdd87f4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70cdd87f4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6f3a391d71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6f3a391d7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6f7187fa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6f7187fa6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olab.research.google.com/drive/1UMo1QUKTiT5yqJB2gF4fu2BJIa7xOeF-#scrollTo=ddMP3PE8AY9A"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colab.research.google.com/drive/1UbbgDLwIuQBcwxDTwJ0oRfb_qeGXujin?usp=sharing"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8.png"/><Relationship Id="rId9" Type="http://schemas.openxmlformats.org/officeDocument/2006/relationships/image" Target="../media/image18.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hyperlink" Target="https://malariacellimages-datasetgroup7-cks7nyflmyya48nzqzgoqb.streamlit.app/" TargetMode="External"/><Relationship Id="rId8" Type="http://schemas.openxmlformats.org/officeDocument/2006/relationships/hyperlink" Target="https://malaria-cell-images-dataset-group7.streamlit.ap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lnSpc>
                <a:spcPct val="200000"/>
              </a:lnSpc>
              <a:spcBef>
                <a:spcPts val="0"/>
              </a:spcBef>
              <a:spcAft>
                <a:spcPts val="0"/>
              </a:spcAft>
              <a:buClr>
                <a:schemeClr val="dk1"/>
              </a:buClr>
              <a:buSzPts val="1100"/>
              <a:buFont typeface="Arial"/>
              <a:buNone/>
            </a:pPr>
            <a:r>
              <a:rPr lang="ja" sz="2200"/>
              <a:t>Applied A.I. Solutions Development Program</a:t>
            </a:r>
            <a:endParaRPr sz="2200"/>
          </a:p>
          <a:p>
            <a:pPr indent="0" lvl="0" marL="0" rtl="0" algn="ctr">
              <a:lnSpc>
                <a:spcPct val="200000"/>
              </a:lnSpc>
              <a:spcBef>
                <a:spcPts val="300"/>
              </a:spcBef>
              <a:spcAft>
                <a:spcPts val="0"/>
              </a:spcAft>
              <a:buClr>
                <a:schemeClr val="dk1"/>
              </a:buClr>
              <a:buSzPts val="1100"/>
              <a:buFont typeface="Arial"/>
              <a:buNone/>
            </a:pPr>
            <a:r>
              <a:rPr lang="ja" sz="1500">
                <a:solidFill>
                  <a:srgbClr val="666666"/>
                </a:solidFill>
              </a:rPr>
              <a:t>ADVANCED APPLIED MATHEMATICAL CONCEPTS FOR DEEP LEARNING</a:t>
            </a:r>
            <a:endParaRPr sz="1500">
              <a:solidFill>
                <a:srgbClr val="666666"/>
              </a:solidFill>
            </a:endParaRPr>
          </a:p>
          <a:p>
            <a:pPr indent="0" lvl="0" marL="0" rtl="0" algn="ctr">
              <a:lnSpc>
                <a:spcPct val="200000"/>
              </a:lnSpc>
              <a:spcBef>
                <a:spcPts val="1600"/>
              </a:spcBef>
              <a:spcAft>
                <a:spcPts val="1200"/>
              </a:spcAft>
              <a:buNone/>
            </a:pPr>
            <a:r>
              <a:rPr b="1" lang="ja" sz="2300">
                <a:latin typeface="Times New Roman"/>
                <a:ea typeface="Times New Roman"/>
                <a:cs typeface="Times New Roman"/>
                <a:sym typeface="Times New Roman"/>
              </a:rPr>
              <a:t>Malaria Cell Images Dataset</a:t>
            </a:r>
            <a:endParaRPr/>
          </a:p>
        </p:txBody>
      </p:sp>
      <p:sp>
        <p:nvSpPr>
          <p:cNvPr id="55" name="Google Shape;55;p13"/>
          <p:cNvSpPr txBox="1"/>
          <p:nvPr>
            <p:ph idx="1" type="subTitle"/>
          </p:nvPr>
        </p:nvSpPr>
        <p:spPr>
          <a:xfrm>
            <a:off x="311700" y="2972275"/>
            <a:ext cx="8520600" cy="1583100"/>
          </a:xfrm>
          <a:prstGeom prst="rect">
            <a:avLst/>
          </a:prstGeom>
        </p:spPr>
        <p:txBody>
          <a:bodyPr anchorCtr="0" anchor="t" bIns="91425" lIns="91425" spcFirstLastPara="1" rIns="91425" wrap="square" tIns="91425">
            <a:normAutofit fontScale="40000" lnSpcReduction="10000"/>
          </a:bodyPr>
          <a:lstStyle/>
          <a:p>
            <a:pPr indent="0" lvl="0" marL="0" rtl="0" algn="ctr">
              <a:spcBef>
                <a:spcPts val="0"/>
              </a:spcBef>
              <a:spcAft>
                <a:spcPts val="0"/>
              </a:spcAft>
              <a:buNone/>
            </a:pPr>
            <a:r>
              <a:rPr lang="ja"/>
              <a:t>Group 7</a:t>
            </a:r>
            <a:endParaRPr/>
          </a:p>
          <a:p>
            <a:pPr indent="0" lvl="0" marL="0" rtl="0" algn="ctr">
              <a:spcBef>
                <a:spcPts val="0"/>
              </a:spcBef>
              <a:spcAft>
                <a:spcPts val="0"/>
              </a:spcAft>
              <a:buNone/>
            </a:pPr>
            <a:r>
              <a:rPr lang="ja"/>
              <a:t>Bikash Giri (101575097) </a:t>
            </a:r>
            <a:endParaRPr/>
          </a:p>
          <a:p>
            <a:pPr indent="0" lvl="0" marL="0" rtl="0" algn="ctr">
              <a:spcBef>
                <a:spcPts val="0"/>
              </a:spcBef>
              <a:spcAft>
                <a:spcPts val="0"/>
              </a:spcAft>
              <a:buNone/>
            </a:pPr>
            <a:r>
              <a:rPr lang="ja"/>
              <a:t>Chia-Wei Chang (101570243) </a:t>
            </a:r>
            <a:endParaRPr/>
          </a:p>
          <a:p>
            <a:pPr indent="0" lvl="0" marL="0" rtl="0" algn="ctr">
              <a:spcBef>
                <a:spcPts val="0"/>
              </a:spcBef>
              <a:spcAft>
                <a:spcPts val="0"/>
              </a:spcAft>
              <a:buNone/>
            </a:pPr>
            <a:r>
              <a:rPr lang="ja"/>
              <a:t>Diparshan Bhattarai (1014947379) </a:t>
            </a:r>
            <a:endParaRPr/>
          </a:p>
          <a:p>
            <a:pPr indent="0" lvl="0" marL="0" rtl="0" algn="ctr">
              <a:spcBef>
                <a:spcPts val="0"/>
              </a:spcBef>
              <a:spcAft>
                <a:spcPts val="0"/>
              </a:spcAft>
              <a:buNone/>
            </a:pPr>
            <a:r>
              <a:rPr lang="ja"/>
              <a:t>Gavriel Kirichenko (101119609) </a:t>
            </a:r>
            <a:endParaRPr/>
          </a:p>
          <a:p>
            <a:pPr indent="0" lvl="0" marL="0" rtl="0" algn="ctr">
              <a:spcBef>
                <a:spcPts val="0"/>
              </a:spcBef>
              <a:spcAft>
                <a:spcPts val="0"/>
              </a:spcAft>
              <a:buNone/>
            </a:pPr>
            <a:r>
              <a:rPr lang="ja"/>
              <a:t>Abdul-Rasaq Omisesan (101571156) </a:t>
            </a:r>
            <a:endParaRPr/>
          </a:p>
          <a:p>
            <a:pPr indent="0" lvl="0" marL="0" rtl="0" algn="ctr">
              <a:spcBef>
                <a:spcPts val="0"/>
              </a:spcBef>
              <a:spcAft>
                <a:spcPts val="0"/>
              </a:spcAft>
              <a:buNone/>
            </a:pPr>
            <a:r>
              <a:rPr lang="ja"/>
              <a:t>Callum Arul (101585383) </a:t>
            </a:r>
            <a:endParaRPr/>
          </a:p>
          <a:p>
            <a:pPr indent="0" lvl="0" marL="0" rtl="0" algn="ctr">
              <a:spcBef>
                <a:spcPts val="0"/>
              </a:spcBef>
              <a:spcAft>
                <a:spcPts val="0"/>
              </a:spcAft>
              <a:buNone/>
            </a:pPr>
            <a:r>
              <a:rPr lang="ja"/>
              <a:t>Friba Hussainyar (101591222) </a:t>
            </a:r>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Agenda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AutoNum type="arabicPeriod"/>
            </a:pPr>
            <a:r>
              <a:rPr lang="ja" sz="1900"/>
              <a:t>Dataset &amp; Business Problem (Bikash)</a:t>
            </a:r>
            <a:endParaRPr sz="1900"/>
          </a:p>
          <a:p>
            <a:pPr indent="-349250" lvl="0" marL="457200" rtl="0" algn="l">
              <a:spcBef>
                <a:spcPts val="0"/>
              </a:spcBef>
              <a:spcAft>
                <a:spcPts val="0"/>
              </a:spcAft>
              <a:buSzPts val="1900"/>
              <a:buAutoNum type="arabicPeriod"/>
            </a:pPr>
            <a:r>
              <a:rPr lang="ja" sz="1900"/>
              <a:t>Model Training &amp; Validation &amp; Evaluation</a:t>
            </a:r>
            <a:endParaRPr sz="1900"/>
          </a:p>
          <a:p>
            <a:pPr indent="-349250" lvl="1" marL="914400" rtl="0" algn="l">
              <a:spcBef>
                <a:spcPts val="0"/>
              </a:spcBef>
              <a:spcAft>
                <a:spcPts val="0"/>
              </a:spcAft>
              <a:buSzPts val="1900"/>
              <a:buAutoNum type="alphaLcPeriod"/>
            </a:pPr>
            <a:r>
              <a:rPr lang="ja" sz="1900"/>
              <a:t>CNN Model from Scratch (Gavriel)</a:t>
            </a:r>
            <a:endParaRPr sz="1900"/>
          </a:p>
          <a:p>
            <a:pPr indent="-349250" lvl="1" marL="914400" rtl="0" algn="l">
              <a:spcBef>
                <a:spcPts val="0"/>
              </a:spcBef>
              <a:spcAft>
                <a:spcPts val="0"/>
              </a:spcAft>
              <a:buSzPts val="1900"/>
              <a:buAutoNum type="alphaLcPeriod"/>
            </a:pPr>
            <a:r>
              <a:rPr lang="ja" sz="1900"/>
              <a:t>Vgg16 (Friba)</a:t>
            </a:r>
            <a:endParaRPr sz="1900"/>
          </a:p>
          <a:p>
            <a:pPr indent="-349250" lvl="1" marL="914400" rtl="0" algn="l">
              <a:spcBef>
                <a:spcPts val="0"/>
              </a:spcBef>
              <a:spcAft>
                <a:spcPts val="0"/>
              </a:spcAft>
              <a:buSzPts val="1900"/>
              <a:buAutoNum type="alphaLcPeriod"/>
            </a:pPr>
            <a:r>
              <a:rPr lang="ja" sz="1900"/>
              <a:t>VIT Model (Chia-wei) </a:t>
            </a:r>
            <a:endParaRPr sz="1900"/>
          </a:p>
          <a:p>
            <a:pPr indent="-349250" lvl="0" marL="457200" rtl="0" algn="l">
              <a:spcBef>
                <a:spcPts val="0"/>
              </a:spcBef>
              <a:spcAft>
                <a:spcPts val="0"/>
              </a:spcAft>
              <a:buSzPts val="1900"/>
              <a:buAutoNum type="arabicPeriod"/>
            </a:pPr>
            <a:r>
              <a:rPr lang="ja" sz="1900"/>
              <a:t>Comparison of All Three Models (Callum)</a:t>
            </a:r>
            <a:endParaRPr sz="1900"/>
          </a:p>
          <a:p>
            <a:pPr indent="-349250" lvl="0" marL="457200" rtl="0" algn="l">
              <a:spcBef>
                <a:spcPts val="0"/>
              </a:spcBef>
              <a:spcAft>
                <a:spcPts val="0"/>
              </a:spcAft>
              <a:buSzPts val="1900"/>
              <a:buAutoNum type="arabicPeriod"/>
            </a:pPr>
            <a:r>
              <a:rPr lang="ja" sz="1900"/>
              <a:t>Streamlit Demo (Abdul-rasaq)</a:t>
            </a:r>
            <a:endParaRPr sz="1900"/>
          </a:p>
          <a:p>
            <a:pPr indent="-349250" lvl="0" marL="457200" rtl="0" algn="l">
              <a:spcBef>
                <a:spcPts val="0"/>
              </a:spcBef>
              <a:spcAft>
                <a:spcPts val="0"/>
              </a:spcAft>
              <a:buSzPts val="1900"/>
              <a:buAutoNum type="arabicPeriod"/>
            </a:pPr>
            <a:r>
              <a:rPr lang="ja" sz="1900"/>
              <a:t>Conclusion</a:t>
            </a:r>
            <a:r>
              <a:rPr lang="ja" sz="1900"/>
              <a:t> with Future Work (Diparshan)</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Dataset Source and Insight</a:t>
            </a:r>
            <a:endParaRPr/>
          </a:p>
        </p:txBody>
      </p:sp>
      <p:sp>
        <p:nvSpPr>
          <p:cNvPr id="67" name="Google Shape;67;p15"/>
          <p:cNvSpPr txBox="1"/>
          <p:nvPr>
            <p:ph idx="1" type="body"/>
          </p:nvPr>
        </p:nvSpPr>
        <p:spPr>
          <a:xfrm>
            <a:off x="436200" y="1152475"/>
            <a:ext cx="3942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ja">
                <a:solidFill>
                  <a:schemeClr val="dk1"/>
                </a:solidFill>
              </a:rPr>
              <a:t>The project is based on the data set created by Kaggle called "Cell Images to Detect Malaria" that includes 27,558 labeled segmented cell images concerning the groups of parasitized cells (infected) and non- parasitized cells (healthy). </a:t>
            </a:r>
            <a:endParaRPr>
              <a:solidFill>
                <a:schemeClr val="dk1"/>
              </a:solidFill>
            </a:endParaRPr>
          </a:p>
          <a:p>
            <a:pPr indent="0" lvl="0" marL="0" rtl="0" algn="l">
              <a:spcBef>
                <a:spcPts val="1200"/>
              </a:spcBef>
              <a:spcAft>
                <a:spcPts val="0"/>
              </a:spcAft>
              <a:buClr>
                <a:schemeClr val="dk1"/>
              </a:buClr>
              <a:buSzPct val="61111"/>
              <a:buFont typeface="Arial"/>
              <a:buNone/>
            </a:pPr>
            <a:r>
              <a:rPr lang="ja">
                <a:solidFill>
                  <a:schemeClr val="dk1"/>
                </a:solidFill>
              </a:rPr>
              <a:t>The images of the RGB format, approximately 224x224 pixels. Which was reduced to 130x130 after preprocessing.</a:t>
            </a:r>
            <a:endParaRPr>
              <a:solidFill>
                <a:schemeClr val="dk1"/>
              </a:solidFill>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pic>
        <p:nvPicPr>
          <p:cNvPr id="68" name="Google Shape;68;p15"/>
          <p:cNvPicPr preferRelativeResize="0"/>
          <p:nvPr/>
        </p:nvPicPr>
        <p:blipFill>
          <a:blip r:embed="rId3">
            <a:alphaModFix/>
          </a:blip>
          <a:stretch>
            <a:fillRect/>
          </a:stretch>
        </p:blipFill>
        <p:spPr>
          <a:xfrm>
            <a:off x="4486550" y="580481"/>
            <a:ext cx="4200725" cy="3988393"/>
          </a:xfrm>
          <a:prstGeom prst="rect">
            <a:avLst/>
          </a:prstGeom>
          <a:noFill/>
          <a:ln>
            <a:noFill/>
          </a:ln>
        </p:spPr>
      </p:pic>
      <p:sp>
        <p:nvSpPr>
          <p:cNvPr id="69" name="Google Shape;69;p15"/>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a:t>
            </a:r>
            <a:endParaRPr sz="1100">
              <a:solidFill>
                <a:schemeClr val="dk2"/>
              </a:solidFill>
            </a:endParaRPr>
          </a:p>
        </p:txBody>
      </p:sp>
      <p:sp>
        <p:nvSpPr>
          <p:cNvPr id="70" name="Google Shape;70;p15"/>
          <p:cNvSpPr txBox="1"/>
          <p:nvPr>
            <p:ph idx="1" type="body"/>
          </p:nvPr>
        </p:nvSpPr>
        <p:spPr>
          <a:xfrm>
            <a:off x="263450" y="4371100"/>
            <a:ext cx="5775900" cy="472500"/>
          </a:xfrm>
          <a:prstGeom prst="rect">
            <a:avLst/>
          </a:prstGeom>
        </p:spPr>
        <p:txBody>
          <a:bodyPr anchorCtr="0" anchor="t" bIns="91425" lIns="91425" spcFirstLastPara="1" rIns="91425" wrap="square" tIns="91425">
            <a:normAutofit fontScale="70000"/>
          </a:bodyPr>
          <a:lstStyle/>
          <a:p>
            <a:pPr indent="0" lvl="0" marL="0" rtl="0" algn="ctr">
              <a:spcBef>
                <a:spcPts val="0"/>
              </a:spcBef>
              <a:spcAft>
                <a:spcPts val="1200"/>
              </a:spcAft>
              <a:buNone/>
            </a:pPr>
            <a:r>
              <a:rPr lang="ja">
                <a:solidFill>
                  <a:srgbClr val="FF9900"/>
                </a:solidFill>
              </a:rPr>
              <a:t>https://www.kaggle.com/datasets/iarunava/cell-images-for-detecting-malaria</a:t>
            </a:r>
            <a:endParaRPr>
              <a:solidFill>
                <a:srgbClr val="FF99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2803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Business Problem</a:t>
            </a:r>
            <a:endParaRPr/>
          </a:p>
        </p:txBody>
      </p:sp>
      <p:sp>
        <p:nvSpPr>
          <p:cNvPr id="76" name="Google Shape;76;p16"/>
          <p:cNvSpPr txBox="1"/>
          <p:nvPr>
            <p:ph idx="1" type="body"/>
          </p:nvPr>
        </p:nvSpPr>
        <p:spPr>
          <a:xfrm>
            <a:off x="311700" y="1131775"/>
            <a:ext cx="82677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a:solidFill>
                  <a:schemeClr val="dk1"/>
                </a:solidFill>
              </a:rPr>
              <a:t>Malaria is still a challenge faced by the global community, especially in sub </a:t>
            </a:r>
            <a:r>
              <a:rPr lang="ja">
                <a:solidFill>
                  <a:schemeClr val="dk1"/>
                </a:solidFill>
              </a:rPr>
              <a:t>Saharan</a:t>
            </a:r>
            <a:r>
              <a:rPr lang="ja">
                <a:solidFill>
                  <a:schemeClr val="dk1"/>
                </a:solidFill>
              </a:rPr>
              <a:t> Africa and South Asia. Malaria is an infection which timely identification is the key to treatment and  to avoid any complications or death. The manual diagnosis usually takes a long time and needs skilled human resources; it can be difficult and time consuming to conduct in resourced starved settings, particularly by using microscopy.</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77" name="Google Shape;77;p16"/>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2</a:t>
            </a:r>
            <a:endParaRPr sz="1100">
              <a:solidFill>
                <a:schemeClr val="dk2"/>
              </a:solidFill>
            </a:endParaRPr>
          </a:p>
        </p:txBody>
      </p:sp>
      <p:pic>
        <p:nvPicPr>
          <p:cNvPr id="78" name="Google Shape;78;p16"/>
          <p:cNvPicPr preferRelativeResize="0"/>
          <p:nvPr/>
        </p:nvPicPr>
        <p:blipFill>
          <a:blip r:embed="rId3">
            <a:alphaModFix/>
          </a:blip>
          <a:stretch>
            <a:fillRect/>
          </a:stretch>
        </p:blipFill>
        <p:spPr>
          <a:xfrm>
            <a:off x="2067200" y="2960925"/>
            <a:ext cx="4085526" cy="2073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3300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Problem Statement</a:t>
            </a:r>
            <a:endParaRPr/>
          </a:p>
        </p:txBody>
      </p:sp>
      <p:sp>
        <p:nvSpPr>
          <p:cNvPr id="84" name="Google Shape;84;p17"/>
          <p:cNvSpPr txBox="1"/>
          <p:nvPr>
            <p:ph idx="1" type="body"/>
          </p:nvPr>
        </p:nvSpPr>
        <p:spPr>
          <a:xfrm>
            <a:off x="311700" y="1131775"/>
            <a:ext cx="41178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b="1" lang="ja">
                <a:solidFill>
                  <a:schemeClr val="dk1"/>
                </a:solidFill>
              </a:rPr>
              <a:t>Is it possible to create an automated and Artificial Intelligence based image classification tool, to be able to determine malaria with cell images with high precision, increase the speed of diagnosis, and decrease the human factor?</a:t>
            </a:r>
            <a:endParaRPr b="1">
              <a:solidFill>
                <a:schemeClr val="dk1"/>
              </a:solidFill>
            </a:endParaRPr>
          </a:p>
          <a:p>
            <a:pPr indent="0" lvl="0" marL="0" rtl="0" algn="l">
              <a:spcBef>
                <a:spcPts val="1200"/>
              </a:spcBef>
              <a:spcAft>
                <a:spcPts val="0"/>
              </a:spcAft>
              <a:buClr>
                <a:schemeClr val="dk1"/>
              </a:buClr>
              <a:buSzPct val="61111"/>
              <a:buFont typeface="Arial"/>
              <a:buNone/>
            </a:pPr>
            <a:r>
              <a:rPr lang="ja">
                <a:solidFill>
                  <a:schemeClr val="dk1"/>
                </a:solidFill>
              </a:rPr>
              <a:t>In this project, we will be developing a deep learning classification model which will be able to:</a:t>
            </a:r>
            <a:endParaRPr>
              <a:solidFill>
                <a:schemeClr val="dk1"/>
              </a:solidFill>
            </a:endParaRPr>
          </a:p>
          <a:p>
            <a:pPr indent="0" lvl="0" marL="0" rtl="0" algn="l">
              <a:spcBef>
                <a:spcPts val="1200"/>
              </a:spcBef>
              <a:spcAft>
                <a:spcPts val="0"/>
              </a:spcAft>
              <a:buClr>
                <a:schemeClr val="dk1"/>
              </a:buClr>
              <a:buSzPct val="61111"/>
              <a:buFont typeface="Arial"/>
              <a:buNone/>
            </a:pPr>
            <a:r>
              <a:rPr lang="ja">
                <a:solidFill>
                  <a:schemeClr val="dk1"/>
                </a:solidFill>
              </a:rPr>
              <a:t>Correctly distinguish between cells parasitized and uninfected.</a:t>
            </a:r>
            <a:endParaRPr>
              <a:solidFill>
                <a:schemeClr val="dk1"/>
              </a:solidFill>
            </a:endParaRPr>
          </a:p>
          <a:p>
            <a:pPr indent="0" lvl="0" marL="0" rtl="0" algn="l">
              <a:spcBef>
                <a:spcPts val="1200"/>
              </a:spcBef>
              <a:spcAft>
                <a:spcPts val="0"/>
              </a:spcAft>
              <a:buClr>
                <a:schemeClr val="dk1"/>
              </a:buClr>
              <a:buSzPct val="61111"/>
              <a:buFont typeface="Arial"/>
              <a:buNone/>
            </a:pPr>
            <a:r>
              <a:rPr lang="ja">
                <a:solidFill>
                  <a:schemeClr val="dk1"/>
                </a:solidFill>
              </a:rPr>
              <a:t>Help medical workers to save on the time of diagnosing.</a:t>
            </a:r>
            <a:endParaRPr>
              <a:solidFill>
                <a:schemeClr val="dk1"/>
              </a:solidFill>
            </a:endParaRPr>
          </a:p>
          <a:p>
            <a:pPr indent="0" lvl="0" marL="0" rtl="0" algn="l">
              <a:spcBef>
                <a:spcPts val="1200"/>
              </a:spcBef>
              <a:spcAft>
                <a:spcPts val="0"/>
              </a:spcAft>
              <a:buNone/>
            </a:pPr>
            <a:r>
              <a:rPr lang="ja">
                <a:solidFill>
                  <a:schemeClr val="dk1"/>
                </a:solidFill>
              </a:rPr>
              <a:t>Allow scalability to low resource clinical applications through minimal and understandable AI models (e.g, mobile applications, single board computers).</a:t>
            </a:r>
            <a:endParaRPr/>
          </a:p>
          <a:p>
            <a:pPr indent="0" lvl="0" marL="0" rtl="0" algn="l">
              <a:spcBef>
                <a:spcPts val="1200"/>
              </a:spcBef>
              <a:spcAft>
                <a:spcPts val="1200"/>
              </a:spcAft>
              <a:buNone/>
            </a:pPr>
            <a:r>
              <a:t/>
            </a:r>
            <a:endParaRPr/>
          </a:p>
        </p:txBody>
      </p:sp>
      <p:pic>
        <p:nvPicPr>
          <p:cNvPr id="85" name="Google Shape;85;p17"/>
          <p:cNvPicPr preferRelativeResize="0"/>
          <p:nvPr/>
        </p:nvPicPr>
        <p:blipFill>
          <a:blip r:embed="rId3">
            <a:alphaModFix/>
          </a:blip>
          <a:stretch>
            <a:fillRect/>
          </a:stretch>
        </p:blipFill>
        <p:spPr>
          <a:xfrm>
            <a:off x="4581900" y="152400"/>
            <a:ext cx="4409700" cy="4507978"/>
          </a:xfrm>
          <a:prstGeom prst="rect">
            <a:avLst/>
          </a:prstGeom>
          <a:noFill/>
          <a:ln>
            <a:noFill/>
          </a:ln>
        </p:spPr>
      </p:pic>
      <p:sp>
        <p:nvSpPr>
          <p:cNvPr id="86" name="Google Shape;86;p17"/>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3</a:t>
            </a:r>
            <a:endParaRPr sz="11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type="title"/>
          </p:nvPr>
        </p:nvSpPr>
        <p:spPr>
          <a:xfrm>
            <a:off x="311700" y="356000"/>
            <a:ext cx="3300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Potential Impact</a:t>
            </a:r>
            <a:endParaRPr/>
          </a:p>
        </p:txBody>
      </p:sp>
      <p:sp>
        <p:nvSpPr>
          <p:cNvPr id="92" name="Google Shape;92;p18"/>
          <p:cNvSpPr txBox="1"/>
          <p:nvPr>
            <p:ph idx="1" type="body"/>
          </p:nvPr>
        </p:nvSpPr>
        <p:spPr>
          <a:xfrm>
            <a:off x="311700" y="1033850"/>
            <a:ext cx="4117800" cy="28830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chemeClr val="dk1"/>
              </a:buClr>
              <a:buSzPts val="1100"/>
              <a:buChar char="●"/>
            </a:pPr>
            <a:r>
              <a:rPr b="1" lang="ja" sz="1100">
                <a:solidFill>
                  <a:schemeClr val="dk1"/>
                </a:solidFill>
              </a:rPr>
              <a:t>Healthcare Optimization</a:t>
            </a:r>
            <a:r>
              <a:rPr lang="ja" sz="1100">
                <a:solidFill>
                  <a:schemeClr val="dk1"/>
                </a:solidFill>
              </a:rPr>
              <a:t>: Automating the diagnosis process can free up valuable healthcare resources.</a:t>
            </a:r>
            <a:br>
              <a:rPr lang="ja"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ja" sz="1100">
                <a:solidFill>
                  <a:schemeClr val="dk1"/>
                </a:solidFill>
              </a:rPr>
              <a:t>Scalability</a:t>
            </a:r>
            <a:r>
              <a:rPr lang="ja" sz="1100">
                <a:solidFill>
                  <a:schemeClr val="dk1"/>
                </a:solidFill>
              </a:rPr>
              <a:t>: A deployable AI model can be utilized in remote or under-equipped healthcare centers.</a:t>
            </a:r>
            <a:br>
              <a:rPr lang="ja"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ja" sz="1100">
                <a:solidFill>
                  <a:schemeClr val="dk1"/>
                </a:solidFill>
              </a:rPr>
              <a:t>Public Health</a:t>
            </a:r>
            <a:r>
              <a:rPr lang="ja" sz="1100">
                <a:solidFill>
                  <a:schemeClr val="dk1"/>
                </a:solidFill>
              </a:rPr>
              <a:t>: Early detection leads to timely intervention, ultimately reducing the mortality rate caused by malaria.</a:t>
            </a:r>
            <a:br>
              <a:rPr lang="ja" sz="1100">
                <a:solidFill>
                  <a:schemeClr val="dk1"/>
                </a:solidFill>
              </a:rPr>
            </a:br>
            <a:endParaRPr>
              <a:solidFill>
                <a:schemeClr val="dk1"/>
              </a:solidFill>
            </a:endParaRPr>
          </a:p>
          <a:p>
            <a:pPr indent="0" lvl="0" marL="0" rtl="0" algn="l">
              <a:spcBef>
                <a:spcPts val="1200"/>
              </a:spcBef>
              <a:spcAft>
                <a:spcPts val="1200"/>
              </a:spcAft>
              <a:buNone/>
            </a:pPr>
            <a:r>
              <a:t/>
            </a:r>
            <a:endParaRPr/>
          </a:p>
        </p:txBody>
      </p:sp>
      <p:pic>
        <p:nvPicPr>
          <p:cNvPr id="93" name="Google Shape;93;p18"/>
          <p:cNvPicPr preferRelativeResize="0"/>
          <p:nvPr/>
        </p:nvPicPr>
        <p:blipFill>
          <a:blip r:embed="rId3">
            <a:alphaModFix/>
          </a:blip>
          <a:stretch>
            <a:fillRect/>
          </a:stretch>
        </p:blipFill>
        <p:spPr>
          <a:xfrm>
            <a:off x="4509675" y="409425"/>
            <a:ext cx="4409700" cy="3799318"/>
          </a:xfrm>
          <a:prstGeom prst="rect">
            <a:avLst/>
          </a:prstGeom>
          <a:noFill/>
          <a:ln>
            <a:noFill/>
          </a:ln>
        </p:spPr>
      </p:pic>
      <p:sp>
        <p:nvSpPr>
          <p:cNvPr id="94" name="Google Shape;94;p18"/>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4</a:t>
            </a:r>
            <a:endParaRPr sz="11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CNN Model from Scratch </a:t>
            </a:r>
            <a:endParaRPr/>
          </a:p>
        </p:txBody>
      </p:sp>
      <p:sp>
        <p:nvSpPr>
          <p:cNvPr id="100" name="Google Shape;10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ja" sz="1400">
                <a:solidFill>
                  <a:schemeClr val="dk1"/>
                </a:solidFill>
              </a:rPr>
              <a:t>Project Overview:</a:t>
            </a:r>
            <a:endParaRPr sz="1400">
              <a:solidFill>
                <a:schemeClr val="dk1"/>
              </a:solidFill>
            </a:endParaRPr>
          </a:p>
          <a:p>
            <a:pPr indent="-317500" lvl="0" marL="457200" rtl="0" algn="l">
              <a:spcBef>
                <a:spcPts val="1200"/>
              </a:spcBef>
              <a:spcAft>
                <a:spcPts val="0"/>
              </a:spcAft>
              <a:buClr>
                <a:schemeClr val="dk1"/>
              </a:buClr>
              <a:buSzPts val="1400"/>
              <a:buChar char="●"/>
            </a:pPr>
            <a:r>
              <a:rPr lang="ja" sz="1400">
                <a:solidFill>
                  <a:schemeClr val="dk1"/>
                </a:solidFill>
              </a:rPr>
              <a:t>Objective: Classify microscopic cell images as </a:t>
            </a:r>
            <a:r>
              <a:rPr b="1" lang="ja" sz="1400">
                <a:solidFill>
                  <a:schemeClr val="dk1"/>
                </a:solidFill>
              </a:rPr>
              <a:t>Parasitized</a:t>
            </a:r>
            <a:r>
              <a:rPr lang="ja" sz="1400">
                <a:solidFill>
                  <a:schemeClr val="dk1"/>
                </a:solidFill>
              </a:rPr>
              <a:t> or </a:t>
            </a:r>
            <a:r>
              <a:rPr b="1" lang="ja" sz="1400">
                <a:solidFill>
                  <a:schemeClr val="dk1"/>
                </a:solidFill>
              </a:rPr>
              <a:t>Uninfected</a:t>
            </a:r>
            <a:endParaRPr b="1"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Dataset: Public malaria dataset with separate </a:t>
            </a:r>
            <a:r>
              <a:rPr lang="ja" sz="1400">
                <a:solidFill>
                  <a:srgbClr val="188038"/>
                </a:solidFill>
                <a:latin typeface="Roboto Mono"/>
                <a:ea typeface="Roboto Mono"/>
                <a:cs typeface="Roboto Mono"/>
                <a:sym typeface="Roboto Mono"/>
              </a:rPr>
              <a:t>train/</a:t>
            </a:r>
            <a:r>
              <a:rPr lang="ja" sz="1400">
                <a:solidFill>
                  <a:schemeClr val="dk1"/>
                </a:solidFill>
              </a:rPr>
              <a:t> and </a:t>
            </a:r>
            <a:r>
              <a:rPr lang="ja" sz="1400">
                <a:solidFill>
                  <a:srgbClr val="188038"/>
                </a:solidFill>
                <a:latin typeface="Roboto Mono"/>
                <a:ea typeface="Roboto Mono"/>
                <a:cs typeface="Roboto Mono"/>
                <a:sym typeface="Roboto Mono"/>
              </a:rPr>
              <a:t>test/</a:t>
            </a:r>
            <a:r>
              <a:rPr lang="ja" sz="1400">
                <a:solidFill>
                  <a:schemeClr val="dk1"/>
                </a:solidFill>
              </a:rPr>
              <a:t> folders</a:t>
            </a:r>
            <a:endParaRPr sz="1400">
              <a:solidFill>
                <a:schemeClr val="dk1"/>
              </a:solidFill>
            </a:endParaRPr>
          </a:p>
          <a:p>
            <a:pPr indent="-317500" lvl="0" marL="457200" rtl="0" algn="l">
              <a:spcBef>
                <a:spcPts val="0"/>
              </a:spcBef>
              <a:spcAft>
                <a:spcPts val="0"/>
              </a:spcAft>
              <a:buClr>
                <a:schemeClr val="dk1"/>
              </a:buClr>
              <a:buSzPts val="1400"/>
              <a:buChar char="●"/>
            </a:pPr>
            <a:r>
              <a:rPr lang="ja" sz="1400">
                <a:solidFill>
                  <a:schemeClr val="dk1"/>
                </a:solidFill>
              </a:rPr>
              <a:t>Tools used: Python, TensorFlow/Keras, CNN, Seaborn, Matplotlib</a:t>
            </a:r>
            <a:endParaRPr sz="1400">
              <a:solidFill>
                <a:schemeClr val="dk1"/>
              </a:solidFill>
            </a:endParaRPr>
          </a:p>
          <a:p>
            <a:pPr indent="0" lvl="0" marL="0" rtl="0" algn="l">
              <a:spcBef>
                <a:spcPts val="1200"/>
              </a:spcBef>
              <a:spcAft>
                <a:spcPts val="0"/>
              </a:spcAft>
              <a:buNone/>
            </a:pPr>
            <a:r>
              <a:rPr lang="ja" sz="1400">
                <a:solidFill>
                  <a:schemeClr val="dk1"/>
                </a:solidFill>
              </a:rPr>
              <a:t>Data Prep:</a:t>
            </a:r>
            <a:endParaRPr sz="1400">
              <a:solidFill>
                <a:schemeClr val="dk1"/>
              </a:solidFill>
            </a:endParaRPr>
          </a:p>
          <a:p>
            <a:pPr indent="-317500" lvl="0" marL="457200" rtl="0" algn="l">
              <a:spcBef>
                <a:spcPts val="1200"/>
              </a:spcBef>
              <a:spcAft>
                <a:spcPts val="0"/>
              </a:spcAft>
              <a:buClr>
                <a:schemeClr val="dk1"/>
              </a:buClr>
              <a:buSzPts val="1400"/>
              <a:buChar char="●"/>
            </a:pPr>
            <a:r>
              <a:rPr lang="ja" sz="1400">
                <a:solidFill>
                  <a:schemeClr val="dk1"/>
                </a:solidFill>
              </a:rPr>
              <a:t>Data Prep:</a:t>
            </a:r>
            <a:endParaRPr sz="1400">
              <a:solidFill>
                <a:schemeClr val="dk1"/>
              </a:solidFill>
            </a:endParaRPr>
          </a:p>
          <a:p>
            <a:pPr indent="-317500" lvl="1" marL="914400" rtl="0" algn="l">
              <a:spcBef>
                <a:spcPts val="0"/>
              </a:spcBef>
              <a:spcAft>
                <a:spcPts val="0"/>
              </a:spcAft>
              <a:buClr>
                <a:schemeClr val="dk1"/>
              </a:buClr>
              <a:buSzPts val="1400"/>
              <a:buChar char="○"/>
            </a:pPr>
            <a:r>
              <a:rPr lang="ja">
                <a:solidFill>
                  <a:schemeClr val="dk1"/>
                </a:solidFill>
              </a:rPr>
              <a:t>Image loading &amp; resizing</a:t>
            </a:r>
            <a:endParaRPr>
              <a:solidFill>
                <a:schemeClr val="dk1"/>
              </a:solidFill>
            </a:endParaRPr>
          </a:p>
          <a:p>
            <a:pPr indent="-317500" lvl="1" marL="914400" rtl="0" algn="l">
              <a:spcBef>
                <a:spcPts val="0"/>
              </a:spcBef>
              <a:spcAft>
                <a:spcPts val="0"/>
              </a:spcAft>
              <a:buClr>
                <a:schemeClr val="dk1"/>
              </a:buClr>
              <a:buSzPts val="1400"/>
              <a:buChar char="○"/>
            </a:pPr>
            <a:r>
              <a:rPr lang="ja">
                <a:solidFill>
                  <a:schemeClr val="dk1"/>
                </a:solidFill>
              </a:rPr>
              <a:t>Normalization &amp; one-hot encoding</a:t>
            </a:r>
            <a:endParaRPr>
              <a:solidFill>
                <a:schemeClr val="dk1"/>
              </a:solidFill>
            </a:endParaRPr>
          </a:p>
          <a:p>
            <a:pPr indent="-336550" lvl="1" marL="914400" rtl="0" algn="l">
              <a:spcBef>
                <a:spcPts val="0"/>
              </a:spcBef>
              <a:spcAft>
                <a:spcPts val="0"/>
              </a:spcAft>
              <a:buClr>
                <a:schemeClr val="dk1"/>
              </a:buClr>
              <a:buSzPts val="1700"/>
              <a:buChar char="○"/>
            </a:pPr>
            <a:r>
              <a:rPr lang="ja">
                <a:solidFill>
                  <a:schemeClr val="dk1"/>
                </a:solidFill>
              </a:rPr>
              <a:t>Data augmentation using </a:t>
            </a:r>
            <a:r>
              <a:rPr lang="ja">
                <a:solidFill>
                  <a:srgbClr val="188038"/>
                </a:solidFill>
                <a:latin typeface="Roboto Mono"/>
                <a:ea typeface="Roboto Mono"/>
                <a:cs typeface="Roboto Mono"/>
                <a:sym typeface="Roboto Mono"/>
              </a:rPr>
              <a:t>ImageDataGenerator</a:t>
            </a:r>
            <a:endParaRPr sz="17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1200"/>
              </a:spcAft>
              <a:buNone/>
            </a:pPr>
            <a:r>
              <a:t/>
            </a:r>
            <a:endParaRPr sz="1400">
              <a:solidFill>
                <a:schemeClr val="dk1"/>
              </a:solidFill>
            </a:endParaRPr>
          </a:p>
        </p:txBody>
      </p:sp>
      <p:pic>
        <p:nvPicPr>
          <p:cNvPr id="101" name="Google Shape;101;p19"/>
          <p:cNvPicPr preferRelativeResize="0"/>
          <p:nvPr/>
        </p:nvPicPr>
        <p:blipFill>
          <a:blip r:embed="rId3">
            <a:alphaModFix/>
          </a:blip>
          <a:stretch>
            <a:fillRect/>
          </a:stretch>
        </p:blipFill>
        <p:spPr>
          <a:xfrm>
            <a:off x="527000" y="3685200"/>
            <a:ext cx="2779250" cy="1192275"/>
          </a:xfrm>
          <a:prstGeom prst="rect">
            <a:avLst/>
          </a:prstGeom>
          <a:noFill/>
          <a:ln>
            <a:noFill/>
          </a:ln>
        </p:spPr>
      </p:pic>
      <p:pic>
        <p:nvPicPr>
          <p:cNvPr id="102" name="Google Shape;102;p19"/>
          <p:cNvPicPr preferRelativeResize="0"/>
          <p:nvPr/>
        </p:nvPicPr>
        <p:blipFill>
          <a:blip r:embed="rId4">
            <a:alphaModFix/>
          </a:blip>
          <a:stretch>
            <a:fillRect/>
          </a:stretch>
        </p:blipFill>
        <p:spPr>
          <a:xfrm>
            <a:off x="6326900" y="2037641"/>
            <a:ext cx="2547850" cy="2531234"/>
          </a:xfrm>
          <a:prstGeom prst="rect">
            <a:avLst/>
          </a:prstGeom>
          <a:noFill/>
          <a:ln>
            <a:noFill/>
          </a:ln>
        </p:spPr>
      </p:pic>
      <p:pic>
        <p:nvPicPr>
          <p:cNvPr id="103" name="Google Shape;103;p19"/>
          <p:cNvPicPr preferRelativeResize="0"/>
          <p:nvPr/>
        </p:nvPicPr>
        <p:blipFill>
          <a:blip r:embed="rId5">
            <a:alphaModFix/>
          </a:blip>
          <a:stretch>
            <a:fillRect/>
          </a:stretch>
        </p:blipFill>
        <p:spPr>
          <a:xfrm>
            <a:off x="3426950" y="3685200"/>
            <a:ext cx="2779250" cy="1192275"/>
          </a:xfrm>
          <a:prstGeom prst="rect">
            <a:avLst/>
          </a:prstGeom>
          <a:noFill/>
          <a:ln>
            <a:noFill/>
          </a:ln>
        </p:spPr>
      </p:pic>
      <p:sp>
        <p:nvSpPr>
          <p:cNvPr id="104" name="Google Shape;104;p19"/>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5</a:t>
            </a: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ja"/>
              <a:t>CNN Model from Scratch</a:t>
            </a:r>
            <a:endParaRPr/>
          </a:p>
          <a:p>
            <a:pPr indent="0" lvl="0" marL="0" rtl="0" algn="l">
              <a:spcBef>
                <a:spcPts val="0"/>
              </a:spcBef>
              <a:spcAft>
                <a:spcPts val="0"/>
              </a:spcAft>
              <a:buNone/>
            </a:pPr>
            <a:r>
              <a:t/>
            </a:r>
            <a:endParaRPr/>
          </a:p>
        </p:txBody>
      </p:sp>
      <p:sp>
        <p:nvSpPr>
          <p:cNvPr id="110" name="Google Shape;11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ja" sz="1400"/>
              <a:t>CNN Model:</a:t>
            </a:r>
            <a:endParaRPr sz="1400"/>
          </a:p>
          <a:p>
            <a:pPr indent="-317500" lvl="1" marL="914400" marR="381000" rtl="0" algn="l">
              <a:spcBef>
                <a:spcPts val="0"/>
              </a:spcBef>
              <a:spcAft>
                <a:spcPts val="0"/>
              </a:spcAft>
              <a:buSzPts val="1400"/>
              <a:buChar char="○"/>
            </a:pPr>
            <a:r>
              <a:rPr lang="ja"/>
              <a:t>Conv2D (x2) → BatchNorm → ReLU → MaxPooling → GlobalAvgPooling → Dense Layers → Dropout → Sigmoid Output</a:t>
            </a:r>
            <a:endParaRPr/>
          </a:p>
          <a:p>
            <a:pPr indent="-317500" lvl="1" marL="914400" marR="381000" rtl="0" algn="l">
              <a:spcBef>
                <a:spcPts val="0"/>
              </a:spcBef>
              <a:spcAft>
                <a:spcPts val="0"/>
              </a:spcAft>
              <a:buSzPts val="1400"/>
              <a:buChar char="○"/>
            </a:pPr>
            <a:r>
              <a:rPr lang="ja" sz="1100">
                <a:solidFill>
                  <a:schemeClr val="dk1"/>
                </a:solidFill>
              </a:rPr>
              <a:t> </a:t>
            </a:r>
            <a:r>
              <a:rPr lang="ja"/>
              <a:t>Used </a:t>
            </a:r>
            <a:r>
              <a:rPr b="1" lang="ja"/>
              <a:t>GlobalAveragePooling2D</a:t>
            </a:r>
            <a:r>
              <a:rPr lang="ja"/>
              <a:t> instead of </a:t>
            </a:r>
            <a:r>
              <a:rPr b="1" lang="ja"/>
              <a:t>Flatten</a:t>
            </a:r>
            <a:r>
              <a:rPr lang="ja"/>
              <a:t> to reduce model parameters, minimize overfitting,</a:t>
            </a:r>
            <a:endParaRPr/>
          </a:p>
          <a:p>
            <a:pPr indent="-317500" lvl="1" marL="914400" marR="381000" rtl="0" algn="l">
              <a:spcBef>
                <a:spcPts val="0"/>
              </a:spcBef>
              <a:spcAft>
                <a:spcPts val="0"/>
              </a:spcAft>
              <a:buSzPts val="1400"/>
              <a:buChar char="○"/>
            </a:pPr>
            <a:r>
              <a:rPr lang="ja"/>
              <a:t>Trained the CNN for 10 epochs using early stopping and model checkpointing to prevent overfitting and save the best-performing model.</a:t>
            </a:r>
            <a:endParaRPr/>
          </a:p>
          <a:p>
            <a:pPr indent="-317500" lvl="0" marL="457200" rtl="0" algn="l">
              <a:spcBef>
                <a:spcPts val="0"/>
              </a:spcBef>
              <a:spcAft>
                <a:spcPts val="0"/>
              </a:spcAft>
              <a:buSzPts val="1400"/>
              <a:buChar char="●"/>
            </a:pPr>
            <a:r>
              <a:rPr lang="ja" sz="1400"/>
              <a:t>Results:</a:t>
            </a:r>
            <a:endParaRPr sz="1400"/>
          </a:p>
          <a:p>
            <a:pPr indent="-317500" lvl="1" marL="914400" rtl="0" algn="l">
              <a:spcBef>
                <a:spcPts val="0"/>
              </a:spcBef>
              <a:spcAft>
                <a:spcPts val="0"/>
              </a:spcAft>
              <a:buSzPts val="1400"/>
              <a:buChar char="○"/>
            </a:pPr>
            <a:r>
              <a:rPr lang="ja"/>
              <a:t>Achieved strong accuracy in detecting malaria (92.98%)</a:t>
            </a:r>
            <a:endParaRPr/>
          </a:p>
          <a:p>
            <a:pPr indent="-317500" lvl="1" marL="914400" marR="381000" rtl="0" algn="l">
              <a:spcBef>
                <a:spcPts val="0"/>
              </a:spcBef>
              <a:spcAft>
                <a:spcPts val="0"/>
              </a:spcAft>
              <a:buSzPts val="1400"/>
              <a:buChar char="○"/>
            </a:pPr>
            <a:r>
              <a:rPr lang="ja"/>
              <a:t>Applied an 80% confidence threshold for predictions to reduce false positives and improve model reliability in sensitive medical diagnosis.</a:t>
            </a:r>
            <a:endParaRPr/>
          </a:p>
          <a:p>
            <a:pPr indent="-317500" lvl="1" marL="914400" rtl="0" algn="l">
              <a:spcBef>
                <a:spcPts val="0"/>
              </a:spcBef>
              <a:spcAft>
                <a:spcPts val="0"/>
              </a:spcAft>
              <a:buSzPts val="1400"/>
              <a:buChar char="○"/>
            </a:pPr>
            <a:r>
              <a:rPr lang="ja"/>
              <a:t>Visualized metrics: confusion matrix, classification report</a:t>
            </a:r>
            <a:endParaRPr/>
          </a:p>
        </p:txBody>
      </p:sp>
      <p:pic>
        <p:nvPicPr>
          <p:cNvPr id="111" name="Google Shape;111;p20"/>
          <p:cNvPicPr preferRelativeResize="0"/>
          <p:nvPr/>
        </p:nvPicPr>
        <p:blipFill>
          <a:blip r:embed="rId3">
            <a:alphaModFix/>
          </a:blip>
          <a:stretch>
            <a:fillRect/>
          </a:stretch>
        </p:blipFill>
        <p:spPr>
          <a:xfrm>
            <a:off x="5887250" y="3901475"/>
            <a:ext cx="3041800" cy="849525"/>
          </a:xfrm>
          <a:prstGeom prst="rect">
            <a:avLst/>
          </a:prstGeom>
          <a:noFill/>
          <a:ln>
            <a:noFill/>
          </a:ln>
        </p:spPr>
      </p:pic>
      <p:sp>
        <p:nvSpPr>
          <p:cNvPr id="112" name="Google Shape;112;p20"/>
          <p:cNvSpPr txBox="1"/>
          <p:nvPr/>
        </p:nvSpPr>
        <p:spPr>
          <a:xfrm>
            <a:off x="7609850" y="47565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6</a:t>
            </a:r>
            <a:endParaRPr sz="11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303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Classification with VGG16: </a:t>
            </a:r>
            <a:r>
              <a:rPr lang="ja" sz="2022" u="sng">
                <a:solidFill>
                  <a:schemeClr val="hlink"/>
                </a:solidFill>
                <a:hlinkClick r:id="rId3"/>
              </a:rPr>
              <a:t>Colab notebook</a:t>
            </a:r>
            <a:endParaRPr sz="2022"/>
          </a:p>
        </p:txBody>
      </p:sp>
      <p:sp>
        <p:nvSpPr>
          <p:cNvPr id="118" name="Google Shape;118;p21"/>
          <p:cNvSpPr txBox="1"/>
          <p:nvPr>
            <p:ph idx="1" type="body"/>
          </p:nvPr>
        </p:nvSpPr>
        <p:spPr>
          <a:xfrm>
            <a:off x="311700" y="950400"/>
            <a:ext cx="8520600" cy="40452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b="1" lang="ja" sz="1100">
                <a:solidFill>
                  <a:schemeClr val="dk1"/>
                </a:solidFill>
              </a:rPr>
              <a:t>VGG16</a:t>
            </a:r>
            <a:r>
              <a:rPr lang="ja" sz="1100">
                <a:solidFill>
                  <a:schemeClr val="dk1"/>
                </a:solidFill>
              </a:rPr>
              <a:t> is a </a:t>
            </a:r>
            <a:r>
              <a:rPr b="1" lang="ja" sz="1100">
                <a:solidFill>
                  <a:schemeClr val="dk1"/>
                </a:solidFill>
              </a:rPr>
              <a:t>pre-trained Convolutional Neural Network (CNN)</a:t>
            </a:r>
            <a:endParaRPr b="1" sz="1100">
              <a:solidFill>
                <a:schemeClr val="dk1"/>
              </a:solidFill>
            </a:endParaRPr>
          </a:p>
          <a:p>
            <a:pPr indent="-298450" lvl="0" marL="457200" rtl="0" algn="l">
              <a:spcBef>
                <a:spcPts val="0"/>
              </a:spcBef>
              <a:spcAft>
                <a:spcPts val="0"/>
              </a:spcAft>
              <a:buClr>
                <a:schemeClr val="dk1"/>
              </a:buClr>
              <a:buSzPts val="1100"/>
              <a:buChar char="●"/>
            </a:pPr>
            <a:r>
              <a:rPr lang="ja" sz="1100">
                <a:solidFill>
                  <a:schemeClr val="dk1"/>
                </a:solidFill>
              </a:rPr>
              <a:t>Instead of training a model from scratch (which needs a huge dataset and a lot of time), we used </a:t>
            </a:r>
            <a:r>
              <a:rPr b="1" lang="ja" sz="1100">
                <a:solidFill>
                  <a:schemeClr val="dk1"/>
                </a:solidFill>
              </a:rPr>
              <a:t>Transfer Learning</a:t>
            </a:r>
            <a:r>
              <a:rPr lang="ja" sz="1100">
                <a:solidFill>
                  <a:schemeClr val="dk1"/>
                </a:solidFill>
              </a:rPr>
              <a:t>:</a:t>
            </a:r>
            <a:endParaRPr sz="1100">
              <a:solidFill>
                <a:schemeClr val="dk1"/>
              </a:solidFill>
            </a:endParaRPr>
          </a:p>
          <a:p>
            <a:pPr indent="-298450" lvl="1" marL="914400" rtl="0" algn="l">
              <a:spcBef>
                <a:spcPts val="0"/>
              </a:spcBef>
              <a:spcAft>
                <a:spcPts val="0"/>
              </a:spcAft>
              <a:buClr>
                <a:schemeClr val="dk1"/>
              </a:buClr>
              <a:buSzPts val="1100"/>
              <a:buChar char="○"/>
            </a:pPr>
            <a:r>
              <a:rPr lang="ja" sz="1100">
                <a:solidFill>
                  <a:schemeClr val="dk1"/>
                </a:solidFill>
              </a:rPr>
              <a:t>We reused VGG16's knowledge to detect visual patterns in </a:t>
            </a:r>
            <a:r>
              <a:rPr b="1" lang="ja" sz="1100">
                <a:solidFill>
                  <a:schemeClr val="dk1"/>
                </a:solidFill>
              </a:rPr>
              <a:t>malaria cell images</a:t>
            </a:r>
            <a:r>
              <a:rPr lang="ja" sz="1100">
                <a:solidFill>
                  <a:schemeClr val="dk1"/>
                </a:solidFill>
              </a:rPr>
              <a:t>.</a:t>
            </a:r>
            <a:endParaRPr sz="1100">
              <a:solidFill>
                <a:schemeClr val="dk1"/>
              </a:solidFill>
            </a:endParaRPr>
          </a:p>
          <a:p>
            <a:pPr indent="-298450" lvl="1" marL="914400" rtl="0" algn="l">
              <a:spcBef>
                <a:spcPts val="0"/>
              </a:spcBef>
              <a:spcAft>
                <a:spcPts val="0"/>
              </a:spcAft>
              <a:buClr>
                <a:schemeClr val="dk1"/>
              </a:buClr>
              <a:buSzPts val="1100"/>
              <a:buChar char="○"/>
            </a:pPr>
            <a:r>
              <a:rPr lang="ja" sz="1100">
                <a:solidFill>
                  <a:schemeClr val="dk1"/>
                </a:solidFill>
              </a:rPr>
              <a:t>This saves computational cost and gives </a:t>
            </a:r>
            <a:r>
              <a:rPr b="1" lang="ja" sz="1100">
                <a:solidFill>
                  <a:schemeClr val="dk1"/>
                </a:solidFill>
              </a:rPr>
              <a:t>high accuracy</a:t>
            </a:r>
            <a:r>
              <a:rPr lang="ja" sz="1100">
                <a:solidFill>
                  <a:schemeClr val="dk1"/>
                </a:solidFill>
              </a:rPr>
              <a:t> even with a smaller medical dataset.</a:t>
            </a:r>
            <a:endParaRPr sz="1100">
              <a:solidFill>
                <a:schemeClr val="dk1"/>
              </a:solidFill>
            </a:endParaRPr>
          </a:p>
          <a:p>
            <a:pPr indent="-298450" lvl="0" marL="457200" rtl="0" algn="l">
              <a:spcBef>
                <a:spcPts val="0"/>
              </a:spcBef>
              <a:spcAft>
                <a:spcPts val="0"/>
              </a:spcAft>
              <a:buClr>
                <a:schemeClr val="dk1"/>
              </a:buClr>
              <a:buSzPts val="1100"/>
              <a:buChar char="●"/>
            </a:pPr>
            <a:r>
              <a:rPr lang="ja" sz="1100">
                <a:solidFill>
                  <a:schemeClr val="dk1"/>
                </a:solidFill>
              </a:rPr>
              <a:t>We loaded the VGG16 model without its top layers and kept its weights </a:t>
            </a:r>
            <a:r>
              <a:rPr b="1" lang="ja" sz="1100">
                <a:solidFill>
                  <a:schemeClr val="dk1"/>
                </a:solidFill>
              </a:rPr>
              <a:t>frozen</a:t>
            </a:r>
            <a:r>
              <a:rPr lang="ja" sz="1100">
                <a:solidFill>
                  <a:schemeClr val="dk1"/>
                </a:solidFill>
              </a:rPr>
              <a:t> so we could use it as a </a:t>
            </a:r>
            <a:r>
              <a:rPr b="1" lang="ja" sz="1100">
                <a:solidFill>
                  <a:schemeClr val="dk1"/>
                </a:solidFill>
              </a:rPr>
              <a:t>feature extractor</a:t>
            </a:r>
            <a:r>
              <a:rPr lang="ja" sz="1100">
                <a:solidFill>
                  <a:schemeClr val="dk1"/>
                </a:solidFill>
              </a:rPr>
              <a:t>.</a:t>
            </a:r>
            <a:endParaRPr sz="1100">
              <a:solidFill>
                <a:schemeClr val="dk1"/>
              </a:solidFill>
            </a:endParaRPr>
          </a:p>
          <a:p>
            <a:pPr indent="0" lvl="0" marL="0" rtl="0" algn="l">
              <a:spcBef>
                <a:spcPts val="1200"/>
              </a:spcBef>
              <a:spcAft>
                <a:spcPts val="0"/>
              </a:spcAft>
              <a:buNone/>
            </a:pPr>
            <a:r>
              <a:rPr b="1" lang="ja" sz="1100">
                <a:solidFill>
                  <a:schemeClr val="dk1"/>
                </a:solidFill>
              </a:rPr>
              <a:t>Added Custom Layers for Our Task</a:t>
            </a:r>
            <a:endParaRPr b="1" sz="1100">
              <a:solidFill>
                <a:schemeClr val="dk1"/>
              </a:solidFill>
            </a:endParaRPr>
          </a:p>
          <a:p>
            <a:pPr indent="-298450" lvl="0" marL="457200" rtl="0" algn="l">
              <a:spcBef>
                <a:spcPts val="1200"/>
              </a:spcBef>
              <a:spcAft>
                <a:spcPts val="0"/>
              </a:spcAft>
              <a:buClr>
                <a:schemeClr val="dk1"/>
              </a:buClr>
              <a:buSzPts val="1100"/>
              <a:buChar char="●"/>
            </a:pPr>
            <a:r>
              <a:rPr lang="ja" sz="1100">
                <a:solidFill>
                  <a:srgbClr val="188038"/>
                </a:solidFill>
                <a:latin typeface="Roboto Mono"/>
                <a:ea typeface="Roboto Mono"/>
                <a:cs typeface="Roboto Mono"/>
                <a:sym typeface="Roboto Mono"/>
              </a:rPr>
              <a:t>GlobalAveragePooling2D()</a:t>
            </a:r>
            <a:r>
              <a:rPr lang="ja" sz="1100">
                <a:solidFill>
                  <a:schemeClr val="dk1"/>
                </a:solidFill>
              </a:rPr>
              <a:t>: Converts VGG16's output into a 1D vector.</a:t>
            </a:r>
            <a:endParaRPr sz="1100">
              <a:solidFill>
                <a:schemeClr val="dk1"/>
              </a:solidFill>
            </a:endParaRPr>
          </a:p>
          <a:p>
            <a:pPr indent="-298450" lvl="0" marL="457200" rtl="0" algn="l">
              <a:spcBef>
                <a:spcPts val="0"/>
              </a:spcBef>
              <a:spcAft>
                <a:spcPts val="0"/>
              </a:spcAft>
              <a:buClr>
                <a:schemeClr val="dk1"/>
              </a:buClr>
              <a:buSzPts val="1100"/>
              <a:buChar char="●"/>
            </a:pPr>
            <a:r>
              <a:rPr lang="ja" sz="1100">
                <a:solidFill>
                  <a:srgbClr val="188038"/>
                </a:solidFill>
                <a:latin typeface="Roboto Mono"/>
                <a:ea typeface="Roboto Mono"/>
                <a:cs typeface="Roboto Mono"/>
                <a:sym typeface="Roboto Mono"/>
              </a:rPr>
              <a:t>Dense(128, activation='relu')</a:t>
            </a:r>
            <a:r>
              <a:rPr lang="ja" sz="1100">
                <a:solidFill>
                  <a:schemeClr val="dk1"/>
                </a:solidFill>
              </a:rPr>
              <a:t>: Adds a fully connected layer to learn specific patterns.</a:t>
            </a:r>
            <a:endParaRPr sz="1100">
              <a:solidFill>
                <a:schemeClr val="dk1"/>
              </a:solidFill>
            </a:endParaRPr>
          </a:p>
          <a:p>
            <a:pPr indent="-298450" lvl="0" marL="457200" rtl="0" algn="l">
              <a:spcBef>
                <a:spcPts val="0"/>
              </a:spcBef>
              <a:spcAft>
                <a:spcPts val="0"/>
              </a:spcAft>
              <a:buClr>
                <a:schemeClr val="dk1"/>
              </a:buClr>
              <a:buSzPts val="1100"/>
              <a:buChar char="●"/>
            </a:pPr>
            <a:r>
              <a:rPr lang="ja" sz="1100">
                <a:solidFill>
                  <a:srgbClr val="188038"/>
                </a:solidFill>
                <a:latin typeface="Roboto Mono"/>
                <a:ea typeface="Roboto Mono"/>
                <a:cs typeface="Roboto Mono"/>
                <a:sym typeface="Roboto Mono"/>
              </a:rPr>
              <a:t>Dropout(0.5)</a:t>
            </a:r>
            <a:r>
              <a:rPr lang="ja" sz="1100">
                <a:solidFill>
                  <a:schemeClr val="dk1"/>
                </a:solidFill>
              </a:rPr>
              <a:t>: Reduces overfitting by randomly turning off neurons during training.</a:t>
            </a:r>
            <a:endParaRPr sz="1100">
              <a:solidFill>
                <a:schemeClr val="dk1"/>
              </a:solidFill>
            </a:endParaRPr>
          </a:p>
          <a:p>
            <a:pPr indent="-298450" lvl="0" marL="457200" rtl="0" algn="l">
              <a:spcBef>
                <a:spcPts val="0"/>
              </a:spcBef>
              <a:spcAft>
                <a:spcPts val="0"/>
              </a:spcAft>
              <a:buClr>
                <a:schemeClr val="dk1"/>
              </a:buClr>
              <a:buSzPts val="1100"/>
              <a:buChar char="●"/>
            </a:pPr>
            <a:r>
              <a:rPr lang="ja" sz="1100">
                <a:solidFill>
                  <a:srgbClr val="188038"/>
                </a:solidFill>
                <a:latin typeface="Roboto Mono"/>
                <a:ea typeface="Roboto Mono"/>
                <a:cs typeface="Roboto Mono"/>
                <a:sym typeface="Roboto Mono"/>
              </a:rPr>
              <a:t>Dense(1, activation='sigmoid')</a:t>
            </a:r>
            <a:r>
              <a:rPr lang="ja" sz="1100">
                <a:solidFill>
                  <a:schemeClr val="dk1"/>
                </a:solidFill>
              </a:rPr>
              <a:t>: Final output layer to classify cells as </a:t>
            </a:r>
            <a:r>
              <a:rPr b="1" lang="ja" sz="1100">
                <a:solidFill>
                  <a:schemeClr val="dk1"/>
                </a:solidFill>
              </a:rPr>
              <a:t>Infected (1)</a:t>
            </a:r>
            <a:r>
              <a:rPr lang="ja" sz="1100">
                <a:solidFill>
                  <a:schemeClr val="dk1"/>
                </a:solidFill>
              </a:rPr>
              <a:t> or </a:t>
            </a:r>
            <a:r>
              <a:rPr b="1" lang="ja" sz="1100">
                <a:solidFill>
                  <a:schemeClr val="dk1"/>
                </a:solidFill>
              </a:rPr>
              <a:t>Uninfected (0)</a:t>
            </a:r>
            <a:r>
              <a:rPr lang="ja" sz="1100">
                <a:solidFill>
                  <a:schemeClr val="dk1"/>
                </a:solidFill>
              </a:rPr>
              <a:t>.</a:t>
            </a:r>
            <a:endParaRPr sz="1100">
              <a:solidFill>
                <a:schemeClr val="dk1"/>
              </a:solidFill>
            </a:endParaRPr>
          </a:p>
          <a:p>
            <a:pPr indent="0" lvl="0" marL="0" rtl="0" algn="l">
              <a:spcBef>
                <a:spcPts val="1200"/>
              </a:spcBef>
              <a:spcAft>
                <a:spcPts val="0"/>
              </a:spcAft>
              <a:buNone/>
            </a:pPr>
            <a:r>
              <a:rPr b="1" lang="ja" sz="1100">
                <a:solidFill>
                  <a:schemeClr val="dk1"/>
                </a:solidFill>
              </a:rPr>
              <a:t>Compiled the Model</a:t>
            </a:r>
            <a:endParaRPr b="1" sz="1100">
              <a:solidFill>
                <a:schemeClr val="dk1"/>
              </a:solidFill>
            </a:endParaRPr>
          </a:p>
          <a:p>
            <a:pPr indent="-298450" lvl="0" marL="457200" rtl="0" algn="l">
              <a:spcBef>
                <a:spcPts val="1200"/>
              </a:spcBef>
              <a:spcAft>
                <a:spcPts val="0"/>
              </a:spcAft>
              <a:buClr>
                <a:schemeClr val="dk1"/>
              </a:buClr>
              <a:buSzPts val="1100"/>
              <a:buChar char="●"/>
            </a:pPr>
            <a:r>
              <a:rPr lang="ja" sz="1100">
                <a:solidFill>
                  <a:schemeClr val="dk1"/>
                </a:solidFill>
              </a:rPr>
              <a:t>Optimizer: </a:t>
            </a:r>
            <a:r>
              <a:rPr lang="ja" sz="1100">
                <a:solidFill>
                  <a:srgbClr val="188038"/>
                </a:solidFill>
                <a:latin typeface="Roboto Mono"/>
                <a:ea typeface="Roboto Mono"/>
                <a:cs typeface="Roboto Mono"/>
                <a:sym typeface="Roboto Mono"/>
              </a:rPr>
              <a:t>Adam</a:t>
            </a:r>
            <a:r>
              <a:rPr lang="ja" sz="1100">
                <a:solidFill>
                  <a:schemeClr val="dk1"/>
                </a:solidFill>
              </a:rPr>
              <a:t> with a low learning rate (0.0001) for gentle fine-tuning and so we didn’t disrupt the pretrained VGG weights.</a:t>
            </a:r>
            <a:endParaRPr sz="1100">
              <a:solidFill>
                <a:schemeClr val="dk1"/>
              </a:solidFill>
            </a:endParaRPr>
          </a:p>
          <a:p>
            <a:pPr indent="-298450" lvl="0" marL="457200" rtl="0" algn="l">
              <a:spcBef>
                <a:spcPts val="0"/>
              </a:spcBef>
              <a:spcAft>
                <a:spcPts val="0"/>
              </a:spcAft>
              <a:buClr>
                <a:schemeClr val="dk1"/>
              </a:buClr>
              <a:buSzPts val="1100"/>
              <a:buChar char="●"/>
            </a:pPr>
            <a:r>
              <a:rPr lang="ja" sz="1100">
                <a:solidFill>
                  <a:schemeClr val="dk1"/>
                </a:solidFill>
              </a:rPr>
              <a:t>Loss function: </a:t>
            </a:r>
            <a:r>
              <a:rPr lang="ja" sz="1100">
                <a:solidFill>
                  <a:srgbClr val="188038"/>
                </a:solidFill>
                <a:latin typeface="Roboto Mono"/>
                <a:ea typeface="Roboto Mono"/>
                <a:cs typeface="Roboto Mono"/>
                <a:sym typeface="Roboto Mono"/>
              </a:rPr>
              <a:t>Binary Crossentropy</a:t>
            </a:r>
            <a:r>
              <a:rPr lang="ja" sz="1100">
                <a:solidFill>
                  <a:schemeClr val="dk1"/>
                </a:solidFill>
              </a:rPr>
              <a:t> because it’s a binary classification problem.</a:t>
            </a:r>
            <a:endParaRPr sz="1100">
              <a:solidFill>
                <a:schemeClr val="dk1"/>
              </a:solidFill>
            </a:endParaRPr>
          </a:p>
          <a:p>
            <a:pPr indent="-298450" lvl="0" marL="457200" rtl="0" algn="l">
              <a:spcBef>
                <a:spcPts val="0"/>
              </a:spcBef>
              <a:spcAft>
                <a:spcPts val="0"/>
              </a:spcAft>
              <a:buClr>
                <a:schemeClr val="dk1"/>
              </a:buClr>
              <a:buSzPts val="1100"/>
              <a:buChar char="●"/>
            </a:pPr>
            <a:r>
              <a:rPr lang="ja" sz="1100">
                <a:solidFill>
                  <a:schemeClr val="dk1"/>
                </a:solidFill>
              </a:rPr>
              <a:t>Metrics: We tracked </a:t>
            </a:r>
            <a:r>
              <a:rPr lang="ja" sz="1100">
                <a:solidFill>
                  <a:srgbClr val="188038"/>
                </a:solidFill>
                <a:latin typeface="Roboto Mono"/>
                <a:ea typeface="Roboto Mono"/>
                <a:cs typeface="Roboto Mono"/>
                <a:sym typeface="Roboto Mono"/>
              </a:rPr>
              <a:t>accuracy</a:t>
            </a:r>
            <a:r>
              <a:rPr lang="ja" sz="1100">
                <a:solidFill>
                  <a:schemeClr val="dk1"/>
                </a:solidFill>
              </a:rPr>
              <a:t> during training.</a:t>
            </a:r>
            <a:endParaRPr sz="1100">
              <a:solidFill>
                <a:schemeClr val="dk1"/>
              </a:solidFill>
            </a:endParaRPr>
          </a:p>
          <a:p>
            <a:pPr indent="0" lvl="0" marL="0" rtl="0" algn="l">
              <a:spcBef>
                <a:spcPts val="1200"/>
              </a:spcBef>
              <a:spcAft>
                <a:spcPts val="1200"/>
              </a:spcAft>
              <a:buNone/>
            </a:pPr>
            <a:r>
              <a:rPr lang="ja" sz="1100">
                <a:solidFill>
                  <a:schemeClr val="dk1"/>
                </a:solidFill>
              </a:rPr>
              <a:t>We also used </a:t>
            </a:r>
            <a:r>
              <a:rPr lang="ja" sz="1100">
                <a:solidFill>
                  <a:srgbClr val="188038"/>
                </a:solidFill>
                <a:latin typeface="Roboto Mono"/>
                <a:ea typeface="Roboto Mono"/>
                <a:cs typeface="Roboto Mono"/>
                <a:sym typeface="Roboto Mono"/>
              </a:rPr>
              <a:t>EarlyStopping</a:t>
            </a:r>
            <a:r>
              <a:rPr lang="ja" sz="1100">
                <a:solidFill>
                  <a:schemeClr val="dk1"/>
                </a:solidFill>
              </a:rPr>
              <a:t> and </a:t>
            </a:r>
            <a:r>
              <a:rPr lang="ja" sz="1100">
                <a:solidFill>
                  <a:srgbClr val="188038"/>
                </a:solidFill>
                <a:latin typeface="Roboto Mono"/>
                <a:ea typeface="Roboto Mono"/>
                <a:cs typeface="Roboto Mono"/>
                <a:sym typeface="Roboto Mono"/>
              </a:rPr>
              <a:t>ModelCheckpoint</a:t>
            </a:r>
            <a:r>
              <a:rPr lang="ja" sz="1100">
                <a:solidFill>
                  <a:schemeClr val="dk1"/>
                </a:solidFill>
              </a:rPr>
              <a:t> to make sure we saved the best model during training.</a:t>
            </a:r>
            <a:endParaRPr sz="1100">
              <a:solidFill>
                <a:schemeClr val="dk1"/>
              </a:solidFill>
            </a:endParaRPr>
          </a:p>
        </p:txBody>
      </p:sp>
      <p:sp>
        <p:nvSpPr>
          <p:cNvPr id="119" name="Google Shape;119;p21"/>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7</a:t>
            </a:r>
            <a:endParaRPr sz="11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268200" y="412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VGG16:</a:t>
            </a:r>
            <a:endParaRPr/>
          </a:p>
        </p:txBody>
      </p:sp>
      <p:sp>
        <p:nvSpPr>
          <p:cNvPr id="125" name="Google Shape;125;p22"/>
          <p:cNvSpPr txBox="1"/>
          <p:nvPr>
            <p:ph idx="1" type="body"/>
          </p:nvPr>
        </p:nvSpPr>
        <p:spPr>
          <a:xfrm>
            <a:off x="311700" y="985100"/>
            <a:ext cx="8520600" cy="1977000"/>
          </a:xfrm>
          <a:prstGeom prst="rect">
            <a:avLst/>
          </a:prstGeom>
        </p:spPr>
        <p:txBody>
          <a:bodyPr anchorCtr="0" anchor="t" bIns="91425" lIns="91425" spcFirstLastPara="1" rIns="91425" wrap="square" tIns="91425">
            <a:normAutofit fontScale="85000" lnSpcReduction="20000"/>
          </a:bodyPr>
          <a:lstStyle/>
          <a:p>
            <a:pPr indent="-348211" lvl="0" marL="457200" rtl="0" algn="l">
              <a:spcBef>
                <a:spcPts val="0"/>
              </a:spcBef>
              <a:spcAft>
                <a:spcPts val="0"/>
              </a:spcAft>
              <a:buSzPct val="100000"/>
              <a:buFont typeface="Courier New"/>
              <a:buChar char="●"/>
            </a:pPr>
            <a:r>
              <a:rPr b="1" lang="ja" sz="2216">
                <a:solidFill>
                  <a:srgbClr val="1F1F1F"/>
                </a:solidFill>
                <a:highlight>
                  <a:srgbClr val="FFFFFF"/>
                </a:highlight>
                <a:latin typeface="Courier New"/>
                <a:ea typeface="Courier New"/>
                <a:cs typeface="Courier New"/>
                <a:sym typeface="Courier New"/>
              </a:rPr>
              <a:t>Total params: </a:t>
            </a:r>
            <a:r>
              <a:rPr lang="ja" sz="2216">
                <a:solidFill>
                  <a:srgbClr val="00AF00"/>
                </a:solidFill>
                <a:highlight>
                  <a:srgbClr val="FFFFFF"/>
                </a:highlight>
                <a:latin typeface="Courier New"/>
                <a:ea typeface="Courier New"/>
                <a:cs typeface="Courier New"/>
                <a:sym typeface="Courier New"/>
              </a:rPr>
              <a:t>14.78</a:t>
            </a:r>
            <a:r>
              <a:rPr lang="ja" sz="2216">
                <a:solidFill>
                  <a:srgbClr val="1F1F1F"/>
                </a:solidFill>
                <a:highlight>
                  <a:srgbClr val="FFFFFF"/>
                </a:highlight>
                <a:latin typeface="Courier New"/>
                <a:ea typeface="Courier New"/>
                <a:cs typeface="Courier New"/>
                <a:sym typeface="Courier New"/>
              </a:rPr>
              <a:t> (56.38 MB)</a:t>
            </a:r>
            <a:endParaRPr sz="2216">
              <a:solidFill>
                <a:srgbClr val="1F1F1F"/>
              </a:solidFill>
              <a:highlight>
                <a:srgbClr val="FFFFFF"/>
              </a:highlight>
              <a:latin typeface="Courier New"/>
              <a:ea typeface="Courier New"/>
              <a:cs typeface="Courier New"/>
              <a:sym typeface="Courier New"/>
            </a:endParaRPr>
          </a:p>
          <a:p>
            <a:pPr indent="-348211" lvl="0" marL="457200" rtl="0" algn="l">
              <a:spcBef>
                <a:spcPts val="0"/>
              </a:spcBef>
              <a:spcAft>
                <a:spcPts val="0"/>
              </a:spcAft>
              <a:buSzPct val="100000"/>
              <a:buFont typeface="Courier New"/>
              <a:buChar char="●"/>
            </a:pPr>
            <a:r>
              <a:rPr b="1" lang="ja" sz="2216">
                <a:solidFill>
                  <a:srgbClr val="1F1F1F"/>
                </a:solidFill>
                <a:highlight>
                  <a:srgbClr val="FFFFFF"/>
                </a:highlight>
                <a:latin typeface="Courier New"/>
                <a:ea typeface="Courier New"/>
                <a:cs typeface="Courier New"/>
                <a:sym typeface="Courier New"/>
              </a:rPr>
              <a:t>Trainable p</a:t>
            </a:r>
            <a:r>
              <a:rPr b="1" lang="ja" sz="2216">
                <a:solidFill>
                  <a:srgbClr val="1F1F1F"/>
                </a:solidFill>
                <a:highlight>
                  <a:srgbClr val="FFFFFF"/>
                </a:highlight>
                <a:latin typeface="Courier New"/>
                <a:ea typeface="Courier New"/>
                <a:cs typeface="Courier New"/>
                <a:sym typeface="Courier New"/>
              </a:rPr>
              <a:t>a</a:t>
            </a:r>
            <a:r>
              <a:rPr b="1" lang="ja" sz="2216">
                <a:solidFill>
                  <a:srgbClr val="1F1F1F"/>
                </a:solidFill>
                <a:highlight>
                  <a:srgbClr val="FFFFFF"/>
                </a:highlight>
                <a:latin typeface="Courier New"/>
                <a:ea typeface="Courier New"/>
                <a:cs typeface="Courier New"/>
                <a:sym typeface="Courier New"/>
              </a:rPr>
              <a:t>rams: </a:t>
            </a:r>
            <a:r>
              <a:rPr lang="ja" sz="2216">
                <a:solidFill>
                  <a:srgbClr val="00AF00"/>
                </a:solidFill>
                <a:highlight>
                  <a:srgbClr val="FFFFFF"/>
                </a:highlight>
                <a:latin typeface="Courier New"/>
                <a:ea typeface="Courier New"/>
                <a:cs typeface="Courier New"/>
                <a:sym typeface="Courier New"/>
              </a:rPr>
              <a:t>65,793</a:t>
            </a:r>
            <a:r>
              <a:rPr lang="ja" sz="2216">
                <a:solidFill>
                  <a:srgbClr val="1F1F1F"/>
                </a:solidFill>
                <a:highlight>
                  <a:srgbClr val="FFFFFF"/>
                </a:highlight>
                <a:latin typeface="Courier New"/>
                <a:ea typeface="Courier New"/>
                <a:cs typeface="Courier New"/>
                <a:sym typeface="Courier New"/>
              </a:rPr>
              <a:t> (257.00 KB)</a:t>
            </a:r>
            <a:endParaRPr sz="2216">
              <a:solidFill>
                <a:srgbClr val="1F1F1F"/>
              </a:solidFill>
              <a:highlight>
                <a:srgbClr val="FFFFFF"/>
              </a:highlight>
              <a:latin typeface="Courier New"/>
              <a:ea typeface="Courier New"/>
              <a:cs typeface="Courier New"/>
              <a:sym typeface="Courier New"/>
            </a:endParaRPr>
          </a:p>
          <a:p>
            <a:pPr indent="-348211" lvl="0" marL="457200" rtl="0" algn="l">
              <a:spcBef>
                <a:spcPts val="0"/>
              </a:spcBef>
              <a:spcAft>
                <a:spcPts val="0"/>
              </a:spcAft>
              <a:buSzPct val="100000"/>
              <a:buFont typeface="Courier New"/>
              <a:buChar char="●"/>
            </a:pPr>
            <a:r>
              <a:rPr b="1" lang="ja" sz="2216">
                <a:solidFill>
                  <a:srgbClr val="1F1F1F"/>
                </a:solidFill>
                <a:highlight>
                  <a:srgbClr val="FFFFFF"/>
                </a:highlight>
                <a:latin typeface="Courier New"/>
                <a:ea typeface="Courier New"/>
                <a:cs typeface="Courier New"/>
                <a:sym typeface="Courier New"/>
              </a:rPr>
              <a:t>Non-trainable params: </a:t>
            </a:r>
            <a:r>
              <a:rPr lang="ja" sz="2216">
                <a:solidFill>
                  <a:srgbClr val="00AF00"/>
                </a:solidFill>
                <a:highlight>
                  <a:srgbClr val="FFFFFF"/>
                </a:highlight>
                <a:latin typeface="Courier New"/>
                <a:ea typeface="Courier New"/>
                <a:cs typeface="Courier New"/>
                <a:sym typeface="Courier New"/>
              </a:rPr>
              <a:t>14.7</a:t>
            </a:r>
            <a:r>
              <a:rPr lang="ja" sz="2216">
                <a:solidFill>
                  <a:srgbClr val="1F1F1F"/>
                </a:solidFill>
                <a:highlight>
                  <a:srgbClr val="FFFFFF"/>
                </a:highlight>
                <a:latin typeface="Courier New"/>
                <a:ea typeface="Courier New"/>
                <a:cs typeface="Courier New"/>
                <a:sym typeface="Courier New"/>
              </a:rPr>
              <a:t> (56.13 MB)</a:t>
            </a:r>
            <a:endParaRPr sz="2216">
              <a:solidFill>
                <a:srgbClr val="1F1F1F"/>
              </a:solidFill>
              <a:highlight>
                <a:srgbClr val="FFFFFF"/>
              </a:highlight>
              <a:latin typeface="Courier New"/>
              <a:ea typeface="Courier New"/>
              <a:cs typeface="Courier New"/>
              <a:sym typeface="Courier New"/>
            </a:endParaRPr>
          </a:p>
          <a:p>
            <a:pPr indent="-348211" lvl="0" marL="457200" rtl="0" algn="l">
              <a:spcBef>
                <a:spcPts val="0"/>
              </a:spcBef>
              <a:spcAft>
                <a:spcPts val="0"/>
              </a:spcAft>
              <a:buClr>
                <a:srgbClr val="1F1F1F"/>
              </a:buClr>
              <a:buSzPct val="97793"/>
              <a:buFont typeface="Courier New"/>
              <a:buChar char="●"/>
            </a:pPr>
            <a:r>
              <a:rPr b="1" lang="ja" sz="2266">
                <a:solidFill>
                  <a:schemeClr val="dk1"/>
                </a:solidFill>
              </a:rPr>
              <a:t>93% accuracy</a:t>
            </a:r>
            <a:endParaRPr b="1" sz="2266">
              <a:solidFill>
                <a:schemeClr val="dk1"/>
              </a:solidFill>
            </a:endParaRPr>
          </a:p>
          <a:p>
            <a:pPr indent="-350910" lvl="0" marL="457200" rtl="0" algn="l">
              <a:spcBef>
                <a:spcPts val="0"/>
              </a:spcBef>
              <a:spcAft>
                <a:spcPts val="0"/>
              </a:spcAft>
              <a:buClr>
                <a:schemeClr val="dk1"/>
              </a:buClr>
              <a:buSzPct val="100000"/>
              <a:buChar char="●"/>
            </a:pPr>
            <a:r>
              <a:rPr b="1" lang="ja" sz="2266">
                <a:solidFill>
                  <a:schemeClr val="dk1"/>
                </a:solidFill>
              </a:rPr>
              <a:t>20 epochs</a:t>
            </a:r>
            <a:endParaRPr b="1" sz="2266">
              <a:solidFill>
                <a:schemeClr val="dk1"/>
              </a:solidFill>
            </a:endParaRPr>
          </a:p>
          <a:p>
            <a:pPr indent="0" lvl="0" marL="457200" rtl="0" algn="l">
              <a:spcBef>
                <a:spcPts val="0"/>
              </a:spcBef>
              <a:spcAft>
                <a:spcPts val="0"/>
              </a:spcAft>
              <a:buNone/>
            </a:pPr>
            <a:r>
              <a:t/>
            </a:r>
            <a:endParaRPr b="1" sz="1100">
              <a:solidFill>
                <a:schemeClr val="dk1"/>
              </a:solidFill>
            </a:endParaRPr>
          </a:p>
          <a:p>
            <a:pPr indent="0" lvl="0" marL="0" rtl="0" algn="l">
              <a:spcBef>
                <a:spcPts val="0"/>
              </a:spcBef>
              <a:spcAft>
                <a:spcPts val="1200"/>
              </a:spcAft>
              <a:buNone/>
            </a:pPr>
            <a:r>
              <a:t/>
            </a:r>
            <a:endParaRPr/>
          </a:p>
        </p:txBody>
      </p:sp>
      <p:pic>
        <p:nvPicPr>
          <p:cNvPr id="126" name="Google Shape;126;p22"/>
          <p:cNvPicPr preferRelativeResize="0"/>
          <p:nvPr/>
        </p:nvPicPr>
        <p:blipFill>
          <a:blip r:embed="rId3">
            <a:alphaModFix/>
          </a:blip>
          <a:stretch>
            <a:fillRect/>
          </a:stretch>
        </p:blipFill>
        <p:spPr>
          <a:xfrm>
            <a:off x="804825" y="2519175"/>
            <a:ext cx="3101200" cy="2341450"/>
          </a:xfrm>
          <a:prstGeom prst="rect">
            <a:avLst/>
          </a:prstGeom>
          <a:noFill/>
          <a:ln>
            <a:noFill/>
          </a:ln>
        </p:spPr>
      </p:pic>
      <p:pic>
        <p:nvPicPr>
          <p:cNvPr id="127" name="Google Shape;127;p22"/>
          <p:cNvPicPr preferRelativeResize="0"/>
          <p:nvPr/>
        </p:nvPicPr>
        <p:blipFill>
          <a:blip r:embed="rId4">
            <a:alphaModFix/>
          </a:blip>
          <a:stretch>
            <a:fillRect/>
          </a:stretch>
        </p:blipFill>
        <p:spPr>
          <a:xfrm>
            <a:off x="4243275" y="2296453"/>
            <a:ext cx="3381700" cy="2564175"/>
          </a:xfrm>
          <a:prstGeom prst="rect">
            <a:avLst/>
          </a:prstGeom>
          <a:noFill/>
          <a:ln>
            <a:noFill/>
          </a:ln>
        </p:spPr>
      </p:pic>
      <p:sp>
        <p:nvSpPr>
          <p:cNvPr id="128" name="Google Shape;128;p22"/>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8</a:t>
            </a:r>
            <a:endParaRPr sz="11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76200" y="76150"/>
            <a:ext cx="4025100" cy="74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ja" sz="1900"/>
              <a:t>Classification with Vision Transformers (ViT) </a:t>
            </a:r>
            <a:endParaRPr sz="1900"/>
          </a:p>
        </p:txBody>
      </p:sp>
      <p:sp>
        <p:nvSpPr>
          <p:cNvPr id="134" name="Google Shape;134;p23"/>
          <p:cNvSpPr txBox="1"/>
          <p:nvPr>
            <p:ph idx="1" type="body"/>
          </p:nvPr>
        </p:nvSpPr>
        <p:spPr>
          <a:xfrm>
            <a:off x="117750" y="1453850"/>
            <a:ext cx="4260300" cy="17085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b="1" lang="ja" sz="1200">
                <a:solidFill>
                  <a:schemeClr val="dk1"/>
                </a:solidFill>
              </a:rPr>
              <a:t>1. Project Goal</a:t>
            </a:r>
            <a:endParaRPr b="1" sz="1000">
              <a:solidFill>
                <a:schemeClr val="dk1"/>
              </a:solidFill>
            </a:endParaRPr>
          </a:p>
          <a:p>
            <a:pPr indent="-292100" lvl="0" marL="457200" rtl="0" algn="l">
              <a:spcBef>
                <a:spcPts val="1200"/>
              </a:spcBef>
              <a:spcAft>
                <a:spcPts val="0"/>
              </a:spcAft>
              <a:buClr>
                <a:schemeClr val="dk1"/>
              </a:buClr>
              <a:buSzPts val="1000"/>
              <a:buChar char="●"/>
            </a:pPr>
            <a:r>
              <a:rPr b="1" lang="ja" sz="1000">
                <a:solidFill>
                  <a:schemeClr val="dk1"/>
                </a:solidFill>
              </a:rPr>
              <a:t>ViT </a:t>
            </a:r>
            <a:r>
              <a:rPr lang="ja" sz="1000">
                <a:solidFill>
                  <a:schemeClr val="dk1"/>
                </a:solidFill>
              </a:rPr>
              <a:t>is a Transformer-based pre-trained </a:t>
            </a:r>
            <a:r>
              <a:rPr lang="ja" sz="1000">
                <a:solidFill>
                  <a:schemeClr val="dk1"/>
                </a:solidFill>
              </a:rPr>
              <a:t>model </a:t>
            </a:r>
            <a:r>
              <a:rPr lang="ja" sz="1000">
                <a:solidFill>
                  <a:schemeClr val="dk1"/>
                </a:solidFill>
              </a:rPr>
              <a:t>for image classification tasks.</a:t>
            </a:r>
            <a:endParaRPr sz="1000">
              <a:solidFill>
                <a:schemeClr val="dk1"/>
              </a:solidFill>
            </a:endParaRPr>
          </a:p>
          <a:p>
            <a:pPr indent="-292100" lvl="0" marL="457200" rtl="0" algn="l">
              <a:spcBef>
                <a:spcPts val="0"/>
              </a:spcBef>
              <a:spcAft>
                <a:spcPts val="0"/>
              </a:spcAft>
              <a:buClr>
                <a:schemeClr val="dk1"/>
              </a:buClr>
              <a:buSzPts val="1000"/>
              <a:buChar char="●"/>
            </a:pPr>
            <a:r>
              <a:rPr b="1" lang="ja" sz="1000">
                <a:solidFill>
                  <a:schemeClr val="dk1"/>
                </a:solidFill>
              </a:rPr>
              <a:t>Classify</a:t>
            </a:r>
            <a:r>
              <a:rPr lang="ja" sz="1000">
                <a:solidFill>
                  <a:schemeClr val="dk1"/>
                </a:solidFill>
              </a:rPr>
              <a:t> malaria cell images as </a:t>
            </a:r>
            <a:r>
              <a:rPr b="1" lang="ja" sz="1000">
                <a:solidFill>
                  <a:schemeClr val="dk1"/>
                </a:solidFill>
              </a:rPr>
              <a:t>Parasitized</a:t>
            </a:r>
            <a:r>
              <a:rPr lang="ja" sz="1000">
                <a:solidFill>
                  <a:schemeClr val="dk1"/>
                </a:solidFill>
              </a:rPr>
              <a:t> or </a:t>
            </a:r>
            <a:r>
              <a:rPr b="1" lang="ja" sz="1000">
                <a:solidFill>
                  <a:schemeClr val="dk1"/>
                </a:solidFill>
              </a:rPr>
              <a:t>Uninfected</a:t>
            </a:r>
            <a:endParaRPr b="1" sz="1000">
              <a:solidFill>
                <a:schemeClr val="dk1"/>
              </a:solidFill>
            </a:endParaRPr>
          </a:p>
          <a:p>
            <a:pPr indent="-292100" lvl="0" marL="457200" rtl="0" algn="l">
              <a:spcBef>
                <a:spcPts val="0"/>
              </a:spcBef>
              <a:spcAft>
                <a:spcPts val="0"/>
              </a:spcAft>
              <a:buClr>
                <a:schemeClr val="dk1"/>
              </a:buClr>
              <a:buSzPts val="1000"/>
              <a:buChar char="●"/>
            </a:pPr>
            <a:r>
              <a:rPr b="1" lang="ja" sz="1000">
                <a:solidFill>
                  <a:schemeClr val="dk1"/>
                </a:solidFill>
              </a:rPr>
              <a:t>Compare:</a:t>
            </a:r>
            <a:endParaRPr b="1" sz="1000">
              <a:solidFill>
                <a:schemeClr val="dk1"/>
              </a:solidFill>
            </a:endParaRPr>
          </a:p>
          <a:p>
            <a:pPr indent="-292100" lvl="1" marL="914400" rtl="0" algn="l">
              <a:spcBef>
                <a:spcPts val="0"/>
              </a:spcBef>
              <a:spcAft>
                <a:spcPts val="0"/>
              </a:spcAft>
              <a:buClr>
                <a:schemeClr val="dk1"/>
              </a:buClr>
              <a:buSzPts val="1000"/>
              <a:buChar char="○"/>
            </a:pPr>
            <a:r>
              <a:rPr lang="ja" sz="1000">
                <a:solidFill>
                  <a:schemeClr val="dk1"/>
                </a:solidFill>
              </a:rPr>
              <a:t>Training only the classification head (head-only transfer learning)</a:t>
            </a:r>
            <a:endParaRPr sz="1000">
              <a:solidFill>
                <a:schemeClr val="dk1"/>
              </a:solidFill>
            </a:endParaRPr>
          </a:p>
          <a:p>
            <a:pPr indent="-292100" lvl="1" marL="914400" rtl="0" algn="l">
              <a:spcBef>
                <a:spcPts val="0"/>
              </a:spcBef>
              <a:spcAft>
                <a:spcPts val="0"/>
              </a:spcAft>
              <a:buClr>
                <a:schemeClr val="dk1"/>
              </a:buClr>
              <a:buSzPts val="1000"/>
              <a:buChar char="○"/>
            </a:pPr>
            <a:r>
              <a:rPr lang="ja" sz="1000">
                <a:solidFill>
                  <a:schemeClr val="dk1"/>
                </a:solidFill>
              </a:rPr>
              <a:t>Fine-tuning all layers </a:t>
            </a:r>
            <a:r>
              <a:rPr lang="ja" sz="1000">
                <a:solidFill>
                  <a:schemeClr val="dk1"/>
                </a:solidFill>
              </a:rPr>
              <a:t>(full model)</a:t>
            </a:r>
            <a:endParaRPr sz="1300"/>
          </a:p>
        </p:txBody>
      </p:sp>
      <p:sp>
        <p:nvSpPr>
          <p:cNvPr id="135" name="Google Shape;135;p23"/>
          <p:cNvSpPr txBox="1"/>
          <p:nvPr/>
        </p:nvSpPr>
        <p:spPr>
          <a:xfrm>
            <a:off x="76200" y="958273"/>
            <a:ext cx="1033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ja" u="sng">
                <a:solidFill>
                  <a:schemeClr val="accent5"/>
                </a:solidFill>
                <a:hlinkClick r:id="rId3">
                  <a:extLst>
                    <a:ext uri="{A12FA001-AC4F-418D-AE19-62706E023703}">
                      <ahyp:hlinkClr val="tx"/>
                    </a:ext>
                  </a:extLst>
                </a:hlinkClick>
              </a:rPr>
              <a:t>Colab Link</a:t>
            </a:r>
            <a:endParaRPr/>
          </a:p>
        </p:txBody>
      </p:sp>
      <p:sp>
        <p:nvSpPr>
          <p:cNvPr id="136" name="Google Shape;136;p23"/>
          <p:cNvSpPr txBox="1"/>
          <p:nvPr/>
        </p:nvSpPr>
        <p:spPr>
          <a:xfrm>
            <a:off x="4586850" y="183600"/>
            <a:ext cx="4439400" cy="429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ja" sz="1100">
                <a:solidFill>
                  <a:schemeClr val="dk1"/>
                </a:solidFill>
              </a:rPr>
              <a:t>2. </a:t>
            </a:r>
            <a:r>
              <a:rPr b="1" lang="ja" sz="1100">
                <a:solidFill>
                  <a:schemeClr val="dk1"/>
                </a:solidFill>
              </a:rPr>
              <a:t>Workflow Overview</a:t>
            </a:r>
            <a:endParaRPr b="1" sz="1100">
              <a:solidFill>
                <a:schemeClr val="dk1"/>
              </a:solidFill>
            </a:endParaRPr>
          </a:p>
          <a:p>
            <a:pPr indent="0" lvl="0" marL="0" rtl="0" algn="l">
              <a:lnSpc>
                <a:spcPct val="115000"/>
              </a:lnSpc>
              <a:spcBef>
                <a:spcPts val="1200"/>
              </a:spcBef>
              <a:spcAft>
                <a:spcPts val="0"/>
              </a:spcAft>
              <a:buNone/>
            </a:pPr>
            <a:r>
              <a:rPr b="1" lang="ja" sz="900">
                <a:solidFill>
                  <a:schemeClr val="dk1"/>
                </a:solidFill>
              </a:rPr>
              <a:t>a. Data Preparation</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ja" sz="900">
                <a:solidFill>
                  <a:schemeClr val="dk1"/>
                </a:solidFill>
              </a:rPr>
              <a:t>Dataset: Cell images, split into train/test folders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ja" sz="900">
                <a:solidFill>
                  <a:schemeClr val="dk1"/>
                </a:solidFill>
              </a:rPr>
              <a:t>Preprocessing:</a:t>
            </a:r>
            <a:endParaRPr sz="900">
              <a:solidFill>
                <a:schemeClr val="dk1"/>
              </a:solidFill>
            </a:endParaRPr>
          </a:p>
          <a:p>
            <a:pPr indent="-285750" lvl="1" marL="914400" rtl="0" algn="l">
              <a:lnSpc>
                <a:spcPct val="115000"/>
              </a:lnSpc>
              <a:spcBef>
                <a:spcPts val="0"/>
              </a:spcBef>
              <a:spcAft>
                <a:spcPts val="0"/>
              </a:spcAft>
              <a:buClr>
                <a:schemeClr val="dk1"/>
              </a:buClr>
              <a:buSzPts val="900"/>
              <a:buChar char="○"/>
            </a:pPr>
            <a:r>
              <a:rPr lang="ja" sz="900">
                <a:solidFill>
                  <a:schemeClr val="dk1"/>
                </a:solidFill>
              </a:rPr>
              <a:t>Resize to 224x224</a:t>
            </a:r>
            <a:endParaRPr sz="900">
              <a:solidFill>
                <a:schemeClr val="dk1"/>
              </a:solidFill>
            </a:endParaRPr>
          </a:p>
          <a:p>
            <a:pPr indent="-285750" lvl="1" marL="914400" rtl="0" algn="l">
              <a:lnSpc>
                <a:spcPct val="115000"/>
              </a:lnSpc>
              <a:spcBef>
                <a:spcPts val="0"/>
              </a:spcBef>
              <a:spcAft>
                <a:spcPts val="0"/>
              </a:spcAft>
              <a:buClr>
                <a:schemeClr val="dk1"/>
              </a:buClr>
              <a:buSzPts val="900"/>
              <a:buChar char="○"/>
            </a:pPr>
            <a:r>
              <a:rPr lang="ja" sz="900">
                <a:solidFill>
                  <a:schemeClr val="dk1"/>
                </a:solidFill>
              </a:rPr>
              <a:t>Normalize: </a:t>
            </a:r>
            <a:r>
              <a:rPr lang="ja" sz="900">
                <a:solidFill>
                  <a:srgbClr val="188038"/>
                </a:solidFill>
                <a:latin typeface="Roboto Mono"/>
                <a:ea typeface="Roboto Mono"/>
                <a:cs typeface="Roboto Mono"/>
                <a:sym typeface="Roboto Mono"/>
              </a:rPr>
              <a:t>img = (img - 0.5) / 0.5</a:t>
            </a:r>
            <a:endParaRPr sz="900">
              <a:solidFill>
                <a:srgbClr val="188038"/>
              </a:solidFill>
              <a:latin typeface="Roboto Mono"/>
              <a:ea typeface="Roboto Mono"/>
              <a:cs typeface="Roboto Mono"/>
              <a:sym typeface="Roboto Mono"/>
            </a:endParaRPr>
          </a:p>
          <a:p>
            <a:pPr indent="-285750" lvl="1" marL="914400" rtl="0" algn="l">
              <a:lnSpc>
                <a:spcPct val="115000"/>
              </a:lnSpc>
              <a:spcBef>
                <a:spcPts val="0"/>
              </a:spcBef>
              <a:spcAft>
                <a:spcPts val="0"/>
              </a:spcAft>
              <a:buClr>
                <a:schemeClr val="dk1"/>
              </a:buClr>
              <a:buSzPts val="900"/>
              <a:buChar char="○"/>
            </a:pPr>
            <a:r>
              <a:rPr lang="ja" sz="900">
                <a:solidFill>
                  <a:schemeClr val="dk1"/>
                </a:solidFill>
              </a:rPr>
              <a:t>Check &amp; remove corrupted images</a:t>
            </a:r>
            <a:endParaRPr sz="900">
              <a:solidFill>
                <a:schemeClr val="dk1"/>
              </a:solidFill>
            </a:endParaRPr>
          </a:p>
          <a:p>
            <a:pPr indent="0" lvl="0" marL="0" rtl="0" algn="l">
              <a:lnSpc>
                <a:spcPct val="115000"/>
              </a:lnSpc>
              <a:spcBef>
                <a:spcPts val="1200"/>
              </a:spcBef>
              <a:spcAft>
                <a:spcPts val="0"/>
              </a:spcAft>
              <a:buNone/>
            </a:pPr>
            <a:r>
              <a:rPr b="1" lang="ja" sz="900">
                <a:solidFill>
                  <a:schemeClr val="dk1"/>
                </a:solidFill>
              </a:rPr>
              <a:t>b. Model</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ja" sz="900">
                <a:solidFill>
                  <a:schemeClr val="dk1"/>
                </a:solidFill>
              </a:rPr>
              <a:t>Pretrained model: </a:t>
            </a:r>
            <a:r>
              <a:rPr lang="ja" sz="900">
                <a:solidFill>
                  <a:srgbClr val="188038"/>
                </a:solidFill>
                <a:latin typeface="Roboto Mono"/>
                <a:ea typeface="Roboto Mono"/>
                <a:cs typeface="Roboto Mono"/>
                <a:sym typeface="Roboto Mono"/>
              </a:rPr>
              <a:t>vit_tiny_patch16_224</a:t>
            </a:r>
            <a:r>
              <a:rPr lang="ja" sz="900">
                <a:solidFill>
                  <a:schemeClr val="dk1"/>
                </a:solidFill>
              </a:rPr>
              <a:t> from timm </a:t>
            </a:r>
            <a:r>
              <a:rPr lang="ja" sz="900">
                <a:solidFill>
                  <a:schemeClr val="dk1"/>
                </a:solidFill>
              </a:rPr>
              <a:t>library</a:t>
            </a:r>
            <a:endParaRPr sz="900">
              <a:solidFill>
                <a:schemeClr val="dk1"/>
              </a:solidFill>
            </a:endParaRPr>
          </a:p>
          <a:p>
            <a:pPr indent="0" lvl="0" marL="0" rtl="0" algn="l">
              <a:lnSpc>
                <a:spcPct val="115000"/>
              </a:lnSpc>
              <a:spcBef>
                <a:spcPts val="1200"/>
              </a:spcBef>
              <a:spcAft>
                <a:spcPts val="0"/>
              </a:spcAft>
              <a:buNone/>
            </a:pPr>
            <a:r>
              <a:rPr b="1" lang="ja" sz="900">
                <a:solidFill>
                  <a:schemeClr val="dk1"/>
                </a:solidFill>
              </a:rPr>
              <a:t>c. Training</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ja" sz="900">
                <a:solidFill>
                  <a:schemeClr val="dk1"/>
                </a:solidFill>
              </a:rPr>
              <a:t>Optimizer: Adam</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ja" sz="900">
                <a:solidFill>
                  <a:schemeClr val="dk1"/>
                </a:solidFill>
              </a:rPr>
              <a:t>Loss: CrossEntropyLoss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ja" sz="900">
                <a:solidFill>
                  <a:schemeClr val="dk1"/>
                </a:solidFill>
              </a:rPr>
              <a:t>Epoch 10</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ja" sz="900">
                <a:solidFill>
                  <a:schemeClr val="dk1"/>
                </a:solidFill>
              </a:rPr>
              <a:t>Head-only: Only head parameters trainable (Trainable parameters: 386)</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ja" sz="900">
                <a:solidFill>
                  <a:schemeClr val="dk1"/>
                </a:solidFill>
              </a:rPr>
              <a:t>Fine-tuning: All parameters trainable (Total Parameters: 5,524,802)</a:t>
            </a:r>
            <a:endParaRPr sz="900">
              <a:solidFill>
                <a:schemeClr val="dk1"/>
              </a:solidFill>
            </a:endParaRPr>
          </a:p>
          <a:p>
            <a:pPr indent="0" lvl="0" marL="0" rtl="0" algn="l">
              <a:lnSpc>
                <a:spcPct val="115000"/>
              </a:lnSpc>
              <a:spcBef>
                <a:spcPts val="1200"/>
              </a:spcBef>
              <a:spcAft>
                <a:spcPts val="0"/>
              </a:spcAft>
              <a:buNone/>
            </a:pPr>
            <a:r>
              <a:rPr b="1" lang="ja" sz="900">
                <a:solidFill>
                  <a:schemeClr val="dk1"/>
                </a:solidFill>
              </a:rPr>
              <a:t>d. Evaluation</a:t>
            </a:r>
            <a:endParaRPr b="1" sz="900">
              <a:solidFill>
                <a:schemeClr val="dk1"/>
              </a:solidFill>
            </a:endParaRPr>
          </a:p>
          <a:p>
            <a:pPr indent="-285750" lvl="0" marL="457200" rtl="0" algn="l">
              <a:lnSpc>
                <a:spcPct val="115000"/>
              </a:lnSpc>
              <a:spcBef>
                <a:spcPts val="1200"/>
              </a:spcBef>
              <a:spcAft>
                <a:spcPts val="0"/>
              </a:spcAft>
              <a:buClr>
                <a:schemeClr val="dk1"/>
              </a:buClr>
              <a:buSzPts val="900"/>
              <a:buChar char="●"/>
            </a:pPr>
            <a:r>
              <a:rPr lang="ja" sz="900">
                <a:solidFill>
                  <a:schemeClr val="dk1"/>
                </a:solidFill>
              </a:rPr>
              <a:t>Visualization with Loss/accuracy curves</a:t>
            </a:r>
            <a:endParaRPr sz="900">
              <a:solidFill>
                <a:schemeClr val="dk1"/>
              </a:solidFill>
            </a:endParaRPr>
          </a:p>
          <a:p>
            <a:pPr indent="-285750" lvl="0" marL="457200" rtl="0" algn="l">
              <a:lnSpc>
                <a:spcPct val="115000"/>
              </a:lnSpc>
              <a:spcBef>
                <a:spcPts val="0"/>
              </a:spcBef>
              <a:spcAft>
                <a:spcPts val="0"/>
              </a:spcAft>
              <a:buClr>
                <a:schemeClr val="dk1"/>
              </a:buClr>
              <a:buSzPts val="900"/>
              <a:buChar char="●"/>
            </a:pPr>
            <a:r>
              <a:rPr lang="ja" sz="900">
                <a:solidFill>
                  <a:schemeClr val="dk1"/>
                </a:solidFill>
              </a:rPr>
              <a:t>Metrics: Confusion Matrix, Classification Report</a:t>
            </a:r>
            <a:endParaRPr sz="900">
              <a:solidFill>
                <a:schemeClr val="dk1"/>
              </a:solidFill>
            </a:endParaRPr>
          </a:p>
        </p:txBody>
      </p:sp>
      <p:pic>
        <p:nvPicPr>
          <p:cNvPr id="137" name="Google Shape;137;p23"/>
          <p:cNvPicPr preferRelativeResize="0"/>
          <p:nvPr/>
        </p:nvPicPr>
        <p:blipFill>
          <a:blip r:embed="rId4">
            <a:alphaModFix/>
          </a:blip>
          <a:stretch>
            <a:fillRect/>
          </a:stretch>
        </p:blipFill>
        <p:spPr>
          <a:xfrm>
            <a:off x="174887" y="3115050"/>
            <a:ext cx="4146025" cy="1708625"/>
          </a:xfrm>
          <a:prstGeom prst="rect">
            <a:avLst/>
          </a:prstGeom>
          <a:noFill/>
          <a:ln>
            <a:noFill/>
          </a:ln>
        </p:spPr>
      </p:pic>
      <p:sp>
        <p:nvSpPr>
          <p:cNvPr id="138" name="Google Shape;138;p23"/>
          <p:cNvSpPr txBox="1"/>
          <p:nvPr/>
        </p:nvSpPr>
        <p:spPr>
          <a:xfrm>
            <a:off x="420138" y="4749750"/>
            <a:ext cx="36555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ja" sz="1000" u="sng">
                <a:solidFill>
                  <a:schemeClr val="dk1"/>
                </a:solidFill>
              </a:rPr>
              <a:t>Full </a:t>
            </a:r>
            <a:r>
              <a:rPr lang="ja" sz="1000" u="sng">
                <a:solidFill>
                  <a:schemeClr val="dk1"/>
                </a:solidFill>
              </a:rPr>
              <a:t>Fine-tuning training loss and accuracy curves</a:t>
            </a:r>
            <a:endParaRPr u="sng"/>
          </a:p>
        </p:txBody>
      </p:sp>
      <p:sp>
        <p:nvSpPr>
          <p:cNvPr id="139" name="Google Shape;139;p23"/>
          <p:cNvSpPr txBox="1"/>
          <p:nvPr/>
        </p:nvSpPr>
        <p:spPr>
          <a:xfrm>
            <a:off x="7609850" y="4680325"/>
            <a:ext cx="658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9</a:t>
            </a:r>
            <a:endParaRPr sz="11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258025" y="524550"/>
            <a:ext cx="3970600" cy="3093525"/>
          </a:xfrm>
          <a:prstGeom prst="rect">
            <a:avLst/>
          </a:prstGeom>
          <a:noFill/>
          <a:ln>
            <a:noFill/>
          </a:ln>
        </p:spPr>
      </p:pic>
      <p:pic>
        <p:nvPicPr>
          <p:cNvPr id="145" name="Google Shape;145;p24"/>
          <p:cNvPicPr preferRelativeResize="0"/>
          <p:nvPr/>
        </p:nvPicPr>
        <p:blipFill>
          <a:blip r:embed="rId4">
            <a:alphaModFix/>
          </a:blip>
          <a:stretch>
            <a:fillRect/>
          </a:stretch>
        </p:blipFill>
        <p:spPr>
          <a:xfrm>
            <a:off x="745100" y="3673250"/>
            <a:ext cx="2996450" cy="1329450"/>
          </a:xfrm>
          <a:prstGeom prst="rect">
            <a:avLst/>
          </a:prstGeom>
          <a:noFill/>
          <a:ln>
            <a:noFill/>
          </a:ln>
        </p:spPr>
      </p:pic>
      <p:pic>
        <p:nvPicPr>
          <p:cNvPr id="146" name="Google Shape;146;p24"/>
          <p:cNvPicPr preferRelativeResize="0"/>
          <p:nvPr/>
        </p:nvPicPr>
        <p:blipFill>
          <a:blip r:embed="rId5">
            <a:alphaModFix/>
          </a:blip>
          <a:stretch>
            <a:fillRect/>
          </a:stretch>
        </p:blipFill>
        <p:spPr>
          <a:xfrm>
            <a:off x="4714000" y="445625"/>
            <a:ext cx="4071925" cy="3172450"/>
          </a:xfrm>
          <a:prstGeom prst="rect">
            <a:avLst/>
          </a:prstGeom>
          <a:noFill/>
          <a:ln>
            <a:noFill/>
          </a:ln>
        </p:spPr>
      </p:pic>
      <p:pic>
        <p:nvPicPr>
          <p:cNvPr id="147" name="Google Shape;147;p24"/>
          <p:cNvPicPr preferRelativeResize="0"/>
          <p:nvPr/>
        </p:nvPicPr>
        <p:blipFill>
          <a:blip r:embed="rId6">
            <a:alphaModFix/>
          </a:blip>
          <a:stretch>
            <a:fillRect/>
          </a:stretch>
        </p:blipFill>
        <p:spPr>
          <a:xfrm>
            <a:off x="5239408" y="3673250"/>
            <a:ext cx="3021104" cy="1329450"/>
          </a:xfrm>
          <a:prstGeom prst="rect">
            <a:avLst/>
          </a:prstGeom>
          <a:noFill/>
          <a:ln>
            <a:noFill/>
          </a:ln>
        </p:spPr>
      </p:pic>
      <p:sp>
        <p:nvSpPr>
          <p:cNvPr id="148" name="Google Shape;148;p24"/>
          <p:cNvSpPr txBox="1"/>
          <p:nvPr/>
        </p:nvSpPr>
        <p:spPr>
          <a:xfrm>
            <a:off x="5633963" y="91625"/>
            <a:ext cx="2232000" cy="354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ja" sz="1100" u="sng">
                <a:solidFill>
                  <a:schemeClr val="dk1"/>
                </a:solidFill>
              </a:rPr>
              <a:t>Fine-tuning all layers (full model)</a:t>
            </a:r>
            <a:endParaRPr sz="1100" u="sng">
              <a:solidFill>
                <a:schemeClr val="dk1"/>
              </a:solidFill>
            </a:endParaRPr>
          </a:p>
        </p:txBody>
      </p:sp>
      <p:sp>
        <p:nvSpPr>
          <p:cNvPr id="149" name="Google Shape;149;p24"/>
          <p:cNvSpPr txBox="1"/>
          <p:nvPr/>
        </p:nvSpPr>
        <p:spPr>
          <a:xfrm>
            <a:off x="743325" y="-5725"/>
            <a:ext cx="3000000" cy="54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ja" sz="1100" u="sng">
                <a:solidFill>
                  <a:schemeClr val="dk1"/>
                </a:solidFill>
              </a:rPr>
              <a:t>Training only the classification head (head-only transfer learning)</a:t>
            </a:r>
            <a:endParaRPr u="sng"/>
          </a:p>
        </p:txBody>
      </p:sp>
      <p:sp>
        <p:nvSpPr>
          <p:cNvPr id="150" name="Google Shape;150;p24"/>
          <p:cNvSpPr txBox="1"/>
          <p:nvPr/>
        </p:nvSpPr>
        <p:spPr>
          <a:xfrm>
            <a:off x="8379950" y="4648700"/>
            <a:ext cx="810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10</a:t>
            </a:r>
            <a:endParaRPr sz="11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Comparison of All Models</a:t>
            </a:r>
            <a:endParaRPr/>
          </a:p>
        </p:txBody>
      </p:sp>
      <p:graphicFrame>
        <p:nvGraphicFramePr>
          <p:cNvPr id="156" name="Google Shape;156;p25"/>
          <p:cNvGraphicFramePr/>
          <p:nvPr/>
        </p:nvGraphicFramePr>
        <p:xfrm>
          <a:off x="952500" y="1152475"/>
          <a:ext cx="3000000" cy="3000000"/>
        </p:xfrm>
        <a:graphic>
          <a:graphicData uri="http://schemas.openxmlformats.org/drawingml/2006/table">
            <a:tbl>
              <a:tblPr>
                <a:noFill/>
                <a:tableStyleId>{70B0D8F7-58A0-43B5-81CB-B893925A9D1F}</a:tableStyleId>
              </a:tblPr>
              <a:tblGrid>
                <a:gridCol w="1447800"/>
                <a:gridCol w="1447800"/>
                <a:gridCol w="1447800"/>
                <a:gridCol w="1447800"/>
                <a:gridCol w="1447800"/>
              </a:tblGrid>
              <a:tr h="399525">
                <a:tc>
                  <a:txBody>
                    <a:bodyPr/>
                    <a:lstStyle/>
                    <a:p>
                      <a:pPr indent="0" lvl="0" marL="0" rtl="0" algn="ctr">
                        <a:lnSpc>
                          <a:spcPct val="115000"/>
                        </a:lnSpc>
                        <a:spcBef>
                          <a:spcPts val="0"/>
                        </a:spcBef>
                        <a:spcAft>
                          <a:spcPts val="0"/>
                        </a:spcAft>
                        <a:buNone/>
                      </a:pPr>
                      <a:r>
                        <a:rPr b="1" lang="ja" sz="1100"/>
                        <a:t>Model</a:t>
                      </a:r>
                      <a:endParaRPr b="1" sz="1100"/>
                    </a:p>
                  </a:txBody>
                  <a:tcPr marT="91425" marB="91425" marR="91425" marL="91425"/>
                </a:tc>
                <a:tc>
                  <a:txBody>
                    <a:bodyPr/>
                    <a:lstStyle/>
                    <a:p>
                      <a:pPr indent="0" lvl="0" marL="0" rtl="0" algn="ctr">
                        <a:lnSpc>
                          <a:spcPct val="115000"/>
                        </a:lnSpc>
                        <a:spcBef>
                          <a:spcPts val="0"/>
                        </a:spcBef>
                        <a:spcAft>
                          <a:spcPts val="0"/>
                        </a:spcAft>
                        <a:buNone/>
                      </a:pPr>
                      <a:r>
                        <a:rPr b="1" lang="ja" sz="1100"/>
                        <a:t>Accuracy (%)</a:t>
                      </a:r>
                      <a:endParaRPr b="1" sz="1100"/>
                    </a:p>
                  </a:txBody>
                  <a:tcPr marT="91425" marB="91425" marR="91425" marL="91425"/>
                </a:tc>
                <a:tc>
                  <a:txBody>
                    <a:bodyPr/>
                    <a:lstStyle/>
                    <a:p>
                      <a:pPr indent="0" lvl="0" marL="0" rtl="0" algn="l">
                        <a:spcBef>
                          <a:spcPts val="0"/>
                        </a:spcBef>
                        <a:spcAft>
                          <a:spcPts val="0"/>
                        </a:spcAft>
                        <a:buNone/>
                      </a:pPr>
                      <a:r>
                        <a:rPr lang="ja"/>
                        <a:t>Params</a:t>
                      </a:r>
                      <a:endParaRPr/>
                    </a:p>
                  </a:txBody>
                  <a:tcPr marT="91425" marB="91425" marR="91425" marL="91425"/>
                </a:tc>
                <a:tc>
                  <a:txBody>
                    <a:bodyPr/>
                    <a:lstStyle/>
                    <a:p>
                      <a:pPr indent="0" lvl="0" marL="0" rtl="0" algn="ctr">
                        <a:lnSpc>
                          <a:spcPct val="115000"/>
                        </a:lnSpc>
                        <a:spcBef>
                          <a:spcPts val="0"/>
                        </a:spcBef>
                        <a:spcAft>
                          <a:spcPts val="0"/>
                        </a:spcAft>
                        <a:buNone/>
                      </a:pPr>
                      <a:r>
                        <a:rPr b="1" lang="ja" sz="1100"/>
                        <a:t>Training Type</a:t>
                      </a:r>
                      <a:endParaRPr b="1" sz="1100"/>
                    </a:p>
                  </a:txBody>
                  <a:tcPr marT="91425" marB="91425" marR="91425" marL="91425"/>
                </a:tc>
                <a:tc>
                  <a:txBody>
                    <a:bodyPr/>
                    <a:lstStyle/>
                    <a:p>
                      <a:pPr indent="0" lvl="0" marL="0" rtl="0" algn="ctr">
                        <a:lnSpc>
                          <a:spcPct val="115000"/>
                        </a:lnSpc>
                        <a:spcBef>
                          <a:spcPts val="0"/>
                        </a:spcBef>
                        <a:spcAft>
                          <a:spcPts val="0"/>
                        </a:spcAft>
                        <a:buNone/>
                      </a:pPr>
                      <a:r>
                        <a:rPr b="1" lang="ja" sz="1100"/>
                        <a:t>Key Strengths</a:t>
                      </a:r>
                      <a:endParaRPr b="1" sz="1100"/>
                    </a:p>
                  </a:txBody>
                  <a:tcPr marT="91425" marB="91425" marR="91425" marL="91425"/>
                </a:tc>
              </a:tr>
              <a:tr h="646925">
                <a:tc>
                  <a:txBody>
                    <a:bodyPr/>
                    <a:lstStyle/>
                    <a:p>
                      <a:pPr indent="0" lvl="0" marL="0" rtl="0" algn="l">
                        <a:lnSpc>
                          <a:spcPct val="115000"/>
                        </a:lnSpc>
                        <a:spcBef>
                          <a:spcPts val="0"/>
                        </a:spcBef>
                        <a:spcAft>
                          <a:spcPts val="0"/>
                        </a:spcAft>
                        <a:buNone/>
                      </a:pPr>
                      <a:r>
                        <a:rPr lang="ja"/>
                        <a:t>CNN from Scratch</a:t>
                      </a:r>
                      <a:endParaRPr/>
                    </a:p>
                  </a:txBody>
                  <a:tcPr marT="91425" marB="91425" marR="91425" marL="91425"/>
                </a:tc>
                <a:tc>
                  <a:txBody>
                    <a:bodyPr/>
                    <a:lstStyle/>
                    <a:p>
                      <a:pPr indent="0" lvl="0" marL="0" rtl="0" algn="l">
                        <a:spcBef>
                          <a:spcPts val="0"/>
                        </a:spcBef>
                        <a:spcAft>
                          <a:spcPts val="0"/>
                        </a:spcAft>
                        <a:buNone/>
                      </a:pPr>
                      <a:r>
                        <a:rPr lang="ja"/>
                        <a:t>92.98</a:t>
                      </a:r>
                      <a:endParaRPr/>
                    </a:p>
                  </a:txBody>
                  <a:tcPr marT="91425" marB="91425" marR="91425" marL="91425"/>
                </a:tc>
                <a:tc>
                  <a:txBody>
                    <a:bodyPr/>
                    <a:lstStyle/>
                    <a:p>
                      <a:pPr indent="0" lvl="0" marL="0" rtl="0" algn="l">
                        <a:spcBef>
                          <a:spcPts val="0"/>
                        </a:spcBef>
                        <a:spcAft>
                          <a:spcPts val="0"/>
                        </a:spcAft>
                        <a:buNone/>
                      </a:pPr>
                      <a:r>
                        <a:rPr lang="ja"/>
                        <a:t>~1M (custom)</a:t>
                      </a:r>
                      <a:endParaRPr/>
                    </a:p>
                  </a:txBody>
                  <a:tcPr marT="91425" marB="91425" marR="91425" marL="91425"/>
                </a:tc>
                <a:tc>
                  <a:txBody>
                    <a:bodyPr/>
                    <a:lstStyle/>
                    <a:p>
                      <a:pPr indent="0" lvl="0" marL="0" rtl="0" algn="l">
                        <a:lnSpc>
                          <a:spcPct val="115000"/>
                        </a:lnSpc>
                        <a:spcBef>
                          <a:spcPts val="0"/>
                        </a:spcBef>
                        <a:spcAft>
                          <a:spcPts val="0"/>
                        </a:spcAft>
                        <a:buNone/>
                      </a:pPr>
                      <a:r>
                        <a:rPr lang="ja"/>
                        <a:t>Full Training</a:t>
                      </a:r>
                      <a:endParaRPr/>
                    </a:p>
                  </a:txBody>
                  <a:tcPr marT="91425" marB="91425" marR="91425" marL="91425"/>
                </a:tc>
                <a:tc>
                  <a:txBody>
                    <a:bodyPr/>
                    <a:lstStyle/>
                    <a:p>
                      <a:pPr indent="0" lvl="0" marL="0" rtl="0" algn="l">
                        <a:lnSpc>
                          <a:spcPct val="115000"/>
                        </a:lnSpc>
                        <a:spcBef>
                          <a:spcPts val="0"/>
                        </a:spcBef>
                        <a:spcAft>
                          <a:spcPts val="0"/>
                        </a:spcAft>
                        <a:buNone/>
                      </a:pPr>
                      <a:r>
                        <a:rPr lang="ja"/>
                        <a:t>Lightweight, custom-built</a:t>
                      </a:r>
                      <a:endParaRPr/>
                    </a:p>
                  </a:txBody>
                  <a:tcPr marT="91425" marB="91425" marR="91425" marL="91425"/>
                </a:tc>
              </a:tr>
              <a:tr h="1141800">
                <a:tc>
                  <a:txBody>
                    <a:bodyPr/>
                    <a:lstStyle/>
                    <a:p>
                      <a:pPr indent="0" lvl="0" marL="0" rtl="0" algn="l">
                        <a:spcBef>
                          <a:spcPts val="0"/>
                        </a:spcBef>
                        <a:spcAft>
                          <a:spcPts val="0"/>
                        </a:spcAft>
                        <a:buNone/>
                      </a:pPr>
                      <a:r>
                        <a:rPr lang="ja"/>
                        <a:t>VGG16 (Transfer Learning)</a:t>
                      </a:r>
                      <a:endParaRPr/>
                    </a:p>
                  </a:txBody>
                  <a:tcPr marT="91425" marB="91425" marR="91425" marL="91425"/>
                </a:tc>
                <a:tc>
                  <a:txBody>
                    <a:bodyPr/>
                    <a:lstStyle/>
                    <a:p>
                      <a:pPr indent="0" lvl="0" marL="0" rtl="0" algn="l">
                        <a:spcBef>
                          <a:spcPts val="0"/>
                        </a:spcBef>
                        <a:spcAft>
                          <a:spcPts val="0"/>
                        </a:spcAft>
                        <a:buNone/>
                      </a:pPr>
                      <a:r>
                        <a:rPr lang="ja"/>
                        <a:t>93</a:t>
                      </a:r>
                      <a:endParaRPr/>
                    </a:p>
                  </a:txBody>
                  <a:tcPr marT="91425" marB="91425" marR="91425" marL="91425"/>
                </a:tc>
                <a:tc>
                  <a:txBody>
                    <a:bodyPr/>
                    <a:lstStyle/>
                    <a:p>
                      <a:pPr indent="0" lvl="0" marL="0" rtl="0" algn="l">
                        <a:spcBef>
                          <a:spcPts val="0"/>
                        </a:spcBef>
                        <a:spcAft>
                          <a:spcPts val="0"/>
                        </a:spcAft>
                        <a:buNone/>
                      </a:pPr>
                      <a:r>
                        <a:rPr lang="ja"/>
                        <a:t>14.78M (mostly frozen)</a:t>
                      </a:r>
                      <a:endParaRPr/>
                    </a:p>
                  </a:txBody>
                  <a:tcPr marT="91425" marB="91425" marR="91425" marL="91425"/>
                </a:tc>
                <a:tc>
                  <a:txBody>
                    <a:bodyPr/>
                    <a:lstStyle/>
                    <a:p>
                      <a:pPr indent="0" lvl="0" marL="0" rtl="0" algn="l">
                        <a:lnSpc>
                          <a:spcPct val="115000"/>
                        </a:lnSpc>
                        <a:spcBef>
                          <a:spcPts val="0"/>
                        </a:spcBef>
                        <a:spcAft>
                          <a:spcPts val="0"/>
                        </a:spcAft>
                        <a:buNone/>
                      </a:pPr>
                      <a:r>
                        <a:rPr lang="ja"/>
                        <a:t>Feature Extraction + Custom Head</a:t>
                      </a:r>
                      <a:endParaRPr/>
                    </a:p>
                  </a:txBody>
                  <a:tcPr marT="91425" marB="91425" marR="91425" marL="91425"/>
                </a:tc>
                <a:tc>
                  <a:txBody>
                    <a:bodyPr/>
                    <a:lstStyle/>
                    <a:p>
                      <a:pPr indent="0" lvl="0" marL="0" rtl="0" algn="l">
                        <a:lnSpc>
                          <a:spcPct val="115000"/>
                        </a:lnSpc>
                        <a:spcBef>
                          <a:spcPts val="0"/>
                        </a:spcBef>
                        <a:spcAft>
                          <a:spcPts val="0"/>
                        </a:spcAft>
                        <a:buNone/>
                      </a:pPr>
                      <a:r>
                        <a:rPr lang="ja"/>
                        <a:t>Strong accuracy with minimal compute</a:t>
                      </a:r>
                      <a:endParaRPr/>
                    </a:p>
                  </a:txBody>
                  <a:tcPr marT="91425" marB="91425" marR="91425" marL="91425"/>
                </a:tc>
              </a:tr>
              <a:tr h="894350">
                <a:tc>
                  <a:txBody>
                    <a:bodyPr/>
                    <a:lstStyle/>
                    <a:p>
                      <a:pPr indent="0" lvl="0" marL="0" rtl="0" algn="l">
                        <a:spcBef>
                          <a:spcPts val="0"/>
                        </a:spcBef>
                        <a:spcAft>
                          <a:spcPts val="0"/>
                        </a:spcAft>
                        <a:buNone/>
                      </a:pPr>
                      <a:r>
                        <a:rPr lang="ja"/>
                        <a:t>ViT - Head Only</a:t>
                      </a:r>
                      <a:endParaRPr/>
                    </a:p>
                  </a:txBody>
                  <a:tcPr marT="91425" marB="91425" marR="91425" marL="91425"/>
                </a:tc>
                <a:tc>
                  <a:txBody>
                    <a:bodyPr/>
                    <a:lstStyle/>
                    <a:p>
                      <a:pPr indent="0" lvl="0" marL="0" rtl="0" algn="l">
                        <a:spcBef>
                          <a:spcPts val="0"/>
                        </a:spcBef>
                        <a:spcAft>
                          <a:spcPts val="0"/>
                        </a:spcAft>
                        <a:buNone/>
                      </a:pPr>
                      <a:r>
                        <a:rPr lang="ja"/>
                        <a:t>96</a:t>
                      </a:r>
                      <a:endParaRPr/>
                    </a:p>
                  </a:txBody>
                  <a:tcPr marT="91425" marB="91425" marR="91425" marL="91425"/>
                </a:tc>
                <a:tc>
                  <a:txBody>
                    <a:bodyPr/>
                    <a:lstStyle/>
                    <a:p>
                      <a:pPr indent="0" lvl="0" marL="0" rtl="0" algn="l">
                        <a:spcBef>
                          <a:spcPts val="0"/>
                        </a:spcBef>
                        <a:spcAft>
                          <a:spcPts val="0"/>
                        </a:spcAft>
                        <a:buNone/>
                      </a:pPr>
                      <a:r>
                        <a:rPr lang="ja">
                          <a:solidFill>
                            <a:schemeClr val="dk1"/>
                          </a:solidFill>
                        </a:rPr>
                        <a:t>5.5M (Trainable parameters: </a:t>
                      </a:r>
                      <a:r>
                        <a:rPr lang="ja"/>
                        <a:t>386)</a:t>
                      </a:r>
                      <a:endParaRPr/>
                    </a:p>
                  </a:txBody>
                  <a:tcPr marT="91425" marB="91425" marR="91425" marL="91425"/>
                </a:tc>
                <a:tc>
                  <a:txBody>
                    <a:bodyPr/>
                    <a:lstStyle/>
                    <a:p>
                      <a:pPr indent="0" lvl="0" marL="0" rtl="0" algn="l">
                        <a:lnSpc>
                          <a:spcPct val="115000"/>
                        </a:lnSpc>
                        <a:spcBef>
                          <a:spcPts val="0"/>
                        </a:spcBef>
                        <a:spcAft>
                          <a:spcPts val="0"/>
                        </a:spcAft>
                        <a:buNone/>
                      </a:pPr>
                      <a:r>
                        <a:rPr lang="ja"/>
                        <a:t>Classification Head Only</a:t>
                      </a:r>
                      <a:endParaRPr/>
                    </a:p>
                  </a:txBody>
                  <a:tcPr marT="91425" marB="91425" marR="91425" marL="91425"/>
                </a:tc>
                <a:tc>
                  <a:txBody>
                    <a:bodyPr/>
                    <a:lstStyle/>
                    <a:p>
                      <a:pPr indent="0" lvl="0" marL="0" rtl="0" algn="l">
                        <a:lnSpc>
                          <a:spcPct val="115000"/>
                        </a:lnSpc>
                        <a:spcBef>
                          <a:spcPts val="0"/>
                        </a:spcBef>
                        <a:spcAft>
                          <a:spcPts val="0"/>
                        </a:spcAft>
                        <a:buNone/>
                      </a:pPr>
                      <a:r>
                        <a:rPr lang="ja"/>
                        <a:t>Extremely low trainable parameters</a:t>
                      </a:r>
                      <a:endParaRPr/>
                    </a:p>
                  </a:txBody>
                  <a:tcPr marT="91425" marB="91425" marR="91425" marL="91425"/>
                </a:tc>
              </a:tr>
              <a:tr h="829825">
                <a:tc>
                  <a:txBody>
                    <a:bodyPr/>
                    <a:lstStyle/>
                    <a:p>
                      <a:pPr indent="0" lvl="0" marL="0" rtl="0" algn="l">
                        <a:spcBef>
                          <a:spcPts val="0"/>
                        </a:spcBef>
                        <a:spcAft>
                          <a:spcPts val="0"/>
                        </a:spcAft>
                        <a:buNone/>
                      </a:pPr>
                      <a:r>
                        <a:rPr lang="ja"/>
                        <a:t>ViT - All Layers</a:t>
                      </a:r>
                      <a:endParaRPr/>
                    </a:p>
                  </a:txBody>
                  <a:tcPr marT="91425" marB="91425" marR="91425" marL="91425"/>
                </a:tc>
                <a:tc>
                  <a:txBody>
                    <a:bodyPr/>
                    <a:lstStyle/>
                    <a:p>
                      <a:pPr indent="0" lvl="0" marL="0" rtl="0" algn="l">
                        <a:spcBef>
                          <a:spcPts val="0"/>
                        </a:spcBef>
                        <a:spcAft>
                          <a:spcPts val="0"/>
                        </a:spcAft>
                        <a:buNone/>
                      </a:pPr>
                      <a:r>
                        <a:rPr lang="ja"/>
                        <a:t>96</a:t>
                      </a:r>
                      <a:endParaRPr/>
                    </a:p>
                  </a:txBody>
                  <a:tcPr marT="91425" marB="91425" marR="91425" marL="91425"/>
                </a:tc>
                <a:tc>
                  <a:txBody>
                    <a:bodyPr/>
                    <a:lstStyle/>
                    <a:p>
                      <a:pPr indent="0" lvl="0" marL="0" rtl="0" algn="l">
                        <a:spcBef>
                          <a:spcPts val="0"/>
                        </a:spcBef>
                        <a:spcAft>
                          <a:spcPts val="0"/>
                        </a:spcAft>
                        <a:buNone/>
                      </a:pPr>
                      <a:r>
                        <a:rPr lang="ja"/>
                        <a:t>5.5M</a:t>
                      </a:r>
                      <a:endParaRPr/>
                    </a:p>
                  </a:txBody>
                  <a:tcPr marT="91425" marB="91425" marR="91425" marL="91425"/>
                </a:tc>
                <a:tc>
                  <a:txBody>
                    <a:bodyPr/>
                    <a:lstStyle/>
                    <a:p>
                      <a:pPr indent="0" lvl="0" marL="0" rtl="0" algn="l">
                        <a:lnSpc>
                          <a:spcPct val="115000"/>
                        </a:lnSpc>
                        <a:spcBef>
                          <a:spcPts val="0"/>
                        </a:spcBef>
                        <a:spcAft>
                          <a:spcPts val="0"/>
                        </a:spcAft>
                        <a:buNone/>
                      </a:pPr>
                      <a:r>
                        <a:rPr lang="ja"/>
                        <a:t>Full Fine-Tuning</a:t>
                      </a:r>
                      <a:endParaRPr/>
                    </a:p>
                  </a:txBody>
                  <a:tcPr marT="91425" marB="91425" marR="91425" marL="91425"/>
                </a:tc>
                <a:tc>
                  <a:txBody>
                    <a:bodyPr/>
                    <a:lstStyle/>
                    <a:p>
                      <a:pPr indent="0" lvl="0" marL="0" rtl="0" algn="l">
                        <a:spcBef>
                          <a:spcPts val="0"/>
                        </a:spcBef>
                        <a:spcAft>
                          <a:spcPts val="0"/>
                        </a:spcAft>
                        <a:buNone/>
                      </a:pPr>
                      <a:r>
                        <a:rPr lang="ja"/>
                        <a:t>High performance, data-efficient</a:t>
                      </a:r>
                      <a:endParaRPr/>
                    </a:p>
                  </a:txBody>
                  <a:tcPr marT="91425" marB="91425" marR="91425" marL="91425"/>
                </a:tc>
              </a:tr>
            </a:tbl>
          </a:graphicData>
        </a:graphic>
      </p:graphicFrame>
      <p:sp>
        <p:nvSpPr>
          <p:cNvPr id="157" name="Google Shape;157;p25"/>
          <p:cNvSpPr txBox="1"/>
          <p:nvPr/>
        </p:nvSpPr>
        <p:spPr>
          <a:xfrm>
            <a:off x="8248225" y="4710900"/>
            <a:ext cx="841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11</a:t>
            </a:r>
            <a:endParaRPr sz="11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Most Effective Model?</a:t>
            </a:r>
            <a:endParaRPr/>
          </a:p>
        </p:txBody>
      </p:sp>
      <p:sp>
        <p:nvSpPr>
          <p:cNvPr id="163" name="Google Shape;16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ja"/>
              <a:t>ViT Head-Only Variant</a:t>
            </a:r>
            <a:endParaRPr/>
          </a:p>
          <a:p>
            <a:pPr indent="-298450" lvl="0" marL="457200" rtl="0" algn="l">
              <a:spcBef>
                <a:spcPts val="1200"/>
              </a:spcBef>
              <a:spcAft>
                <a:spcPts val="0"/>
              </a:spcAft>
              <a:buSzPts val="1100"/>
              <a:buChar char="●"/>
            </a:pPr>
            <a:r>
              <a:rPr lang="ja" sz="1100"/>
              <a:t>Test low-compute transfer learning</a:t>
            </a:r>
            <a:endParaRPr sz="1100"/>
          </a:p>
          <a:p>
            <a:pPr indent="-298450" lvl="0" marL="457200" rtl="0" algn="l">
              <a:spcBef>
                <a:spcPts val="0"/>
              </a:spcBef>
              <a:spcAft>
                <a:spcPts val="0"/>
              </a:spcAft>
              <a:buSzPts val="1100"/>
              <a:buChar char="●"/>
            </a:pPr>
            <a:r>
              <a:rPr lang="ja" sz="1100"/>
              <a:t>Train only classification head (386 params)</a:t>
            </a:r>
            <a:endParaRPr sz="11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ja"/>
              <a:t>Recall</a:t>
            </a:r>
            <a:endParaRPr/>
          </a:p>
          <a:p>
            <a:pPr indent="-298450" lvl="0" marL="457200" rtl="0" algn="l">
              <a:spcBef>
                <a:spcPts val="0"/>
              </a:spcBef>
              <a:spcAft>
                <a:spcPts val="0"/>
              </a:spcAft>
              <a:buClr>
                <a:schemeClr val="dk1"/>
              </a:buClr>
              <a:buSzPts val="1100"/>
              <a:buChar char="●"/>
            </a:pPr>
            <a:r>
              <a:rPr lang="ja" sz="1100">
                <a:solidFill>
                  <a:schemeClr val="dk1"/>
                </a:solidFill>
              </a:rPr>
              <a:t>Measures </a:t>
            </a:r>
            <a:r>
              <a:rPr b="1" lang="ja" sz="1100">
                <a:solidFill>
                  <a:schemeClr val="dk1"/>
                </a:solidFill>
              </a:rPr>
              <a:t>how many actual malaria cases the model catches</a:t>
            </a:r>
            <a:endParaRPr b="1" sz="1100">
              <a:solidFill>
                <a:schemeClr val="dk1"/>
              </a:solidFill>
            </a:endParaRPr>
          </a:p>
          <a:p>
            <a:pPr indent="-298450" lvl="0" marL="457200" rtl="0" algn="l">
              <a:spcBef>
                <a:spcPts val="0"/>
              </a:spcBef>
              <a:spcAft>
                <a:spcPts val="0"/>
              </a:spcAft>
              <a:buClr>
                <a:schemeClr val="dk1"/>
              </a:buClr>
              <a:buSzPts val="1100"/>
              <a:buChar char="●"/>
            </a:pPr>
            <a:r>
              <a:rPr lang="ja" sz="1100">
                <a:solidFill>
                  <a:schemeClr val="dk1"/>
                </a:solidFill>
              </a:rPr>
              <a:t>ViT - All Layers achieved recall of 95%</a:t>
            </a:r>
            <a:endParaRPr sz="1100">
              <a:solidFill>
                <a:schemeClr val="dk1"/>
              </a:solidFill>
            </a:endParaRPr>
          </a:p>
          <a:p>
            <a:pPr indent="-298450" lvl="0" marL="457200" rtl="0" algn="l">
              <a:spcBef>
                <a:spcPts val="0"/>
              </a:spcBef>
              <a:spcAft>
                <a:spcPts val="0"/>
              </a:spcAft>
              <a:buClr>
                <a:schemeClr val="dk1"/>
              </a:buClr>
              <a:buSzPts val="1100"/>
              <a:buChar char="●"/>
            </a:pPr>
            <a:r>
              <a:rPr lang="ja" sz="1100">
                <a:solidFill>
                  <a:schemeClr val="dk1"/>
                </a:solidFill>
              </a:rPr>
              <a:t>ViT Head-Only achieved </a:t>
            </a:r>
            <a:r>
              <a:rPr b="1" lang="ja" sz="1100">
                <a:solidFill>
                  <a:schemeClr val="dk1"/>
                </a:solidFill>
              </a:rPr>
              <a:t>recall 94%</a:t>
            </a:r>
            <a:r>
              <a:rPr lang="ja" sz="1100">
                <a:solidFill>
                  <a:schemeClr val="dk1"/>
                </a:solidFill>
              </a:rPr>
              <a:t>, even with limited training</a:t>
            </a:r>
            <a:endParaRPr sz="1100">
              <a:solidFill>
                <a:schemeClr val="dk1"/>
              </a:solidFill>
            </a:endParaRPr>
          </a:p>
        </p:txBody>
      </p:sp>
      <p:sp>
        <p:nvSpPr>
          <p:cNvPr id="164" name="Google Shape;164;p26"/>
          <p:cNvSpPr txBox="1"/>
          <p:nvPr/>
        </p:nvSpPr>
        <p:spPr>
          <a:xfrm>
            <a:off x="7609850" y="4680325"/>
            <a:ext cx="9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12</a:t>
            </a:r>
            <a:endParaRPr sz="11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216625" y="621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Streamlit Demo</a:t>
            </a:r>
            <a:endParaRPr/>
          </a:p>
        </p:txBody>
      </p:sp>
      <p:sp>
        <p:nvSpPr>
          <p:cNvPr id="170" name="Google Shape;170;p27"/>
          <p:cNvSpPr txBox="1"/>
          <p:nvPr/>
        </p:nvSpPr>
        <p:spPr>
          <a:xfrm>
            <a:off x="155325" y="634825"/>
            <a:ext cx="4194000" cy="41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ja" sz="1000">
                <a:solidFill>
                  <a:schemeClr val="dk1"/>
                </a:solidFill>
              </a:rPr>
              <a:t>Deployment Objective</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ja" sz="1000">
                <a:solidFill>
                  <a:schemeClr val="dk1"/>
                </a:solidFill>
              </a:rPr>
              <a:t>Deliver a user-friendly web app for malaria detection using deep learning.</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ja" sz="1000">
                <a:solidFill>
                  <a:schemeClr val="dk1"/>
                </a:solidFill>
              </a:rPr>
              <a:t>Built with scalability and low-resource accessibility in mind.</a:t>
            </a:r>
            <a:endParaRPr b="1" sz="1000">
              <a:solidFill>
                <a:schemeClr val="dk1"/>
              </a:solidFill>
            </a:endParaRPr>
          </a:p>
          <a:p>
            <a:pPr indent="0" lvl="0" marL="0" rtl="0" algn="l">
              <a:lnSpc>
                <a:spcPct val="115000"/>
              </a:lnSpc>
              <a:spcBef>
                <a:spcPts val="1200"/>
              </a:spcBef>
              <a:spcAft>
                <a:spcPts val="0"/>
              </a:spcAft>
              <a:buNone/>
            </a:pPr>
            <a:r>
              <a:rPr b="1" lang="ja" sz="1000">
                <a:solidFill>
                  <a:schemeClr val="dk1"/>
                </a:solidFill>
              </a:rPr>
              <a:t>App Architecture</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ja" sz="1000">
                <a:solidFill>
                  <a:schemeClr val="dk1"/>
                </a:solidFill>
              </a:rPr>
              <a:t>Developed with </a:t>
            </a:r>
            <a:r>
              <a:rPr b="1" lang="ja" sz="1000">
                <a:solidFill>
                  <a:schemeClr val="dk1"/>
                </a:solidFill>
              </a:rPr>
              <a:t>Streamlit</a:t>
            </a:r>
            <a:r>
              <a:rPr lang="ja" sz="1000">
                <a:solidFill>
                  <a:schemeClr val="dk1"/>
                </a:solidFill>
              </a:rPr>
              <a:t> for rapid prototyping and visual interactivity.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ja" sz="1000">
                <a:solidFill>
                  <a:schemeClr val="dk1"/>
                </a:solidFill>
              </a:rPr>
              <a:t>Modular design: image upload → model inference → confidence visualization.</a:t>
            </a:r>
            <a:endParaRPr sz="10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ja" sz="1000">
                <a:solidFill>
                  <a:schemeClr val="dk1"/>
                </a:solidFill>
              </a:rPr>
              <a:t>Integrated Models</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ja" sz="1000">
                <a:solidFill>
                  <a:schemeClr val="dk1"/>
                </a:solidFill>
              </a:rPr>
              <a:t>CNN from Scratch</a:t>
            </a:r>
            <a:r>
              <a:rPr lang="ja" sz="1000">
                <a:solidFill>
                  <a:schemeClr val="dk1"/>
                </a:solidFill>
              </a:rPr>
              <a:t> – Custom baseline model.</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ja" sz="1000">
                <a:solidFill>
                  <a:schemeClr val="dk1"/>
                </a:solidFill>
              </a:rPr>
              <a:t>VGG16 (Keras)</a:t>
            </a:r>
            <a:r>
              <a:rPr lang="ja" sz="1000">
                <a:solidFill>
                  <a:schemeClr val="dk1"/>
                </a:solidFill>
              </a:rPr>
              <a:t> – Transfer learning approach.</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ja" sz="1000">
                <a:solidFill>
                  <a:schemeClr val="dk1"/>
                </a:solidFill>
              </a:rPr>
              <a:t>ViT Head-Only</a:t>
            </a:r>
            <a:r>
              <a:rPr lang="ja" sz="1000">
                <a:solidFill>
                  <a:schemeClr val="dk1"/>
                </a:solidFill>
              </a:rPr>
              <a:t> – Vision Transformer with frozen base.</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ja" sz="1000">
                <a:solidFill>
                  <a:schemeClr val="dk1"/>
                </a:solidFill>
              </a:rPr>
              <a:t>ViT Fine-Tuned</a:t>
            </a:r>
            <a:r>
              <a:rPr lang="ja" sz="1000">
                <a:solidFill>
                  <a:schemeClr val="dk1"/>
                </a:solidFill>
              </a:rPr>
              <a:t> – Fully trainable Vision Transformer.</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ja" sz="1000">
                <a:solidFill>
                  <a:schemeClr val="dk1"/>
                </a:solidFill>
              </a:rPr>
              <a:t>Unified preprocessing: RGB conversion, resizing (224×224), normalization.</a:t>
            </a:r>
            <a:endParaRPr sz="1000">
              <a:solidFill>
                <a:schemeClr val="dk1"/>
              </a:solidFill>
            </a:endParaRPr>
          </a:p>
          <a:p>
            <a:pPr indent="0" lvl="0" marL="0" rtl="0" algn="l">
              <a:lnSpc>
                <a:spcPct val="115000"/>
              </a:lnSpc>
              <a:spcBef>
                <a:spcPts val="1200"/>
              </a:spcBef>
              <a:spcAft>
                <a:spcPts val="0"/>
              </a:spcAft>
              <a:buNone/>
            </a:pPr>
            <a:r>
              <a:t/>
            </a:r>
            <a:endParaRPr sz="1000">
              <a:solidFill>
                <a:schemeClr val="dk1"/>
              </a:solidFill>
            </a:endParaRPr>
          </a:p>
          <a:p>
            <a:pPr indent="0" lvl="0" marL="0" rtl="0" algn="l">
              <a:spcBef>
                <a:spcPts val="1200"/>
              </a:spcBef>
              <a:spcAft>
                <a:spcPts val="0"/>
              </a:spcAft>
              <a:buNone/>
            </a:pPr>
            <a:r>
              <a:t/>
            </a:r>
            <a:endParaRPr sz="1000">
              <a:solidFill>
                <a:schemeClr val="dk2"/>
              </a:solidFill>
            </a:endParaRPr>
          </a:p>
        </p:txBody>
      </p:sp>
      <p:sp>
        <p:nvSpPr>
          <p:cNvPr id="171" name="Google Shape;171;p27"/>
          <p:cNvSpPr txBox="1"/>
          <p:nvPr/>
        </p:nvSpPr>
        <p:spPr>
          <a:xfrm>
            <a:off x="4739925" y="634825"/>
            <a:ext cx="4194000" cy="416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ja" sz="1000">
                <a:solidFill>
                  <a:schemeClr val="dk1"/>
                </a:solidFill>
              </a:rPr>
              <a:t>Inference Pipeline</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ja" sz="1000">
                <a:solidFill>
                  <a:schemeClr val="dk1"/>
                </a:solidFill>
              </a:rPr>
              <a:t>One image input → feeds all 4 models.</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ja" sz="1000">
                <a:solidFill>
                  <a:schemeClr val="dk1"/>
                </a:solidFill>
              </a:rPr>
              <a:t>Outputs:</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ja" sz="1000">
                <a:solidFill>
                  <a:schemeClr val="dk1"/>
                </a:solidFill>
              </a:rPr>
              <a:t>Prediction class</a:t>
            </a:r>
            <a:r>
              <a:rPr lang="ja" sz="1000">
                <a:solidFill>
                  <a:schemeClr val="dk1"/>
                </a:solidFill>
              </a:rPr>
              <a:t> (Infected / Uninfected)</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ja" sz="1000">
                <a:solidFill>
                  <a:schemeClr val="dk1"/>
                </a:solidFill>
              </a:rPr>
              <a:t>Confidence score</a:t>
            </a:r>
            <a:r>
              <a:rPr lang="ja" sz="1000">
                <a:solidFill>
                  <a:schemeClr val="dk1"/>
                </a:solidFill>
              </a:rPr>
              <a:t> per model</a:t>
            </a:r>
            <a:endParaRPr sz="1000">
              <a:solidFill>
                <a:schemeClr val="dk1"/>
              </a:solidFill>
            </a:endParaRPr>
          </a:p>
          <a:p>
            <a:pPr indent="-292100" lvl="1" marL="914400" rtl="0" algn="l">
              <a:lnSpc>
                <a:spcPct val="115000"/>
              </a:lnSpc>
              <a:spcBef>
                <a:spcPts val="0"/>
              </a:spcBef>
              <a:spcAft>
                <a:spcPts val="0"/>
              </a:spcAft>
              <a:buClr>
                <a:schemeClr val="dk1"/>
              </a:buClr>
              <a:buSzPts val="1000"/>
              <a:buChar char="○"/>
            </a:pPr>
            <a:r>
              <a:rPr b="1" lang="ja" sz="1000">
                <a:solidFill>
                  <a:schemeClr val="dk1"/>
                </a:solidFill>
              </a:rPr>
              <a:t>Side-by-side results</a:t>
            </a:r>
            <a:r>
              <a:rPr lang="ja" sz="1000">
                <a:solidFill>
                  <a:schemeClr val="dk1"/>
                </a:solidFill>
              </a:rPr>
              <a:t> for comparison.</a:t>
            </a:r>
            <a:endParaRPr b="1" sz="10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ja" sz="1000">
                <a:solidFill>
                  <a:schemeClr val="dk1"/>
                </a:solidFill>
              </a:rPr>
              <a:t>Tech Stack</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b="1" lang="ja" sz="1000">
                <a:solidFill>
                  <a:schemeClr val="dk1"/>
                </a:solidFill>
              </a:rPr>
              <a:t>PyTorch</a:t>
            </a:r>
            <a:r>
              <a:rPr lang="ja" sz="1000">
                <a:solidFill>
                  <a:schemeClr val="dk1"/>
                </a:solidFill>
              </a:rPr>
              <a:t> (CNN &amp; ViT), </a:t>
            </a:r>
            <a:r>
              <a:rPr b="1" lang="ja" sz="1000">
                <a:solidFill>
                  <a:schemeClr val="dk1"/>
                </a:solidFill>
              </a:rPr>
              <a:t>TensorFlow/Keras</a:t>
            </a:r>
            <a:r>
              <a:rPr lang="ja" sz="1000">
                <a:solidFill>
                  <a:schemeClr val="dk1"/>
                </a:solidFill>
              </a:rPr>
              <a:t> (VGG16)</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ja" sz="1000">
                <a:solidFill>
                  <a:schemeClr val="dk1"/>
                </a:solidFill>
              </a:rPr>
              <a:t>timm</a:t>
            </a:r>
            <a:r>
              <a:rPr lang="ja" sz="1000">
                <a:solidFill>
                  <a:schemeClr val="dk1"/>
                </a:solidFill>
              </a:rPr>
              <a:t> – Model loading for ViT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ja" sz="1000">
                <a:solidFill>
                  <a:schemeClr val="dk1"/>
                </a:solidFill>
              </a:rPr>
              <a:t>Pillow</a:t>
            </a:r>
            <a:r>
              <a:rPr lang="ja" sz="1000">
                <a:solidFill>
                  <a:schemeClr val="dk1"/>
                </a:solidFill>
              </a:rPr>
              <a:t> – Image handling</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b="1" lang="ja" sz="1000">
                <a:solidFill>
                  <a:schemeClr val="dk1"/>
                </a:solidFill>
              </a:rPr>
              <a:t>Streamlit</a:t>
            </a:r>
            <a:r>
              <a:rPr lang="ja" sz="1000">
                <a:solidFill>
                  <a:schemeClr val="dk1"/>
                </a:solidFill>
              </a:rPr>
              <a:t> – UI deployment</a:t>
            </a:r>
            <a:endParaRPr sz="10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ja" sz="1000">
                <a:solidFill>
                  <a:schemeClr val="dk1"/>
                </a:solidFill>
              </a:rPr>
              <a:t>Runtime Management</a:t>
            </a:r>
            <a:endParaRPr b="1" sz="1000">
              <a:solidFill>
                <a:schemeClr val="dk1"/>
              </a:solidFill>
            </a:endParaRPr>
          </a:p>
          <a:p>
            <a:pPr indent="-292100" lvl="0" marL="457200" rtl="0" algn="l">
              <a:lnSpc>
                <a:spcPct val="115000"/>
              </a:lnSpc>
              <a:spcBef>
                <a:spcPts val="1200"/>
              </a:spcBef>
              <a:spcAft>
                <a:spcPts val="0"/>
              </a:spcAft>
              <a:buClr>
                <a:schemeClr val="dk1"/>
              </a:buClr>
              <a:buSzPts val="1000"/>
              <a:buChar char="●"/>
            </a:pPr>
            <a:r>
              <a:rPr lang="ja" sz="1000">
                <a:solidFill>
                  <a:schemeClr val="dk1"/>
                </a:solidFill>
              </a:rPr>
              <a:t>Targeted </a:t>
            </a:r>
            <a:r>
              <a:rPr b="1" lang="ja" sz="1000">
                <a:solidFill>
                  <a:schemeClr val="dk1"/>
                </a:solidFill>
              </a:rPr>
              <a:t>Python 3.10</a:t>
            </a:r>
            <a:r>
              <a:rPr lang="ja" sz="1000">
                <a:solidFill>
                  <a:schemeClr val="dk1"/>
                </a:solidFill>
              </a:rPr>
              <a:t> for compatibility.</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ja" sz="1000">
                <a:solidFill>
                  <a:schemeClr val="dk1"/>
                </a:solidFill>
              </a:rPr>
              <a:t>Carefully aligned versions: </a:t>
            </a:r>
            <a:r>
              <a:rPr lang="ja" sz="1000">
                <a:solidFill>
                  <a:srgbClr val="188038"/>
                </a:solidFill>
              </a:rPr>
              <a:t>torch==2.1.0</a:t>
            </a:r>
            <a:r>
              <a:rPr lang="ja" sz="1000">
                <a:solidFill>
                  <a:schemeClr val="dk1"/>
                </a:solidFill>
              </a:rPr>
              <a:t>, </a:t>
            </a:r>
            <a:r>
              <a:rPr lang="ja" sz="1000">
                <a:solidFill>
                  <a:srgbClr val="188038"/>
                </a:solidFill>
              </a:rPr>
              <a:t>torchvision==0.16.0</a:t>
            </a:r>
            <a:r>
              <a:rPr lang="ja" sz="1000">
                <a:solidFill>
                  <a:schemeClr val="dk1"/>
                </a:solidFill>
              </a:rPr>
              <a:t>, </a:t>
            </a:r>
            <a:r>
              <a:rPr lang="ja" sz="1000">
                <a:solidFill>
                  <a:srgbClr val="188038"/>
                </a:solidFill>
              </a:rPr>
              <a:t>tensorflow==2.16.1</a:t>
            </a:r>
            <a:r>
              <a:rPr lang="ja" sz="1000">
                <a:solidFill>
                  <a:schemeClr val="dk1"/>
                </a:solidFill>
              </a:rPr>
              <a:t>.</a:t>
            </a:r>
            <a:endParaRPr sz="1000">
              <a:solidFill>
                <a:schemeClr val="dk1"/>
              </a:solidFill>
            </a:endParaRPr>
          </a:p>
          <a:p>
            <a:pPr indent="-292100" lvl="0" marL="457200" rtl="0" algn="l">
              <a:lnSpc>
                <a:spcPct val="115000"/>
              </a:lnSpc>
              <a:spcBef>
                <a:spcPts val="0"/>
              </a:spcBef>
              <a:spcAft>
                <a:spcPts val="0"/>
              </a:spcAft>
              <a:buClr>
                <a:schemeClr val="dk1"/>
              </a:buClr>
              <a:buSzPts val="1000"/>
              <a:buChar char="●"/>
            </a:pPr>
            <a:r>
              <a:rPr lang="ja" sz="1000">
                <a:solidFill>
                  <a:schemeClr val="dk1"/>
                </a:solidFill>
              </a:rPr>
              <a:t>Solved environment conflicts and deployment errors for smooth cloud deployment.</a:t>
            </a:r>
            <a:endParaRPr sz="1000">
              <a:solidFill>
                <a:schemeClr val="dk1"/>
              </a:solidFill>
            </a:endParaRPr>
          </a:p>
          <a:p>
            <a:pPr indent="0" lvl="0" marL="0" rtl="0" algn="l">
              <a:spcBef>
                <a:spcPts val="1200"/>
              </a:spcBef>
              <a:spcAft>
                <a:spcPts val="0"/>
              </a:spcAft>
              <a:buNone/>
            </a:pPr>
            <a:r>
              <a:t/>
            </a:r>
            <a:endParaRPr sz="1000">
              <a:solidFill>
                <a:schemeClr val="dk2"/>
              </a:solidFill>
            </a:endParaRPr>
          </a:p>
        </p:txBody>
      </p:sp>
      <p:sp>
        <p:nvSpPr>
          <p:cNvPr id="172" name="Google Shape;172;p27"/>
          <p:cNvSpPr txBox="1"/>
          <p:nvPr/>
        </p:nvSpPr>
        <p:spPr>
          <a:xfrm>
            <a:off x="7609850" y="4680325"/>
            <a:ext cx="9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13</a:t>
            </a:r>
            <a:endParaRPr sz="11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nvSpPr>
        <p:spPr>
          <a:xfrm>
            <a:off x="4742975" y="1278550"/>
            <a:ext cx="13782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Uninfected</a:t>
            </a:r>
            <a:endParaRPr sz="1800">
              <a:solidFill>
                <a:schemeClr val="dk2"/>
              </a:solidFill>
            </a:endParaRPr>
          </a:p>
        </p:txBody>
      </p:sp>
      <p:pic>
        <p:nvPicPr>
          <p:cNvPr id="178" name="Google Shape;178;p28" title="C91P52ThinF_IMG_20150821_123314_cell_198.png"/>
          <p:cNvPicPr preferRelativeResize="0"/>
          <p:nvPr/>
        </p:nvPicPr>
        <p:blipFill>
          <a:blip r:embed="rId3">
            <a:alphaModFix/>
          </a:blip>
          <a:stretch>
            <a:fillRect/>
          </a:stretch>
        </p:blipFill>
        <p:spPr>
          <a:xfrm>
            <a:off x="3791150" y="1713150"/>
            <a:ext cx="1152525" cy="1409700"/>
          </a:xfrm>
          <a:prstGeom prst="rect">
            <a:avLst/>
          </a:prstGeom>
          <a:noFill/>
          <a:ln>
            <a:noFill/>
          </a:ln>
        </p:spPr>
      </p:pic>
      <p:pic>
        <p:nvPicPr>
          <p:cNvPr id="179" name="Google Shape;179;p28" title="C77P38ThinF_IMG_20150601_155125_cell_115.png"/>
          <p:cNvPicPr preferRelativeResize="0"/>
          <p:nvPr/>
        </p:nvPicPr>
        <p:blipFill>
          <a:blip r:embed="rId4">
            <a:alphaModFix/>
          </a:blip>
          <a:stretch>
            <a:fillRect/>
          </a:stretch>
        </p:blipFill>
        <p:spPr>
          <a:xfrm>
            <a:off x="5481112" y="1884025"/>
            <a:ext cx="1378200" cy="1238832"/>
          </a:xfrm>
          <a:prstGeom prst="rect">
            <a:avLst/>
          </a:prstGeom>
          <a:noFill/>
          <a:ln>
            <a:noFill/>
          </a:ln>
        </p:spPr>
      </p:pic>
      <p:sp>
        <p:nvSpPr>
          <p:cNvPr id="180" name="Google Shape;180;p28"/>
          <p:cNvSpPr txBox="1"/>
          <p:nvPr/>
        </p:nvSpPr>
        <p:spPr>
          <a:xfrm>
            <a:off x="4572000" y="3263150"/>
            <a:ext cx="1378200" cy="2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a:solidFill>
                  <a:schemeClr val="dk2"/>
                </a:solidFill>
              </a:rPr>
              <a:t>Parasitized</a:t>
            </a:r>
            <a:r>
              <a:rPr lang="ja" sz="1800">
                <a:solidFill>
                  <a:schemeClr val="dk2"/>
                </a:solidFill>
              </a:rPr>
              <a:t> </a:t>
            </a:r>
            <a:endParaRPr sz="1800">
              <a:solidFill>
                <a:schemeClr val="dk2"/>
              </a:solidFill>
            </a:endParaRPr>
          </a:p>
        </p:txBody>
      </p:sp>
      <p:pic>
        <p:nvPicPr>
          <p:cNvPr id="181" name="Google Shape;181;p28" title="C38P3thinF_original_IMG_20150621_112116_cell_63.png"/>
          <p:cNvPicPr preferRelativeResize="0"/>
          <p:nvPr/>
        </p:nvPicPr>
        <p:blipFill>
          <a:blip r:embed="rId5">
            <a:alphaModFix/>
          </a:blip>
          <a:stretch>
            <a:fillRect/>
          </a:stretch>
        </p:blipFill>
        <p:spPr>
          <a:xfrm>
            <a:off x="3791150" y="3767025"/>
            <a:ext cx="1323975" cy="1209675"/>
          </a:xfrm>
          <a:prstGeom prst="rect">
            <a:avLst/>
          </a:prstGeom>
          <a:noFill/>
          <a:ln>
            <a:noFill/>
          </a:ln>
        </p:spPr>
      </p:pic>
      <p:pic>
        <p:nvPicPr>
          <p:cNvPr id="182" name="Google Shape;182;p28" title="C100P61ThinF_IMG_20150918_145609_cell_150.png"/>
          <p:cNvPicPr preferRelativeResize="0"/>
          <p:nvPr/>
        </p:nvPicPr>
        <p:blipFill>
          <a:blip r:embed="rId6">
            <a:alphaModFix/>
          </a:blip>
          <a:stretch>
            <a:fillRect/>
          </a:stretch>
        </p:blipFill>
        <p:spPr>
          <a:xfrm>
            <a:off x="5533350" y="3641225"/>
            <a:ext cx="1273725" cy="1461275"/>
          </a:xfrm>
          <a:prstGeom prst="rect">
            <a:avLst/>
          </a:prstGeom>
          <a:noFill/>
          <a:ln>
            <a:noFill/>
          </a:ln>
        </p:spPr>
      </p:pic>
      <p:sp>
        <p:nvSpPr>
          <p:cNvPr id="183" name="Google Shape;183;p28"/>
          <p:cNvSpPr txBox="1"/>
          <p:nvPr>
            <p:ph type="title"/>
          </p:nvPr>
        </p:nvSpPr>
        <p:spPr>
          <a:xfrm>
            <a:off x="3212600" y="12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Streamlit Demo</a:t>
            </a:r>
            <a:endParaRPr/>
          </a:p>
        </p:txBody>
      </p:sp>
      <p:sp>
        <p:nvSpPr>
          <p:cNvPr id="184" name="Google Shape;184;p28"/>
          <p:cNvSpPr txBox="1"/>
          <p:nvPr/>
        </p:nvSpPr>
        <p:spPr>
          <a:xfrm>
            <a:off x="7556425" y="2436750"/>
            <a:ext cx="1152600" cy="5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800" u="sng">
                <a:solidFill>
                  <a:schemeClr val="hlink"/>
                </a:solidFill>
                <a:hlinkClick r:id="rId7"/>
              </a:rPr>
              <a:t>DEMO</a:t>
            </a:r>
            <a:endParaRPr sz="1800">
              <a:solidFill>
                <a:schemeClr val="dk2"/>
              </a:solidFill>
            </a:endParaRPr>
          </a:p>
          <a:p>
            <a:pPr indent="0" lvl="0" marL="0" rtl="0" algn="l">
              <a:spcBef>
                <a:spcPts val="0"/>
              </a:spcBef>
              <a:spcAft>
                <a:spcPts val="0"/>
              </a:spcAft>
              <a:buNone/>
            </a:pPr>
            <a:r>
              <a:rPr lang="ja" sz="1800" u="sng">
                <a:solidFill>
                  <a:schemeClr val="hlink"/>
                </a:solidFill>
                <a:hlinkClick r:id="rId8"/>
              </a:rPr>
              <a:t>LINK</a:t>
            </a:r>
            <a:endParaRPr sz="1800">
              <a:solidFill>
                <a:schemeClr val="dk2"/>
              </a:solidFill>
            </a:endParaRPr>
          </a:p>
        </p:txBody>
      </p:sp>
      <p:pic>
        <p:nvPicPr>
          <p:cNvPr id="185" name="Google Shape;185;p28" title="Screenshot 2025-07-22 at 12.44.53 AM.png"/>
          <p:cNvPicPr preferRelativeResize="0"/>
          <p:nvPr/>
        </p:nvPicPr>
        <p:blipFill>
          <a:blip r:embed="rId9">
            <a:alphaModFix/>
          </a:blip>
          <a:stretch>
            <a:fillRect/>
          </a:stretch>
        </p:blipFill>
        <p:spPr>
          <a:xfrm>
            <a:off x="76025" y="596575"/>
            <a:ext cx="3177700" cy="4380124"/>
          </a:xfrm>
          <a:prstGeom prst="rect">
            <a:avLst/>
          </a:prstGeom>
          <a:noFill/>
          <a:ln>
            <a:noFill/>
          </a:ln>
        </p:spPr>
      </p:pic>
      <p:sp>
        <p:nvSpPr>
          <p:cNvPr id="186" name="Google Shape;186;p28"/>
          <p:cNvSpPr txBox="1"/>
          <p:nvPr/>
        </p:nvSpPr>
        <p:spPr>
          <a:xfrm>
            <a:off x="7609850" y="4680325"/>
            <a:ext cx="9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14</a:t>
            </a:r>
            <a:endParaRPr sz="11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Conclusion </a:t>
            </a:r>
            <a:endParaRPr/>
          </a:p>
        </p:txBody>
      </p:sp>
      <p:sp>
        <p:nvSpPr>
          <p:cNvPr id="192" name="Google Shape;19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S</a:t>
            </a:r>
            <a:r>
              <a:rPr lang="ja"/>
              <a:t>uccessfully</a:t>
            </a:r>
            <a:r>
              <a:rPr lang="ja"/>
              <a:t> developed and compared three deep learning models (Custom CNN, VGG16, and ViT) for binary classification of malaria-infected cell images.</a:t>
            </a:r>
            <a:endParaRPr/>
          </a:p>
          <a:p>
            <a:pPr indent="-342900" lvl="0" marL="457200" rtl="0" algn="l">
              <a:spcBef>
                <a:spcPts val="0"/>
              </a:spcBef>
              <a:spcAft>
                <a:spcPts val="0"/>
              </a:spcAft>
              <a:buSzPts val="1800"/>
              <a:buChar char="●"/>
            </a:pPr>
            <a:r>
              <a:rPr lang="ja"/>
              <a:t>Achieved high accuracy (up to 93%) with transfer learning (VGG16) and (96% accuracy) with ViT (fine-tuned)</a:t>
            </a:r>
            <a:endParaRPr/>
          </a:p>
          <a:p>
            <a:pPr indent="-342900" lvl="0" marL="457200" rtl="0" algn="l">
              <a:spcBef>
                <a:spcPts val="0"/>
              </a:spcBef>
              <a:spcAft>
                <a:spcPts val="0"/>
              </a:spcAft>
              <a:buSzPts val="1800"/>
              <a:buChar char="●"/>
            </a:pPr>
            <a:r>
              <a:rPr lang="ja"/>
              <a:t>Build a Streamlit web app for real-time malaria diagnosis-enabling fast, accessible, and scalable development.</a:t>
            </a:r>
            <a:endParaRPr/>
          </a:p>
          <a:p>
            <a:pPr indent="-342900" lvl="0" marL="457200" rtl="0" algn="l">
              <a:spcBef>
                <a:spcPts val="0"/>
              </a:spcBef>
              <a:spcAft>
                <a:spcPts val="0"/>
              </a:spcAft>
              <a:buSzPts val="1800"/>
              <a:buChar char="●"/>
            </a:pPr>
            <a:r>
              <a:rPr lang="ja"/>
              <a:t>Demonstrated that AI can significantly reduce diagnostic time and assist healthcare professionals in resource-constrained environments.</a:t>
            </a:r>
            <a:endParaRPr/>
          </a:p>
        </p:txBody>
      </p:sp>
      <p:sp>
        <p:nvSpPr>
          <p:cNvPr id="193" name="Google Shape;193;p29"/>
          <p:cNvSpPr txBox="1"/>
          <p:nvPr/>
        </p:nvSpPr>
        <p:spPr>
          <a:xfrm>
            <a:off x="7609850" y="4680325"/>
            <a:ext cx="9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15</a:t>
            </a:r>
            <a:endParaRPr sz="11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ja"/>
              <a:t>Future Work</a:t>
            </a:r>
            <a:endParaRPr/>
          </a:p>
        </p:txBody>
      </p:sp>
      <p:sp>
        <p:nvSpPr>
          <p:cNvPr id="199" name="Google Shape;19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ja"/>
              <a:t>Integrate larger and diverse datasets to improve generalization and reduce potential bias.</a:t>
            </a:r>
            <a:endParaRPr/>
          </a:p>
          <a:p>
            <a:pPr indent="-342900" lvl="0" marL="457200" rtl="0" algn="l">
              <a:spcBef>
                <a:spcPts val="0"/>
              </a:spcBef>
              <a:spcAft>
                <a:spcPts val="0"/>
              </a:spcAft>
              <a:buSzPts val="1800"/>
              <a:buChar char="●"/>
            </a:pPr>
            <a:r>
              <a:rPr lang="ja"/>
              <a:t>Implement real-time mobile deployment for offline usage in remote clinic settings.</a:t>
            </a:r>
            <a:endParaRPr/>
          </a:p>
          <a:p>
            <a:pPr indent="-342900" lvl="0" marL="457200" rtl="0" algn="l">
              <a:spcBef>
                <a:spcPts val="0"/>
              </a:spcBef>
              <a:spcAft>
                <a:spcPts val="0"/>
              </a:spcAft>
              <a:buSzPts val="1800"/>
              <a:buChar char="●"/>
            </a:pPr>
            <a:r>
              <a:rPr lang="ja"/>
              <a:t>Explore self-supervised learning and few-shot learning to reduce dependency on labeled data.</a:t>
            </a:r>
            <a:endParaRPr/>
          </a:p>
          <a:p>
            <a:pPr indent="-342900" lvl="0" marL="457200" rtl="0" algn="l">
              <a:spcBef>
                <a:spcPts val="0"/>
              </a:spcBef>
              <a:spcAft>
                <a:spcPts val="0"/>
              </a:spcAft>
              <a:buSzPts val="1800"/>
              <a:buChar char="●"/>
            </a:pPr>
            <a:r>
              <a:rPr lang="ja"/>
              <a:t>Conduct clinical trails or partnerships with health institutions to validate the model’s real-world effectiveness.</a:t>
            </a:r>
            <a:endParaRPr/>
          </a:p>
          <a:p>
            <a:pPr indent="-342900" lvl="0" marL="457200" rtl="0" algn="l">
              <a:spcBef>
                <a:spcPts val="0"/>
              </a:spcBef>
              <a:spcAft>
                <a:spcPts val="0"/>
              </a:spcAft>
              <a:buSzPts val="1800"/>
              <a:buChar char="●"/>
            </a:pPr>
            <a:r>
              <a:rPr lang="ja"/>
              <a:t>Enhance the app with features like bath processing, explainable AI visualizations, and multilingual UI.</a:t>
            </a:r>
            <a:endParaRPr/>
          </a:p>
        </p:txBody>
      </p:sp>
      <p:sp>
        <p:nvSpPr>
          <p:cNvPr id="200" name="Google Shape;200;p30"/>
          <p:cNvSpPr txBox="1"/>
          <p:nvPr/>
        </p:nvSpPr>
        <p:spPr>
          <a:xfrm>
            <a:off x="7609850" y="4680325"/>
            <a:ext cx="972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100">
                <a:solidFill>
                  <a:schemeClr val="dk2"/>
                </a:solidFill>
              </a:rPr>
              <a:t>Page 16</a:t>
            </a:r>
            <a:endParaRPr sz="11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