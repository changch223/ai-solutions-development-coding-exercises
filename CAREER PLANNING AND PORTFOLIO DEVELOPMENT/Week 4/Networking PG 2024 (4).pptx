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66" r:id="rId3"/>
    <p:sldId id="257" r:id="rId4"/>
    <p:sldId id="265" r:id="rId5"/>
    <p:sldId id="267" r:id="rId6"/>
    <p:sldId id="259" r:id="rId7"/>
    <p:sldId id="262" r:id="rId8"/>
    <p:sldId id="268" r:id="rId9"/>
    <p:sldId id="269" r:id="rId10"/>
    <p:sldId id="272" r:id="rId11"/>
    <p:sldId id="270" r:id="rId12"/>
    <p:sldId id="273" r:id="rId13"/>
    <p:sldId id="271" r:id="rId14"/>
    <p:sldId id="280" r:id="rId15"/>
    <p:sldId id="274" r:id="rId16"/>
    <p:sldId id="275" r:id="rId17"/>
    <p:sldId id="276" r:id="rId18"/>
    <p:sldId id="284" r:id="rId19"/>
    <p:sldId id="277" r:id="rId20"/>
    <p:sldId id="278" r:id="rId21"/>
    <p:sldId id="279" r:id="rId22"/>
    <p:sldId id="281" r:id="rId23"/>
    <p:sldId id="285" r:id="rId24"/>
  </p:sldIdLst>
  <p:sldSz cx="9144000" cy="6858000" type="screen4x3"/>
  <p:notesSz cx="6858000" cy="9144000"/>
  <p:defaultTextStyle>
    <a:defPPr>
      <a:defRPr lang="en-CA"/>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566">
          <p15:clr>
            <a:srgbClr val="A4A3A4"/>
          </p15:clr>
        </p15:guide>
        <p15:guide id="2" pos="129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843" autoAdjust="0"/>
    <p:restoredTop sz="86524" autoAdjust="0"/>
  </p:normalViewPr>
  <p:slideViewPr>
    <p:cSldViewPr snapToGrid="0">
      <p:cViewPr varScale="1">
        <p:scale>
          <a:sx n="97" d="100"/>
          <a:sy n="97" d="100"/>
        </p:scale>
        <p:origin x="976" y="184"/>
      </p:cViewPr>
      <p:guideLst>
        <p:guide orient="horz" pos="566"/>
        <p:guide pos="12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A93DF2-8B16-3D41-8565-819281FCCC06}"/>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mn-cs"/>
              </a:defRPr>
            </a:lvl1pPr>
          </a:lstStyle>
          <a:p>
            <a:pPr>
              <a:defRPr/>
            </a:pPr>
            <a:endParaRPr lang="en-CA"/>
          </a:p>
        </p:txBody>
      </p:sp>
      <p:sp>
        <p:nvSpPr>
          <p:cNvPr id="3" name="Date Placeholder 2">
            <a:extLst>
              <a:ext uri="{FF2B5EF4-FFF2-40B4-BE49-F238E27FC236}">
                <a16:creationId xmlns:a16="http://schemas.microsoft.com/office/drawing/2014/main" id="{19870B7C-AAB3-214C-8BDD-7E77725DB77F}"/>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mn-cs"/>
              </a:defRPr>
            </a:lvl1pPr>
          </a:lstStyle>
          <a:p>
            <a:pPr>
              <a:defRPr/>
            </a:pPr>
            <a:fld id="{207A48C4-4138-D647-B652-FC073B3F9A07}" type="datetimeFigureOut">
              <a:rPr lang="en-CA"/>
              <a:pPr>
                <a:defRPr/>
              </a:pPr>
              <a:t>2024-05-01</a:t>
            </a:fld>
            <a:endParaRPr lang="en-CA"/>
          </a:p>
        </p:txBody>
      </p:sp>
      <p:sp>
        <p:nvSpPr>
          <p:cNvPr id="4" name="Slide Image Placeholder 3">
            <a:extLst>
              <a:ext uri="{FF2B5EF4-FFF2-40B4-BE49-F238E27FC236}">
                <a16:creationId xmlns:a16="http://schemas.microsoft.com/office/drawing/2014/main" id="{1809BC33-FAB7-3C4F-86E2-8AAEC9BE6A8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a:extLst>
              <a:ext uri="{FF2B5EF4-FFF2-40B4-BE49-F238E27FC236}">
                <a16:creationId xmlns:a16="http://schemas.microsoft.com/office/drawing/2014/main" id="{9321D01A-41CB-2843-BC15-2EFF0678F070}"/>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a:extLst>
              <a:ext uri="{FF2B5EF4-FFF2-40B4-BE49-F238E27FC236}">
                <a16:creationId xmlns:a16="http://schemas.microsoft.com/office/drawing/2014/main" id="{0E73FEA4-A88F-9448-B389-6B2B6A9C486D}"/>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mn-cs"/>
              </a:defRPr>
            </a:lvl1pPr>
          </a:lstStyle>
          <a:p>
            <a:pPr>
              <a:defRPr/>
            </a:pPr>
            <a:endParaRPr lang="en-CA"/>
          </a:p>
        </p:txBody>
      </p:sp>
      <p:sp>
        <p:nvSpPr>
          <p:cNvPr id="7" name="Slide Number Placeholder 6">
            <a:extLst>
              <a:ext uri="{FF2B5EF4-FFF2-40B4-BE49-F238E27FC236}">
                <a16:creationId xmlns:a16="http://schemas.microsoft.com/office/drawing/2014/main" id="{DE01625B-C3F3-7C47-885A-5061E0D3636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1A9687CB-FEE4-124F-8881-8F6F537FC8E0}" type="slidenum">
              <a:rPr lang="en-CA" altLang="en-US"/>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Slide Image Placeholder 1">
            <a:extLst>
              <a:ext uri="{FF2B5EF4-FFF2-40B4-BE49-F238E27FC236}">
                <a16:creationId xmlns:a16="http://schemas.microsoft.com/office/drawing/2014/main" id="{6948E1FA-997C-B12B-598F-058CEF0B004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2" name="Notes Placeholder 2">
            <a:extLst>
              <a:ext uri="{FF2B5EF4-FFF2-40B4-BE49-F238E27FC236}">
                <a16:creationId xmlns:a16="http://schemas.microsoft.com/office/drawing/2014/main" id="{17CD9D4D-B476-1217-4072-91AF14DCFB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Slides in this template are examples of the slides available in the Slide Master View. When creating a new Slide, use the same Master Layout as specified by the corresponding Sample Slide.</a:t>
            </a:r>
            <a:endParaRPr lang="en-CA" altLang="en-US"/>
          </a:p>
          <a:p>
            <a:pPr eaLnBrk="1" hangingPunct="1">
              <a:spcBef>
                <a:spcPct val="0"/>
              </a:spcBef>
            </a:pPr>
            <a:endParaRPr lang="en-US" altLang="en-US"/>
          </a:p>
        </p:txBody>
      </p:sp>
      <p:sp>
        <p:nvSpPr>
          <p:cNvPr id="5123" name="Slide Number Placeholder 3">
            <a:extLst>
              <a:ext uri="{FF2B5EF4-FFF2-40B4-BE49-F238E27FC236}">
                <a16:creationId xmlns:a16="http://schemas.microsoft.com/office/drawing/2014/main" id="{70897D7D-6079-AF36-7B6F-09C92DC5829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EA29952-6205-EA46-B60C-C34BBF3E7A8B}" type="slidenum">
              <a:rPr lang="en-CA" altLang="en-US">
                <a:latin typeface="Arial" panose="020B0604020202020204" pitchFamily="34" charset="0"/>
              </a:rPr>
              <a:pPr>
                <a:spcBef>
                  <a:spcPct val="0"/>
                </a:spcBef>
              </a:pPr>
              <a:t>1</a:t>
            </a:fld>
            <a:endParaRPr lang="en-CA"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Slide Image Placeholder 1">
            <a:extLst>
              <a:ext uri="{FF2B5EF4-FFF2-40B4-BE49-F238E27FC236}">
                <a16:creationId xmlns:a16="http://schemas.microsoft.com/office/drawing/2014/main" id="{26B86FB1-F8EF-12B4-F1D6-952595FA78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0" name="Notes Placeholder 2">
            <a:extLst>
              <a:ext uri="{FF2B5EF4-FFF2-40B4-BE49-F238E27FC236}">
                <a16:creationId xmlns:a16="http://schemas.microsoft.com/office/drawing/2014/main" id="{9A717D97-860E-029D-DB0F-E1EDE93FDA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Slides in this template are examples of the slides available in the Slide Master View. When creating a new Slide, use the same Master Layout as specified by the corresponding Sample Slide.</a:t>
            </a:r>
            <a:endParaRPr lang="en-CA" altLang="en-US"/>
          </a:p>
          <a:p>
            <a:pPr eaLnBrk="1" hangingPunct="1">
              <a:spcBef>
                <a:spcPct val="0"/>
              </a:spcBef>
            </a:pPr>
            <a:endParaRPr lang="en-US" altLang="en-US"/>
          </a:p>
        </p:txBody>
      </p:sp>
      <p:sp>
        <p:nvSpPr>
          <p:cNvPr id="7171" name="Slide Number Placeholder 3">
            <a:extLst>
              <a:ext uri="{FF2B5EF4-FFF2-40B4-BE49-F238E27FC236}">
                <a16:creationId xmlns:a16="http://schemas.microsoft.com/office/drawing/2014/main" id="{F0A73BD9-F527-E940-E3D1-CDEA4E8810A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823C550-75D9-7E45-B74B-F1E0CFB255E0}" type="slidenum">
              <a:rPr lang="en-CA" altLang="en-US">
                <a:latin typeface="Arial" panose="020B0604020202020204" pitchFamily="34" charset="0"/>
              </a:rPr>
              <a:pPr>
                <a:spcBef>
                  <a:spcPct val="0"/>
                </a:spcBef>
              </a:pPr>
              <a:t>2</a:t>
            </a:fld>
            <a:endParaRPr lang="en-CA"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926FA434-3CFC-B39E-9240-3D3B511D36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Notes Placeholder 2">
            <a:extLst>
              <a:ext uri="{FF2B5EF4-FFF2-40B4-BE49-F238E27FC236}">
                <a16:creationId xmlns:a16="http://schemas.microsoft.com/office/drawing/2014/main" id="{65FE0604-6852-DAF5-29D3-8BDC0C82133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Slides in this template are examples of the slides available in the Slide Master View. When creating a new Slide, use the same Master Layout as specified by the corresponding Sample Slide.</a:t>
            </a:r>
            <a:endParaRPr lang="en-CA" altLang="en-US"/>
          </a:p>
          <a:p>
            <a:pPr eaLnBrk="1" hangingPunct="1">
              <a:spcBef>
                <a:spcPct val="0"/>
              </a:spcBef>
            </a:pPr>
            <a:endParaRPr lang="en-US" altLang="en-US"/>
          </a:p>
        </p:txBody>
      </p:sp>
      <p:sp>
        <p:nvSpPr>
          <p:cNvPr id="16387" name="Slide Number Placeholder 3">
            <a:extLst>
              <a:ext uri="{FF2B5EF4-FFF2-40B4-BE49-F238E27FC236}">
                <a16:creationId xmlns:a16="http://schemas.microsoft.com/office/drawing/2014/main" id="{ED04D592-901E-4502-6688-13D7DCB856C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DBCD3AB-4A96-3847-987E-277FAFF96E79}" type="slidenum">
              <a:rPr lang="en-CA" altLang="en-US">
                <a:latin typeface="Arial" panose="020B0604020202020204" pitchFamily="34" charset="0"/>
              </a:rPr>
              <a:pPr>
                <a:spcBef>
                  <a:spcPct val="0"/>
                </a:spcBef>
              </a:pPr>
              <a:t>10</a:t>
            </a:fld>
            <a:endParaRPr lang="en-CA"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0C0467C4-E1D4-30DD-4CA0-EBE0046F76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8" name="Notes Placeholder 2">
            <a:extLst>
              <a:ext uri="{FF2B5EF4-FFF2-40B4-BE49-F238E27FC236}">
                <a16:creationId xmlns:a16="http://schemas.microsoft.com/office/drawing/2014/main" id="{9E9972AC-C4E2-10AB-F100-22731F315F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Slides in this template are examples of the slides available in the Slide Master View. When creating a new Slide, use the same Master Layout as specified by the corresponding Sample Slide.</a:t>
            </a:r>
            <a:endParaRPr lang="en-CA" altLang="en-US"/>
          </a:p>
          <a:p>
            <a:pPr eaLnBrk="1" hangingPunct="1">
              <a:spcBef>
                <a:spcPct val="0"/>
              </a:spcBef>
            </a:pPr>
            <a:endParaRPr lang="en-US" altLang="en-US"/>
          </a:p>
        </p:txBody>
      </p:sp>
      <p:sp>
        <p:nvSpPr>
          <p:cNvPr id="19459" name="Slide Number Placeholder 3">
            <a:extLst>
              <a:ext uri="{FF2B5EF4-FFF2-40B4-BE49-F238E27FC236}">
                <a16:creationId xmlns:a16="http://schemas.microsoft.com/office/drawing/2014/main" id="{85D92D85-9B71-72A0-3175-E6E5BF45079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743BD39-3D34-FB41-B524-63A1AFFC9EF5}" type="slidenum">
              <a:rPr lang="en-CA" altLang="en-US">
                <a:latin typeface="Arial" panose="020B0604020202020204" pitchFamily="34" charset="0"/>
              </a:rPr>
              <a:pPr>
                <a:spcBef>
                  <a:spcPct val="0"/>
                </a:spcBef>
              </a:pPr>
              <a:t>12</a:t>
            </a:fld>
            <a:endParaRPr lang="en-CA"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1603F38E-BFBF-B67E-D31E-10865EDBAB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0" name="Notes Placeholder 2">
            <a:extLst>
              <a:ext uri="{FF2B5EF4-FFF2-40B4-BE49-F238E27FC236}">
                <a16:creationId xmlns:a16="http://schemas.microsoft.com/office/drawing/2014/main" id="{86750458-9A3B-2594-1959-600861B927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31" name="Slide Number Placeholder 3">
            <a:extLst>
              <a:ext uri="{FF2B5EF4-FFF2-40B4-BE49-F238E27FC236}">
                <a16:creationId xmlns:a16="http://schemas.microsoft.com/office/drawing/2014/main" id="{3D5AA257-D05A-82B3-2BDC-A41EC05E0B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AFBE284-09E5-E84B-941D-70F49630836E}" type="slidenum">
              <a:rPr lang="en-CA" altLang="en-US">
                <a:latin typeface="Arial" panose="020B0604020202020204" pitchFamily="34" charset="0"/>
              </a:rPr>
              <a:pPr>
                <a:spcBef>
                  <a:spcPct val="0"/>
                </a:spcBef>
              </a:pPr>
              <a:t>14</a:t>
            </a:fld>
            <a:endParaRPr lang="en-CA"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EC62C3DF-3D0B-929F-337B-F049C6493F0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Notes Placeholder 2">
            <a:extLst>
              <a:ext uri="{FF2B5EF4-FFF2-40B4-BE49-F238E27FC236}">
                <a16:creationId xmlns:a16="http://schemas.microsoft.com/office/drawing/2014/main" id="{D59E31DA-86A9-4408-F012-9A52CF3C138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Add more virtual details</a:t>
            </a:r>
          </a:p>
        </p:txBody>
      </p:sp>
      <p:sp>
        <p:nvSpPr>
          <p:cNvPr id="28675" name="Slide Number Placeholder 3">
            <a:extLst>
              <a:ext uri="{FF2B5EF4-FFF2-40B4-BE49-F238E27FC236}">
                <a16:creationId xmlns:a16="http://schemas.microsoft.com/office/drawing/2014/main" id="{B9DDF16A-E821-865E-A520-DFDEF15B0F8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D9BBA07-18EB-9A4F-8E1D-1B8C8A5F4E83}" type="slidenum">
              <a:rPr lang="en-CA" altLang="en-US"/>
              <a:pPr/>
              <a:t>19</a:t>
            </a:fld>
            <a:endParaRPr lang="en-CA"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61093377-F87F-F6A2-E326-579B725BFC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4ABBD86D-458B-D05F-E0CB-C728B08AD5D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https://www.dummies.com/careers/business-skills/body-language-and-business-etiquette/</a:t>
            </a:r>
          </a:p>
          <a:p>
            <a:endParaRPr lang="en-US" altLang="en-US"/>
          </a:p>
          <a:p>
            <a:r>
              <a:rPr lang="en-US" altLang="en-US"/>
              <a:t>All the same prep for a virtual environment </a:t>
            </a:r>
          </a:p>
          <a:p>
            <a:endParaRPr lang="en-US" altLang="en-US"/>
          </a:p>
          <a:p>
            <a:r>
              <a:rPr lang="en-US" altLang="en-US"/>
              <a:t>Don’t network with friends, you can go to the event together but separate when you get there</a:t>
            </a:r>
          </a:p>
          <a:p>
            <a:endParaRPr lang="en-US" altLang="en-US"/>
          </a:p>
          <a:p>
            <a:r>
              <a:rPr lang="en-US" altLang="en-US"/>
              <a:t>Practice in the mirror</a:t>
            </a:r>
          </a:p>
          <a:p>
            <a:endParaRPr lang="en-US" altLang="en-US"/>
          </a:p>
          <a:p>
            <a:r>
              <a:rPr lang="en-CA" altLang="en-US" b="1"/>
              <a:t>1. Eye contact. </a:t>
            </a:r>
            <a:r>
              <a:rPr lang="en-CA" altLang="en-US"/>
              <a:t>Some of the most powerful and successful business leaders in the world are known for the impressions they make during face-to-face meetings. Their gaze never wavers from the eyes of the person they are speaking with, making them feel as if they are the most important person in the room. With a little practice, anyone can do this.</a:t>
            </a:r>
          </a:p>
          <a:p>
            <a:r>
              <a:rPr lang="en-CA" altLang="en-US"/>
              <a:t>Are you making good eye contact throughout the conversation? Or are you looking behind the person to see who else is in the room?</a:t>
            </a:r>
          </a:p>
          <a:p>
            <a:r>
              <a:rPr lang="en-CA" altLang="en-US" b="1"/>
              <a:t>2. Arm movement.</a:t>
            </a:r>
            <a:r>
              <a:rPr lang="en-CA" altLang="en-US"/>
              <a:t> If you are speaking to someone and your arms are in a position that gives even a subliminal hint that you're not interested, you’re not going to give off a positive impression.</a:t>
            </a:r>
          </a:p>
          <a:p>
            <a:r>
              <a:rPr lang="en-CA" altLang="en-US"/>
              <a:t>What are your arms doing? Are they folded, signifying boredom, or tucked behind your back, indicating interest?</a:t>
            </a:r>
          </a:p>
          <a:p>
            <a:r>
              <a:rPr lang="en-CA" altLang="en-US" b="1"/>
              <a:t>3. Your stance.</a:t>
            </a:r>
            <a:r>
              <a:rPr lang="en-CA" altLang="en-US"/>
              <a:t> Make an effort to stand in a manner that is open and welcoming, rather than blocking people out of your conversation. Are you leaning on something, as if bored or tired? Are you unable to shake hands because you're juggling a plateful of food?</a:t>
            </a:r>
          </a:p>
          <a:p>
            <a:r>
              <a:rPr lang="en-CA" altLang="en-US" b="1"/>
              <a:t>4. Facial expressions.</a:t>
            </a:r>
            <a:r>
              <a:rPr lang="en-CA" altLang="en-US"/>
              <a:t> Maintaining an interested facial expression goes hand in hand with maintaining eye contact. Are you smiling, or holding back a yawn? Are you showing interest? What does your face say?</a:t>
            </a:r>
          </a:p>
          <a:p>
            <a:endParaRPr lang="en-US" altLang="en-US"/>
          </a:p>
          <a:p>
            <a:r>
              <a:rPr lang="en-CA" altLang="en-US"/>
              <a:t>Try these two actions in the next few weeks to help ensure that you are making positive and powerful first impressions:</a:t>
            </a:r>
          </a:p>
          <a:p>
            <a:r>
              <a:rPr lang="en-CA" altLang="en-US"/>
              <a:t>Look in the mirror before leaving the house and ask yourself: "What message am I sending to people meeting me for the first time? What opinions will they have of me before I even open my mouth?"</a:t>
            </a:r>
          </a:p>
          <a:p>
            <a:r>
              <a:rPr lang="en-CA" altLang="en-US"/>
              <a:t>Become more aware of your body language by getting feedback. What are you saying without speaking a word? Before you host your own event, take a trusted friend with you to a networking function and ask them to give you honest, direct feedback on your body language. Provide them with a small checklist of the four factors discussed above and be prepared for their honest insights.</a:t>
            </a:r>
          </a:p>
          <a:p>
            <a:r>
              <a:rPr lang="en-CA" altLang="en-US"/>
              <a:t>A little feedback can go a long way to helping you present yourself in the best way possible.</a:t>
            </a:r>
          </a:p>
          <a:p>
            <a:endParaRPr lang="en-US" altLang="en-US"/>
          </a:p>
        </p:txBody>
      </p:sp>
      <p:sp>
        <p:nvSpPr>
          <p:cNvPr id="33795" name="Slide Number Placeholder 3">
            <a:extLst>
              <a:ext uri="{FF2B5EF4-FFF2-40B4-BE49-F238E27FC236}">
                <a16:creationId xmlns:a16="http://schemas.microsoft.com/office/drawing/2014/main" id="{4919299E-9630-28F2-016A-082918D021D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651CDDD-9C7F-5A4F-955A-304697FBA359}" type="slidenum">
              <a:rPr lang="en-CA" altLang="en-US"/>
              <a:pPr/>
              <a:t>22</a:t>
            </a:fld>
            <a:endParaRPr lang="en-CA"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Eventbrite, tech fairs, career fairs, hackathons, any remote events across the country or globe, </a:t>
            </a:r>
          </a:p>
        </p:txBody>
      </p:sp>
      <p:sp>
        <p:nvSpPr>
          <p:cNvPr id="4" name="Slide Number Placeholder 3"/>
          <p:cNvSpPr>
            <a:spLocks noGrp="1"/>
          </p:cNvSpPr>
          <p:nvPr>
            <p:ph type="sldNum" sz="quarter" idx="5"/>
          </p:nvPr>
        </p:nvSpPr>
        <p:spPr/>
        <p:txBody>
          <a:bodyPr/>
          <a:lstStyle/>
          <a:p>
            <a:fld id="{1A9687CB-FEE4-124F-8881-8F6F537FC8E0}" type="slidenum">
              <a:rPr lang="en-CA" altLang="en-US" smtClean="0"/>
              <a:pPr/>
              <a:t>23</a:t>
            </a:fld>
            <a:endParaRPr lang="en-CA" altLang="en-US"/>
          </a:p>
        </p:txBody>
      </p:sp>
    </p:spTree>
    <p:extLst>
      <p:ext uri="{BB962C8B-B14F-4D97-AF65-F5344CB8AC3E}">
        <p14:creationId xmlns:p14="http://schemas.microsoft.com/office/powerpoint/2010/main" val="6699370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4A8E56B-D300-A3C7-6B23-E06CE7BD9897}"/>
              </a:ext>
            </a:extLst>
          </p:cNvPr>
          <p:cNvCxnSpPr/>
          <p:nvPr userDrawn="1"/>
        </p:nvCxnSpPr>
        <p:spPr>
          <a:xfrm>
            <a:off x="-6350" y="6565900"/>
            <a:ext cx="9150350" cy="0"/>
          </a:xfrm>
          <a:prstGeom prst="line">
            <a:avLst/>
          </a:prstGeom>
          <a:ln w="57150">
            <a:solidFill>
              <a:srgbClr val="7482BF"/>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E277736F-91E9-A26C-95DF-FCC713B513A4}"/>
              </a:ext>
            </a:extLst>
          </p:cNvPr>
          <p:cNvSpPr/>
          <p:nvPr userDrawn="1"/>
        </p:nvSpPr>
        <p:spPr>
          <a:xfrm>
            <a:off x="1652588" y="0"/>
            <a:ext cx="7497762" cy="1065213"/>
          </a:xfrm>
          <a:prstGeom prst="rect">
            <a:avLst/>
          </a:prstGeom>
          <a:solidFill>
            <a:srgbClr val="7482B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4" name="Picture 10">
            <a:extLst>
              <a:ext uri="{FF2B5EF4-FFF2-40B4-BE49-F238E27FC236}">
                <a16:creationId xmlns:a16="http://schemas.microsoft.com/office/drawing/2014/main" id="{480D2060-32BD-2BDD-2146-4095D0412DE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305" t="2190" r="1263" b="2048"/>
          <a:stretch>
            <a:fillRect/>
          </a:stretch>
        </p:blipFill>
        <p:spPr bwMode="auto">
          <a:xfrm>
            <a:off x="0" y="0"/>
            <a:ext cx="1652588"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1">
            <a:extLst>
              <a:ext uri="{FF2B5EF4-FFF2-40B4-BE49-F238E27FC236}">
                <a16:creationId xmlns:a16="http://schemas.microsoft.com/office/drawing/2014/main" id="{67C67A5F-5503-A568-C353-A86D070C96F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46288" y="114300"/>
            <a:ext cx="59309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3"/>
          <p:cNvSpPr>
            <a:spLocks noGrp="1" noChangeArrowheads="1"/>
          </p:cNvSpPr>
          <p:nvPr>
            <p:ph type="ctrTitle"/>
          </p:nvPr>
        </p:nvSpPr>
        <p:spPr>
          <a:xfrm>
            <a:off x="1955800" y="517525"/>
            <a:ext cx="7188200" cy="431800"/>
          </a:xfrm>
        </p:spPr>
        <p:txBody>
          <a:bodyPr/>
          <a:lstStyle>
            <a:lvl1pPr>
              <a:defRPr/>
            </a:lvl1pPr>
          </a:lstStyle>
          <a:p>
            <a:pPr lvl="0"/>
            <a:r>
              <a:rPr lang="en-CA" altLang="en-US" noProof="0"/>
              <a:t>Click to edit Master title style</a:t>
            </a:r>
          </a:p>
        </p:txBody>
      </p:sp>
      <p:sp>
        <p:nvSpPr>
          <p:cNvPr id="3076" name="Rectangle 4"/>
          <p:cNvSpPr>
            <a:spLocks noGrp="1" noChangeArrowheads="1"/>
          </p:cNvSpPr>
          <p:nvPr>
            <p:ph type="subTitle" idx="1"/>
          </p:nvPr>
        </p:nvSpPr>
        <p:spPr>
          <a:xfrm>
            <a:off x="838200" y="2408238"/>
            <a:ext cx="7467600" cy="1752600"/>
          </a:xfrm>
        </p:spPr>
        <p:txBody>
          <a:bodyPr/>
          <a:lstStyle>
            <a:lvl1pPr marL="0" indent="0" algn="ctr">
              <a:buFont typeface="Wingdings" pitchFamily="2" charset="2"/>
              <a:buNone/>
              <a:defRPr sz="4400" b="1"/>
            </a:lvl1pPr>
          </a:lstStyle>
          <a:p>
            <a:pPr lvl="0"/>
            <a:r>
              <a:rPr lang="en-CA" altLang="en-US" noProof="0"/>
              <a:t>Place Header Here</a:t>
            </a:r>
            <a:br>
              <a:rPr lang="en-CA" altLang="en-US" noProof="0"/>
            </a:br>
            <a:r>
              <a:rPr lang="en-CA" altLang="en-US" noProof="0"/>
              <a:t>Place Text Here</a:t>
            </a:r>
          </a:p>
        </p:txBody>
      </p:sp>
    </p:spTree>
    <p:extLst>
      <p:ext uri="{BB962C8B-B14F-4D97-AF65-F5344CB8AC3E}">
        <p14:creationId xmlns:p14="http://schemas.microsoft.com/office/powerpoint/2010/main" val="2796464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035869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928373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3451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359417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2395001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913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26184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3953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627367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8788" y="381000"/>
            <a:ext cx="2116137" cy="5745163"/>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381000"/>
            <a:ext cx="6199188" cy="5745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0165373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930400" y="381000"/>
            <a:ext cx="6994525" cy="633413"/>
          </a:xfrm>
        </p:spPr>
        <p:txBody>
          <a:bodyPr/>
          <a:lstStyle/>
          <a:p>
            <a:r>
              <a:rPr lang="en-US"/>
              <a:t>Click to edit Master title style</a:t>
            </a:r>
            <a:endParaRPr lang="en-CA"/>
          </a:p>
        </p:txBody>
      </p:sp>
      <p:sp>
        <p:nvSpPr>
          <p:cNvPr id="3" name="SmartArt Placeholder 2"/>
          <p:cNvSpPr>
            <a:spLocks noGrp="1"/>
          </p:cNvSpPr>
          <p:nvPr>
            <p:ph type="dgm" idx="1"/>
          </p:nvPr>
        </p:nvSpPr>
        <p:spPr>
          <a:xfrm>
            <a:off x="457200" y="1600200"/>
            <a:ext cx="8229600" cy="4525963"/>
          </a:xfrm>
        </p:spPr>
        <p:txBody>
          <a:bodyPr/>
          <a:lstStyle/>
          <a:p>
            <a:pPr lvl="0"/>
            <a:endParaRPr lang="en-CA" noProof="0" dirty="0"/>
          </a:p>
        </p:txBody>
      </p:sp>
    </p:spTree>
    <p:extLst>
      <p:ext uri="{BB962C8B-B14F-4D97-AF65-F5344CB8AC3E}">
        <p14:creationId xmlns:p14="http://schemas.microsoft.com/office/powerpoint/2010/main" val="2691486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52AB12F-36C0-1E41-B39F-4D85496F0587}"/>
              </a:ext>
            </a:extLst>
          </p:cNvPr>
          <p:cNvCxnSpPr/>
          <p:nvPr userDrawn="1"/>
        </p:nvCxnSpPr>
        <p:spPr>
          <a:xfrm>
            <a:off x="-6350" y="6565900"/>
            <a:ext cx="9150350" cy="0"/>
          </a:xfrm>
          <a:prstGeom prst="line">
            <a:avLst/>
          </a:prstGeom>
          <a:ln w="57150">
            <a:solidFill>
              <a:srgbClr val="7482BF"/>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A58C72A-D8C1-E04D-91D5-5B6E7ED0CA5B}"/>
              </a:ext>
            </a:extLst>
          </p:cNvPr>
          <p:cNvSpPr/>
          <p:nvPr userDrawn="1"/>
        </p:nvSpPr>
        <p:spPr>
          <a:xfrm>
            <a:off x="1652588" y="0"/>
            <a:ext cx="7497762" cy="1065213"/>
          </a:xfrm>
          <a:prstGeom prst="rect">
            <a:avLst/>
          </a:prstGeom>
          <a:solidFill>
            <a:srgbClr val="7482B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1028" name="Picture 6">
            <a:extLst>
              <a:ext uri="{FF2B5EF4-FFF2-40B4-BE49-F238E27FC236}">
                <a16:creationId xmlns:a16="http://schemas.microsoft.com/office/drawing/2014/main" id="{335A04A9-7D58-24B8-CB1B-60E4DB1413A6}"/>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l="1305" t="2190" r="1263" b="2048"/>
          <a:stretch>
            <a:fillRect/>
          </a:stretch>
        </p:blipFill>
        <p:spPr bwMode="auto">
          <a:xfrm>
            <a:off x="0" y="0"/>
            <a:ext cx="1652588"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7">
            <a:extLst>
              <a:ext uri="{FF2B5EF4-FFF2-40B4-BE49-F238E27FC236}">
                <a16:creationId xmlns:a16="http://schemas.microsoft.com/office/drawing/2014/main" id="{3A81A122-29ED-2B45-C88A-BBC3898ADDDC}"/>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2046288" y="114300"/>
            <a:ext cx="59309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2">
            <a:extLst>
              <a:ext uri="{FF2B5EF4-FFF2-40B4-BE49-F238E27FC236}">
                <a16:creationId xmlns:a16="http://schemas.microsoft.com/office/drawing/2014/main" id="{5328E1D2-A9E9-8D75-6664-50ED4DF2275E}"/>
              </a:ext>
            </a:extLst>
          </p:cNvPr>
          <p:cNvSpPr>
            <a:spLocks noGrp="1" noChangeArrowheads="1"/>
          </p:cNvSpPr>
          <p:nvPr>
            <p:ph type="title"/>
          </p:nvPr>
        </p:nvSpPr>
        <p:spPr bwMode="white">
          <a:xfrm>
            <a:off x="1930400" y="381000"/>
            <a:ext cx="6994525" cy="63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CA" altLang="en-US"/>
              <a:t>Click to edit Master title style</a:t>
            </a:r>
          </a:p>
        </p:txBody>
      </p:sp>
      <p:sp>
        <p:nvSpPr>
          <p:cNvPr id="1031" name="Rectangle 3">
            <a:extLst>
              <a:ext uri="{FF2B5EF4-FFF2-40B4-BE49-F238E27FC236}">
                <a16:creationId xmlns:a16="http://schemas.microsoft.com/office/drawing/2014/main" id="{84DC73E8-5AEC-0BDB-B349-7BD740B5F956}"/>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CA" altLang="en-US"/>
              <a:t>Click to edit Master text styles</a:t>
            </a:r>
          </a:p>
          <a:p>
            <a:pPr lvl="1"/>
            <a:r>
              <a:rPr lang="en-CA" altLang="en-US"/>
              <a:t>Second level</a:t>
            </a:r>
          </a:p>
          <a:p>
            <a:pPr lvl="2"/>
            <a:r>
              <a:rPr lang="en-CA" altLang="en-US"/>
              <a:t>Third level</a:t>
            </a:r>
          </a:p>
          <a:p>
            <a:pPr lvl="3"/>
            <a:r>
              <a:rPr lang="en-CA" altLang="en-US"/>
              <a:t>Fourth level</a:t>
            </a:r>
          </a:p>
          <a:p>
            <a:pPr lvl="4"/>
            <a:r>
              <a:rPr lang="en-CA" altLang="en-US"/>
              <a:t>Fifth level</a:t>
            </a:r>
          </a:p>
        </p:txBody>
      </p:sp>
    </p:spTree>
  </p:cSld>
  <p:clrMap bg1="lt1" tx1="dk1" bg2="lt2" tx2="dk2" accent1="accent1" accent2="accent2" accent3="accent3" accent4="accent4" accent5="accent5" accent6="accent6" hlink="hlink" folHlink="folHlink"/>
  <p:sldLayoutIdLst>
    <p:sldLayoutId id="2147483777"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charset="0"/>
        </a:defRPr>
      </a:lvl2pPr>
      <a:lvl3pPr algn="l" rtl="0" eaLnBrk="0" fontAlgn="base" hangingPunct="0">
        <a:spcBef>
          <a:spcPct val="0"/>
        </a:spcBef>
        <a:spcAft>
          <a:spcPct val="0"/>
        </a:spcAft>
        <a:defRPr sz="3600" b="1">
          <a:solidFill>
            <a:schemeClr val="tx2"/>
          </a:solidFill>
          <a:latin typeface="Arial" charset="0"/>
        </a:defRPr>
      </a:lvl3pPr>
      <a:lvl4pPr algn="l" rtl="0" eaLnBrk="0" fontAlgn="base" hangingPunct="0">
        <a:spcBef>
          <a:spcPct val="0"/>
        </a:spcBef>
        <a:spcAft>
          <a:spcPct val="0"/>
        </a:spcAft>
        <a:defRPr sz="3600" b="1">
          <a:solidFill>
            <a:schemeClr val="tx2"/>
          </a:solidFill>
          <a:latin typeface="Arial" charset="0"/>
        </a:defRPr>
      </a:lvl4pPr>
      <a:lvl5pPr algn="l" rtl="0" eaLnBrk="0" fontAlgn="base" hangingPunct="0">
        <a:spcBef>
          <a:spcPct val="0"/>
        </a:spcBef>
        <a:spcAft>
          <a:spcPct val="0"/>
        </a:spcAft>
        <a:defRPr sz="3600" b="1">
          <a:solidFill>
            <a:schemeClr val="tx2"/>
          </a:solidFill>
          <a:latin typeface="Arial" charset="0"/>
        </a:defRPr>
      </a:lvl5pPr>
      <a:lvl6pPr marL="457200" algn="l" rtl="0" fontAlgn="base">
        <a:spcBef>
          <a:spcPct val="0"/>
        </a:spcBef>
        <a:spcAft>
          <a:spcPct val="0"/>
        </a:spcAft>
        <a:defRPr sz="3600" b="1">
          <a:solidFill>
            <a:schemeClr val="tx2"/>
          </a:solidFill>
          <a:latin typeface="Arial" charset="0"/>
        </a:defRPr>
      </a:lvl6pPr>
      <a:lvl7pPr marL="914400" algn="l" rtl="0" fontAlgn="base">
        <a:spcBef>
          <a:spcPct val="0"/>
        </a:spcBef>
        <a:spcAft>
          <a:spcPct val="0"/>
        </a:spcAft>
        <a:defRPr sz="3600" b="1">
          <a:solidFill>
            <a:schemeClr val="tx2"/>
          </a:solidFill>
          <a:latin typeface="Arial" charset="0"/>
        </a:defRPr>
      </a:lvl7pPr>
      <a:lvl8pPr marL="1371600" algn="l" rtl="0" fontAlgn="base">
        <a:spcBef>
          <a:spcPct val="0"/>
        </a:spcBef>
        <a:spcAft>
          <a:spcPct val="0"/>
        </a:spcAft>
        <a:defRPr sz="3600" b="1">
          <a:solidFill>
            <a:schemeClr val="tx2"/>
          </a:solidFill>
          <a:latin typeface="Arial" charset="0"/>
        </a:defRPr>
      </a:lvl8pPr>
      <a:lvl9pPr marL="1828800" algn="l" rtl="0" fontAlgn="base">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5000"/>
        </a:spcBef>
        <a:spcAft>
          <a:spcPct val="25000"/>
        </a:spcAft>
        <a:buClr>
          <a:srgbClr val="005AA6"/>
        </a:buClr>
        <a:buFont typeface="Wingdings" pitchFamily="2" charset="2"/>
        <a:buChar char="§"/>
        <a:defRPr sz="2800">
          <a:solidFill>
            <a:srgbClr val="4D4D4D"/>
          </a:solidFill>
          <a:latin typeface="+mn-lt"/>
          <a:ea typeface="+mn-ea"/>
          <a:cs typeface="+mn-cs"/>
        </a:defRPr>
      </a:lvl1pPr>
      <a:lvl2pPr marL="742950" indent="-285750" algn="l" rtl="0" eaLnBrk="0" fontAlgn="base" hangingPunct="0">
        <a:spcBef>
          <a:spcPct val="25000"/>
        </a:spcBef>
        <a:spcAft>
          <a:spcPct val="25000"/>
        </a:spcAft>
        <a:buClr>
          <a:srgbClr val="005AA6"/>
        </a:buClr>
        <a:buChar char="–"/>
        <a:defRPr sz="2400">
          <a:solidFill>
            <a:srgbClr val="4D4D4D"/>
          </a:solidFill>
          <a:latin typeface="+mn-lt"/>
        </a:defRPr>
      </a:lvl2pPr>
      <a:lvl3pPr marL="1143000" indent="-228600" algn="l" rtl="0" eaLnBrk="0" fontAlgn="base" hangingPunct="0">
        <a:spcBef>
          <a:spcPct val="25000"/>
        </a:spcBef>
        <a:spcAft>
          <a:spcPct val="25000"/>
        </a:spcAft>
        <a:buClr>
          <a:srgbClr val="005AA6"/>
        </a:buClr>
        <a:buChar char="•"/>
        <a:defRPr sz="2000">
          <a:solidFill>
            <a:srgbClr val="4D4D4D"/>
          </a:solidFill>
          <a:latin typeface="+mn-lt"/>
        </a:defRPr>
      </a:lvl3pPr>
      <a:lvl4pPr marL="1600200" indent="-228600" algn="l" rtl="0" eaLnBrk="0" fontAlgn="base" hangingPunct="0">
        <a:spcBef>
          <a:spcPct val="25000"/>
        </a:spcBef>
        <a:spcAft>
          <a:spcPct val="25000"/>
        </a:spcAft>
        <a:buClr>
          <a:srgbClr val="005AA6"/>
        </a:buClr>
        <a:buChar char="–"/>
        <a:defRPr>
          <a:solidFill>
            <a:srgbClr val="4D4D4D"/>
          </a:solidFill>
          <a:latin typeface="+mn-lt"/>
        </a:defRPr>
      </a:lvl4pPr>
      <a:lvl5pPr marL="2057400" indent="-228600" algn="l" rtl="0" eaLnBrk="0" fontAlgn="base" hangingPunct="0">
        <a:spcBef>
          <a:spcPct val="25000"/>
        </a:spcBef>
        <a:spcAft>
          <a:spcPct val="25000"/>
        </a:spcAft>
        <a:buClr>
          <a:srgbClr val="005AA6"/>
        </a:buClr>
        <a:buChar char="»"/>
        <a:defRPr>
          <a:solidFill>
            <a:srgbClr val="4D4D4D"/>
          </a:solidFill>
          <a:latin typeface="+mn-lt"/>
        </a:defRPr>
      </a:lvl5pPr>
      <a:lvl6pPr marL="2514600" indent="-228600" algn="l" rtl="0" fontAlgn="base">
        <a:spcBef>
          <a:spcPct val="25000"/>
        </a:spcBef>
        <a:spcAft>
          <a:spcPct val="25000"/>
        </a:spcAft>
        <a:buClr>
          <a:srgbClr val="005AA6"/>
        </a:buClr>
        <a:buChar char="»"/>
        <a:defRPr>
          <a:solidFill>
            <a:srgbClr val="4D4D4D"/>
          </a:solidFill>
          <a:latin typeface="+mn-lt"/>
        </a:defRPr>
      </a:lvl6pPr>
      <a:lvl7pPr marL="2971800" indent="-228600" algn="l" rtl="0" fontAlgn="base">
        <a:spcBef>
          <a:spcPct val="25000"/>
        </a:spcBef>
        <a:spcAft>
          <a:spcPct val="25000"/>
        </a:spcAft>
        <a:buClr>
          <a:srgbClr val="005AA6"/>
        </a:buClr>
        <a:buChar char="»"/>
        <a:defRPr>
          <a:solidFill>
            <a:srgbClr val="4D4D4D"/>
          </a:solidFill>
          <a:latin typeface="+mn-lt"/>
        </a:defRPr>
      </a:lvl7pPr>
      <a:lvl8pPr marL="3429000" indent="-228600" algn="l" rtl="0" fontAlgn="base">
        <a:spcBef>
          <a:spcPct val="25000"/>
        </a:spcBef>
        <a:spcAft>
          <a:spcPct val="25000"/>
        </a:spcAft>
        <a:buClr>
          <a:srgbClr val="005AA6"/>
        </a:buClr>
        <a:buChar char="»"/>
        <a:defRPr>
          <a:solidFill>
            <a:srgbClr val="4D4D4D"/>
          </a:solidFill>
          <a:latin typeface="+mn-lt"/>
        </a:defRPr>
      </a:lvl8pPr>
      <a:lvl9pPr marL="3886200" indent="-228600" algn="l" rtl="0" fontAlgn="base">
        <a:spcBef>
          <a:spcPct val="25000"/>
        </a:spcBef>
        <a:spcAft>
          <a:spcPct val="25000"/>
        </a:spcAft>
        <a:buClr>
          <a:srgbClr val="005AA6"/>
        </a:buClr>
        <a:buChar char="»"/>
        <a:defRPr>
          <a:solidFill>
            <a:srgbClr val="4D4D4D"/>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newswire.ca/"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1">
            <a:extLst>
              <a:ext uri="{FF2B5EF4-FFF2-40B4-BE49-F238E27FC236}">
                <a16:creationId xmlns:a16="http://schemas.microsoft.com/office/drawing/2014/main" id="{72D81E7D-985C-5142-5140-F059FFB670DD}"/>
              </a:ext>
            </a:extLst>
          </p:cNvPr>
          <p:cNvSpPr>
            <a:spLocks noGrp="1" noChangeArrowheads="1"/>
          </p:cNvSpPr>
          <p:nvPr>
            <p:ph type="subTitle" idx="1"/>
          </p:nvPr>
        </p:nvSpPr>
        <p:spPr/>
        <p:txBody>
          <a:bodyPr/>
          <a:lstStyle/>
          <a:p>
            <a:pPr eaLnBrk="1" hangingPunct="1"/>
            <a:endParaRPr lang="en-US" altLang="en-US"/>
          </a:p>
          <a:p>
            <a:pPr eaLnBrk="1" hangingPunct="1"/>
            <a:r>
              <a:rPr lang="en-US" altLang="en-US"/>
              <a:t>Networking</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1">
            <a:extLst>
              <a:ext uri="{FF2B5EF4-FFF2-40B4-BE49-F238E27FC236}">
                <a16:creationId xmlns:a16="http://schemas.microsoft.com/office/drawing/2014/main" id="{1E60F8F6-52A9-5472-D5AA-0594C31BA6A4}"/>
              </a:ext>
            </a:extLst>
          </p:cNvPr>
          <p:cNvSpPr>
            <a:spLocks noGrp="1" noChangeArrowheads="1"/>
          </p:cNvSpPr>
          <p:nvPr>
            <p:ph type="subTitle" idx="1"/>
          </p:nvPr>
        </p:nvSpPr>
        <p:spPr/>
        <p:txBody>
          <a:bodyPr/>
          <a:lstStyle/>
          <a:p>
            <a:pPr eaLnBrk="1" hangingPunct="1"/>
            <a:endParaRPr lang="en-US" altLang="en-US"/>
          </a:p>
          <a:p>
            <a:pPr eaLnBrk="1" hangingPunct="1"/>
            <a:r>
              <a:rPr lang="en-US" altLang="en-US">
                <a:solidFill>
                  <a:schemeClr val="tx1"/>
                </a:solidFill>
              </a:rPr>
              <a:t>What is Networking?</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5">
            <a:extLst>
              <a:ext uri="{FF2B5EF4-FFF2-40B4-BE49-F238E27FC236}">
                <a16:creationId xmlns:a16="http://schemas.microsoft.com/office/drawing/2014/main" id="{854E37B5-632C-824D-9E4A-2BF7B8D2DAC9}"/>
              </a:ext>
            </a:extLst>
          </p:cNvPr>
          <p:cNvSpPr>
            <a:spLocks noGrp="1" noChangeArrowheads="1"/>
          </p:cNvSpPr>
          <p:nvPr>
            <p:ph type="body" idx="1"/>
          </p:nvPr>
        </p:nvSpPr>
        <p:spPr/>
        <p:txBody>
          <a:bodyPr/>
          <a:lstStyle/>
          <a:p>
            <a:pPr marL="0" indent="0">
              <a:spcBef>
                <a:spcPts val="1800"/>
              </a:spcBef>
              <a:spcAft>
                <a:spcPts val="0"/>
              </a:spcAft>
              <a:buFont typeface="Wingdings" pitchFamily="2" charset="2"/>
              <a:buNone/>
              <a:defRPr/>
            </a:pPr>
            <a:r>
              <a:rPr lang="en-US" b="1" dirty="0"/>
              <a:t>What is Networking?</a:t>
            </a:r>
          </a:p>
          <a:p>
            <a:pPr>
              <a:spcBef>
                <a:spcPts val="1800"/>
              </a:spcBef>
              <a:spcAft>
                <a:spcPts val="0"/>
              </a:spcAft>
              <a:buFont typeface="Arial" panose="020B0604020202020204" pitchFamily="34" charset="0"/>
              <a:buChar char="•"/>
              <a:defRPr/>
            </a:pPr>
            <a:r>
              <a:rPr lang="en-US" sz="2000" dirty="0"/>
              <a:t>Building and maintaining </a:t>
            </a:r>
            <a:r>
              <a:rPr lang="en-US" sz="2000" b="1" dirty="0"/>
              <a:t>relationships</a:t>
            </a:r>
            <a:r>
              <a:rPr lang="en-US" sz="2000" dirty="0"/>
              <a:t> </a:t>
            </a:r>
          </a:p>
          <a:p>
            <a:pPr>
              <a:spcBef>
                <a:spcPts val="1800"/>
              </a:spcBef>
              <a:spcAft>
                <a:spcPts val="0"/>
              </a:spcAft>
              <a:buFont typeface="Arial" panose="020B0604020202020204" pitchFamily="34" charset="0"/>
              <a:buChar char="•"/>
              <a:defRPr/>
            </a:pPr>
            <a:r>
              <a:rPr lang="en-US" sz="2000" dirty="0"/>
              <a:t>Connecting to job and / or business </a:t>
            </a:r>
            <a:r>
              <a:rPr lang="en-US" sz="2000" b="1" dirty="0"/>
              <a:t>communities</a:t>
            </a:r>
            <a:r>
              <a:rPr lang="en-US" sz="2000" dirty="0"/>
              <a:t>  </a:t>
            </a:r>
          </a:p>
          <a:p>
            <a:pPr>
              <a:spcBef>
                <a:spcPts val="1800"/>
              </a:spcBef>
              <a:spcAft>
                <a:spcPts val="0"/>
              </a:spcAft>
              <a:buFont typeface="Arial" panose="020B0604020202020204" pitchFamily="34" charset="0"/>
              <a:buChar char="•"/>
              <a:defRPr/>
            </a:pPr>
            <a:r>
              <a:rPr lang="en-US" sz="2000" dirty="0"/>
              <a:t>Getting help and </a:t>
            </a:r>
            <a:r>
              <a:rPr lang="en-US" sz="2000" b="1" dirty="0"/>
              <a:t>helping</a:t>
            </a:r>
            <a:r>
              <a:rPr lang="en-US" sz="2000" dirty="0"/>
              <a:t> others  </a:t>
            </a:r>
          </a:p>
          <a:p>
            <a:pPr>
              <a:spcBef>
                <a:spcPts val="1800"/>
              </a:spcBef>
              <a:spcAft>
                <a:spcPts val="0"/>
              </a:spcAft>
              <a:buFont typeface="Arial" panose="020B0604020202020204" pitchFamily="34" charset="0"/>
              <a:buChar char="•"/>
              <a:defRPr/>
            </a:pPr>
            <a:r>
              <a:rPr lang="en-US" sz="2000" b="1" dirty="0"/>
              <a:t>Connecting</a:t>
            </a:r>
            <a:r>
              <a:rPr lang="en-US" sz="2000" dirty="0"/>
              <a:t> to people who may have what you want or know others who do OR vice versa</a:t>
            </a:r>
          </a:p>
          <a:p>
            <a:pPr>
              <a:spcBef>
                <a:spcPts val="1800"/>
              </a:spcBef>
              <a:spcAft>
                <a:spcPts val="0"/>
              </a:spcAft>
              <a:buFont typeface="Arial" panose="020B0604020202020204" pitchFamily="34" charset="0"/>
              <a:buChar char="•"/>
              <a:defRPr/>
            </a:pPr>
            <a:r>
              <a:rPr lang="en-US" sz="2000" dirty="0"/>
              <a:t>Your key to tapping into the </a:t>
            </a:r>
            <a:r>
              <a:rPr lang="en-US" sz="2000" b="1" dirty="0"/>
              <a:t>hidden job market</a:t>
            </a:r>
            <a:r>
              <a:rPr lang="en-US" sz="2000" dirty="0"/>
              <a:t> and finding those jobs that never make it to the internet postings. </a:t>
            </a:r>
          </a:p>
          <a:p>
            <a:pPr eaLnBrk="1" hangingPunct="1">
              <a:defRPr/>
            </a:pPr>
            <a:endParaRPr lang="en-CA" altLang="en-US"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5">
            <a:extLst>
              <a:ext uri="{FF2B5EF4-FFF2-40B4-BE49-F238E27FC236}">
                <a16:creationId xmlns:a16="http://schemas.microsoft.com/office/drawing/2014/main" id="{6660AF7A-7D92-7BB2-8F26-B62A16FBD9C8}"/>
              </a:ext>
            </a:extLst>
          </p:cNvPr>
          <p:cNvSpPr>
            <a:spLocks noGrp="1" noChangeArrowheads="1"/>
          </p:cNvSpPr>
          <p:nvPr>
            <p:ph type="body" idx="1"/>
          </p:nvPr>
        </p:nvSpPr>
        <p:spPr/>
        <p:txBody>
          <a:bodyPr/>
          <a:lstStyle/>
          <a:p>
            <a:pPr marL="0" indent="0" eaLnBrk="1" hangingPunct="1">
              <a:buFont typeface="Wingdings" pitchFamily="2" charset="2"/>
              <a:buNone/>
            </a:pPr>
            <a:r>
              <a:rPr lang="en-US" altLang="en-US" b="1">
                <a:solidFill>
                  <a:srgbClr val="000000"/>
                </a:solidFill>
                <a:ea typeface="Source Sans Pro" panose="020B0503030403020204" pitchFamily="34" charset="0"/>
                <a:cs typeface="Source Sans Pro" panose="020B0503030403020204" pitchFamily="34" charset="0"/>
                <a:sym typeface="Source Sans Pro" panose="020B0503030403020204" pitchFamily="34" charset="0"/>
              </a:rPr>
              <a:t>Networking Myths</a:t>
            </a:r>
          </a:p>
          <a:p>
            <a:pPr marL="0" indent="0" eaLnBrk="1" hangingPunct="1">
              <a:buFont typeface="Wingdings" pitchFamily="2" charset="2"/>
              <a:buNone/>
            </a:pPr>
            <a:endParaRPr lang="en-US" altLang="en-US">
              <a:solidFill>
                <a:srgbClr val="000000"/>
              </a:solidFill>
              <a:latin typeface="Source Sans Pro" panose="020B0503030403020204" pitchFamily="34" charset="0"/>
              <a:ea typeface="Source Sans Pro" panose="020B0503030403020204" pitchFamily="34" charset="0"/>
              <a:cs typeface="Source Sans Pro" panose="020B0503030403020204" pitchFamily="34" charset="0"/>
              <a:sym typeface="Source Sans Pro" panose="020B0503030403020204" pitchFamily="34" charset="0"/>
            </a:endParaRPr>
          </a:p>
          <a:p>
            <a:pPr marL="0" indent="0">
              <a:lnSpc>
                <a:spcPct val="94000"/>
              </a:lnSpc>
              <a:spcBef>
                <a:spcPct val="0"/>
              </a:spcBef>
              <a:spcAft>
                <a:spcPct val="0"/>
              </a:spcAft>
              <a:buClr>
                <a:srgbClr val="000000"/>
              </a:buClr>
              <a:buSzPct val="25000"/>
              <a:buFont typeface="Wingdings" pitchFamily="2" charset="2"/>
              <a:buNone/>
            </a:pPr>
            <a:r>
              <a:rPr lang="en-US" altLang="en-US" sz="2000" b="1">
                <a:solidFill>
                  <a:srgbClr val="000000"/>
                </a:solidFill>
                <a:ea typeface="Source Sans Pro" panose="020B0503030403020204" pitchFamily="34" charset="0"/>
                <a:cs typeface="Source Sans Pro" panose="020B0503030403020204" pitchFamily="34" charset="0"/>
                <a:sym typeface="Source Sans Pro" panose="020B0503030403020204" pitchFamily="34" charset="0"/>
              </a:rPr>
              <a:t>Myth?</a:t>
            </a:r>
          </a:p>
          <a:p>
            <a:pPr marL="0" indent="0">
              <a:lnSpc>
                <a:spcPct val="94000"/>
              </a:lnSpc>
              <a:spcBef>
                <a:spcPts val="1200"/>
              </a:spcBef>
              <a:spcAft>
                <a:spcPct val="0"/>
              </a:spcAft>
              <a:buClr>
                <a:srgbClr val="000000"/>
              </a:buClr>
              <a:buSzPct val="25000"/>
              <a:buFont typeface="Wingdings" pitchFamily="2" charset="2"/>
              <a:buNone/>
            </a:pPr>
            <a:r>
              <a:rPr lang="en-US" altLang="en-US" sz="2000" b="1">
                <a:solidFill>
                  <a:srgbClr val="000000"/>
                </a:solidFill>
                <a:ea typeface="Source Sans Pro" panose="020B0503030403020204" pitchFamily="34" charset="0"/>
                <a:cs typeface="Source Sans Pro" panose="020B0503030403020204" pitchFamily="34" charset="0"/>
                <a:sym typeface="Source Sans Pro" panose="020B0503030403020204" pitchFamily="34" charset="0"/>
              </a:rPr>
              <a:t>“You should start networking when you are ready to look for a job.”</a:t>
            </a:r>
          </a:p>
          <a:p>
            <a:pPr marL="0" indent="0" eaLnBrk="1" hangingPunct="1">
              <a:buFont typeface="Wingdings" pitchFamily="2" charset="2"/>
              <a:buNone/>
            </a:pPr>
            <a:endParaRPr lang="en-CA" altLang="en-US"/>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1" name="Rectangle 9">
            <a:extLst>
              <a:ext uri="{FF2B5EF4-FFF2-40B4-BE49-F238E27FC236}">
                <a16:creationId xmlns:a16="http://schemas.microsoft.com/office/drawing/2014/main" id="{12C8DCB3-2E9F-0370-5566-D6A25AC234C7}"/>
              </a:ext>
            </a:extLst>
          </p:cNvPr>
          <p:cNvSpPr>
            <a:spLocks noGrp="1" noChangeArrowheads="1"/>
          </p:cNvSpPr>
          <p:nvPr>
            <p:ph type="body" idx="1"/>
          </p:nvPr>
        </p:nvSpPr>
        <p:spPr/>
        <p:txBody>
          <a:bodyPr/>
          <a:lstStyle/>
          <a:p>
            <a:pPr marL="0" indent="0">
              <a:lnSpc>
                <a:spcPct val="94000"/>
              </a:lnSpc>
              <a:spcBef>
                <a:spcPct val="0"/>
              </a:spcBef>
              <a:spcAft>
                <a:spcPct val="0"/>
              </a:spcAft>
              <a:buClr>
                <a:srgbClr val="000000"/>
              </a:buClr>
              <a:buSzPct val="25000"/>
              <a:buFont typeface="Wingdings" pitchFamily="2" charset="2"/>
              <a:buNone/>
            </a:pPr>
            <a:r>
              <a:rPr lang="en-US" altLang="en-US" sz="2000" b="1">
                <a:solidFill>
                  <a:srgbClr val="000000"/>
                </a:solidFill>
                <a:ea typeface="Source Sans Pro" panose="020B0503030403020204" pitchFamily="34" charset="0"/>
                <a:cs typeface="Source Sans Pro" panose="020B0503030403020204" pitchFamily="34" charset="0"/>
                <a:sym typeface="Source Sans Pro" panose="020B0503030403020204" pitchFamily="34" charset="0"/>
              </a:rPr>
              <a:t>Myth?</a:t>
            </a:r>
          </a:p>
          <a:p>
            <a:pPr marL="0" indent="0">
              <a:lnSpc>
                <a:spcPct val="94000"/>
              </a:lnSpc>
              <a:spcBef>
                <a:spcPts val="1200"/>
              </a:spcBef>
              <a:spcAft>
                <a:spcPct val="0"/>
              </a:spcAft>
              <a:buClr>
                <a:srgbClr val="000000"/>
              </a:buClr>
              <a:buSzPct val="25000"/>
              <a:buFont typeface="Wingdings" pitchFamily="2" charset="2"/>
              <a:buNone/>
            </a:pPr>
            <a:r>
              <a:rPr lang="en-US" altLang="en-US" sz="2000" b="1">
                <a:solidFill>
                  <a:srgbClr val="000000"/>
                </a:solidFill>
                <a:ea typeface="Source Sans Pro" panose="020B0503030403020204" pitchFamily="34" charset="0"/>
                <a:cs typeface="Source Sans Pro" panose="020B0503030403020204" pitchFamily="34" charset="0"/>
                <a:sym typeface="Source Sans Pro" panose="020B0503030403020204" pitchFamily="34" charset="0"/>
              </a:rPr>
              <a:t>“You should start networking when you are ready to look for a job.”</a:t>
            </a:r>
          </a:p>
          <a:p>
            <a:pPr marL="0" indent="0">
              <a:lnSpc>
                <a:spcPct val="94000"/>
              </a:lnSpc>
              <a:spcBef>
                <a:spcPts val="1200"/>
              </a:spcBef>
              <a:spcAft>
                <a:spcPct val="0"/>
              </a:spcAft>
              <a:buClr>
                <a:srgbClr val="000000"/>
              </a:buClr>
              <a:buSzPct val="25000"/>
              <a:buFont typeface="Wingdings" pitchFamily="2" charset="2"/>
              <a:buNone/>
            </a:pPr>
            <a:endParaRPr lang="en-US" altLang="en-US">
              <a:solidFill>
                <a:srgbClr val="000000"/>
              </a:solidFill>
              <a:latin typeface="Source Sans Pro" panose="020B0503030403020204" pitchFamily="34" charset="0"/>
              <a:ea typeface="Source Sans Pro" panose="020B0503030403020204" pitchFamily="34" charset="0"/>
              <a:cs typeface="Source Sans Pro" panose="020B0503030403020204" pitchFamily="34" charset="0"/>
              <a:sym typeface="Source Sans Pro" panose="020B0503030403020204" pitchFamily="34" charset="0"/>
            </a:endParaRPr>
          </a:p>
          <a:p>
            <a:pPr marL="0" indent="0">
              <a:lnSpc>
                <a:spcPct val="94000"/>
              </a:lnSpc>
              <a:spcBef>
                <a:spcPts val="1200"/>
              </a:spcBef>
              <a:spcAft>
                <a:spcPct val="0"/>
              </a:spcAft>
              <a:buClr>
                <a:srgbClr val="000000"/>
              </a:buClr>
              <a:buSzPct val="25000"/>
              <a:buFont typeface="Wingdings" pitchFamily="2" charset="2"/>
              <a:buNone/>
            </a:pPr>
            <a:r>
              <a:rPr lang="en-US" altLang="en-US" sz="2000" b="1">
                <a:solidFill>
                  <a:srgbClr val="000000"/>
                </a:solidFill>
                <a:ea typeface="Source Sans Pro" panose="020B0503030403020204" pitchFamily="34" charset="0"/>
                <a:cs typeface="Source Sans Pro" panose="020B0503030403020204" pitchFamily="34" charset="0"/>
                <a:sym typeface="Source Sans Pro" panose="020B0503030403020204" pitchFamily="34" charset="0"/>
              </a:rPr>
              <a:t>False.</a:t>
            </a:r>
            <a:r>
              <a:rPr lang="en-US" altLang="en-US" sz="2000">
                <a:solidFill>
                  <a:srgbClr val="000000"/>
                </a:solidFill>
                <a:ea typeface="Source Sans Pro" panose="020B0503030403020204" pitchFamily="34" charset="0"/>
                <a:cs typeface="Source Sans Pro" panose="020B0503030403020204" pitchFamily="34" charset="0"/>
                <a:sym typeface="Source Sans Pro" panose="020B0503030403020204" pitchFamily="34" charset="0"/>
              </a:rPr>
              <a:t>  </a:t>
            </a:r>
          </a:p>
          <a:p>
            <a:pPr marL="0" indent="0">
              <a:lnSpc>
                <a:spcPct val="94000"/>
              </a:lnSpc>
              <a:spcBef>
                <a:spcPts val="1200"/>
              </a:spcBef>
              <a:spcAft>
                <a:spcPct val="0"/>
              </a:spcAft>
              <a:buClr>
                <a:srgbClr val="000000"/>
              </a:buClr>
              <a:buSzPct val="25000"/>
              <a:buFont typeface="Wingdings" pitchFamily="2" charset="2"/>
              <a:buNone/>
            </a:pPr>
            <a:r>
              <a:rPr lang="en-US" altLang="en-US" sz="2000">
                <a:solidFill>
                  <a:srgbClr val="000000"/>
                </a:solidFill>
                <a:ea typeface="Source Sans Pro" panose="020B0503030403020204" pitchFamily="34" charset="0"/>
                <a:cs typeface="Source Sans Pro" panose="020B0503030403020204" pitchFamily="34" charset="0"/>
                <a:sym typeface="Source Sans Pro" panose="020B0503030403020204" pitchFamily="34" charset="0"/>
              </a:rPr>
              <a:t>Networking is NOT about meeting people to ask for a job.  </a:t>
            </a:r>
            <a:r>
              <a:rPr lang="en-US" altLang="en-US" sz="2000"/>
              <a:t>Strong networking practices go far beyond this and is more of</a:t>
            </a:r>
            <a:r>
              <a:rPr lang="en-US" altLang="en-US" sz="2000">
                <a:solidFill>
                  <a:srgbClr val="000000"/>
                </a:solidFill>
                <a:ea typeface="Source Sans Pro" panose="020B0503030403020204" pitchFamily="34" charset="0"/>
                <a:cs typeface="Source Sans Pro" panose="020B0503030403020204" pitchFamily="34" charset="0"/>
                <a:sym typeface="Source Sans Pro" panose="020B0503030403020204" pitchFamily="34" charset="0"/>
              </a:rPr>
              <a:t> an ongoing process of relationship building…</a:t>
            </a:r>
          </a:p>
          <a:p>
            <a:pPr marL="0" indent="0" eaLnBrk="1" hangingPunct="1">
              <a:buFont typeface="Wingdings" pitchFamily="2" charset="2"/>
              <a:buNone/>
            </a:pPr>
            <a:endParaRPr lang="en-US" altLang="en-US"/>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5" name="Rectangle 9">
            <a:extLst>
              <a:ext uri="{FF2B5EF4-FFF2-40B4-BE49-F238E27FC236}">
                <a16:creationId xmlns:a16="http://schemas.microsoft.com/office/drawing/2014/main" id="{6B2057DE-9823-4AD9-77B1-91EECBD7C875}"/>
              </a:ext>
            </a:extLst>
          </p:cNvPr>
          <p:cNvSpPr>
            <a:spLocks noGrp="1" noChangeArrowheads="1"/>
          </p:cNvSpPr>
          <p:nvPr>
            <p:ph type="body" idx="1"/>
          </p:nvPr>
        </p:nvSpPr>
        <p:spPr/>
        <p:txBody>
          <a:bodyPr/>
          <a:lstStyle/>
          <a:p>
            <a:pPr marL="0" indent="0">
              <a:lnSpc>
                <a:spcPct val="94000"/>
              </a:lnSpc>
              <a:spcBef>
                <a:spcPct val="0"/>
              </a:spcBef>
              <a:spcAft>
                <a:spcPct val="0"/>
              </a:spcAft>
              <a:buClr>
                <a:srgbClr val="000000"/>
              </a:buClr>
              <a:buSzPct val="25000"/>
              <a:buFont typeface="Wingdings" pitchFamily="2" charset="2"/>
              <a:buNone/>
            </a:pPr>
            <a:r>
              <a:rPr lang="en-US" altLang="en-US" sz="2000" b="1">
                <a:solidFill>
                  <a:srgbClr val="000000"/>
                </a:solidFill>
                <a:ea typeface="Source Sans Pro" panose="020B0503030403020204" pitchFamily="34" charset="0"/>
                <a:cs typeface="Source Sans Pro" panose="020B0503030403020204" pitchFamily="34" charset="0"/>
                <a:sym typeface="Source Sans Pro" panose="020B0503030403020204" pitchFamily="34" charset="0"/>
              </a:rPr>
              <a:t>Myth?</a:t>
            </a:r>
          </a:p>
          <a:p>
            <a:pPr marL="0" indent="0">
              <a:lnSpc>
                <a:spcPct val="94000"/>
              </a:lnSpc>
              <a:spcBef>
                <a:spcPts val="1200"/>
              </a:spcBef>
              <a:spcAft>
                <a:spcPct val="0"/>
              </a:spcAft>
              <a:buClr>
                <a:srgbClr val="000000"/>
              </a:buClr>
              <a:buSzPct val="25000"/>
              <a:buFont typeface="Wingdings" pitchFamily="2" charset="2"/>
              <a:buNone/>
            </a:pPr>
            <a:r>
              <a:rPr lang="en-US" altLang="en-US" sz="2000" b="1">
                <a:solidFill>
                  <a:srgbClr val="000000"/>
                </a:solidFill>
                <a:ea typeface="Source Sans Pro" panose="020B0503030403020204" pitchFamily="34" charset="0"/>
                <a:cs typeface="Source Sans Pro" panose="020B0503030403020204" pitchFamily="34" charset="0"/>
                <a:sym typeface="Source Sans Pro" panose="020B0503030403020204" pitchFamily="34" charset="0"/>
              </a:rPr>
              <a:t>“Networking means approaching people you don’t know.”</a:t>
            </a:r>
          </a:p>
          <a:p>
            <a:pPr marL="0" indent="0" eaLnBrk="1" hangingPunct="1">
              <a:buFont typeface="Wingdings" pitchFamily="2" charset="2"/>
              <a:buNone/>
            </a:pPr>
            <a:endParaRPr lang="en-US" altLang="en-US"/>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p:txBody>
          <a:bodyPr/>
          <a:lstStyle/>
          <a:p>
            <a:pPr marL="0" indent="0">
              <a:lnSpc>
                <a:spcPct val="94000"/>
              </a:lnSpc>
              <a:spcBef>
                <a:spcPts val="0"/>
              </a:spcBef>
              <a:spcAft>
                <a:spcPts val="0"/>
              </a:spcAft>
              <a:buClr>
                <a:schemeClr val="dk2"/>
              </a:buClr>
              <a:buSzPct val="25000"/>
              <a:buFont typeface="Wingdings" pitchFamily="2" charset="2"/>
              <a:buNone/>
              <a:defRPr/>
            </a:pPr>
            <a:r>
              <a:rPr lang="en-US" sz="2000" b="1" dirty="0">
                <a:solidFill>
                  <a:schemeClr val="dk2"/>
                </a:solidFill>
                <a:ea typeface="Source Sans Pro"/>
                <a:cs typeface="Source Sans Pro"/>
                <a:sym typeface="Source Sans Pro"/>
              </a:rPr>
              <a:t>Myth?</a:t>
            </a:r>
          </a:p>
          <a:p>
            <a:pPr marL="0" indent="0">
              <a:lnSpc>
                <a:spcPct val="94000"/>
              </a:lnSpc>
              <a:spcBef>
                <a:spcPts val="1200"/>
              </a:spcBef>
              <a:spcAft>
                <a:spcPts val="0"/>
              </a:spcAft>
              <a:buClr>
                <a:schemeClr val="dk2"/>
              </a:buClr>
              <a:buSzPct val="25000"/>
              <a:buFont typeface="Wingdings" pitchFamily="2" charset="2"/>
              <a:buNone/>
              <a:defRPr/>
            </a:pPr>
            <a:r>
              <a:rPr lang="en-US" sz="2000" b="1" dirty="0">
                <a:solidFill>
                  <a:schemeClr val="dk2"/>
                </a:solidFill>
                <a:ea typeface="Source Sans Pro"/>
                <a:cs typeface="Source Sans Pro"/>
                <a:sym typeface="Source Sans Pro"/>
              </a:rPr>
              <a:t>“Networking means approaching people you don’t know.”</a:t>
            </a:r>
          </a:p>
          <a:p>
            <a:pPr marL="0" indent="0">
              <a:lnSpc>
                <a:spcPct val="94000"/>
              </a:lnSpc>
              <a:spcBef>
                <a:spcPts val="1200"/>
              </a:spcBef>
              <a:spcAft>
                <a:spcPts val="0"/>
              </a:spcAft>
              <a:buClr>
                <a:schemeClr val="dk2"/>
              </a:buClr>
              <a:buSzPct val="25000"/>
              <a:buFont typeface="Wingdings" pitchFamily="2" charset="2"/>
              <a:buNone/>
              <a:defRPr/>
            </a:pPr>
            <a:endParaRPr lang="en-US" dirty="0">
              <a:solidFill>
                <a:schemeClr val="dk2"/>
              </a:solidFill>
              <a:latin typeface="Source Sans Pro"/>
              <a:ea typeface="Source Sans Pro"/>
              <a:cs typeface="Source Sans Pro"/>
              <a:sym typeface="Source Sans Pro"/>
            </a:endParaRPr>
          </a:p>
          <a:p>
            <a:pPr marL="0" indent="0">
              <a:lnSpc>
                <a:spcPct val="94000"/>
              </a:lnSpc>
              <a:spcBef>
                <a:spcPts val="1200"/>
              </a:spcBef>
              <a:spcAft>
                <a:spcPts val="0"/>
              </a:spcAft>
              <a:buClr>
                <a:schemeClr val="dk2"/>
              </a:buClr>
              <a:buSzPct val="25000"/>
              <a:buFont typeface="Wingdings" pitchFamily="2" charset="2"/>
              <a:buNone/>
              <a:defRPr/>
            </a:pPr>
            <a:r>
              <a:rPr lang="en-US" sz="2000" b="1" dirty="0">
                <a:solidFill>
                  <a:schemeClr val="dk2"/>
                </a:solidFill>
                <a:ea typeface="Source Sans Pro"/>
                <a:cs typeface="Source Sans Pro"/>
                <a:sym typeface="Source Sans Pro"/>
              </a:rPr>
              <a:t>False.</a:t>
            </a:r>
            <a:r>
              <a:rPr lang="en-US" sz="2000" dirty="0">
                <a:solidFill>
                  <a:schemeClr val="dk2"/>
                </a:solidFill>
                <a:ea typeface="Source Sans Pro"/>
                <a:cs typeface="Source Sans Pro"/>
                <a:sym typeface="Source Sans Pro"/>
              </a:rPr>
              <a:t>  </a:t>
            </a:r>
          </a:p>
          <a:p>
            <a:pPr marL="0" indent="0">
              <a:lnSpc>
                <a:spcPct val="94000"/>
              </a:lnSpc>
              <a:spcBef>
                <a:spcPts val="1200"/>
              </a:spcBef>
              <a:spcAft>
                <a:spcPts val="0"/>
              </a:spcAft>
              <a:buClr>
                <a:schemeClr val="dk2"/>
              </a:buClr>
              <a:buSzPct val="25000"/>
              <a:buFont typeface="Wingdings" pitchFamily="2" charset="2"/>
              <a:buNone/>
              <a:defRPr/>
            </a:pPr>
            <a:r>
              <a:rPr lang="en-US" sz="2000" dirty="0">
                <a:solidFill>
                  <a:schemeClr val="dk2"/>
                </a:solidFill>
                <a:ea typeface="Source Sans Pro"/>
                <a:cs typeface="Source Sans Pro"/>
                <a:sym typeface="Source Sans Pro"/>
              </a:rPr>
              <a:t>Meeting new people is a significant part of networking, but learning from people you already know is also a fundamental part of networking.</a:t>
            </a:r>
          </a:p>
          <a:p>
            <a:pPr marL="609600" indent="-609600" eaLnBrk="1" hangingPunct="1">
              <a:buFont typeface="Wingdings" pitchFamily="2" charset="2"/>
              <a:buNone/>
              <a:defRPr/>
            </a:pPr>
            <a:endParaRPr lang="en-US" altLang="en-US"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p:txBody>
          <a:bodyPr/>
          <a:lstStyle/>
          <a:p>
            <a:pPr marL="0" indent="0">
              <a:lnSpc>
                <a:spcPct val="94000"/>
              </a:lnSpc>
              <a:spcBef>
                <a:spcPts val="0"/>
              </a:spcBef>
              <a:spcAft>
                <a:spcPts val="0"/>
              </a:spcAft>
              <a:buClr>
                <a:schemeClr val="dk2"/>
              </a:buClr>
              <a:buSzPct val="25000"/>
              <a:buFont typeface="Wingdings" pitchFamily="2" charset="2"/>
              <a:buNone/>
              <a:defRPr/>
            </a:pPr>
            <a:r>
              <a:rPr lang="en-US" sz="2000" b="1" dirty="0">
                <a:solidFill>
                  <a:schemeClr val="dk2"/>
                </a:solidFill>
                <a:ea typeface="Source Sans Pro"/>
                <a:cs typeface="Source Sans Pro"/>
                <a:sym typeface="Source Sans Pro"/>
              </a:rPr>
              <a:t>Myth?</a:t>
            </a:r>
          </a:p>
          <a:p>
            <a:pPr marL="0" indent="0">
              <a:lnSpc>
                <a:spcPct val="94000"/>
              </a:lnSpc>
              <a:spcBef>
                <a:spcPts val="1200"/>
              </a:spcBef>
              <a:spcAft>
                <a:spcPts val="0"/>
              </a:spcAft>
              <a:buClr>
                <a:schemeClr val="dk2"/>
              </a:buClr>
              <a:buSzPct val="25000"/>
              <a:buFont typeface="Wingdings" pitchFamily="2" charset="2"/>
              <a:buNone/>
              <a:defRPr/>
            </a:pPr>
            <a:r>
              <a:rPr lang="en-US" sz="2000" b="1" dirty="0">
                <a:solidFill>
                  <a:schemeClr val="dk2"/>
                </a:solidFill>
                <a:ea typeface="Source Sans Pro"/>
                <a:cs typeface="Source Sans Pro"/>
                <a:sym typeface="Source Sans Pro"/>
              </a:rPr>
              <a:t>“I don’t have a network.”</a:t>
            </a:r>
          </a:p>
          <a:p>
            <a:pPr marL="609600" indent="-609600" eaLnBrk="1" hangingPunct="1">
              <a:buFont typeface="Wingdings" pitchFamily="2" charset="2"/>
              <a:buNone/>
              <a:defRPr/>
            </a:pPr>
            <a:endParaRPr lang="en-US" altLang="en-US"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p:txBody>
          <a:bodyPr/>
          <a:lstStyle/>
          <a:p>
            <a:pPr marL="0" indent="0">
              <a:lnSpc>
                <a:spcPct val="94000"/>
              </a:lnSpc>
              <a:spcBef>
                <a:spcPts val="0"/>
              </a:spcBef>
              <a:spcAft>
                <a:spcPts val="0"/>
              </a:spcAft>
              <a:buClr>
                <a:schemeClr val="dk2"/>
              </a:buClr>
              <a:buSzPct val="25000"/>
              <a:buFont typeface="Wingdings" pitchFamily="2" charset="2"/>
              <a:buNone/>
              <a:defRPr/>
            </a:pPr>
            <a:r>
              <a:rPr lang="en-US" sz="2000" b="1" dirty="0">
                <a:solidFill>
                  <a:schemeClr val="dk2"/>
                </a:solidFill>
                <a:ea typeface="Source Sans Pro"/>
                <a:cs typeface="Source Sans Pro"/>
                <a:sym typeface="Source Sans Pro"/>
              </a:rPr>
              <a:t>Myth?</a:t>
            </a:r>
          </a:p>
          <a:p>
            <a:pPr marL="0" indent="0">
              <a:lnSpc>
                <a:spcPct val="94000"/>
              </a:lnSpc>
              <a:spcBef>
                <a:spcPts val="1200"/>
              </a:spcBef>
              <a:spcAft>
                <a:spcPts val="0"/>
              </a:spcAft>
              <a:buClr>
                <a:schemeClr val="dk2"/>
              </a:buClr>
              <a:buSzPct val="25000"/>
              <a:buFont typeface="Wingdings" pitchFamily="2" charset="2"/>
              <a:buNone/>
              <a:defRPr/>
            </a:pPr>
            <a:r>
              <a:rPr lang="en-US" sz="2000" b="1" dirty="0">
                <a:solidFill>
                  <a:schemeClr val="dk2"/>
                </a:solidFill>
                <a:ea typeface="Source Sans Pro"/>
                <a:cs typeface="Source Sans Pro"/>
                <a:sym typeface="Source Sans Pro"/>
              </a:rPr>
              <a:t>“I don’t have a network.”</a:t>
            </a:r>
          </a:p>
          <a:p>
            <a:pPr marL="0" indent="0">
              <a:lnSpc>
                <a:spcPct val="94000"/>
              </a:lnSpc>
              <a:spcBef>
                <a:spcPts val="1200"/>
              </a:spcBef>
              <a:spcAft>
                <a:spcPts val="0"/>
              </a:spcAft>
              <a:buClr>
                <a:schemeClr val="dk2"/>
              </a:buClr>
              <a:buSzPct val="25000"/>
              <a:buFont typeface="Wingdings" pitchFamily="2" charset="2"/>
              <a:buNone/>
              <a:defRPr/>
            </a:pPr>
            <a:endParaRPr lang="en-US" sz="2000" dirty="0">
              <a:solidFill>
                <a:schemeClr val="dk2"/>
              </a:solidFill>
              <a:ea typeface="Source Sans Pro"/>
              <a:cs typeface="Source Sans Pro"/>
              <a:sym typeface="Source Sans Pro"/>
            </a:endParaRPr>
          </a:p>
          <a:p>
            <a:pPr marL="0" indent="0">
              <a:lnSpc>
                <a:spcPct val="94000"/>
              </a:lnSpc>
              <a:spcBef>
                <a:spcPts val="1200"/>
              </a:spcBef>
              <a:spcAft>
                <a:spcPts val="0"/>
              </a:spcAft>
              <a:buClr>
                <a:schemeClr val="dk2"/>
              </a:buClr>
              <a:buSzPct val="25000"/>
              <a:buFont typeface="Wingdings" pitchFamily="2" charset="2"/>
              <a:buNone/>
              <a:defRPr/>
            </a:pPr>
            <a:r>
              <a:rPr lang="en-US" sz="2000" b="1" dirty="0">
                <a:solidFill>
                  <a:schemeClr val="dk2"/>
                </a:solidFill>
                <a:ea typeface="Source Sans Pro"/>
                <a:cs typeface="Source Sans Pro"/>
                <a:sym typeface="Source Sans Pro"/>
              </a:rPr>
              <a:t>False.  </a:t>
            </a:r>
            <a:r>
              <a:rPr lang="en-US" sz="2000" dirty="0">
                <a:solidFill>
                  <a:schemeClr val="dk2"/>
                </a:solidFill>
                <a:ea typeface="Source Sans Pro"/>
                <a:cs typeface="Source Sans Pro"/>
                <a:sym typeface="Source Sans Pro"/>
              </a:rPr>
              <a:t>  </a:t>
            </a:r>
          </a:p>
          <a:p>
            <a:pPr marL="0" indent="0">
              <a:lnSpc>
                <a:spcPct val="94000"/>
              </a:lnSpc>
              <a:spcBef>
                <a:spcPts val="1200"/>
              </a:spcBef>
              <a:spcAft>
                <a:spcPts val="0"/>
              </a:spcAft>
              <a:buClr>
                <a:schemeClr val="dk2"/>
              </a:buClr>
              <a:buSzPct val="25000"/>
              <a:buFont typeface="Wingdings" pitchFamily="2" charset="2"/>
              <a:buNone/>
              <a:defRPr/>
            </a:pPr>
            <a:r>
              <a:rPr lang="en-US" sz="2000" dirty="0"/>
              <a:t>Everyone has a network!</a:t>
            </a:r>
          </a:p>
          <a:p>
            <a:pPr marL="609600" indent="-609600" eaLnBrk="1" hangingPunct="1">
              <a:buFont typeface="Wingdings" pitchFamily="2" charset="2"/>
              <a:buNone/>
              <a:defRPr/>
            </a:pPr>
            <a:endParaRPr lang="en-US" altLang="en-US"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1">
            <a:extLst>
              <a:ext uri="{FF2B5EF4-FFF2-40B4-BE49-F238E27FC236}">
                <a16:creationId xmlns:a16="http://schemas.microsoft.com/office/drawing/2014/main" id="{320E9F65-6A37-ECE2-FE5C-8CD0EAA33F90}"/>
              </a:ext>
            </a:extLst>
          </p:cNvPr>
          <p:cNvSpPr>
            <a:spLocks noGrp="1" noChangeArrowheads="1"/>
          </p:cNvSpPr>
          <p:nvPr>
            <p:ph type="subTitle" idx="1"/>
          </p:nvPr>
        </p:nvSpPr>
        <p:spPr/>
        <p:txBody>
          <a:bodyPr/>
          <a:lstStyle/>
          <a:p>
            <a:pPr eaLnBrk="1" hangingPunct="1"/>
            <a:r>
              <a:rPr lang="en-US" altLang="en-US">
                <a:solidFill>
                  <a:schemeClr val="tx1"/>
                </a:solidFill>
              </a:rPr>
              <a:t>Who Might be Part of Your Network?</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a:xfrm>
            <a:off x="457200" y="1166813"/>
            <a:ext cx="8229600" cy="5340350"/>
          </a:xfrm>
        </p:spPr>
        <p:txBody>
          <a:bodyPr/>
          <a:lstStyle/>
          <a:p>
            <a:pPr>
              <a:lnSpc>
                <a:spcPct val="94000"/>
              </a:lnSpc>
              <a:spcBef>
                <a:spcPts val="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Family</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Friends</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Peers</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Teachers</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Employers</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Co-workers</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Alumni organizations</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Classmates (any grade or school)</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Former employers, including supervisors and even coworkers</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Hobby groups</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Religious circles or groups</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Neighbors – past and present</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Professional associations</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Services – doctor, hairdresser, etc.</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Service or fraternal organizations and groups - </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Volunteer associations</a:t>
            </a:r>
          </a:p>
          <a:p>
            <a:pPr>
              <a:lnSpc>
                <a:spcPct val="94000"/>
              </a:lnSpc>
              <a:spcBef>
                <a:spcPts val="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a:t>
            </a:r>
          </a:p>
          <a:p>
            <a:pPr marL="609600" indent="-609600" eaLnBrk="1" hangingPunct="1">
              <a:buFont typeface="Wingdings" pitchFamily="2" charset="2"/>
              <a:buNone/>
              <a:defRPr/>
            </a:pPr>
            <a:endParaRPr lang="en-US" altLang="en-US" dirty="0"/>
          </a:p>
        </p:txBody>
      </p:sp>
      <p:sp>
        <p:nvSpPr>
          <p:cNvPr id="17410" name="Rectangle 2">
            <a:extLst>
              <a:ext uri="{FF2B5EF4-FFF2-40B4-BE49-F238E27FC236}">
                <a16:creationId xmlns:a16="http://schemas.microsoft.com/office/drawing/2014/main" id="{DE58045F-D343-654C-A9DD-6AF0547F518B}"/>
              </a:ext>
            </a:extLst>
          </p:cNvPr>
          <p:cNvSpPr>
            <a:spLocks noGrp="1" noChangeArrowheads="1"/>
          </p:cNvSpPr>
          <p:nvPr>
            <p:ph type="title"/>
          </p:nvPr>
        </p:nvSpPr>
        <p:spPr>
          <a:xfrm>
            <a:off x="1930400" y="755650"/>
            <a:ext cx="6994525" cy="258763"/>
          </a:xfrm>
        </p:spPr>
        <p:txBody>
          <a:bodyPr/>
          <a:lstStyle/>
          <a:p>
            <a:pPr eaLnBrk="1" hangingPunct="1"/>
            <a:r>
              <a:rPr lang="en-US" altLang="en-US"/>
              <a:t>Your Current Network</a:t>
            </a:r>
            <a:br>
              <a:rPr lang="en-US" altLang="en-US"/>
            </a:br>
            <a:endParaRPr lang="en-US" altLang="en-US"/>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1">
            <a:extLst>
              <a:ext uri="{FF2B5EF4-FFF2-40B4-BE49-F238E27FC236}">
                <a16:creationId xmlns:a16="http://schemas.microsoft.com/office/drawing/2014/main" id="{5F4781CE-E8E3-634D-859C-2549B5BA7F34}"/>
              </a:ext>
            </a:extLst>
          </p:cNvPr>
          <p:cNvSpPr>
            <a:spLocks noGrp="1" noChangeArrowheads="1"/>
          </p:cNvSpPr>
          <p:nvPr>
            <p:ph type="subTitle" idx="1"/>
          </p:nvPr>
        </p:nvSpPr>
        <p:spPr/>
        <p:txBody>
          <a:bodyPr/>
          <a:lstStyle/>
          <a:p>
            <a:pPr eaLnBrk="1" hangingPunct="1">
              <a:defRPr/>
            </a:pPr>
            <a:endParaRPr lang="en-US" altLang="en-US" dirty="0">
              <a:solidFill>
                <a:schemeClr val="bg1"/>
              </a:solidFill>
              <a:highlight>
                <a:srgbClr val="000000"/>
              </a:highlight>
            </a:endParaRPr>
          </a:p>
          <a:p>
            <a:pPr eaLnBrk="1" hangingPunct="1">
              <a:defRPr/>
            </a:pPr>
            <a:r>
              <a:rPr lang="en-US" altLang="en-US" dirty="0">
                <a:solidFill>
                  <a:schemeClr val="tx1"/>
                </a:solidFill>
              </a:rPr>
              <a:t>Why Network?</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p:txBody>
          <a:bodyPr/>
          <a:lstStyle/>
          <a:p>
            <a:pPr marL="0" indent="0" algn="ctr">
              <a:spcBef>
                <a:spcPts val="0"/>
              </a:spcBef>
              <a:spcAft>
                <a:spcPts val="0"/>
              </a:spcAft>
              <a:buFont typeface="Wingdings" pitchFamily="2" charset="2"/>
              <a:buNone/>
              <a:defRPr/>
            </a:pPr>
            <a:endParaRPr lang="en-CA" dirty="0">
              <a:solidFill>
                <a:schemeClr val="tx1"/>
              </a:solidFill>
            </a:endParaRPr>
          </a:p>
          <a:p>
            <a:pPr marL="0" indent="0">
              <a:spcBef>
                <a:spcPts val="0"/>
              </a:spcBef>
              <a:spcAft>
                <a:spcPts val="0"/>
              </a:spcAft>
              <a:buFont typeface="Wingdings" pitchFamily="2" charset="2"/>
              <a:buNone/>
              <a:defRPr/>
            </a:pPr>
            <a:r>
              <a:rPr lang="en-CA" b="1" dirty="0">
                <a:solidFill>
                  <a:schemeClr val="tx1"/>
                </a:solidFill>
              </a:rPr>
              <a:t>Why Network?</a:t>
            </a:r>
          </a:p>
          <a:p>
            <a:pPr marL="0" indent="0" algn="ctr">
              <a:spcBef>
                <a:spcPts val="0"/>
              </a:spcBef>
              <a:spcAft>
                <a:spcPts val="0"/>
              </a:spcAft>
              <a:buFont typeface="Wingdings" pitchFamily="2" charset="2"/>
              <a:buNone/>
              <a:defRPr/>
            </a:pPr>
            <a:endParaRPr lang="en-CA" dirty="0"/>
          </a:p>
          <a:p>
            <a:pPr marL="0" indent="0">
              <a:spcBef>
                <a:spcPts val="0"/>
              </a:spcBef>
              <a:spcAft>
                <a:spcPts val="0"/>
              </a:spcAft>
              <a:buFont typeface="Wingdings" pitchFamily="2" charset="2"/>
              <a:buNone/>
              <a:defRPr/>
            </a:pPr>
            <a:r>
              <a:rPr lang="en-CA" dirty="0"/>
              <a:t>Approximately </a:t>
            </a:r>
            <a:r>
              <a:rPr lang="en-CA" b="1" dirty="0"/>
              <a:t>80%</a:t>
            </a:r>
            <a:r>
              <a:rPr lang="en-CA" dirty="0"/>
              <a:t> of all jobs come from networking versus the traditional methods </a:t>
            </a:r>
          </a:p>
          <a:p>
            <a:pPr marL="609600" indent="-609600" eaLnBrk="1" hangingPunct="1">
              <a:buFont typeface="Wingdings" pitchFamily="2" charset="2"/>
              <a:buNone/>
              <a:defRPr/>
            </a:pPr>
            <a:endParaRPr lang="en-US" altLang="en-US"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1">
            <a:extLst>
              <a:ext uri="{FF2B5EF4-FFF2-40B4-BE49-F238E27FC236}">
                <a16:creationId xmlns:a16="http://schemas.microsoft.com/office/drawing/2014/main" id="{5F4781CE-E8E3-634D-859C-2549B5BA7F34}"/>
              </a:ext>
            </a:extLst>
          </p:cNvPr>
          <p:cNvSpPr>
            <a:spLocks noGrp="1" noChangeArrowheads="1"/>
          </p:cNvSpPr>
          <p:nvPr>
            <p:ph type="subTitle" idx="1"/>
          </p:nvPr>
        </p:nvSpPr>
        <p:spPr/>
        <p:txBody>
          <a:bodyPr/>
          <a:lstStyle/>
          <a:p>
            <a:pPr eaLnBrk="1" hangingPunct="1">
              <a:defRPr/>
            </a:pPr>
            <a:endParaRPr lang="en-US" altLang="en-US" dirty="0">
              <a:solidFill>
                <a:schemeClr val="bg1"/>
              </a:solidFill>
              <a:highlight>
                <a:srgbClr val="000000"/>
              </a:highlight>
            </a:endParaRPr>
          </a:p>
          <a:p>
            <a:pPr eaLnBrk="1" hangingPunct="1">
              <a:defRPr/>
            </a:pPr>
            <a:r>
              <a:rPr lang="en-US" altLang="en-US" dirty="0">
                <a:solidFill>
                  <a:schemeClr val="tx1"/>
                </a:solidFill>
              </a:rPr>
              <a:t>How Would One Network?</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p:txBody>
          <a:bodyPr/>
          <a:lstStyle/>
          <a:p>
            <a:pPr>
              <a:spcBef>
                <a:spcPts val="18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Let people know your about your job, studies, skills, interests and goals</a:t>
            </a:r>
          </a:p>
          <a:p>
            <a:pPr>
              <a:spcBef>
                <a:spcPts val="18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Stay in touch</a:t>
            </a:r>
            <a:r>
              <a:rPr lang="en-US" sz="2000" dirty="0"/>
              <a:t> &amp; g</a:t>
            </a:r>
            <a:r>
              <a:rPr lang="en-US" sz="2000" dirty="0">
                <a:solidFill>
                  <a:schemeClr val="dk2"/>
                </a:solidFill>
                <a:ea typeface="Source Sans Pro"/>
                <a:cs typeface="Source Sans Pro"/>
                <a:sym typeface="Source Sans Pro"/>
              </a:rPr>
              <a:t>et back in touch</a:t>
            </a:r>
          </a:p>
          <a:p>
            <a:pPr>
              <a:spcBef>
                <a:spcPts val="18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It’s easy to neglect your network when you are not the one searching for something but a network is a perpetual </a:t>
            </a:r>
            <a:r>
              <a:rPr lang="en-US" sz="2000" b="1" dirty="0">
                <a:solidFill>
                  <a:schemeClr val="tx1"/>
                </a:solidFill>
                <a:ea typeface="Source Sans Pro"/>
                <a:cs typeface="Source Sans Pro"/>
                <a:sym typeface="Source Sans Pro"/>
              </a:rPr>
              <a:t>giv</a:t>
            </a:r>
            <a:r>
              <a:rPr lang="en-US" sz="2000" b="1" dirty="0">
                <a:solidFill>
                  <a:schemeClr val="tx1"/>
                </a:solidFill>
              </a:rPr>
              <a:t>ing</a:t>
            </a:r>
            <a:r>
              <a:rPr lang="en-US" sz="2000" b="1" dirty="0">
                <a:solidFill>
                  <a:schemeClr val="tx1"/>
                </a:solidFill>
                <a:ea typeface="Source Sans Pro"/>
                <a:cs typeface="Source Sans Pro"/>
                <a:sym typeface="Source Sans Pro"/>
              </a:rPr>
              <a:t> and </a:t>
            </a:r>
            <a:r>
              <a:rPr lang="en-US" sz="2000" b="1" dirty="0">
                <a:solidFill>
                  <a:schemeClr val="tx1"/>
                </a:solidFill>
              </a:rPr>
              <a:t>receiving</a:t>
            </a:r>
            <a:r>
              <a:rPr lang="en-US" sz="2000" dirty="0">
                <a:solidFill>
                  <a:schemeClr val="tx1"/>
                </a:solidFill>
                <a:ea typeface="Source Sans Pro"/>
                <a:cs typeface="Source Sans Pro"/>
                <a:sym typeface="Source Sans Pro"/>
              </a:rPr>
              <a:t>.  </a:t>
            </a:r>
          </a:p>
          <a:p>
            <a:pPr lvl="3">
              <a:spcBef>
                <a:spcPts val="800"/>
              </a:spcBef>
              <a:spcAft>
                <a:spcPts val="0"/>
              </a:spcAft>
              <a:buClr>
                <a:schemeClr val="dk2"/>
              </a:buClr>
              <a:buSzPct val="100000"/>
              <a:buFont typeface="Arial" panose="020B0604020202020204" pitchFamily="34" charset="0"/>
              <a:buChar char="•"/>
              <a:defRPr/>
            </a:pPr>
            <a:r>
              <a:rPr lang="en-US" sz="2000" dirty="0">
                <a:solidFill>
                  <a:schemeClr val="dk2"/>
                </a:solidFill>
                <a:ea typeface="Source Sans Pro"/>
                <a:cs typeface="Source Sans Pro"/>
                <a:sym typeface="Source Sans Pro"/>
              </a:rPr>
              <a:t>suggesting someone for a job</a:t>
            </a:r>
          </a:p>
          <a:p>
            <a:pPr lvl="3">
              <a:spcBef>
                <a:spcPts val="800"/>
              </a:spcBef>
              <a:spcAft>
                <a:spcPts val="0"/>
              </a:spcAft>
              <a:buClr>
                <a:schemeClr val="dk2"/>
              </a:buClr>
              <a:buSzPct val="100000"/>
              <a:buFont typeface="Arial" panose="020B0604020202020204" pitchFamily="34" charset="0"/>
              <a:buChar char="•"/>
              <a:defRPr/>
            </a:pPr>
            <a:r>
              <a:rPr lang="en-US" sz="2000" dirty="0">
                <a:solidFill>
                  <a:schemeClr val="dk2"/>
                </a:solidFill>
                <a:ea typeface="Source Sans Pro"/>
                <a:cs typeface="Source Sans Pro"/>
                <a:sym typeface="Source Sans Pro"/>
              </a:rPr>
              <a:t>putting them in touch with someone </a:t>
            </a:r>
          </a:p>
          <a:p>
            <a:pPr lvl="3">
              <a:spcBef>
                <a:spcPts val="800"/>
              </a:spcBef>
              <a:spcAft>
                <a:spcPts val="0"/>
              </a:spcAft>
              <a:buClr>
                <a:schemeClr val="dk2"/>
              </a:buClr>
              <a:buSzPct val="100000"/>
              <a:buFont typeface="Arial" panose="020B0604020202020204" pitchFamily="34" charset="0"/>
              <a:buChar char="•"/>
              <a:defRPr/>
            </a:pPr>
            <a:r>
              <a:rPr lang="en-US" sz="2000" dirty="0">
                <a:solidFill>
                  <a:schemeClr val="dk2"/>
                </a:solidFill>
                <a:ea typeface="Source Sans Pro"/>
                <a:cs typeface="Source Sans Pro"/>
                <a:sym typeface="Source Sans Pro"/>
              </a:rPr>
              <a:t>give, give, give!  and late</a:t>
            </a:r>
            <a:r>
              <a:rPr lang="en-US" sz="2000" dirty="0"/>
              <a:t>r you’re more likely to receive!</a:t>
            </a:r>
          </a:p>
          <a:p>
            <a:pPr>
              <a:spcBef>
                <a:spcPts val="3200"/>
              </a:spcBef>
              <a:spcAft>
                <a:spcPts val="0"/>
              </a:spcAft>
              <a:buClr>
                <a:schemeClr val="dk2"/>
              </a:buClr>
              <a:buSzPct val="100000"/>
              <a:buFont typeface="Wingdings" pitchFamily="2" charset="2"/>
              <a:buChar char="q"/>
              <a:defRPr/>
            </a:pPr>
            <a:r>
              <a:rPr lang="en-US" sz="2000" b="1" dirty="0">
                <a:solidFill>
                  <a:schemeClr val="tx1"/>
                </a:solidFill>
              </a:rPr>
              <a:t>Know yourself and know what you want!</a:t>
            </a:r>
          </a:p>
          <a:p>
            <a:pPr marL="609600" indent="-609600" eaLnBrk="1" hangingPunct="1">
              <a:buFont typeface="Wingdings" pitchFamily="2" charset="2"/>
              <a:buNone/>
              <a:defRPr/>
            </a:pPr>
            <a:endParaRPr lang="en-US" altLang="en-US" dirty="0"/>
          </a:p>
        </p:txBody>
      </p:sp>
      <p:sp>
        <p:nvSpPr>
          <p:cNvPr id="23554" name="Rectangle 2">
            <a:extLst>
              <a:ext uri="{FF2B5EF4-FFF2-40B4-BE49-F238E27FC236}">
                <a16:creationId xmlns:a16="http://schemas.microsoft.com/office/drawing/2014/main" id="{A5B9CA99-DD43-1B27-27B6-68B259F06932}"/>
              </a:ext>
            </a:extLst>
          </p:cNvPr>
          <p:cNvSpPr>
            <a:spLocks noGrp="1" noChangeArrowheads="1"/>
          </p:cNvSpPr>
          <p:nvPr>
            <p:ph type="title"/>
          </p:nvPr>
        </p:nvSpPr>
        <p:spPr/>
        <p:txBody>
          <a:bodyPr/>
          <a:lstStyle/>
          <a:p>
            <a:pPr eaLnBrk="1" hangingPunct="1"/>
            <a:r>
              <a:rPr lang="en-US" altLang="en-US"/>
              <a:t>Effective Networking</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a:xfrm>
            <a:off x="457200" y="1231900"/>
            <a:ext cx="8229600" cy="5421313"/>
          </a:xfrm>
        </p:spPr>
        <p:txBody>
          <a:bodyPr/>
          <a:lstStyle/>
          <a:p>
            <a:pPr>
              <a:spcBef>
                <a:spcPts val="2400"/>
              </a:spcBef>
              <a:spcAft>
                <a:spcPts val="0"/>
              </a:spcAft>
              <a:buFont typeface="Wingdings" pitchFamily="2" charset="2"/>
              <a:buChar char="q"/>
              <a:defRPr/>
            </a:pPr>
            <a:r>
              <a:rPr lang="en-US" sz="2000" dirty="0"/>
              <a:t>The implicit objective is to form </a:t>
            </a:r>
            <a:r>
              <a:rPr lang="en-US" sz="2000" b="1" dirty="0"/>
              <a:t>professional relationships that may boost one's future business and employment prospects</a:t>
            </a:r>
            <a:r>
              <a:rPr lang="en-US" sz="2000" dirty="0"/>
              <a:t>.</a:t>
            </a:r>
          </a:p>
          <a:p>
            <a:pPr>
              <a:spcBef>
                <a:spcPts val="2400"/>
              </a:spcBef>
              <a:spcAft>
                <a:spcPts val="0"/>
              </a:spcAft>
              <a:buFont typeface="Wingdings" pitchFamily="2" charset="2"/>
              <a:buChar char="q"/>
              <a:defRPr/>
            </a:pPr>
            <a:r>
              <a:rPr lang="en-US" sz="2000" dirty="0"/>
              <a:t>When it comes to business contacts, </a:t>
            </a:r>
            <a:r>
              <a:rPr lang="en-US" sz="2000" b="1" dirty="0"/>
              <a:t>quality over quantity</a:t>
            </a:r>
            <a:r>
              <a:rPr lang="en-US" sz="2000" dirty="0"/>
              <a:t> is recommended but it takes more time and effort.  Invest in building and maintaining key business relationships</a:t>
            </a:r>
          </a:p>
          <a:p>
            <a:pPr>
              <a:spcBef>
                <a:spcPts val="2400"/>
              </a:spcBef>
              <a:spcAft>
                <a:spcPts val="0"/>
              </a:spcAft>
              <a:buFont typeface="Wingdings" pitchFamily="2" charset="2"/>
              <a:buChar char="q"/>
              <a:defRPr/>
            </a:pPr>
            <a:r>
              <a:rPr lang="en-US" sz="2000" dirty="0"/>
              <a:t>Aside from </a:t>
            </a:r>
            <a:r>
              <a:rPr lang="en-US" sz="2000" b="1" dirty="0"/>
              <a:t>networking functions</a:t>
            </a:r>
            <a:r>
              <a:rPr lang="en-US" sz="2000" dirty="0"/>
              <a:t>, other opportunities include:</a:t>
            </a:r>
          </a:p>
          <a:p>
            <a:pPr lvl="3">
              <a:spcBef>
                <a:spcPts val="600"/>
              </a:spcBef>
              <a:spcAft>
                <a:spcPts val="0"/>
              </a:spcAft>
              <a:buFont typeface="Arial" panose="020B0604020202020204" pitchFamily="34" charset="0"/>
              <a:buChar char="•"/>
              <a:defRPr/>
            </a:pPr>
            <a:r>
              <a:rPr lang="en-US" sz="2000" dirty="0"/>
              <a:t>professional associations, business networking groups</a:t>
            </a:r>
          </a:p>
          <a:p>
            <a:pPr lvl="3">
              <a:spcBef>
                <a:spcPts val="600"/>
              </a:spcBef>
              <a:spcAft>
                <a:spcPts val="0"/>
              </a:spcAft>
              <a:buFont typeface="Arial" panose="020B0604020202020204" pitchFamily="34" charset="0"/>
              <a:buChar char="•"/>
              <a:defRPr/>
            </a:pPr>
            <a:r>
              <a:rPr lang="en-US" sz="2000" dirty="0"/>
              <a:t>volunteering for clubs and committees.</a:t>
            </a:r>
          </a:p>
          <a:p>
            <a:pPr>
              <a:spcBef>
                <a:spcPts val="3600"/>
              </a:spcBef>
              <a:spcAft>
                <a:spcPts val="0"/>
              </a:spcAft>
              <a:buFont typeface="Wingdings" pitchFamily="2" charset="2"/>
              <a:buChar char="q"/>
              <a:defRPr/>
            </a:pPr>
            <a:r>
              <a:rPr lang="en-US" sz="2000" b="1" i="1" dirty="0"/>
              <a:t>Always </a:t>
            </a:r>
            <a:r>
              <a:rPr lang="en-US" sz="2000" b="1" dirty="0"/>
              <a:t>be prepared</a:t>
            </a:r>
            <a:r>
              <a:rPr lang="en-US" sz="2000" dirty="0"/>
              <a:t> when entering professional networking environment in person </a:t>
            </a:r>
          </a:p>
          <a:p>
            <a:pPr lvl="3">
              <a:spcBef>
                <a:spcPts val="600"/>
              </a:spcBef>
              <a:spcAft>
                <a:spcPts val="0"/>
              </a:spcAft>
              <a:buFont typeface="Arial" panose="020B0604020202020204" pitchFamily="34" charset="0"/>
              <a:buChar char="•"/>
              <a:defRPr/>
            </a:pPr>
            <a:r>
              <a:rPr lang="en-US" sz="2000" dirty="0"/>
              <a:t>after all, your intention is to open doors for yourself, not close them!</a:t>
            </a:r>
          </a:p>
          <a:p>
            <a:pPr marL="609600" indent="-609600" eaLnBrk="1" hangingPunct="1">
              <a:buFont typeface="Wingdings" pitchFamily="2" charset="2"/>
              <a:buNone/>
              <a:defRPr/>
            </a:pPr>
            <a:endParaRPr lang="en-US" altLang="en-US" dirty="0"/>
          </a:p>
        </p:txBody>
      </p:sp>
      <p:sp>
        <p:nvSpPr>
          <p:cNvPr id="24578" name="Rectangle 2">
            <a:extLst>
              <a:ext uri="{FF2B5EF4-FFF2-40B4-BE49-F238E27FC236}">
                <a16:creationId xmlns:a16="http://schemas.microsoft.com/office/drawing/2014/main" id="{B229DF4F-7898-0350-8B28-81B4A08ED85F}"/>
              </a:ext>
            </a:extLst>
          </p:cNvPr>
          <p:cNvSpPr>
            <a:spLocks noGrp="1" noChangeArrowheads="1"/>
          </p:cNvSpPr>
          <p:nvPr>
            <p:ph type="title"/>
          </p:nvPr>
        </p:nvSpPr>
        <p:spPr/>
        <p:txBody>
          <a:bodyPr/>
          <a:lstStyle/>
          <a:p>
            <a:pPr eaLnBrk="1" hangingPunct="1"/>
            <a:r>
              <a:rPr lang="en-US" altLang="en-US"/>
              <a:t>Business Networking</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a:xfrm>
            <a:off x="457200" y="1285875"/>
            <a:ext cx="8229600" cy="5114925"/>
          </a:xfrm>
        </p:spPr>
        <p:txBody>
          <a:bodyPr/>
          <a:lstStyle/>
          <a:p>
            <a:pPr marL="0" indent="0">
              <a:spcBef>
                <a:spcPts val="0"/>
              </a:spcBef>
              <a:spcAft>
                <a:spcPts val="3200"/>
              </a:spcAft>
              <a:buFont typeface="Wingdings" pitchFamily="2" charset="2"/>
              <a:buNone/>
              <a:defRPr/>
            </a:pPr>
            <a:r>
              <a:rPr lang="en-US" sz="2000" b="1" dirty="0"/>
              <a:t>Know </a:t>
            </a:r>
            <a:r>
              <a:rPr lang="en-US" sz="2000" b="1" u="sng" dirty="0"/>
              <a:t>yourself</a:t>
            </a:r>
            <a:r>
              <a:rPr lang="en-US" sz="2000" b="1" dirty="0"/>
              <a:t>, what you want and who you need to talk to:</a:t>
            </a:r>
          </a:p>
          <a:p>
            <a:pPr>
              <a:spcBef>
                <a:spcPts val="0"/>
              </a:spcBef>
              <a:spcAft>
                <a:spcPts val="3200"/>
              </a:spcAft>
              <a:buFont typeface="Wingdings" pitchFamily="2" charset="2"/>
              <a:buChar char="q"/>
              <a:defRPr/>
            </a:pPr>
            <a:r>
              <a:rPr lang="en-US" sz="2000" dirty="0"/>
              <a:t>Know what you have to offer - your education and experiences have given you a wide range of skills. </a:t>
            </a:r>
          </a:p>
          <a:p>
            <a:pPr>
              <a:spcBef>
                <a:spcPts val="0"/>
              </a:spcBef>
              <a:spcAft>
                <a:spcPts val="3200"/>
              </a:spcAft>
              <a:buFont typeface="Wingdings" pitchFamily="2" charset="2"/>
              <a:buChar char="q"/>
              <a:defRPr/>
            </a:pPr>
            <a:r>
              <a:rPr lang="en-US" sz="2000" dirty="0"/>
              <a:t>Be able to articulate the skills you have, how you developed them, and examples of how you used them. </a:t>
            </a:r>
          </a:p>
          <a:p>
            <a:pPr>
              <a:spcBef>
                <a:spcPts val="0"/>
              </a:spcBef>
              <a:spcAft>
                <a:spcPts val="3200"/>
              </a:spcAft>
              <a:buFont typeface="Wingdings" pitchFamily="2" charset="2"/>
              <a:buChar char="q"/>
              <a:defRPr/>
            </a:pPr>
            <a:r>
              <a:rPr lang="en-US" sz="2000" dirty="0"/>
              <a:t>Prepare this into a 30-second to one-minute business introduction.</a:t>
            </a:r>
          </a:p>
          <a:p>
            <a:pPr>
              <a:spcBef>
                <a:spcPts val="0"/>
              </a:spcBef>
              <a:spcAft>
                <a:spcPts val="3200"/>
              </a:spcAft>
              <a:buFont typeface="Wingdings" pitchFamily="2" charset="2"/>
              <a:buChar char="q"/>
              <a:defRPr/>
            </a:pPr>
            <a:r>
              <a:rPr lang="en-US" sz="2000" dirty="0"/>
              <a:t>Practice using your introduction. </a:t>
            </a:r>
          </a:p>
          <a:p>
            <a:pPr>
              <a:spcBef>
                <a:spcPts val="0"/>
              </a:spcBef>
              <a:spcAft>
                <a:spcPts val="3200"/>
              </a:spcAft>
              <a:buFont typeface="Wingdings" pitchFamily="2" charset="2"/>
              <a:buChar char="q"/>
              <a:defRPr/>
            </a:pPr>
            <a:r>
              <a:rPr lang="en-US" sz="2000" dirty="0"/>
              <a:t>Know the company and/or position that you are interested in learning more about.  Plan some questions to help you gain more information. </a:t>
            </a:r>
          </a:p>
          <a:p>
            <a:pPr marL="609600" indent="-609600" eaLnBrk="1" hangingPunct="1">
              <a:buFont typeface="Wingdings" pitchFamily="2" charset="2"/>
              <a:buNone/>
              <a:defRPr/>
            </a:pPr>
            <a:endParaRPr lang="en-US" altLang="en-US" dirty="0"/>
          </a:p>
        </p:txBody>
      </p:sp>
      <p:sp>
        <p:nvSpPr>
          <p:cNvPr id="4" name="TextBox 3">
            <a:extLst>
              <a:ext uri="{FF2B5EF4-FFF2-40B4-BE49-F238E27FC236}">
                <a16:creationId xmlns:a16="http://schemas.microsoft.com/office/drawing/2014/main" id="{B7AFFFCF-6BA4-3843-9929-BF161E31E808}"/>
              </a:ext>
            </a:extLst>
          </p:cNvPr>
          <p:cNvSpPr txBox="1"/>
          <p:nvPr/>
        </p:nvSpPr>
        <p:spPr>
          <a:xfrm>
            <a:off x="1789113" y="344488"/>
            <a:ext cx="7062787" cy="584200"/>
          </a:xfrm>
          <a:prstGeom prst="rect">
            <a:avLst/>
          </a:prstGeom>
          <a:noFill/>
        </p:spPr>
        <p:txBody>
          <a:bodyPr>
            <a:spAutoFit/>
          </a:bodyPr>
          <a:lstStyle/>
          <a:p>
            <a:pPr>
              <a:defRPr/>
            </a:pPr>
            <a:r>
              <a:rPr lang="en-US" sz="3200" b="1" dirty="0">
                <a:latin typeface="+mj-lt"/>
              </a:rPr>
              <a:t>Business Networking Be Prepared</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a:xfrm>
            <a:off x="457200" y="1073150"/>
            <a:ext cx="8229600" cy="5394325"/>
          </a:xfrm>
        </p:spPr>
        <p:txBody>
          <a:bodyPr/>
          <a:lstStyle/>
          <a:p>
            <a:pPr marL="0" indent="0">
              <a:spcBef>
                <a:spcPts val="0"/>
              </a:spcBef>
              <a:spcAft>
                <a:spcPts val="3200"/>
              </a:spcAft>
              <a:buFont typeface="Wingdings" pitchFamily="2" charset="2"/>
              <a:buNone/>
              <a:defRPr/>
            </a:pPr>
            <a:r>
              <a:rPr lang="en-US" sz="2000" b="1" dirty="0"/>
              <a:t>Know the </a:t>
            </a:r>
            <a:r>
              <a:rPr lang="en-US" sz="2000" b="1" u="sng" dirty="0"/>
              <a:t>organization:</a:t>
            </a:r>
          </a:p>
          <a:p>
            <a:pPr>
              <a:spcBef>
                <a:spcPts val="0"/>
              </a:spcBef>
              <a:spcAft>
                <a:spcPts val="3200"/>
              </a:spcAft>
              <a:buFont typeface="Wingdings" pitchFamily="2" charset="2"/>
              <a:buChar char="q"/>
              <a:defRPr/>
            </a:pPr>
            <a:r>
              <a:rPr lang="en-US" sz="2000" dirty="0"/>
              <a:t>Research! research! research! </a:t>
            </a:r>
          </a:p>
          <a:p>
            <a:pPr>
              <a:spcBef>
                <a:spcPts val="0"/>
              </a:spcBef>
              <a:spcAft>
                <a:spcPts val="3200"/>
              </a:spcAft>
              <a:buFont typeface="Wingdings" pitchFamily="2" charset="2"/>
              <a:buChar char="q"/>
              <a:defRPr/>
            </a:pPr>
            <a:r>
              <a:rPr lang="en-US" sz="2000" dirty="0"/>
              <a:t>Begin with the organization’s web site, and then research external sites for background information.  </a:t>
            </a:r>
          </a:p>
          <a:p>
            <a:pPr>
              <a:spcBef>
                <a:spcPts val="0"/>
              </a:spcBef>
              <a:spcAft>
                <a:spcPts val="3200"/>
              </a:spcAft>
              <a:buFont typeface="Wingdings" pitchFamily="2" charset="2"/>
              <a:buChar char="q"/>
              <a:defRPr/>
            </a:pPr>
            <a:r>
              <a:rPr lang="en-US" sz="2000" dirty="0"/>
              <a:t>Try to go beyond the obvious easy-to-find information about the organization and its needs. </a:t>
            </a:r>
          </a:p>
          <a:p>
            <a:pPr>
              <a:spcBef>
                <a:spcPts val="0"/>
              </a:spcBef>
              <a:spcAft>
                <a:spcPts val="3200"/>
              </a:spcAft>
              <a:buFont typeface="Wingdings" pitchFamily="2" charset="2"/>
              <a:buChar char="q"/>
              <a:defRPr/>
            </a:pPr>
            <a:r>
              <a:rPr lang="en-US" sz="2000" dirty="0"/>
              <a:t>Keep up to date with company/industry press releases via </a:t>
            </a:r>
            <a:r>
              <a:rPr lang="en-US" sz="2000" dirty="0">
                <a:hlinkClick r:id="rId2"/>
              </a:rPr>
              <a:t>https://www.newswire.ca/</a:t>
            </a:r>
            <a:endParaRPr lang="en-US" sz="2000" dirty="0"/>
          </a:p>
          <a:p>
            <a:pPr>
              <a:spcBef>
                <a:spcPts val="0"/>
              </a:spcBef>
              <a:spcAft>
                <a:spcPts val="3200"/>
              </a:spcAft>
              <a:buFont typeface="Wingdings" pitchFamily="2" charset="2"/>
              <a:buChar char="q"/>
              <a:defRPr/>
            </a:pPr>
            <a:r>
              <a:rPr lang="en-US" sz="2000" dirty="0"/>
              <a:t>The best way to learn about organizations is by speaking to company representatives—attend panels and career fairs, make calls using networking contacts.</a:t>
            </a:r>
          </a:p>
          <a:p>
            <a:pPr marL="609600" indent="-609600" eaLnBrk="1" hangingPunct="1">
              <a:buFont typeface="Wingdings" pitchFamily="2" charset="2"/>
              <a:buNone/>
              <a:defRPr/>
            </a:pPr>
            <a:endParaRPr lang="en-US" altLang="en-US" dirty="0"/>
          </a:p>
        </p:txBody>
      </p:sp>
      <p:sp>
        <p:nvSpPr>
          <p:cNvPr id="4" name="TextBox 3">
            <a:extLst>
              <a:ext uri="{FF2B5EF4-FFF2-40B4-BE49-F238E27FC236}">
                <a16:creationId xmlns:a16="http://schemas.microsoft.com/office/drawing/2014/main" id="{B7AFFFCF-6BA4-3843-9929-BF161E31E808}"/>
              </a:ext>
            </a:extLst>
          </p:cNvPr>
          <p:cNvSpPr txBox="1"/>
          <p:nvPr/>
        </p:nvSpPr>
        <p:spPr>
          <a:xfrm>
            <a:off x="1816100" y="411163"/>
            <a:ext cx="7035800" cy="584200"/>
          </a:xfrm>
          <a:prstGeom prst="rect">
            <a:avLst/>
          </a:prstGeom>
          <a:noFill/>
        </p:spPr>
        <p:txBody>
          <a:bodyPr>
            <a:spAutoFit/>
          </a:bodyPr>
          <a:lstStyle/>
          <a:p>
            <a:pPr>
              <a:defRPr/>
            </a:pPr>
            <a:r>
              <a:rPr lang="en-US" sz="3200" b="1" dirty="0">
                <a:latin typeface="+mj-lt"/>
              </a:rPr>
              <a:t>Business Networking Be Prepared</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a:xfrm>
            <a:off x="457200" y="1417638"/>
            <a:ext cx="8229600" cy="4891087"/>
          </a:xfrm>
        </p:spPr>
        <p:txBody>
          <a:bodyPr/>
          <a:lstStyle/>
          <a:p>
            <a:pPr marL="685800">
              <a:spcBef>
                <a:spcPts val="2000"/>
              </a:spcBef>
              <a:spcAft>
                <a:spcPts val="0"/>
              </a:spcAft>
              <a:buSzPct val="100000"/>
              <a:buFont typeface="Wingdings" pitchFamily="2" charset="2"/>
              <a:buChar char="q"/>
              <a:defRPr/>
            </a:pPr>
            <a:r>
              <a:rPr lang="en-US" sz="2000" b="1" dirty="0"/>
              <a:t>Go with a specific goal in mind</a:t>
            </a:r>
            <a:r>
              <a:rPr lang="en-US" sz="2000" dirty="0"/>
              <a:t> (ex. make three good contacts for future job search, learn more about consulting firms, etc.) </a:t>
            </a:r>
          </a:p>
          <a:p>
            <a:pPr marL="685800">
              <a:spcBef>
                <a:spcPts val="2000"/>
              </a:spcBef>
              <a:spcAft>
                <a:spcPts val="0"/>
              </a:spcAft>
              <a:buSzPct val="100000"/>
              <a:buFont typeface="Wingdings" pitchFamily="2" charset="2"/>
              <a:buChar char="q"/>
              <a:defRPr/>
            </a:pPr>
            <a:r>
              <a:rPr lang="en-US" sz="2000" b="1" dirty="0"/>
              <a:t>Prepare and ask one or two effective, well-researched questions</a:t>
            </a:r>
            <a:r>
              <a:rPr lang="en-US" sz="2000" dirty="0"/>
              <a:t>.  Prospective employers are impressed by your interest in their organization and demonstrated ability to research.</a:t>
            </a:r>
          </a:p>
          <a:p>
            <a:pPr marL="685800">
              <a:spcBef>
                <a:spcPts val="2000"/>
              </a:spcBef>
              <a:spcAft>
                <a:spcPts val="0"/>
              </a:spcAft>
              <a:buSzPct val="100000"/>
              <a:buFont typeface="Wingdings" pitchFamily="2" charset="2"/>
              <a:buChar char="q"/>
              <a:defRPr/>
            </a:pPr>
            <a:r>
              <a:rPr lang="en-US" sz="2000" b="1" dirty="0"/>
              <a:t>Force yourself to circulate</a:t>
            </a:r>
            <a:r>
              <a:rPr lang="en-US" sz="2000" dirty="0"/>
              <a:t>. Though it is tempting to take a friend along with you, there is a natural inclination to “stick together” which discourages people from approaching you. Try to separate.</a:t>
            </a:r>
          </a:p>
          <a:p>
            <a:pPr marL="685800">
              <a:spcBef>
                <a:spcPts val="2000"/>
              </a:spcBef>
              <a:spcAft>
                <a:spcPts val="0"/>
              </a:spcAft>
              <a:buSzPct val="100000"/>
              <a:buFont typeface="Wingdings" pitchFamily="2" charset="2"/>
              <a:buChar char="q"/>
              <a:defRPr/>
            </a:pPr>
            <a:r>
              <a:rPr lang="en-US" sz="2000" b="1" dirty="0"/>
              <a:t>Be aware of body language</a:t>
            </a:r>
            <a:r>
              <a:rPr lang="en-US" sz="2000" dirty="0"/>
              <a:t>—if someone’s eyes are wandering, they are losing interest in what you are saying and likely either want a chance to say something or to move on to someone else.  </a:t>
            </a:r>
          </a:p>
          <a:p>
            <a:pPr marL="609600" indent="-609600" eaLnBrk="1" hangingPunct="1">
              <a:buFont typeface="Wingdings" pitchFamily="2" charset="2"/>
              <a:buNone/>
              <a:defRPr/>
            </a:pPr>
            <a:endParaRPr lang="en-US" altLang="en-US" dirty="0"/>
          </a:p>
        </p:txBody>
      </p:sp>
      <p:sp>
        <p:nvSpPr>
          <p:cNvPr id="27650" name="Rectangle 2">
            <a:extLst>
              <a:ext uri="{FF2B5EF4-FFF2-40B4-BE49-F238E27FC236}">
                <a16:creationId xmlns:a16="http://schemas.microsoft.com/office/drawing/2014/main" id="{B57B068E-EDFD-C171-5734-846751D14525}"/>
              </a:ext>
            </a:extLst>
          </p:cNvPr>
          <p:cNvSpPr>
            <a:spLocks noGrp="1" noChangeArrowheads="1"/>
          </p:cNvSpPr>
          <p:nvPr>
            <p:ph type="title"/>
          </p:nvPr>
        </p:nvSpPr>
        <p:spPr>
          <a:xfrm>
            <a:off x="1722438" y="381000"/>
            <a:ext cx="7202487" cy="633413"/>
          </a:xfrm>
        </p:spPr>
        <p:txBody>
          <a:bodyPr/>
          <a:lstStyle/>
          <a:p>
            <a:pPr eaLnBrk="1" hangingPunct="1"/>
            <a:r>
              <a:rPr lang="en-US" altLang="en-US" sz="2800"/>
              <a:t>Tips for Attending Networking Functions </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a:xfrm>
            <a:off x="457200" y="1404938"/>
            <a:ext cx="8229600" cy="4943475"/>
          </a:xfrm>
        </p:spPr>
        <p:txBody>
          <a:bodyPr/>
          <a:lstStyle/>
          <a:p>
            <a:pPr>
              <a:spcBef>
                <a:spcPts val="2000"/>
              </a:spcBef>
              <a:spcAft>
                <a:spcPts val="0"/>
              </a:spcAft>
              <a:buSzPct val="100000"/>
              <a:buFont typeface="Wingdings" pitchFamily="2" charset="2"/>
              <a:buChar char="q"/>
              <a:defRPr/>
            </a:pPr>
            <a:r>
              <a:rPr lang="en-US" sz="1800" b="1" dirty="0"/>
              <a:t>Listen closely</a:t>
            </a:r>
            <a:r>
              <a:rPr lang="en-US" sz="1800" dirty="0"/>
              <a:t> to each person you meet. </a:t>
            </a:r>
            <a:r>
              <a:rPr lang="en-US" sz="1800" b="1" dirty="0"/>
              <a:t>Maintain eye contact</a:t>
            </a:r>
            <a:r>
              <a:rPr lang="en-US" sz="1800" dirty="0"/>
              <a:t> at all times and make it a habit to repeat things so they know you have been listening. </a:t>
            </a:r>
          </a:p>
          <a:p>
            <a:pPr>
              <a:spcBef>
                <a:spcPts val="2000"/>
              </a:spcBef>
              <a:spcAft>
                <a:spcPts val="0"/>
              </a:spcAft>
              <a:buSzPct val="100000"/>
              <a:buFont typeface="Wingdings" pitchFamily="2" charset="2"/>
              <a:buChar char="q"/>
              <a:defRPr/>
            </a:pPr>
            <a:r>
              <a:rPr lang="en-US" sz="1800" b="1" dirty="0"/>
              <a:t>Ask people for advice</a:t>
            </a:r>
            <a:r>
              <a:rPr lang="en-US" sz="1800" dirty="0"/>
              <a:t> people like to be consulted and to talk about their areas of expertise. Use this as an opportunity to learn more about your chosen field.  </a:t>
            </a:r>
          </a:p>
          <a:p>
            <a:pPr>
              <a:spcBef>
                <a:spcPts val="2000"/>
              </a:spcBef>
              <a:spcAft>
                <a:spcPts val="0"/>
              </a:spcAft>
              <a:buSzPct val="100000"/>
              <a:buFont typeface="Wingdings" pitchFamily="2" charset="2"/>
              <a:buChar char="q"/>
              <a:defRPr/>
            </a:pPr>
            <a:r>
              <a:rPr lang="en-US" sz="1800" b="1" dirty="0"/>
              <a:t>Don’t be shy about approaching a group of people</a:t>
            </a:r>
            <a:r>
              <a:rPr lang="en-US" sz="1800" dirty="0"/>
              <a:t> who are already talking. Chances are they are ready for fresh insight. </a:t>
            </a:r>
          </a:p>
          <a:p>
            <a:pPr>
              <a:spcBef>
                <a:spcPts val="2000"/>
              </a:spcBef>
              <a:spcAft>
                <a:spcPts val="0"/>
              </a:spcAft>
              <a:buSzPct val="100000"/>
              <a:buFont typeface="Wingdings" pitchFamily="2" charset="2"/>
              <a:buChar char="q"/>
              <a:defRPr/>
            </a:pPr>
            <a:r>
              <a:rPr lang="en-US" sz="1800" dirty="0"/>
              <a:t>Be </a:t>
            </a:r>
            <a:r>
              <a:rPr lang="en-US" sz="1800" b="1" dirty="0"/>
              <a:t>positive</a:t>
            </a:r>
            <a:r>
              <a:rPr lang="en-US" sz="1800" dirty="0"/>
              <a:t>, enthusiastic and smile</a:t>
            </a:r>
          </a:p>
          <a:p>
            <a:pPr>
              <a:lnSpc>
                <a:spcPct val="84000"/>
              </a:lnSpc>
              <a:spcBef>
                <a:spcPts val="2000"/>
              </a:spcBef>
              <a:spcAft>
                <a:spcPts val="0"/>
              </a:spcAft>
              <a:buSzPct val="100000"/>
              <a:buFont typeface="Wingdings" pitchFamily="2" charset="2"/>
              <a:buChar char="q"/>
              <a:defRPr/>
            </a:pPr>
            <a:r>
              <a:rPr lang="en-US" sz="1800" b="1" dirty="0"/>
              <a:t>Never try to sell yourself</a:t>
            </a:r>
            <a:r>
              <a:rPr lang="en-US" sz="1800" dirty="0"/>
              <a:t>, rather try to develop a relationship </a:t>
            </a:r>
          </a:p>
          <a:p>
            <a:pPr>
              <a:lnSpc>
                <a:spcPct val="84000"/>
              </a:lnSpc>
              <a:spcBef>
                <a:spcPts val="2000"/>
              </a:spcBef>
              <a:spcAft>
                <a:spcPts val="0"/>
              </a:spcAft>
              <a:buSzPct val="100000"/>
              <a:buFont typeface="Wingdings" pitchFamily="2" charset="2"/>
              <a:buChar char="q"/>
              <a:defRPr/>
            </a:pPr>
            <a:r>
              <a:rPr lang="en-US" sz="1800" b="1" dirty="0"/>
              <a:t>Follow up on leads immediately</a:t>
            </a:r>
            <a:r>
              <a:rPr lang="en-US" sz="1800" dirty="0"/>
              <a:t>. If someone asks you to contact them the next day, do so. </a:t>
            </a:r>
          </a:p>
          <a:p>
            <a:pPr>
              <a:lnSpc>
                <a:spcPct val="84000"/>
              </a:lnSpc>
              <a:spcBef>
                <a:spcPts val="2000"/>
              </a:spcBef>
              <a:spcAft>
                <a:spcPts val="0"/>
              </a:spcAft>
              <a:buSzPct val="100000"/>
              <a:buFont typeface="Wingdings" pitchFamily="2" charset="2"/>
              <a:buChar char="q"/>
              <a:defRPr/>
            </a:pPr>
            <a:r>
              <a:rPr lang="en-US" sz="1800" dirty="0"/>
              <a:t>Find ways to do something for your contacts. </a:t>
            </a:r>
            <a:r>
              <a:rPr lang="en-US" sz="1800" b="1" dirty="0"/>
              <a:t>Networking is a two-way street!</a:t>
            </a:r>
            <a:r>
              <a:rPr lang="en-US" sz="1800" dirty="0"/>
              <a:t> </a:t>
            </a:r>
          </a:p>
          <a:p>
            <a:pPr marL="609600" indent="-609600" eaLnBrk="1" hangingPunct="1">
              <a:buFont typeface="Wingdings" pitchFamily="2" charset="2"/>
              <a:buNone/>
              <a:defRPr/>
            </a:pPr>
            <a:endParaRPr lang="en-US" altLang="en-US" dirty="0"/>
          </a:p>
        </p:txBody>
      </p:sp>
      <p:sp>
        <p:nvSpPr>
          <p:cNvPr id="29698" name="Rectangle 2">
            <a:extLst>
              <a:ext uri="{FF2B5EF4-FFF2-40B4-BE49-F238E27FC236}">
                <a16:creationId xmlns:a16="http://schemas.microsoft.com/office/drawing/2014/main" id="{A3A1678A-8280-BC2C-E3EA-83C875B68712}"/>
              </a:ext>
            </a:extLst>
          </p:cNvPr>
          <p:cNvSpPr>
            <a:spLocks noGrp="1" noChangeArrowheads="1"/>
          </p:cNvSpPr>
          <p:nvPr>
            <p:ph type="title"/>
          </p:nvPr>
        </p:nvSpPr>
        <p:spPr>
          <a:xfrm>
            <a:off x="1682750" y="423863"/>
            <a:ext cx="7242175" cy="590550"/>
          </a:xfrm>
        </p:spPr>
        <p:txBody>
          <a:bodyPr/>
          <a:lstStyle/>
          <a:p>
            <a:pPr eaLnBrk="1" hangingPunct="1"/>
            <a:r>
              <a:rPr lang="en-US" altLang="en-US" sz="2800"/>
              <a:t>Tips for Attending Networking Functions</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p:txBody>
          <a:bodyPr/>
          <a:lstStyle/>
          <a:p>
            <a:pPr marL="0" indent="0">
              <a:lnSpc>
                <a:spcPct val="94000"/>
              </a:lnSpc>
              <a:spcBef>
                <a:spcPts val="0"/>
              </a:spcBef>
              <a:spcAft>
                <a:spcPts val="0"/>
              </a:spcAft>
              <a:buClr>
                <a:schemeClr val="dk2"/>
              </a:buClr>
              <a:buSzPct val="100000"/>
              <a:buFont typeface="Wingdings" pitchFamily="2" charset="2"/>
              <a:buNone/>
              <a:defRPr/>
            </a:pPr>
            <a:r>
              <a:rPr lang="en-US" b="1" dirty="0">
                <a:solidFill>
                  <a:schemeClr val="dk2"/>
                </a:solidFill>
                <a:ea typeface="Source Sans Pro"/>
                <a:cs typeface="Source Sans Pro"/>
                <a:sym typeface="Source Sans Pro"/>
              </a:rPr>
              <a:t>Expanding your Network at GBC</a:t>
            </a:r>
            <a:endParaRPr lang="en-US" sz="2000" dirty="0">
              <a:solidFill>
                <a:schemeClr val="dk2"/>
              </a:solidFill>
              <a:ea typeface="Source Sans Pro"/>
              <a:cs typeface="Source Sans Pro"/>
              <a:sym typeface="Source Sans Pro"/>
            </a:endParaRPr>
          </a:p>
          <a:p>
            <a:pPr>
              <a:lnSpc>
                <a:spcPct val="94000"/>
              </a:lnSpc>
              <a:spcBef>
                <a:spcPts val="0"/>
              </a:spcBef>
              <a:spcAft>
                <a:spcPts val="0"/>
              </a:spcAft>
              <a:buClr>
                <a:schemeClr val="dk2"/>
              </a:buClr>
              <a:buSzPct val="100000"/>
              <a:buFont typeface="Wingdings" pitchFamily="2" charset="2"/>
              <a:buChar char="q"/>
              <a:defRPr/>
            </a:pPr>
            <a:endParaRPr lang="en-US" sz="2000" dirty="0">
              <a:solidFill>
                <a:schemeClr val="dk2"/>
              </a:solidFill>
              <a:ea typeface="Source Sans Pro"/>
              <a:cs typeface="Source Sans Pro"/>
              <a:sym typeface="Source Sans Pro"/>
            </a:endParaRPr>
          </a:p>
          <a:p>
            <a:pPr>
              <a:lnSpc>
                <a:spcPct val="94000"/>
              </a:lnSpc>
              <a:spcBef>
                <a:spcPts val="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GBC Careers</a:t>
            </a:r>
          </a:p>
          <a:p>
            <a:pPr>
              <a:lnSpc>
                <a:spcPct val="94000"/>
              </a:lnSpc>
              <a:spcBef>
                <a:spcPts val="1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Career Centre</a:t>
            </a:r>
          </a:p>
          <a:p>
            <a:pPr>
              <a:lnSpc>
                <a:spcPct val="94000"/>
              </a:lnSpc>
              <a:spcBef>
                <a:spcPts val="1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Industry Liaison Office</a:t>
            </a:r>
          </a:p>
          <a:p>
            <a:pPr>
              <a:lnSpc>
                <a:spcPct val="94000"/>
              </a:lnSpc>
              <a:spcBef>
                <a:spcPts val="1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Networking Events</a:t>
            </a:r>
          </a:p>
          <a:p>
            <a:pPr>
              <a:lnSpc>
                <a:spcPct val="94000"/>
              </a:lnSpc>
              <a:spcBef>
                <a:spcPts val="1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Job Fairs</a:t>
            </a:r>
          </a:p>
          <a:p>
            <a:pPr>
              <a:lnSpc>
                <a:spcPct val="94000"/>
              </a:lnSpc>
              <a:spcBef>
                <a:spcPts val="1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Peer to Peer Help</a:t>
            </a:r>
          </a:p>
          <a:p>
            <a:pPr>
              <a:lnSpc>
                <a:spcPct val="94000"/>
              </a:lnSpc>
              <a:spcBef>
                <a:spcPts val="1200"/>
              </a:spcBef>
              <a:spcAft>
                <a:spcPts val="0"/>
              </a:spcAft>
              <a:buClr>
                <a:schemeClr val="dk2"/>
              </a:buClr>
              <a:buSzPct val="100000"/>
              <a:buFont typeface="Wingdings" pitchFamily="2" charset="2"/>
              <a:buChar char="q"/>
              <a:defRPr/>
            </a:pPr>
            <a:r>
              <a:rPr lang="en-US" sz="2000" dirty="0">
                <a:solidFill>
                  <a:schemeClr val="dk2"/>
                </a:solidFill>
                <a:ea typeface="Source Sans Pro"/>
                <a:cs typeface="Source Sans Pro"/>
                <a:sym typeface="Source Sans Pro"/>
              </a:rPr>
              <a:t>Alumni Networking</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7" name="Rectangle 3">
            <a:extLst>
              <a:ext uri="{FF2B5EF4-FFF2-40B4-BE49-F238E27FC236}">
                <a16:creationId xmlns:a16="http://schemas.microsoft.com/office/drawing/2014/main" id="{AD9D38C4-1D80-6544-B2C8-56FB1D431EC9}"/>
              </a:ext>
            </a:extLst>
          </p:cNvPr>
          <p:cNvSpPr>
            <a:spLocks noGrp="1" noChangeArrowheads="1"/>
          </p:cNvSpPr>
          <p:nvPr>
            <p:ph type="body" idx="1"/>
          </p:nvPr>
        </p:nvSpPr>
        <p:spPr>
          <a:xfrm>
            <a:off x="457200" y="1060450"/>
            <a:ext cx="8229600" cy="5605463"/>
          </a:xfrm>
        </p:spPr>
        <p:txBody>
          <a:bodyPr/>
          <a:lstStyle/>
          <a:p>
            <a:pPr marL="609600" indent="-609600" eaLnBrk="1" hangingPunct="1">
              <a:buFont typeface="Wingdings" pitchFamily="2" charset="2"/>
              <a:buNone/>
              <a:defRPr/>
            </a:pPr>
            <a:r>
              <a:rPr lang="en-US" altLang="en-US" b="1" dirty="0">
                <a:solidFill>
                  <a:schemeClr val="tx1"/>
                </a:solidFill>
              </a:rPr>
              <a:t>Professional Etiquette Considerations</a:t>
            </a:r>
          </a:p>
          <a:p>
            <a:pPr marL="609600" indent="-609600" eaLnBrk="1" hangingPunct="1">
              <a:buFont typeface="Wingdings" pitchFamily="2" charset="2"/>
              <a:buNone/>
              <a:defRPr/>
            </a:pPr>
            <a:r>
              <a:rPr lang="en-US" altLang="en-US" b="1" dirty="0">
                <a:solidFill>
                  <a:schemeClr val="tx1"/>
                </a:solidFill>
              </a:rPr>
              <a:t>In-person and Virtual:</a:t>
            </a:r>
          </a:p>
          <a:p>
            <a:pPr eaLnBrk="1" hangingPunct="1">
              <a:buFont typeface="Wingdings" pitchFamily="2" charset="2"/>
              <a:buChar char="q"/>
              <a:defRPr/>
            </a:pPr>
            <a:r>
              <a:rPr lang="en-US" altLang="en-US" sz="2000" dirty="0">
                <a:solidFill>
                  <a:schemeClr val="tx1"/>
                </a:solidFill>
              </a:rPr>
              <a:t>Be prepared with your 30 second to 1 minute Elevator Pitch, professional introduction</a:t>
            </a:r>
          </a:p>
          <a:p>
            <a:pPr eaLnBrk="1" hangingPunct="1">
              <a:buFont typeface="Wingdings" pitchFamily="2" charset="2"/>
              <a:buChar char="q"/>
              <a:defRPr/>
            </a:pPr>
            <a:r>
              <a:rPr lang="en-US" altLang="en-US" sz="2000" dirty="0">
                <a:solidFill>
                  <a:schemeClr val="tx1"/>
                </a:solidFill>
              </a:rPr>
              <a:t>Ask, don’t just talk use your active listening skills, focus your attention externally, use their name</a:t>
            </a:r>
          </a:p>
          <a:p>
            <a:pPr eaLnBrk="1" hangingPunct="1">
              <a:buFont typeface="Wingdings" pitchFamily="2" charset="2"/>
              <a:buChar char="q"/>
              <a:defRPr/>
            </a:pPr>
            <a:r>
              <a:rPr lang="en-US" altLang="en-US" sz="2000" dirty="0">
                <a:solidFill>
                  <a:schemeClr val="tx1"/>
                </a:solidFill>
              </a:rPr>
              <a:t>Have a strategy, have a plan, be polite and use your manners</a:t>
            </a:r>
          </a:p>
          <a:p>
            <a:pPr eaLnBrk="1" hangingPunct="1">
              <a:buFont typeface="Wingdings" pitchFamily="2" charset="2"/>
              <a:buChar char="q"/>
              <a:defRPr/>
            </a:pPr>
            <a:r>
              <a:rPr lang="en-US" altLang="en-US" sz="2000" dirty="0">
                <a:solidFill>
                  <a:schemeClr val="tx1"/>
                </a:solidFill>
              </a:rPr>
              <a:t>Have energy, have stories, build connections don’t just ask for a job</a:t>
            </a:r>
          </a:p>
          <a:p>
            <a:pPr eaLnBrk="1" hangingPunct="1">
              <a:buFont typeface="Wingdings" pitchFamily="2" charset="2"/>
              <a:buChar char="q"/>
              <a:defRPr/>
            </a:pPr>
            <a:r>
              <a:rPr lang="en-US" altLang="en-US" sz="2000" dirty="0">
                <a:solidFill>
                  <a:schemeClr val="tx1"/>
                </a:solidFill>
              </a:rPr>
              <a:t>Know the dress code</a:t>
            </a:r>
          </a:p>
          <a:p>
            <a:pPr eaLnBrk="1" hangingPunct="1">
              <a:buFont typeface="Wingdings" pitchFamily="2" charset="2"/>
              <a:buChar char="q"/>
              <a:defRPr/>
            </a:pPr>
            <a:r>
              <a:rPr lang="en-US" altLang="en-US" sz="2000" dirty="0">
                <a:solidFill>
                  <a:schemeClr val="tx1"/>
                </a:solidFill>
              </a:rPr>
              <a:t>Eye contact, arm position, stance, facial expressions, posture </a:t>
            </a:r>
          </a:p>
          <a:p>
            <a:pPr eaLnBrk="1" hangingPunct="1">
              <a:buFont typeface="Wingdings" pitchFamily="2" charset="2"/>
              <a:buChar char="q"/>
              <a:defRPr/>
            </a:pPr>
            <a:r>
              <a:rPr lang="en-US" altLang="en-US" sz="2000" dirty="0">
                <a:solidFill>
                  <a:schemeClr val="tx1"/>
                </a:solidFill>
              </a:rPr>
              <a:t>Turn off your phone and computer alerts</a:t>
            </a:r>
          </a:p>
          <a:p>
            <a:pPr eaLnBrk="1" hangingPunct="1">
              <a:buFont typeface="Wingdings" pitchFamily="2" charset="2"/>
              <a:buChar char="q"/>
              <a:defRPr/>
            </a:pPr>
            <a:r>
              <a:rPr lang="en-US" altLang="en-US" sz="2000" dirty="0">
                <a:solidFill>
                  <a:schemeClr val="tx1"/>
                </a:solidFill>
              </a:rPr>
              <a:t>Don’t eat or chew gum (if food is served use your manners)</a:t>
            </a:r>
          </a:p>
          <a:p>
            <a:pPr marL="609600" indent="-609600" eaLnBrk="1" hangingPunct="1">
              <a:buFont typeface="Wingdings" pitchFamily="2" charset="2"/>
              <a:buNone/>
              <a:defRPr/>
            </a:pPr>
            <a:endParaRPr lang="en-US" altLang="en-US" dirty="0">
              <a:solidFill>
                <a:schemeClr val="tx1"/>
              </a:solidFill>
            </a:endParaRPr>
          </a:p>
          <a:p>
            <a:pPr marL="609600" indent="-609600" eaLnBrk="1" hangingPunct="1">
              <a:buFont typeface="Wingdings" pitchFamily="2" charset="2"/>
              <a:buNone/>
              <a:defRPr/>
            </a:pPr>
            <a:endParaRPr lang="en-US" altLang="en-US" dirty="0">
              <a:solidFill>
                <a:schemeClr val="tx1"/>
              </a:solidFil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7236-F8D1-23E1-F1EB-FD54179DAD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2C1E7E-B422-B6D9-A072-65D51CA7E54C}"/>
              </a:ext>
            </a:extLst>
          </p:cNvPr>
          <p:cNvSpPr>
            <a:spLocks noGrp="1"/>
          </p:cNvSpPr>
          <p:nvPr>
            <p:ph idx="1"/>
          </p:nvPr>
        </p:nvSpPr>
        <p:spPr>
          <a:xfrm>
            <a:off x="457200" y="1600200"/>
            <a:ext cx="8229600" cy="4876800"/>
          </a:xfrm>
        </p:spPr>
        <p:txBody>
          <a:bodyPr/>
          <a:lstStyle/>
          <a:p>
            <a:pPr marL="0" indent="0">
              <a:buNone/>
            </a:pPr>
            <a:r>
              <a:rPr lang="en-US" sz="2000" dirty="0"/>
              <a:t>Conduct a google search </a:t>
            </a:r>
            <a:r>
              <a:rPr lang="en-US" sz="2000" b="1" dirty="0"/>
              <a:t>now during this class </a:t>
            </a:r>
            <a:r>
              <a:rPr lang="en-US" sz="2000" dirty="0"/>
              <a:t>for any events that are happening live from June to August 2024, you will have 5 minutes to copy the event link and put it in the chat if the class is online, if  the class is in person the instructor will send an email from D2L and you can respond to that message with the link.  All the links will be posted to the class. </a:t>
            </a:r>
          </a:p>
          <a:p>
            <a:r>
              <a:rPr lang="en-US" sz="2000" dirty="0"/>
              <a:t>networking event</a:t>
            </a:r>
          </a:p>
          <a:p>
            <a:r>
              <a:rPr lang="en-US" sz="2000" dirty="0"/>
              <a:t>career fair </a:t>
            </a:r>
          </a:p>
          <a:p>
            <a:r>
              <a:rPr lang="en-US" sz="2000" dirty="0"/>
              <a:t>job fair </a:t>
            </a:r>
          </a:p>
          <a:p>
            <a:r>
              <a:rPr lang="en-US" sz="2000" dirty="0"/>
              <a:t>hackathon </a:t>
            </a:r>
          </a:p>
          <a:p>
            <a:r>
              <a:rPr lang="en-US" sz="2000" dirty="0"/>
              <a:t>Conferences </a:t>
            </a:r>
          </a:p>
          <a:p>
            <a:pPr marL="0" indent="0">
              <a:buNone/>
            </a:pPr>
            <a:r>
              <a:rPr lang="en-US" sz="2000" dirty="0"/>
              <a:t>Any tech event that aligns with your program </a:t>
            </a:r>
          </a:p>
          <a:p>
            <a:pPr marL="0" indent="0">
              <a:buNone/>
            </a:pPr>
            <a:endParaRPr lang="en-US" sz="2000" dirty="0"/>
          </a:p>
        </p:txBody>
      </p:sp>
    </p:spTree>
    <p:extLst>
      <p:ext uri="{BB962C8B-B14F-4D97-AF65-F5344CB8AC3E}">
        <p14:creationId xmlns:p14="http://schemas.microsoft.com/office/powerpoint/2010/main" val="232872746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3313</TotalTime>
  <Words>1782</Words>
  <Application>Microsoft Macintosh PowerPoint</Application>
  <PresentationFormat>On-screen Show (4:3)</PresentationFormat>
  <Paragraphs>162</Paragraphs>
  <Slides>23</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Wingdings</vt:lpstr>
      <vt:lpstr>Calibri</vt:lpstr>
      <vt:lpstr>Source Sans Pro</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Current Network </vt:lpstr>
      <vt:lpstr>PowerPoint Presentation</vt:lpstr>
      <vt:lpstr>PowerPoint Presentation</vt:lpstr>
      <vt:lpstr>PowerPoint Presentation</vt:lpstr>
      <vt:lpstr>Effective Networking</vt:lpstr>
      <vt:lpstr>Business Networking</vt:lpstr>
      <vt:lpstr>PowerPoint Presentation</vt:lpstr>
      <vt:lpstr>PowerPoint Presentation</vt:lpstr>
      <vt:lpstr>Tips for Attending Networking Functions </vt:lpstr>
      <vt:lpstr>Tips for Attending Networking Functions</vt:lpstr>
      <vt:lpstr>PowerPoint Presentation</vt:lpstr>
      <vt:lpstr>PowerPoint Presentation</vt:lpstr>
      <vt:lpstr>PowerPoint Presentation</vt:lpstr>
    </vt:vector>
  </TitlesOfParts>
  <Company>STSMEDIA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Centre for Arts &amp; Design Slide Template</dc:title>
  <dc:subject>Centre for Arts &amp; Design Slide Template</dc:subject>
  <dc:creator>George Brown College;Centre for Arts &amp; Design</dc:creator>
  <cp:keywords>George Brown College; Centre for Arts &amp; Design; PowerPoint; Slides Template; Master Layout</cp:keywords>
  <cp:lastModifiedBy>Tyanne Fluke</cp:lastModifiedBy>
  <cp:revision>32</cp:revision>
  <dcterms:created xsi:type="dcterms:W3CDTF">2008-02-14T00:02:49Z</dcterms:created>
  <dcterms:modified xsi:type="dcterms:W3CDTF">2024-05-01T17:48:02Z</dcterms:modified>
</cp:coreProperties>
</file>