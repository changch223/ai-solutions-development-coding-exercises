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Lst>
  <p:sldSz cx="9144000" cy="6858000" type="screen4x3"/>
  <p:notesSz cx="6858000" cy="9144000"/>
  <p:defaultTextStyle>
    <a:defPPr>
      <a:defRPr lang="en-CA"/>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014" autoAdjust="0"/>
    <p:restoredTop sz="89242" autoAdjust="0"/>
  </p:normalViewPr>
  <p:slideViewPr>
    <p:cSldViewPr snapToGrid="0">
      <p:cViewPr varScale="1">
        <p:scale>
          <a:sx n="101" d="100"/>
          <a:sy n="101" d="100"/>
        </p:scale>
        <p:origin x="1248" y="192"/>
      </p:cViewPr>
      <p:guideLst>
        <p:guide orient="horz" pos="566"/>
        <p:guide pos="12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29DC7B-60C8-2741-BEBD-F44E11A6F9F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mn-cs"/>
              </a:defRPr>
            </a:lvl1pPr>
          </a:lstStyle>
          <a:p>
            <a:pPr>
              <a:defRPr/>
            </a:pPr>
            <a:endParaRPr lang="en-CA"/>
          </a:p>
        </p:txBody>
      </p:sp>
      <p:sp>
        <p:nvSpPr>
          <p:cNvPr id="3" name="Date Placeholder 2">
            <a:extLst>
              <a:ext uri="{FF2B5EF4-FFF2-40B4-BE49-F238E27FC236}">
                <a16:creationId xmlns:a16="http://schemas.microsoft.com/office/drawing/2014/main" id="{AD4B7967-C541-F047-B236-7C6C069A06A1}"/>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mn-cs"/>
              </a:defRPr>
            </a:lvl1pPr>
          </a:lstStyle>
          <a:p>
            <a:pPr>
              <a:defRPr/>
            </a:pPr>
            <a:fld id="{4143E195-9107-3A4D-AC5E-97CA48F18933}" type="datetimeFigureOut">
              <a:rPr lang="en-CA"/>
              <a:pPr>
                <a:defRPr/>
              </a:pPr>
              <a:t>2024-05-05</a:t>
            </a:fld>
            <a:endParaRPr lang="en-CA"/>
          </a:p>
        </p:txBody>
      </p:sp>
      <p:sp>
        <p:nvSpPr>
          <p:cNvPr id="4" name="Slide Image Placeholder 3">
            <a:extLst>
              <a:ext uri="{FF2B5EF4-FFF2-40B4-BE49-F238E27FC236}">
                <a16:creationId xmlns:a16="http://schemas.microsoft.com/office/drawing/2014/main" id="{86469429-4E49-0248-B2A7-A52A81E2B26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a:extLst>
              <a:ext uri="{FF2B5EF4-FFF2-40B4-BE49-F238E27FC236}">
                <a16:creationId xmlns:a16="http://schemas.microsoft.com/office/drawing/2014/main" id="{D5B0A391-FC7E-D44B-AE2F-0B3895B59DE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a:extLst>
              <a:ext uri="{FF2B5EF4-FFF2-40B4-BE49-F238E27FC236}">
                <a16:creationId xmlns:a16="http://schemas.microsoft.com/office/drawing/2014/main" id="{9346D6AB-2A67-1842-8CD2-D336B13F799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mn-cs"/>
              </a:defRPr>
            </a:lvl1pPr>
          </a:lstStyle>
          <a:p>
            <a:pPr>
              <a:defRPr/>
            </a:pPr>
            <a:endParaRPr lang="en-CA"/>
          </a:p>
        </p:txBody>
      </p:sp>
      <p:sp>
        <p:nvSpPr>
          <p:cNvPr id="7" name="Slide Number Placeholder 6">
            <a:extLst>
              <a:ext uri="{FF2B5EF4-FFF2-40B4-BE49-F238E27FC236}">
                <a16:creationId xmlns:a16="http://schemas.microsoft.com/office/drawing/2014/main" id="{883D1CFA-64E8-3A4B-8B2F-D0F96969D1B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48BC0D9-0C41-A742-AAC9-CD27240B7934}"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Slide Image Placeholder 1">
            <a:extLst>
              <a:ext uri="{FF2B5EF4-FFF2-40B4-BE49-F238E27FC236}">
                <a16:creationId xmlns:a16="http://schemas.microsoft.com/office/drawing/2014/main" id="{CBFA9E94-47DE-2973-EC2E-34896D943B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2" name="Notes Placeholder 2">
            <a:extLst>
              <a:ext uri="{FF2B5EF4-FFF2-40B4-BE49-F238E27FC236}">
                <a16:creationId xmlns:a16="http://schemas.microsoft.com/office/drawing/2014/main" id="{60CCEB11-CF11-330E-2A6C-30782603DE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3" name="Slide Number Placeholder 3">
            <a:extLst>
              <a:ext uri="{FF2B5EF4-FFF2-40B4-BE49-F238E27FC236}">
                <a16:creationId xmlns:a16="http://schemas.microsoft.com/office/drawing/2014/main" id="{75D32356-9216-4E3C-74E2-21A1DA212A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894DB8-3636-7743-8FCB-9E0C004C984E}" type="slidenum">
              <a:rPr lang="en-CA" altLang="en-US">
                <a:latin typeface="Arial" panose="020B0604020202020204" pitchFamily="34" charset="0"/>
              </a:rPr>
              <a:pPr>
                <a:spcBef>
                  <a:spcPct val="0"/>
                </a:spcBef>
              </a:pPr>
              <a:t>1</a:t>
            </a:fld>
            <a:endParaRPr lang="en-CA"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Slide Image Placeholder 1">
            <a:extLst>
              <a:ext uri="{FF2B5EF4-FFF2-40B4-BE49-F238E27FC236}">
                <a16:creationId xmlns:a16="http://schemas.microsoft.com/office/drawing/2014/main" id="{0CAF65D5-482F-9E29-6F37-AF786B72187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91F47F8F-36C9-544D-AEB6-EC043C87DCF3}"/>
              </a:ext>
            </a:extLst>
          </p:cNvPr>
          <p:cNvSpPr>
            <a:spLocks noGrp="1"/>
          </p:cNvSpPr>
          <p:nvPr>
            <p:ph type="body" idx="1"/>
          </p:nvPr>
        </p:nvSpPr>
        <p:spPr/>
        <p:txBody>
          <a:bodyPr/>
          <a:lstStyle/>
          <a:p>
            <a:pPr marL="171450" indent="-171450">
              <a:buFont typeface="Arial" panose="020B0604020202020204" pitchFamily="34" charset="0"/>
              <a:buChar char="•"/>
              <a:defRPr/>
            </a:pPr>
            <a:r>
              <a:rPr lang="en-CA" dirty="0"/>
              <a:t>The </a:t>
            </a:r>
            <a:r>
              <a:rPr lang="en-CA" b="1" dirty="0"/>
              <a:t>purpose of a resume</a:t>
            </a:r>
            <a:r>
              <a:rPr lang="en-CA" dirty="0"/>
              <a:t> is to provide a summary of your skills, abilities and accomplishments. It is a quick advertisement of who you are. It is a "snapshot" of you with the intent of capturing and emphasizing interests and secure you an </a:t>
            </a:r>
            <a:r>
              <a:rPr lang="en-CA" b="1" dirty="0"/>
              <a:t>interview</a:t>
            </a:r>
            <a:r>
              <a:rPr lang="en-CA" dirty="0"/>
              <a:t>. It is not an autobiography.</a:t>
            </a:r>
          </a:p>
          <a:p>
            <a:pPr marL="171450" indent="-171450">
              <a:buFont typeface="Arial" panose="020B0604020202020204" pitchFamily="34" charset="0"/>
              <a:buChar char="•"/>
              <a:defRPr/>
            </a:pPr>
            <a:endParaRPr lang="en-CA" dirty="0"/>
          </a:p>
          <a:p>
            <a:pPr>
              <a:buFont typeface="Arial" panose="020B0604020202020204" pitchFamily="34" charset="0"/>
              <a:buNone/>
              <a:defRPr/>
            </a:pPr>
            <a:r>
              <a:rPr lang="en-CA" b="1" u="sng" dirty="0"/>
              <a:t>Outcomes</a:t>
            </a:r>
          </a:p>
          <a:p>
            <a:pPr marL="228600" indent="-228600">
              <a:buFont typeface="+mj-lt"/>
              <a:buAutoNum type="arabicPeriod"/>
              <a:defRPr/>
            </a:pPr>
            <a:r>
              <a:rPr lang="en-CA" b="1" dirty="0"/>
              <a:t>Explain the purpose of the resume</a:t>
            </a:r>
          </a:p>
          <a:p>
            <a:pPr marL="228600" indent="-228600">
              <a:buFont typeface="+mj-lt"/>
              <a:buAutoNum type="arabicPeriod"/>
              <a:defRPr/>
            </a:pPr>
            <a:r>
              <a:rPr lang="en-CA" b="1" dirty="0"/>
              <a:t>Identify the sections of a resume and explain</a:t>
            </a:r>
          </a:p>
          <a:p>
            <a:pPr marL="228600" indent="-228600">
              <a:buFont typeface="+mj-lt"/>
              <a:buAutoNum type="arabicPeriod"/>
              <a:defRPr/>
            </a:pPr>
            <a:r>
              <a:rPr lang="en-CA" b="1" dirty="0"/>
              <a:t>Syntax of a well written bullet</a:t>
            </a:r>
          </a:p>
          <a:p>
            <a:pPr marL="228600" indent="-228600">
              <a:buFont typeface="+mj-lt"/>
              <a:buAutoNum type="arabicPeriod"/>
              <a:defRPr/>
            </a:pPr>
            <a:r>
              <a:rPr lang="en-CA" b="1" dirty="0"/>
              <a:t>What not to include in the resume</a:t>
            </a:r>
          </a:p>
          <a:p>
            <a:pPr>
              <a:defRPr/>
            </a:pPr>
            <a:endParaRPr lang="en-US" dirty="0"/>
          </a:p>
        </p:txBody>
      </p:sp>
      <p:sp>
        <p:nvSpPr>
          <p:cNvPr id="7171" name="Slide Number Placeholder 3">
            <a:extLst>
              <a:ext uri="{FF2B5EF4-FFF2-40B4-BE49-F238E27FC236}">
                <a16:creationId xmlns:a16="http://schemas.microsoft.com/office/drawing/2014/main" id="{6FD42AEB-CD57-D101-4446-AAD7C782FA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023D2F5-2930-8B45-B3DF-F01E4B3E79DB}" type="slidenum">
              <a:rPr lang="en-CA" altLang="en-US"/>
              <a:pPr/>
              <a:t>2</a:t>
            </a:fld>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Slide Image Placeholder 1">
            <a:extLst>
              <a:ext uri="{FF2B5EF4-FFF2-40B4-BE49-F238E27FC236}">
                <a16:creationId xmlns:a16="http://schemas.microsoft.com/office/drawing/2014/main" id="{A76F260B-BF73-1AD6-BF7C-6AB8F9D14C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8" name="Notes Placeholder 2">
            <a:extLst>
              <a:ext uri="{FF2B5EF4-FFF2-40B4-BE49-F238E27FC236}">
                <a16:creationId xmlns:a16="http://schemas.microsoft.com/office/drawing/2014/main" id="{DD8A44BC-5026-B6BD-70B9-CA7609114E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 In about 10-12 seconds the employer will quickly scan your resume. If your resume makes a positive first impression, s/he will read the rest of your resume. You must: </a:t>
            </a:r>
          </a:p>
          <a:p>
            <a:r>
              <a:rPr lang="en-CA" altLang="en-US"/>
              <a:t>• Answer the question, </a:t>
            </a:r>
            <a:r>
              <a:rPr lang="en-CA" altLang="en-US" b="1"/>
              <a:t>"Why should I hire you?"</a:t>
            </a:r>
            <a:br>
              <a:rPr lang="en-CA" altLang="en-US" b="1"/>
            </a:br>
            <a:r>
              <a:rPr lang="en-CA" altLang="en-US"/>
              <a:t>• Communicate who you are and where you want to go. </a:t>
            </a:r>
          </a:p>
          <a:p>
            <a:r>
              <a:rPr lang="en-CA" altLang="en-US"/>
              <a:t>• Show that you are a well rounded individual.</a:t>
            </a:r>
            <a:br>
              <a:rPr lang="en-CA" altLang="en-US"/>
            </a:br>
            <a:r>
              <a:rPr lang="en-CA" altLang="en-US"/>
              <a:t>• Give the employer a desire to meet you. </a:t>
            </a:r>
          </a:p>
          <a:p>
            <a:endParaRPr lang="en-US" altLang="en-US"/>
          </a:p>
        </p:txBody>
      </p:sp>
      <p:sp>
        <p:nvSpPr>
          <p:cNvPr id="9219" name="Slide Number Placeholder 3">
            <a:extLst>
              <a:ext uri="{FF2B5EF4-FFF2-40B4-BE49-F238E27FC236}">
                <a16:creationId xmlns:a16="http://schemas.microsoft.com/office/drawing/2014/main" id="{863F0395-3FF4-8A99-8C36-C0373D59D83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CE3D1AA-524C-0947-AB71-FF3BCB09E43C}" type="slidenum">
              <a:rPr lang="en-CA" altLang="en-US"/>
              <a:pPr/>
              <a:t>3</a:t>
            </a:fld>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a:extLst>
              <a:ext uri="{FF2B5EF4-FFF2-40B4-BE49-F238E27FC236}">
                <a16:creationId xmlns:a16="http://schemas.microsoft.com/office/drawing/2014/main" id="{D0E86FFD-C66B-286E-F584-14DA6D2D8A1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5959577D-2C06-2F4F-974B-479D03144797}"/>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Your Contact Information in the Heading</a:t>
            </a:r>
          </a:p>
          <a:p>
            <a:pPr marL="171450" indent="-171450">
              <a:buFont typeface="Arial" panose="020B0604020202020204" pitchFamily="34" charset="0"/>
              <a:buChar char="•"/>
              <a:defRPr/>
            </a:pPr>
            <a:r>
              <a:rPr lang="en-US" dirty="0"/>
              <a:t>Objective </a:t>
            </a:r>
          </a:p>
          <a:p>
            <a:pPr marL="171450" indent="-171450">
              <a:buFont typeface="Arial" panose="020B0604020202020204" pitchFamily="34" charset="0"/>
              <a:buChar char="•"/>
              <a:defRPr/>
            </a:pPr>
            <a:r>
              <a:rPr lang="en-US" dirty="0"/>
              <a:t>Highlights of Qualifications </a:t>
            </a:r>
          </a:p>
          <a:p>
            <a:pPr marL="171450" indent="-171450">
              <a:buFont typeface="Arial" panose="020B0604020202020204" pitchFamily="34" charset="0"/>
              <a:buChar char="•"/>
              <a:defRPr/>
            </a:pPr>
            <a:r>
              <a:rPr lang="en-US" dirty="0"/>
              <a:t>Technical Skills</a:t>
            </a:r>
          </a:p>
          <a:p>
            <a:pPr marL="171450" indent="-171450">
              <a:buFont typeface="Arial" panose="020B0604020202020204" pitchFamily="34" charset="0"/>
              <a:buChar char="•"/>
              <a:defRPr/>
            </a:pPr>
            <a:r>
              <a:rPr lang="en-US" dirty="0"/>
              <a:t>Education/Relevant Certifications</a:t>
            </a:r>
          </a:p>
          <a:p>
            <a:pPr marL="171450" indent="-171450">
              <a:buFont typeface="Arial" panose="020B0604020202020204" pitchFamily="34" charset="0"/>
              <a:buChar char="•"/>
              <a:defRPr/>
            </a:pPr>
            <a:r>
              <a:rPr lang="en-US" dirty="0"/>
              <a:t>Professional Experience</a:t>
            </a:r>
          </a:p>
          <a:p>
            <a:pPr marL="171450" indent="-171450">
              <a:buFont typeface="Arial" panose="020B0604020202020204" pitchFamily="34" charset="0"/>
              <a:buChar char="•"/>
              <a:defRPr/>
            </a:pPr>
            <a:r>
              <a:rPr lang="en-US" dirty="0"/>
              <a:t>Volunteer Experience</a:t>
            </a:r>
          </a:p>
          <a:p>
            <a:pPr marL="171450" indent="-171450">
              <a:buFont typeface="Arial" panose="020B0604020202020204" pitchFamily="34" charset="0"/>
              <a:buChar char="•"/>
              <a:defRPr/>
            </a:pPr>
            <a:r>
              <a:rPr lang="en-US" dirty="0"/>
              <a:t>Hobbies or Interests if you have room and would like to include them</a:t>
            </a:r>
          </a:p>
          <a:p>
            <a:pPr>
              <a:defRPr/>
            </a:pPr>
            <a:endParaRPr lang="en-US" dirty="0"/>
          </a:p>
        </p:txBody>
      </p:sp>
      <p:sp>
        <p:nvSpPr>
          <p:cNvPr id="11267" name="Slide Number Placeholder 3">
            <a:extLst>
              <a:ext uri="{FF2B5EF4-FFF2-40B4-BE49-F238E27FC236}">
                <a16:creationId xmlns:a16="http://schemas.microsoft.com/office/drawing/2014/main" id="{88918A78-9B74-B690-BC21-6FCB4DB045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333273-45D7-7349-B940-333900B4C85B}" type="slidenum">
              <a:rPr lang="en-CA" altLang="en-US"/>
              <a:pPr/>
              <a:t>4</a:t>
            </a:fld>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a:extLst>
              <a:ext uri="{FF2B5EF4-FFF2-40B4-BE49-F238E27FC236}">
                <a16:creationId xmlns:a16="http://schemas.microsoft.com/office/drawing/2014/main" id="{08D508E4-15CA-7ABD-A5E4-CCABD4F69E0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9A1F8BA0-7275-DB49-93D6-ED97CA4A3948}"/>
              </a:ext>
            </a:extLst>
          </p:cNvPr>
          <p:cNvSpPr>
            <a:spLocks noGrp="1"/>
          </p:cNvSpPr>
          <p:nvPr>
            <p:ph type="body" idx="1"/>
          </p:nvPr>
        </p:nvSpPr>
        <p:spPr/>
        <p:txBody>
          <a:bodyPr/>
          <a:lstStyle/>
          <a:p>
            <a:pPr>
              <a:buFont typeface="Arial" panose="020B0604020202020204" pitchFamily="34" charset="0"/>
              <a:buNone/>
              <a:defRPr/>
            </a:pPr>
            <a:r>
              <a:rPr lang="en-US" b="1" dirty="0"/>
              <a:t>Chronological Resume:   Lists Education and Professional Experience in Reverse Chronological order, the most recent information first.</a:t>
            </a:r>
          </a:p>
          <a:p>
            <a:pPr>
              <a:buFont typeface="Arial" panose="020B0604020202020204" pitchFamily="34" charset="0"/>
              <a:buNone/>
              <a:defRPr/>
            </a:pPr>
            <a:endParaRPr lang="en-US" b="1" dirty="0"/>
          </a:p>
          <a:p>
            <a:pPr>
              <a:buFont typeface="Arial" panose="020B0604020202020204" pitchFamily="34" charset="0"/>
              <a:buNone/>
              <a:defRPr/>
            </a:pPr>
            <a:endParaRPr lang="en-US" b="1" dirty="0"/>
          </a:p>
          <a:p>
            <a:pPr marL="171450" indent="-171450">
              <a:buFont typeface="Arial" panose="020B0604020202020204" pitchFamily="34" charset="0"/>
              <a:buChar char="•"/>
              <a:defRPr/>
            </a:pPr>
            <a:r>
              <a:rPr lang="en-US" dirty="0"/>
              <a:t>You may not want to include your full address, you can add the City you live in (you can use your full address if you choose to).  Companies like to know you live within a 100 km radius of their location.</a:t>
            </a:r>
          </a:p>
          <a:p>
            <a:pPr>
              <a:defRPr/>
            </a:pPr>
            <a:endParaRPr lang="en-US" dirty="0"/>
          </a:p>
          <a:p>
            <a:pPr marL="171450" indent="-171450" eaLnBrk="1" fontAlgn="auto" hangingPunct="1">
              <a:spcBef>
                <a:spcPts val="0"/>
              </a:spcBef>
              <a:spcAft>
                <a:spcPts val="0"/>
              </a:spcAft>
              <a:buFont typeface="Arial" panose="020B0604020202020204" pitchFamily="34" charset="0"/>
              <a:buChar char="•"/>
              <a:defRPr/>
            </a:pPr>
            <a:r>
              <a:rPr lang="en-CA" dirty="0">
                <a:latin typeface="Arial" charset="0"/>
                <a:ea typeface="Arial" charset="0"/>
                <a:cs typeface="Arial" charset="0"/>
              </a:rPr>
              <a:t>If you have a name you go by other than your first name add in in like this:  First name (name you would like to go by) Last name</a:t>
            </a:r>
          </a:p>
          <a:p>
            <a:pPr marL="171450" indent="-171450" eaLnBrk="1" fontAlgn="auto" hangingPunct="1">
              <a:spcBef>
                <a:spcPts val="0"/>
              </a:spcBef>
              <a:spcAft>
                <a:spcPts val="0"/>
              </a:spcAft>
              <a:buFont typeface="Arial" panose="020B0604020202020204" pitchFamily="34" charset="0"/>
              <a:buChar char="•"/>
              <a:defRPr/>
            </a:pPr>
            <a:endParaRPr lang="en-CA" dirty="0">
              <a:latin typeface="Arial" charset="0"/>
              <a:ea typeface="Arial" charset="0"/>
              <a:cs typeface="Arial" charset="0"/>
            </a:endParaRPr>
          </a:p>
          <a:p>
            <a:pPr marL="171450" indent="-171450" eaLnBrk="1" fontAlgn="auto" hangingPunct="1">
              <a:spcBef>
                <a:spcPts val="0"/>
              </a:spcBef>
              <a:spcAft>
                <a:spcPts val="0"/>
              </a:spcAft>
              <a:buFont typeface="Arial" panose="020B0604020202020204" pitchFamily="34" charset="0"/>
              <a:buChar char="•"/>
              <a:defRPr/>
            </a:pPr>
            <a:endParaRPr lang="en-CA" dirty="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b="0" dirty="0">
                <a:solidFill>
                  <a:schemeClr val="tx1"/>
                </a:solidFill>
                <a:cs typeface="Arial" panose="020B0604020202020204" pitchFamily="34" charset="0"/>
              </a:rPr>
              <a:t>Name </a:t>
            </a:r>
            <a:br>
              <a:rPr lang="en-US" altLang="en-US" sz="1200" b="0" dirty="0">
                <a:solidFill>
                  <a:schemeClr val="tx1"/>
                </a:solidFill>
                <a:cs typeface="Arial" panose="020B0604020202020204" pitchFamily="34" charset="0"/>
              </a:rPr>
            </a:br>
            <a:r>
              <a:rPr lang="en-US" altLang="en-US" sz="1200" b="0" dirty="0">
                <a:solidFill>
                  <a:schemeClr val="tx1"/>
                </a:solidFill>
                <a:cs typeface="Arial" panose="020B0604020202020204" pitchFamily="34" charset="0"/>
              </a:rPr>
              <a:t>Street Address (Optional)</a:t>
            </a:r>
            <a:br>
              <a:rPr lang="en-US" altLang="en-US" sz="1200" b="0" dirty="0">
                <a:solidFill>
                  <a:schemeClr val="tx1"/>
                </a:solidFill>
                <a:cs typeface="Arial" panose="020B0604020202020204" pitchFamily="34" charset="0"/>
              </a:rPr>
            </a:br>
            <a:r>
              <a:rPr lang="en-US" altLang="en-US" sz="1200" b="0" dirty="0">
                <a:solidFill>
                  <a:schemeClr val="tx1"/>
                </a:solidFill>
                <a:cs typeface="Arial" panose="020B0604020202020204" pitchFamily="34" charset="0"/>
              </a:rPr>
              <a:t>City, Province, Postal Code </a:t>
            </a:r>
            <a:br>
              <a:rPr lang="en-US" altLang="en-US" sz="1200" b="0" dirty="0">
                <a:solidFill>
                  <a:schemeClr val="tx1"/>
                </a:solidFill>
                <a:cs typeface="Arial" panose="020B0604020202020204" pitchFamily="34" charset="0"/>
              </a:rPr>
            </a:br>
            <a:r>
              <a:rPr lang="en-US" altLang="en-US" sz="1200" b="0" dirty="0">
                <a:solidFill>
                  <a:schemeClr val="tx1"/>
                </a:solidFill>
                <a:cs typeface="Arial" panose="020B0604020202020204" pitchFamily="34" charset="0"/>
              </a:rPr>
              <a:t>Phone Number </a:t>
            </a:r>
            <a:br>
              <a:rPr lang="en-US" altLang="en-US" sz="1200" b="0" dirty="0">
                <a:solidFill>
                  <a:schemeClr val="tx1"/>
                </a:solidFill>
                <a:cs typeface="Arial" panose="020B0604020202020204" pitchFamily="34" charset="0"/>
              </a:rPr>
            </a:br>
            <a:r>
              <a:rPr lang="en-US" altLang="en-US" sz="1200" b="0" dirty="0">
                <a:solidFill>
                  <a:schemeClr val="tx1"/>
                </a:solidFill>
                <a:cs typeface="Arial" panose="020B0604020202020204" pitchFamily="34" charset="0"/>
              </a:rPr>
              <a:t>GBC Email Address</a:t>
            </a:r>
            <a:endParaRPr lang="en-CA" altLang="en-US" sz="1200" b="0" dirty="0">
              <a:solidFill>
                <a:schemeClr val="tx1"/>
              </a:solidFill>
              <a:cs typeface="Arial" panose="020B0604020202020204" pitchFamily="34" charset="0"/>
            </a:endParaRPr>
          </a:p>
          <a:p>
            <a:pPr marL="171450" indent="-171450" eaLnBrk="1" fontAlgn="auto" hangingPunct="1">
              <a:spcBef>
                <a:spcPts val="0"/>
              </a:spcBef>
              <a:spcAft>
                <a:spcPts val="0"/>
              </a:spcAft>
              <a:buFont typeface="Arial" panose="020B0604020202020204" pitchFamily="34" charset="0"/>
              <a:buChar char="•"/>
              <a:defRPr/>
            </a:pPr>
            <a:endParaRPr lang="en-CA" dirty="0">
              <a:latin typeface="Arial" charset="0"/>
              <a:ea typeface="Arial" charset="0"/>
              <a:cs typeface="Arial" charset="0"/>
            </a:endParaRPr>
          </a:p>
          <a:p>
            <a:pPr>
              <a:defRPr/>
            </a:pPr>
            <a:endParaRPr lang="en-US" dirty="0"/>
          </a:p>
        </p:txBody>
      </p:sp>
      <p:sp>
        <p:nvSpPr>
          <p:cNvPr id="13315" name="Slide Number Placeholder 3">
            <a:extLst>
              <a:ext uri="{FF2B5EF4-FFF2-40B4-BE49-F238E27FC236}">
                <a16:creationId xmlns:a16="http://schemas.microsoft.com/office/drawing/2014/main" id="{10F4197A-8EC7-B3BC-E084-4710A40E85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EB6354D-8F2A-234D-B4B6-FAB53B2A0373}" type="slidenum">
              <a:rPr lang="en-CA" altLang="en-US"/>
              <a:pPr/>
              <a:t>5</a:t>
            </a:fld>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B3BD52B8-7D47-072F-4FC1-57D02CC616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4305DB49-BB26-5E42-BA13-FF73262926C3}"/>
              </a:ext>
            </a:extLst>
          </p:cNvPr>
          <p:cNvSpPr>
            <a:spLocks noGrp="1"/>
          </p:cNvSpPr>
          <p:nvPr>
            <p:ph type="body" idx="1"/>
          </p:nvPr>
        </p:nvSpPr>
        <p:spPr/>
        <p:txBody>
          <a:bodyPr/>
          <a:lstStyle/>
          <a:p>
            <a:pPr>
              <a:defRPr/>
            </a:pPr>
            <a:r>
              <a:rPr lang="en-US" b="1" dirty="0"/>
              <a:t>Objective:  An objective articulates the type of job you want to secure.  It should reflect how you can help the employer rather than how you can help yourself.  An objective should be user-centered and focused on the company and the position.</a:t>
            </a:r>
          </a:p>
          <a:p>
            <a:pPr>
              <a:defRPr/>
            </a:pPr>
            <a:endParaRPr lang="en-US" b="1" dirty="0"/>
          </a:p>
          <a:p>
            <a:pPr marL="171450" indent="-171450">
              <a:buFont typeface="Arial" panose="020B0604020202020204" pitchFamily="34" charset="0"/>
              <a:buChar char="•"/>
              <a:defRPr/>
            </a:pPr>
            <a:r>
              <a:rPr lang="en-US" dirty="0"/>
              <a:t>Use a clear objective, include position, field and organization in which you wish to work </a:t>
            </a:r>
          </a:p>
          <a:p>
            <a:pPr>
              <a:buFont typeface="Arial" panose="020B0604020202020204" pitchFamily="34" charset="0"/>
              <a:buNone/>
              <a:defRPr/>
            </a:pPr>
            <a:endParaRPr lang="en-US" dirty="0"/>
          </a:p>
          <a:p>
            <a:pPr marL="171450" indent="-171450" eaLnBrk="1" fontAlgn="auto" hangingPunct="1">
              <a:spcBef>
                <a:spcPts val="0"/>
              </a:spcBef>
              <a:spcAft>
                <a:spcPts val="0"/>
              </a:spcAft>
              <a:buFont typeface="Arial" panose="020B0604020202020204" pitchFamily="34" charset="0"/>
              <a:buChar char="•"/>
              <a:defRPr/>
            </a:pPr>
            <a:r>
              <a:rPr lang="en-US" dirty="0"/>
              <a:t>If you apply to more than one role at a company ensure you customize your Objective and the Highlights of Qualifications to align with each role, companies don’t mind if you submit to multiple roles they want to know your specific qualifications to each role </a:t>
            </a:r>
          </a:p>
          <a:p>
            <a:pPr eaLnBrk="1" fontAlgn="auto" hangingPunct="1">
              <a:spcBef>
                <a:spcPts val="0"/>
              </a:spcBef>
              <a:spcAft>
                <a:spcPts val="0"/>
              </a:spcAft>
              <a:buFont typeface="Arial" panose="020B0604020202020204" pitchFamily="34" charset="0"/>
              <a:buNone/>
              <a:defRPr/>
            </a:pPr>
            <a:endParaRPr lang="en-US" dirty="0"/>
          </a:p>
        </p:txBody>
      </p:sp>
      <p:sp>
        <p:nvSpPr>
          <p:cNvPr id="15363" name="Slide Number Placeholder 3">
            <a:extLst>
              <a:ext uri="{FF2B5EF4-FFF2-40B4-BE49-F238E27FC236}">
                <a16:creationId xmlns:a16="http://schemas.microsoft.com/office/drawing/2014/main" id="{30B6647E-4DF0-2A5F-E9CA-7C2D987AC2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9529604-1E31-2248-B6B1-58B076D2B796}" type="slidenum">
              <a:rPr lang="en-CA" altLang="en-US"/>
              <a:pPr/>
              <a:t>6</a:t>
            </a:fld>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94339111-4500-83A9-3284-021B244B39A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883EF91C-50A8-F648-8A94-326BBD83B684}"/>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List your qualifications in the order of importance in the job requirements</a:t>
            </a:r>
          </a:p>
          <a:p>
            <a:pPr marL="171450" indent="-171450" eaLnBrk="1" fontAlgn="auto" hangingPunct="1">
              <a:spcBef>
                <a:spcPts val="0"/>
              </a:spcBef>
              <a:spcAft>
                <a:spcPts val="0"/>
              </a:spcAft>
              <a:buFont typeface="Arial" panose="020B0604020202020204" pitchFamily="34" charset="0"/>
              <a:buChar char="•"/>
              <a:defRPr/>
            </a:pPr>
            <a:r>
              <a:rPr lang="en-CA" dirty="0"/>
              <a:t>Know how to explain your experience in a relatable way – especially experience that is transferable and may not seem directly relatable</a:t>
            </a:r>
          </a:p>
          <a:p>
            <a:pPr marL="171450" indent="-171450" eaLnBrk="1" fontAlgn="auto" hangingPunct="1">
              <a:spcBef>
                <a:spcPts val="0"/>
              </a:spcBef>
              <a:spcAft>
                <a:spcPts val="0"/>
              </a:spcAft>
              <a:buFont typeface="Arial" panose="020B0604020202020204" pitchFamily="34" charset="0"/>
              <a:buChar char="•"/>
              <a:defRPr/>
            </a:pPr>
            <a:r>
              <a:rPr lang="en-CA" dirty="0"/>
              <a:t>A Career Highlights/Qualifications section of a resume is a customized section that lists key achievements, skills, traits, and experience relevant to the position for which you are applying. Those who have a lot of experience in their career field can benefit from adding a resume summary. It is an effective way to highlight your strongest skills and to encourage the hiring manager to read more</a:t>
            </a:r>
          </a:p>
          <a:p>
            <a:pPr marL="171450" indent="-171450" eaLnBrk="1" fontAlgn="auto" hangingPunct="1">
              <a:spcBef>
                <a:spcPts val="0"/>
              </a:spcBef>
              <a:spcAft>
                <a:spcPts val="0"/>
              </a:spcAft>
              <a:buFont typeface="Arial" panose="020B0604020202020204" pitchFamily="34" charset="0"/>
              <a:buChar char="•"/>
              <a:defRPr/>
            </a:pPr>
            <a:r>
              <a:rPr lang="en-CA" dirty="0"/>
              <a:t>Read the job posting carefully, and create a summary of points that reflect the qualifications they are looking for</a:t>
            </a:r>
            <a:endParaRPr lang="en-CA" dirty="0">
              <a:solidFill>
                <a:srgbClr val="C00000"/>
              </a:solidFill>
              <a:highlight>
                <a:srgbClr val="FFFF00"/>
              </a:highlight>
            </a:endParaRPr>
          </a:p>
          <a:p>
            <a:pPr>
              <a:defRPr/>
            </a:pPr>
            <a:endParaRPr lang="en-CA" b="1" u="sng" dirty="0">
              <a:solidFill>
                <a:srgbClr val="C00000"/>
              </a:solidFill>
              <a:highlight>
                <a:srgbClr val="FFFF00"/>
              </a:highlight>
            </a:endParaRPr>
          </a:p>
          <a:p>
            <a:pPr>
              <a:defRPr/>
            </a:pPr>
            <a:r>
              <a:rPr lang="en-CA" b="1" u="sng" dirty="0">
                <a:solidFill>
                  <a:srgbClr val="C00000"/>
                </a:solidFill>
                <a:highlight>
                  <a:srgbClr val="FFFF00"/>
                </a:highlight>
              </a:rPr>
              <a:t>Core Soft Skills </a:t>
            </a:r>
          </a:p>
          <a:p>
            <a:pPr>
              <a:defRPr/>
            </a:pPr>
            <a:r>
              <a:rPr lang="en-CA" b="1" dirty="0"/>
              <a:t>Communicating: </a:t>
            </a:r>
            <a:r>
              <a:rPr lang="en-CA" dirty="0"/>
              <a:t>You will be expected to facilitate work meetings, ask the right questions, and actively listen to your colleagues to take in new information and build relationships. A project's success may revolve around your ability to communicate things like project requirements, changes, and testing results. In your interview, focus on your ability to communicate proficiently in person, on conference calls, in meetings both digitally and </a:t>
            </a:r>
            <a:r>
              <a:rPr lang="en-CA" dirty="0">
                <a:solidFill>
                  <a:schemeClr val="bg2"/>
                </a:solidFill>
              </a:rPr>
              <a:t>otherwise</a:t>
            </a:r>
            <a:r>
              <a:rPr lang="en-CA" dirty="0"/>
              <a:t>, and through email. Consider having an example ready that demonstrates how being an effective communicator has served former employers well.</a:t>
            </a:r>
          </a:p>
          <a:p>
            <a:pPr>
              <a:defRPr/>
            </a:pPr>
            <a:endParaRPr lang="en-CA" b="1" dirty="0"/>
          </a:p>
          <a:p>
            <a:pPr>
              <a:defRPr/>
            </a:pPr>
            <a:r>
              <a:rPr lang="en-CA" b="1" dirty="0"/>
              <a:t>Problem Solving:</a:t>
            </a:r>
            <a:r>
              <a:rPr lang="en-CA" dirty="0"/>
              <a:t> Every project you work on is, at its core, developing a solution to a problem. You work to build a shared understanding of problems, outline the parameters of the project, and determine potential solutions.</a:t>
            </a:r>
          </a:p>
          <a:p>
            <a:pPr>
              <a:defRPr/>
            </a:pPr>
            <a:endParaRPr lang="en-CA" b="1" dirty="0"/>
          </a:p>
          <a:p>
            <a:pPr>
              <a:defRPr/>
            </a:pPr>
            <a:r>
              <a:rPr lang="en-CA" b="1" dirty="0"/>
              <a:t>Negotiating: </a:t>
            </a:r>
            <a:r>
              <a:rPr lang="en-CA" dirty="0"/>
              <a:t> Be an intermediary between a variety of people with various types of personalities: clients, developers, users, management, and information technology (IT). You have to be able to achieve a profitable outcome for your company while finding a solution for the client that makes them happy. This balancing act demands the ability to influence a mutual solution and maintaining professional relationships.</a:t>
            </a:r>
          </a:p>
          <a:p>
            <a:pPr>
              <a:defRPr/>
            </a:pPr>
            <a:endParaRPr lang="en-CA" b="1" dirty="0"/>
          </a:p>
          <a:p>
            <a:pPr>
              <a:defRPr/>
            </a:pPr>
            <a:r>
              <a:rPr lang="en-CA" b="1" dirty="0"/>
              <a:t>Critical Thinking: </a:t>
            </a:r>
            <a:r>
              <a:rPr lang="en-CA" dirty="0"/>
              <a:t> I.E. assess multiple choices before leading the team toward a solution. Effectively doing so requires a critical review of data, documentation, user input surveys, and workflow. They ask probing questions until every issue is evaluated in its entirety to determine the best conflict resolution.</a:t>
            </a:r>
          </a:p>
          <a:p>
            <a:pPr>
              <a:defRPr/>
            </a:pPr>
            <a:endParaRPr lang="en-CA" dirty="0"/>
          </a:p>
          <a:p>
            <a:pPr>
              <a:defRPr/>
            </a:pPr>
            <a:r>
              <a:rPr lang="en-CA" b="1" u="sng" dirty="0"/>
              <a:t>General Skills </a:t>
            </a:r>
            <a:r>
              <a:rPr lang="en-CA" b="1" dirty="0"/>
              <a:t> - </a:t>
            </a:r>
            <a:r>
              <a:rPr lang="en-CA" dirty="0"/>
              <a:t>Besides the core skills, employers also will be looking for more general skills and attributes:</a:t>
            </a:r>
          </a:p>
          <a:p>
            <a:pPr>
              <a:defRPr/>
            </a:pPr>
            <a:endParaRPr lang="en-CA" b="1" dirty="0"/>
          </a:p>
          <a:p>
            <a:pPr>
              <a:defRPr/>
            </a:pPr>
            <a:r>
              <a:rPr lang="en-CA" b="1" dirty="0"/>
              <a:t>Personal Attributes</a:t>
            </a:r>
            <a:r>
              <a:rPr lang="en-CA" dirty="0"/>
              <a:t>: Sought-after personal attributes include adaptability and the ability to work in a fast-paced environment with cross-functional teams. You also should hone analytical thinking, attention to detail, creativity, strong organizational skills, the ability to multitask and be an assertive, diplomatic leader.</a:t>
            </a:r>
          </a:p>
          <a:p>
            <a:pPr>
              <a:defRPr/>
            </a:pPr>
            <a:endParaRPr lang="en-CA" b="1" dirty="0"/>
          </a:p>
          <a:p>
            <a:pPr>
              <a:defRPr/>
            </a:pPr>
            <a:r>
              <a:rPr lang="en-CA" b="1" dirty="0"/>
              <a:t>Computer Skills</a:t>
            </a:r>
            <a:r>
              <a:rPr lang="en-CA" dirty="0"/>
              <a:t>: you’ll need to be able to use many types of software. You will need to stay abreast of new developments in IT as well.</a:t>
            </a:r>
          </a:p>
          <a:p>
            <a:pPr>
              <a:defRPr/>
            </a:pPr>
            <a:endParaRPr lang="en-CA" b="1" dirty="0"/>
          </a:p>
          <a:p>
            <a:pPr>
              <a:defRPr/>
            </a:pPr>
            <a:r>
              <a:rPr lang="en-CA" b="1" dirty="0"/>
              <a:t>Analytical Skills</a:t>
            </a:r>
            <a:r>
              <a:rPr lang="en-CA" dirty="0"/>
              <a:t>: analytical tools for the efficient designing and implementing of processes to forecasting and gap analysis.</a:t>
            </a:r>
          </a:p>
          <a:p>
            <a:pPr>
              <a:defRPr/>
            </a:pPr>
            <a:endParaRPr lang="en-US" dirty="0"/>
          </a:p>
        </p:txBody>
      </p:sp>
      <p:sp>
        <p:nvSpPr>
          <p:cNvPr id="17411" name="Slide Number Placeholder 3">
            <a:extLst>
              <a:ext uri="{FF2B5EF4-FFF2-40B4-BE49-F238E27FC236}">
                <a16:creationId xmlns:a16="http://schemas.microsoft.com/office/drawing/2014/main" id="{8E78EFBF-EA39-9831-BBC9-FFD6B55322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D12B10-AA65-474C-AAAA-EDB929F9D6EF}" type="slidenum">
              <a:rPr lang="en-CA" altLang="en-US"/>
              <a:pPr/>
              <a:t>7</a:t>
            </a:fld>
            <a:endParaRPr lang="en-C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7322173C-8A3E-8466-509B-7CC445FB66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53935B1A-DE87-6F4D-9634-EBBCC29D4968}"/>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Any skills that would benefit each role  </a:t>
            </a:r>
          </a:p>
          <a:p>
            <a:pPr>
              <a:defRPr/>
            </a:pPr>
            <a:endParaRPr lang="en-CA" dirty="0"/>
          </a:p>
          <a:p>
            <a:pPr marL="171450" indent="-171450">
              <a:buFont typeface="Arial" panose="020B0604020202020204" pitchFamily="34" charset="0"/>
              <a:buChar char="•"/>
              <a:defRPr/>
            </a:pPr>
            <a:r>
              <a:rPr lang="en-CA" dirty="0"/>
              <a:t>Technical skills are the abilities and knowledge needed to perform specific tasks. They are practical, and often relate to mechanical, information technology, mathematical, or scientific tasks. Some examples include knowledge of programming languages, mechanical equipment, or tools.</a:t>
            </a:r>
          </a:p>
          <a:p>
            <a:pPr marL="171450" indent="-171450">
              <a:buFont typeface="Arial" panose="020B0604020202020204" pitchFamily="34" charset="0"/>
              <a:buChar char="•"/>
              <a:defRPr/>
            </a:pPr>
            <a:r>
              <a:rPr lang="en-CA" dirty="0"/>
              <a:t>If you already added a technical skill in the highlights of qualifications, don't repeat it here </a:t>
            </a:r>
          </a:p>
          <a:p>
            <a:pPr>
              <a:defRPr/>
            </a:pPr>
            <a:endParaRPr lang="en-US" dirty="0"/>
          </a:p>
        </p:txBody>
      </p:sp>
      <p:sp>
        <p:nvSpPr>
          <p:cNvPr id="19459" name="Slide Number Placeholder 3">
            <a:extLst>
              <a:ext uri="{FF2B5EF4-FFF2-40B4-BE49-F238E27FC236}">
                <a16:creationId xmlns:a16="http://schemas.microsoft.com/office/drawing/2014/main" id="{D1904E76-CF6C-D939-D702-DFA27E3A61C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0F0A039-E1FE-F141-8BC4-DF3C63CECFD6}" type="slidenum">
              <a:rPr lang="en-CA" altLang="en-US"/>
              <a:pPr/>
              <a:t>8</a:t>
            </a:fld>
            <a:endParaRPr lang="en-C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EBEC7536-3E2A-0FF6-C8F7-256416D12F5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6" name="Notes Placeholder 2">
            <a:extLst>
              <a:ext uri="{FF2B5EF4-FFF2-40B4-BE49-F238E27FC236}">
                <a16:creationId xmlns:a16="http://schemas.microsoft.com/office/drawing/2014/main" id="{B4AA362F-0E34-71E0-9F13-31E648D88B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7" name="Slide Number Placeholder 3">
            <a:extLst>
              <a:ext uri="{FF2B5EF4-FFF2-40B4-BE49-F238E27FC236}">
                <a16:creationId xmlns:a16="http://schemas.microsoft.com/office/drawing/2014/main" id="{7A728E0D-33C5-154A-2A82-4C143A56A7B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D577F71-DB05-374E-9643-13A170A8065B}" type="slidenum">
              <a:rPr lang="en-CA" altLang="en-US"/>
              <a:pPr/>
              <a:t>9</a:t>
            </a:fld>
            <a:endParaRPr lang="en-CA"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D57008FA-B03F-A2BE-0413-E4159B8F6D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Notes Placeholder 2">
            <a:extLst>
              <a:ext uri="{FF2B5EF4-FFF2-40B4-BE49-F238E27FC236}">
                <a16:creationId xmlns:a16="http://schemas.microsoft.com/office/drawing/2014/main" id="{3F70AF75-5463-678A-C420-470AB30E03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Use keywords when possible to trigger a match for job related search criteria, keywords that are unrelated to the job description should not be used</a:t>
            </a:r>
          </a:p>
          <a:p>
            <a:endParaRPr lang="en-US" altLang="en-US" dirty="0"/>
          </a:p>
        </p:txBody>
      </p:sp>
      <p:sp>
        <p:nvSpPr>
          <p:cNvPr id="23555" name="Slide Number Placeholder 3">
            <a:extLst>
              <a:ext uri="{FF2B5EF4-FFF2-40B4-BE49-F238E27FC236}">
                <a16:creationId xmlns:a16="http://schemas.microsoft.com/office/drawing/2014/main" id="{DADB5343-06B5-F6C2-250E-CB086F49A5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9ABDA1-0D94-914E-A6F8-6147B3B72A80}" type="slidenum">
              <a:rPr lang="en-CA" altLang="en-US"/>
              <a:pPr/>
              <a:t>10</a:t>
            </a:fld>
            <a:endParaRPr lang="en-CA"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1C1746C9-0A5C-70C1-34C4-245F60B373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Notes Placeholder 2">
            <a:extLst>
              <a:ext uri="{FF2B5EF4-FFF2-40B4-BE49-F238E27FC236}">
                <a16:creationId xmlns:a16="http://schemas.microsoft.com/office/drawing/2014/main" id="{60CFA9BD-0D70-14BE-1782-01483D378F7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List your volunteer experience in the same format as your professional experience (reverse chronological)</a:t>
            </a:r>
          </a:p>
          <a:p>
            <a:endParaRPr lang="en-US" altLang="en-US"/>
          </a:p>
        </p:txBody>
      </p:sp>
      <p:sp>
        <p:nvSpPr>
          <p:cNvPr id="25603" name="Slide Number Placeholder 3">
            <a:extLst>
              <a:ext uri="{FF2B5EF4-FFF2-40B4-BE49-F238E27FC236}">
                <a16:creationId xmlns:a16="http://schemas.microsoft.com/office/drawing/2014/main" id="{DA1CA9A3-D022-7997-348F-CA9DBCB467A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D57D3F-261B-354E-8F7C-9B91D3F9426C}" type="slidenum">
              <a:rPr lang="en-CA" altLang="en-US"/>
              <a:pPr/>
              <a:t>11</a:t>
            </a:fld>
            <a:endParaRPr lang="en-CA"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D30D3EA5-641B-B2D7-BF2B-38A0FE84625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Notes Placeholder 2">
            <a:extLst>
              <a:ext uri="{FF2B5EF4-FFF2-40B4-BE49-F238E27FC236}">
                <a16:creationId xmlns:a16="http://schemas.microsoft.com/office/drawing/2014/main" id="{AF2ADBE8-E7F3-17DD-A77C-013B8D22427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How to construct your bullets</a:t>
            </a:r>
          </a:p>
          <a:p>
            <a:endParaRPr lang="en-US" altLang="en-US"/>
          </a:p>
        </p:txBody>
      </p:sp>
      <p:sp>
        <p:nvSpPr>
          <p:cNvPr id="27651" name="Slide Number Placeholder 3">
            <a:extLst>
              <a:ext uri="{FF2B5EF4-FFF2-40B4-BE49-F238E27FC236}">
                <a16:creationId xmlns:a16="http://schemas.microsoft.com/office/drawing/2014/main" id="{65A987B6-5F0F-9727-F26A-7C4FBBA36A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606A15-F102-9642-8B8A-95355B4F8D4C}" type="slidenum">
              <a:rPr lang="en-CA" altLang="en-US"/>
              <a:pPr/>
              <a:t>12</a:t>
            </a:fld>
            <a:endParaRPr lang="en-CA"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DBFFA911-D8E0-2904-E322-4CA9CB14E3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Notes Placeholder 2">
            <a:extLst>
              <a:ext uri="{FF2B5EF4-FFF2-40B4-BE49-F238E27FC236}">
                <a16:creationId xmlns:a16="http://schemas.microsoft.com/office/drawing/2014/main" id="{9B5AF716-E896-CD8F-CA1A-4AEA8E245D2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1-2 pages (if you use two pages, fill two pages, avoid white spaces).  Career Services may tell you to put your resume on one page, but two pages are acceptable due to your previous experience.  </a:t>
            </a:r>
          </a:p>
          <a:p>
            <a:endParaRPr lang="en-US" altLang="en-US"/>
          </a:p>
          <a:p>
            <a:r>
              <a:rPr lang="en-US" altLang="en-US"/>
              <a:t>PLEASE do not use columns or other fancy/unique formatting options</a:t>
            </a:r>
          </a:p>
          <a:p>
            <a:pPr>
              <a:buFontTx/>
              <a:buChar char="-"/>
            </a:pPr>
            <a:r>
              <a:rPr lang="en-US" altLang="en-US"/>
              <a:t>Keep it easy to read and scan</a:t>
            </a:r>
          </a:p>
          <a:p>
            <a:pPr>
              <a:buFontTx/>
              <a:buChar char="-"/>
            </a:pPr>
            <a:r>
              <a:rPr lang="en-US" altLang="en-US"/>
              <a:t>Keep it professional looking</a:t>
            </a:r>
          </a:p>
          <a:p>
            <a:endParaRPr lang="en-US" altLang="en-US"/>
          </a:p>
          <a:p>
            <a:endParaRPr lang="en-US" altLang="en-US"/>
          </a:p>
        </p:txBody>
      </p:sp>
      <p:sp>
        <p:nvSpPr>
          <p:cNvPr id="29699" name="Slide Number Placeholder 3">
            <a:extLst>
              <a:ext uri="{FF2B5EF4-FFF2-40B4-BE49-F238E27FC236}">
                <a16:creationId xmlns:a16="http://schemas.microsoft.com/office/drawing/2014/main" id="{F7E5C0EC-0227-081B-252C-3832EE3E342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043A4D9-1788-7742-8984-51CCAF1B8FAB}" type="slidenum">
              <a:rPr lang="en-CA" altLang="en-US"/>
              <a:pPr/>
              <a:t>13</a:t>
            </a:fld>
            <a:endParaRPr lang="en-CA"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0344A75-81B3-4811-0F63-25852D3E483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8C2F4F0-E9D5-7F48-803E-D1E2BFCC2663}"/>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Don’t label your Resume with “Resume”</a:t>
            </a:r>
          </a:p>
          <a:p>
            <a:pPr marL="171450" indent="-171450">
              <a:buFont typeface="Arial" panose="020B0604020202020204" pitchFamily="34" charset="0"/>
              <a:buChar char="•"/>
              <a:defRPr/>
            </a:pPr>
            <a:r>
              <a:rPr lang="en-US" dirty="0"/>
              <a:t>Don’t date the resume, date the cover letter</a:t>
            </a:r>
          </a:p>
          <a:p>
            <a:pPr marL="171450" indent="-171450">
              <a:buFont typeface="Arial" panose="020B0604020202020204" pitchFamily="34" charset="0"/>
              <a:buChar char="•"/>
              <a:defRPr/>
            </a:pPr>
            <a:r>
              <a:rPr lang="en-US" dirty="0"/>
              <a:t>Don’t include any personal information beyond your address, email address and phone number</a:t>
            </a:r>
          </a:p>
          <a:p>
            <a:pPr marL="171450" indent="-171450">
              <a:buFont typeface="Arial" panose="020B0604020202020204" pitchFamily="34" charset="0"/>
              <a:buChar char="•"/>
              <a:defRPr/>
            </a:pPr>
            <a:r>
              <a:rPr lang="en-US" dirty="0"/>
              <a:t>Leave out your age, date of birth, race, sex, sexual orientation, religion, political affiliation, names and ages of your spouse and children, social insurance number, credit card information, </a:t>
            </a:r>
          </a:p>
          <a:p>
            <a:pPr marL="171450" indent="-171450">
              <a:buFont typeface="Arial" panose="020B0604020202020204" pitchFamily="34" charset="0"/>
              <a:buChar char="•"/>
              <a:defRPr/>
            </a:pPr>
            <a:r>
              <a:rPr lang="en-US" dirty="0"/>
              <a:t>Leave out photographs, height, weight any physical descriptors</a:t>
            </a:r>
          </a:p>
          <a:p>
            <a:pPr marL="171450" indent="-171450">
              <a:buFont typeface="Arial" panose="020B0604020202020204" pitchFamily="34" charset="0"/>
              <a:buChar char="•"/>
              <a:defRPr/>
            </a:pPr>
            <a:r>
              <a:rPr lang="en-US" dirty="0"/>
              <a:t>Leave out a low GPA</a:t>
            </a:r>
          </a:p>
          <a:p>
            <a:pPr marL="171450" indent="-171450">
              <a:buFont typeface="Arial" panose="020B0604020202020204" pitchFamily="34" charset="0"/>
              <a:buChar char="•"/>
              <a:defRPr/>
            </a:pPr>
            <a:r>
              <a:rPr lang="en-US" dirty="0"/>
              <a:t>Unrelated hobbies</a:t>
            </a:r>
          </a:p>
          <a:p>
            <a:pPr marL="171450" indent="-171450">
              <a:buFont typeface="Arial" panose="020B0604020202020204" pitchFamily="34" charset="0"/>
              <a:buChar char="•"/>
              <a:defRPr/>
            </a:pPr>
            <a:r>
              <a:rPr lang="en-US" dirty="0"/>
              <a:t>Obsolete skills</a:t>
            </a:r>
          </a:p>
          <a:p>
            <a:pPr marL="171450" indent="-171450">
              <a:buFont typeface="Arial" panose="020B0604020202020204" pitchFamily="34" charset="0"/>
              <a:buChar char="•"/>
              <a:defRPr/>
            </a:pPr>
            <a:r>
              <a:rPr lang="en-US" dirty="0"/>
              <a:t>Leave out references, only provide them when requested.</a:t>
            </a:r>
          </a:p>
          <a:p>
            <a:pPr marL="171450" indent="-171450">
              <a:buFont typeface="Arial" panose="020B0604020202020204" pitchFamily="34" charset="0"/>
              <a:buChar char="•"/>
              <a:defRPr/>
            </a:pPr>
            <a:r>
              <a:rPr lang="en-US" dirty="0"/>
              <a:t>Salary history</a:t>
            </a:r>
          </a:p>
          <a:p>
            <a:pPr marL="171450" indent="-171450">
              <a:buFont typeface="Arial" panose="020B0604020202020204" pitchFamily="34" charset="0"/>
              <a:buChar char="•"/>
              <a:defRPr/>
            </a:pPr>
            <a:r>
              <a:rPr lang="en-US" dirty="0"/>
              <a:t>Negative words</a:t>
            </a:r>
          </a:p>
          <a:p>
            <a:pPr marL="171450" indent="-171450">
              <a:buFont typeface="Arial" panose="020B0604020202020204" pitchFamily="34" charset="0"/>
              <a:buChar char="•"/>
              <a:defRPr/>
            </a:pPr>
            <a:r>
              <a:rPr lang="en-US"/>
              <a:t>Personal pronouns</a:t>
            </a:r>
          </a:p>
          <a:p>
            <a:pPr marL="171450" indent="-171450">
              <a:buFont typeface="Arial" panose="020B0604020202020204" pitchFamily="34" charset="0"/>
              <a:buChar char="•"/>
              <a:defRPr/>
            </a:pPr>
            <a:r>
              <a:rPr lang="en-US"/>
              <a:t>Statements </a:t>
            </a:r>
            <a:r>
              <a:rPr lang="en-US" dirty="0"/>
              <a:t>about your health</a:t>
            </a:r>
          </a:p>
          <a:p>
            <a:pPr marL="171450" indent="-171450">
              <a:buFont typeface="Arial" panose="020B0604020202020204" pitchFamily="34" charset="0"/>
              <a:buChar char="•"/>
              <a:defRPr/>
            </a:pPr>
            <a:r>
              <a:rPr lang="en-US" dirty="0"/>
              <a:t>Street address for schools and employers</a:t>
            </a:r>
          </a:p>
          <a:p>
            <a:pPr marL="171450" indent="-171450">
              <a:buFont typeface="Arial" panose="020B0604020202020204" pitchFamily="34" charset="0"/>
              <a:buChar char="•"/>
              <a:defRPr/>
            </a:pPr>
            <a:r>
              <a:rPr lang="en-US" dirty="0"/>
              <a:t>Spelling and grammatical errors</a:t>
            </a:r>
          </a:p>
          <a:p>
            <a:pPr marL="171450" indent="-171450">
              <a:buFont typeface="Arial" panose="020B0604020202020204" pitchFamily="34" charset="0"/>
              <a:buChar char="•"/>
              <a:defRPr/>
            </a:pPr>
            <a:r>
              <a:rPr lang="en-US" dirty="0"/>
              <a:t>Exaggerations or mistruths</a:t>
            </a:r>
          </a:p>
          <a:p>
            <a:pPr marL="171450" indent="-171450">
              <a:buFont typeface="Arial" panose="020B0604020202020204" pitchFamily="34" charset="0"/>
              <a:buChar char="•"/>
              <a:defRPr/>
            </a:pPr>
            <a:r>
              <a:rPr lang="en-US" dirty="0"/>
              <a:t>Anything negative about yourself or an employer</a:t>
            </a:r>
          </a:p>
          <a:p>
            <a:pPr>
              <a:defRPr/>
            </a:pPr>
            <a:endParaRPr lang="en-US" dirty="0"/>
          </a:p>
        </p:txBody>
      </p:sp>
      <p:sp>
        <p:nvSpPr>
          <p:cNvPr id="31747" name="Slide Number Placeholder 3">
            <a:extLst>
              <a:ext uri="{FF2B5EF4-FFF2-40B4-BE49-F238E27FC236}">
                <a16:creationId xmlns:a16="http://schemas.microsoft.com/office/drawing/2014/main" id="{ED1E68D3-96EF-C84F-017D-1E1BC255AE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6D66C6-FCE2-8F48-BA18-6AC1D1A496CE}" type="slidenum">
              <a:rPr lang="en-CA" altLang="en-US"/>
              <a:pPr/>
              <a:t>14</a:t>
            </a:fld>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E73FE43-62D7-C9C7-C427-0BB6827524D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87239166-5788-034F-A28F-85642193DD4C}"/>
              </a:ext>
            </a:extLst>
          </p:cNvPr>
          <p:cNvSpPr>
            <a:spLocks noGrp="1" noChangeArrowheads="1"/>
          </p:cNvSpPr>
          <p:nvPr>
            <p:ph type="body" idx="1"/>
          </p:nvPr>
        </p:nvSpPr>
        <p:spPr bwMode="auto"/>
        <p:txBody>
          <a:bodyPr wrap="square" numCol="1" anchor="t" anchorCtr="0" compatLnSpc="1">
            <a:prstTxWarp prst="textNoShape">
              <a:avLst/>
            </a:prstTxWarp>
          </a:bodyPr>
          <a:lstStyle/>
          <a:p>
            <a:pPr marL="174708" indent="-174708">
              <a:buFont typeface="Arial" panose="020B0604020202020204" pitchFamily="34" charset="0"/>
              <a:buChar char="•"/>
              <a:defRPr/>
            </a:pPr>
            <a:r>
              <a:rPr lang="en-US" b="1" dirty="0"/>
              <a:t>Name:  Your name should be in bold and font size 14 to 18</a:t>
            </a:r>
            <a:r>
              <a:rPr lang="en-US" dirty="0"/>
              <a:t> </a:t>
            </a:r>
            <a:endParaRPr lang="en-CA" dirty="0"/>
          </a:p>
          <a:p>
            <a:pPr marL="174708" indent="-174708">
              <a:buFont typeface="Arial" panose="020B0604020202020204" pitchFamily="34" charset="0"/>
              <a:buChar char="•"/>
              <a:defRPr/>
            </a:pPr>
            <a:r>
              <a:rPr lang="en-US" dirty="0"/>
              <a:t>Address:  Same size font as the resume, font size 10-12</a:t>
            </a:r>
          </a:p>
          <a:p>
            <a:pPr marL="174708" indent="-174708">
              <a:buFont typeface="Arial" panose="020B0604020202020204" pitchFamily="34" charset="0"/>
              <a:buChar char="•"/>
              <a:defRPr/>
            </a:pPr>
            <a:r>
              <a:rPr lang="en-US"/>
              <a:t>Only quantify </a:t>
            </a:r>
            <a:r>
              <a:rPr lang="en-US" dirty="0"/>
              <a:t>it accurate and true and you can explain how you quantified </a:t>
            </a:r>
          </a:p>
          <a:p>
            <a:pPr>
              <a:defRPr/>
            </a:pPr>
            <a:endParaRPr lang="en-US" altLang="en-US" dirty="0"/>
          </a:p>
        </p:txBody>
      </p:sp>
      <p:sp>
        <p:nvSpPr>
          <p:cNvPr id="33795" name="Slide Number Placeholder 3">
            <a:extLst>
              <a:ext uri="{FF2B5EF4-FFF2-40B4-BE49-F238E27FC236}">
                <a16:creationId xmlns:a16="http://schemas.microsoft.com/office/drawing/2014/main" id="{20FB669E-47FB-1C85-A6C0-51CC72BD61F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075541-6139-1140-81E6-A0A492D100EE}" type="slidenum">
              <a:rPr lang="en-CA" altLang="en-US"/>
              <a:pPr/>
              <a:t>15</a:t>
            </a:fld>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5218B2-A8C7-601F-8BB9-69285501EA1F}"/>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F0A6057-18C1-CBB9-56A4-C875BF5136E0}"/>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10">
            <a:extLst>
              <a:ext uri="{FF2B5EF4-FFF2-40B4-BE49-F238E27FC236}">
                <a16:creationId xmlns:a16="http://schemas.microsoft.com/office/drawing/2014/main" id="{FF117B6A-8929-9A51-9961-1C5DA386406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a:extLst>
              <a:ext uri="{FF2B5EF4-FFF2-40B4-BE49-F238E27FC236}">
                <a16:creationId xmlns:a16="http://schemas.microsoft.com/office/drawing/2014/main" id="{891310A9-D614-25D4-37EE-41002BD7634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1955800" y="517525"/>
            <a:ext cx="7188200" cy="431800"/>
          </a:xfrm>
        </p:spPr>
        <p:txBody>
          <a:bodyPr/>
          <a:lstStyle>
            <a:lvl1pPr>
              <a:defRPr/>
            </a:lvl1pPr>
          </a:lstStyle>
          <a:p>
            <a:pPr lvl="0"/>
            <a:r>
              <a:rPr lang="en-CA" altLang="en-US" noProof="0"/>
              <a:t>Click to edit Master title style</a:t>
            </a:r>
          </a:p>
        </p:txBody>
      </p:sp>
      <p:sp>
        <p:nvSpPr>
          <p:cNvPr id="3076" name="Rectangle 4"/>
          <p:cNvSpPr>
            <a:spLocks noGrp="1" noChangeArrowheads="1"/>
          </p:cNvSpPr>
          <p:nvPr>
            <p:ph type="subTitle" idx="1"/>
          </p:nvPr>
        </p:nvSpPr>
        <p:spPr>
          <a:xfrm>
            <a:off x="838200" y="2408238"/>
            <a:ext cx="7467600" cy="1752600"/>
          </a:xfrm>
        </p:spPr>
        <p:txBody>
          <a:bodyPr/>
          <a:lstStyle>
            <a:lvl1pPr marL="0" indent="0" algn="ctr">
              <a:buFont typeface="Wingdings" pitchFamily="2" charset="2"/>
              <a:buNone/>
              <a:defRPr sz="4400" b="1"/>
            </a:lvl1pPr>
          </a:lstStyle>
          <a:p>
            <a:pPr lvl="0"/>
            <a:r>
              <a:rPr lang="en-CA" altLang="en-US" noProof="0"/>
              <a:t>Place Header Here</a:t>
            </a:r>
            <a:br>
              <a:rPr lang="en-CA" altLang="en-US" noProof="0"/>
            </a:br>
            <a:r>
              <a:rPr lang="en-CA" altLang="en-US" noProof="0"/>
              <a:t>Place Text Here</a:t>
            </a:r>
          </a:p>
        </p:txBody>
      </p:sp>
    </p:spTree>
    <p:extLst>
      <p:ext uri="{BB962C8B-B14F-4D97-AF65-F5344CB8AC3E}">
        <p14:creationId xmlns:p14="http://schemas.microsoft.com/office/powerpoint/2010/main" val="1625650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344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4987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41937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36718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622232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89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976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51311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6950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8788" y="381000"/>
            <a:ext cx="2116137" cy="5745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81000"/>
            <a:ext cx="6199188"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58894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930400" y="381000"/>
            <a:ext cx="6994525" cy="633413"/>
          </a:xfrm>
        </p:spPr>
        <p:txBody>
          <a:bodyPr/>
          <a:lstStyle/>
          <a:p>
            <a:r>
              <a:rPr lang="en-US"/>
              <a:t>Click to edit Master title style</a:t>
            </a:r>
            <a:endParaRPr lang="en-CA"/>
          </a:p>
        </p:txBody>
      </p:sp>
      <p:sp>
        <p:nvSpPr>
          <p:cNvPr id="3" name="SmartArt Placeholder 2"/>
          <p:cNvSpPr>
            <a:spLocks noGrp="1"/>
          </p:cNvSpPr>
          <p:nvPr>
            <p:ph type="dgm" idx="1"/>
          </p:nvPr>
        </p:nvSpPr>
        <p:spPr>
          <a:xfrm>
            <a:off x="457200" y="1600200"/>
            <a:ext cx="8229600" cy="4525963"/>
          </a:xfrm>
        </p:spPr>
        <p:txBody>
          <a:bodyPr/>
          <a:lstStyle/>
          <a:p>
            <a:pPr lvl="0"/>
            <a:endParaRPr lang="en-CA" noProof="0" dirty="0"/>
          </a:p>
        </p:txBody>
      </p:sp>
    </p:spTree>
    <p:extLst>
      <p:ext uri="{BB962C8B-B14F-4D97-AF65-F5344CB8AC3E}">
        <p14:creationId xmlns:p14="http://schemas.microsoft.com/office/powerpoint/2010/main" val="3694710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AC3E0F7-8600-9743-A0F8-75EFC6BD2C21}"/>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9DA4395-BE72-5C48-A370-3B405EDDDF1F}"/>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1028" name="Picture 6">
            <a:extLst>
              <a:ext uri="{FF2B5EF4-FFF2-40B4-BE49-F238E27FC236}">
                <a16:creationId xmlns:a16="http://schemas.microsoft.com/office/drawing/2014/main" id="{BA56AE50-61BD-745A-A0F1-166DFE2398A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7">
            <a:extLst>
              <a:ext uri="{FF2B5EF4-FFF2-40B4-BE49-F238E27FC236}">
                <a16:creationId xmlns:a16="http://schemas.microsoft.com/office/drawing/2014/main" id="{0F611A6F-1393-0295-2AC9-8FC09EE9A6B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2">
            <a:extLst>
              <a:ext uri="{FF2B5EF4-FFF2-40B4-BE49-F238E27FC236}">
                <a16:creationId xmlns:a16="http://schemas.microsoft.com/office/drawing/2014/main" id="{DC9F9EF1-BFD8-9EAA-8200-9595CA0EF00D}"/>
              </a:ext>
            </a:extLst>
          </p:cNvPr>
          <p:cNvSpPr>
            <a:spLocks noGrp="1" noChangeArrowheads="1"/>
          </p:cNvSpPr>
          <p:nvPr>
            <p:ph type="title"/>
          </p:nvPr>
        </p:nvSpPr>
        <p:spPr bwMode="white">
          <a:xfrm>
            <a:off x="1930400" y="381000"/>
            <a:ext cx="69945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CA" altLang="en-US"/>
              <a:t>Click to edit Master title style</a:t>
            </a:r>
          </a:p>
        </p:txBody>
      </p:sp>
      <p:sp>
        <p:nvSpPr>
          <p:cNvPr id="1031" name="Rectangle 3">
            <a:extLst>
              <a:ext uri="{FF2B5EF4-FFF2-40B4-BE49-F238E27FC236}">
                <a16:creationId xmlns:a16="http://schemas.microsoft.com/office/drawing/2014/main" id="{3150F77E-C7B0-76B5-1B27-23571CBD24B7}"/>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Tree>
  </p:cSld>
  <p:clrMap bg1="lt1" tx1="dk1" bg2="lt2" tx2="dk2" accent1="accent1" accent2="accent2" accent3="accent3" accent4="accent4" accent5="accent5" accent6="accent6" hlink="hlink" folHlink="folHlink"/>
  <p:sldLayoutIdLst>
    <p:sldLayoutId id="2147483790"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charset="0"/>
        </a:defRPr>
      </a:lvl2pPr>
      <a:lvl3pPr algn="l" rtl="0" eaLnBrk="0" fontAlgn="base" hangingPunct="0">
        <a:spcBef>
          <a:spcPct val="0"/>
        </a:spcBef>
        <a:spcAft>
          <a:spcPct val="0"/>
        </a:spcAft>
        <a:defRPr sz="3600" b="1">
          <a:solidFill>
            <a:schemeClr val="tx2"/>
          </a:solidFill>
          <a:latin typeface="Arial" charset="0"/>
        </a:defRPr>
      </a:lvl3pPr>
      <a:lvl4pPr algn="l" rtl="0" eaLnBrk="0" fontAlgn="base" hangingPunct="0">
        <a:spcBef>
          <a:spcPct val="0"/>
        </a:spcBef>
        <a:spcAft>
          <a:spcPct val="0"/>
        </a:spcAft>
        <a:defRPr sz="3600" b="1">
          <a:solidFill>
            <a:schemeClr val="tx2"/>
          </a:solidFill>
          <a:latin typeface="Arial" charset="0"/>
        </a:defRPr>
      </a:lvl4pPr>
      <a:lvl5pPr algn="l" rtl="0" eaLnBrk="0" fontAlgn="base" hangingPunct="0">
        <a:spcBef>
          <a:spcPct val="0"/>
        </a:spcBef>
        <a:spcAft>
          <a:spcPct val="0"/>
        </a:spcAft>
        <a:defRPr sz="3600" b="1">
          <a:solidFill>
            <a:schemeClr val="tx2"/>
          </a:solidFill>
          <a:latin typeface="Arial" charset="0"/>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5000"/>
        </a:spcBef>
        <a:spcAft>
          <a:spcPct val="25000"/>
        </a:spcAft>
        <a:buClr>
          <a:srgbClr val="005AA6"/>
        </a:buClr>
        <a:buFont typeface="Wingdings" pitchFamily="2" charset="2"/>
        <a:buChar char="§"/>
        <a:defRPr sz="2800">
          <a:solidFill>
            <a:srgbClr val="4D4D4D"/>
          </a:solidFill>
          <a:latin typeface="+mn-lt"/>
          <a:ea typeface="+mn-ea"/>
          <a:cs typeface="+mn-cs"/>
        </a:defRPr>
      </a:lvl1pPr>
      <a:lvl2pPr marL="742950" indent="-285750" algn="l" rtl="0" eaLnBrk="0" fontAlgn="base" hangingPunct="0">
        <a:spcBef>
          <a:spcPct val="25000"/>
        </a:spcBef>
        <a:spcAft>
          <a:spcPct val="25000"/>
        </a:spcAft>
        <a:buClr>
          <a:srgbClr val="005AA6"/>
        </a:buClr>
        <a:buChar char="–"/>
        <a:defRPr sz="2400">
          <a:solidFill>
            <a:srgbClr val="4D4D4D"/>
          </a:solidFill>
          <a:latin typeface="+mn-lt"/>
        </a:defRPr>
      </a:lvl2pPr>
      <a:lvl3pPr marL="1143000" indent="-228600" algn="l" rtl="0" eaLnBrk="0" fontAlgn="base" hangingPunct="0">
        <a:spcBef>
          <a:spcPct val="25000"/>
        </a:spcBef>
        <a:spcAft>
          <a:spcPct val="25000"/>
        </a:spcAft>
        <a:buClr>
          <a:srgbClr val="005AA6"/>
        </a:buClr>
        <a:buChar char="•"/>
        <a:defRPr sz="2000">
          <a:solidFill>
            <a:srgbClr val="4D4D4D"/>
          </a:solidFill>
          <a:latin typeface="+mn-lt"/>
        </a:defRPr>
      </a:lvl3pPr>
      <a:lvl4pPr marL="1600200" indent="-228600" algn="l" rtl="0" eaLnBrk="0" fontAlgn="base" hangingPunct="0">
        <a:spcBef>
          <a:spcPct val="25000"/>
        </a:spcBef>
        <a:spcAft>
          <a:spcPct val="25000"/>
        </a:spcAft>
        <a:buClr>
          <a:srgbClr val="005AA6"/>
        </a:buClr>
        <a:buChar char="–"/>
        <a:defRPr>
          <a:solidFill>
            <a:srgbClr val="4D4D4D"/>
          </a:solidFill>
          <a:latin typeface="+mn-lt"/>
        </a:defRPr>
      </a:lvl4pPr>
      <a:lvl5pPr marL="2057400" indent="-228600" algn="l" rtl="0" eaLnBrk="0" fontAlgn="base" hangingPunct="0">
        <a:spcBef>
          <a:spcPct val="25000"/>
        </a:spcBef>
        <a:spcAft>
          <a:spcPct val="25000"/>
        </a:spcAft>
        <a:buClr>
          <a:srgbClr val="005AA6"/>
        </a:buClr>
        <a:buChar char="»"/>
        <a:defRPr>
          <a:solidFill>
            <a:srgbClr val="4D4D4D"/>
          </a:solidFill>
          <a:latin typeface="+mn-lt"/>
        </a:defRPr>
      </a:lvl5pPr>
      <a:lvl6pPr marL="2514600" indent="-228600" algn="l" rtl="0" fontAlgn="base">
        <a:spcBef>
          <a:spcPct val="25000"/>
        </a:spcBef>
        <a:spcAft>
          <a:spcPct val="25000"/>
        </a:spcAft>
        <a:buClr>
          <a:srgbClr val="005AA6"/>
        </a:buClr>
        <a:buChar char="»"/>
        <a:defRPr>
          <a:solidFill>
            <a:srgbClr val="4D4D4D"/>
          </a:solidFill>
          <a:latin typeface="+mn-lt"/>
        </a:defRPr>
      </a:lvl6pPr>
      <a:lvl7pPr marL="2971800" indent="-228600" algn="l" rtl="0" fontAlgn="base">
        <a:spcBef>
          <a:spcPct val="25000"/>
        </a:spcBef>
        <a:spcAft>
          <a:spcPct val="25000"/>
        </a:spcAft>
        <a:buClr>
          <a:srgbClr val="005AA6"/>
        </a:buClr>
        <a:buChar char="»"/>
        <a:defRPr>
          <a:solidFill>
            <a:srgbClr val="4D4D4D"/>
          </a:solidFill>
          <a:latin typeface="+mn-lt"/>
        </a:defRPr>
      </a:lvl7pPr>
      <a:lvl8pPr marL="3429000" indent="-228600" algn="l" rtl="0" fontAlgn="base">
        <a:spcBef>
          <a:spcPct val="25000"/>
        </a:spcBef>
        <a:spcAft>
          <a:spcPct val="25000"/>
        </a:spcAft>
        <a:buClr>
          <a:srgbClr val="005AA6"/>
        </a:buClr>
        <a:buChar char="»"/>
        <a:defRPr>
          <a:solidFill>
            <a:srgbClr val="4D4D4D"/>
          </a:solidFill>
          <a:latin typeface="+mn-lt"/>
        </a:defRPr>
      </a:lvl8pPr>
      <a:lvl9pPr marL="3886200" indent="-228600" algn="l" rtl="0" fontAlgn="base">
        <a:spcBef>
          <a:spcPct val="25000"/>
        </a:spcBef>
        <a:spcAft>
          <a:spcPct val="25000"/>
        </a:spcAft>
        <a:buClr>
          <a:srgbClr val="005AA6"/>
        </a:buClr>
        <a:buChar char="»"/>
        <a:defRPr>
          <a:solidFill>
            <a:srgbClr val="4D4D4D"/>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name.name@email.co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1">
            <a:extLst>
              <a:ext uri="{FF2B5EF4-FFF2-40B4-BE49-F238E27FC236}">
                <a16:creationId xmlns:a16="http://schemas.microsoft.com/office/drawing/2014/main" id="{D878AD8C-26A6-36AB-F2D4-925DF46AA269}"/>
              </a:ext>
            </a:extLst>
          </p:cNvPr>
          <p:cNvSpPr>
            <a:spLocks noGrp="1" noChangeArrowheads="1"/>
          </p:cNvSpPr>
          <p:nvPr>
            <p:ph type="subTitle" idx="1"/>
          </p:nvPr>
        </p:nvSpPr>
        <p:spPr/>
        <p:txBody>
          <a:bodyPr/>
          <a:lstStyle/>
          <a:p>
            <a:pPr eaLnBrk="1" hangingPunct="1"/>
            <a:endParaRPr lang="en-US" altLang="en-US"/>
          </a:p>
          <a:p>
            <a:pPr eaLnBrk="1" hangingPunct="1"/>
            <a:r>
              <a:rPr lang="en-US" altLang="en-US"/>
              <a:t>Resume Preparation</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B003DB78-34E8-67A5-F737-DC9C5B5C77C6}"/>
              </a:ext>
            </a:extLst>
          </p:cNvPr>
          <p:cNvSpPr>
            <a:spLocks noGrp="1" noChangeArrowheads="1"/>
          </p:cNvSpPr>
          <p:nvPr>
            <p:ph type="body" idx="1"/>
          </p:nvPr>
        </p:nvSpPr>
        <p:spPr/>
        <p:txBody>
          <a:bodyPr/>
          <a:lstStyle/>
          <a:p>
            <a:pPr marL="0" indent="0" eaLnBrk="1" hangingPunct="1">
              <a:buFont typeface="Wingdings" pitchFamily="2" charset="2"/>
              <a:buNone/>
            </a:pPr>
            <a:endParaRPr lang="en-CA" altLang="en-US"/>
          </a:p>
          <a:p>
            <a:pPr marL="0" indent="0" eaLnBrk="1" hangingPunct="1">
              <a:buFont typeface="Wingdings" pitchFamily="2" charset="2"/>
              <a:buNone/>
            </a:pPr>
            <a:endParaRPr lang="en-CA" altLang="en-US"/>
          </a:p>
          <a:p>
            <a:pPr marL="0" indent="0" algn="ctr" eaLnBrk="1" hangingPunct="1">
              <a:buFont typeface="Wingdings" pitchFamily="2" charset="2"/>
              <a:buNone/>
            </a:pPr>
            <a:r>
              <a:rPr lang="en-CA" altLang="en-US">
                <a:solidFill>
                  <a:srgbClr val="002060"/>
                </a:solidFill>
              </a:rPr>
              <a:t>What is the purpose of the Resume?</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5">
            <a:extLst>
              <a:ext uri="{FF2B5EF4-FFF2-40B4-BE49-F238E27FC236}">
                <a16:creationId xmlns:a16="http://schemas.microsoft.com/office/drawing/2014/main" id="{C6BC707B-AE51-5D70-2876-833253C53F4A}"/>
              </a:ext>
            </a:extLst>
          </p:cNvPr>
          <p:cNvSpPr>
            <a:spLocks noGrp="1" noChangeArrowheads="1"/>
          </p:cNvSpPr>
          <p:nvPr>
            <p:ph type="body" idx="1"/>
          </p:nvPr>
        </p:nvSpPr>
        <p:spPr/>
        <p:txBody>
          <a:bodyPr/>
          <a:lstStyle/>
          <a:p>
            <a:pPr marL="0" indent="0" algn="ctr" eaLnBrk="1" hangingPunct="1">
              <a:buFont typeface="Wingdings" pitchFamily="2" charset="2"/>
              <a:buNone/>
            </a:pPr>
            <a:endParaRPr lang="en-CA" altLang="en-US">
              <a:solidFill>
                <a:srgbClr val="002060"/>
              </a:solidFill>
            </a:endParaRPr>
          </a:p>
          <a:p>
            <a:pPr marL="0" indent="0" algn="ctr" eaLnBrk="1" hangingPunct="1">
              <a:buFont typeface="Wingdings" pitchFamily="2" charset="2"/>
              <a:buNone/>
            </a:pPr>
            <a:endParaRPr lang="en-CA" altLang="en-US">
              <a:solidFill>
                <a:srgbClr val="002060"/>
              </a:solidFill>
            </a:endParaRPr>
          </a:p>
          <a:p>
            <a:pPr marL="0" indent="0" algn="ctr" eaLnBrk="1" hangingPunct="1">
              <a:buFont typeface="Wingdings" pitchFamily="2" charset="2"/>
              <a:buNone/>
            </a:pPr>
            <a:r>
              <a:rPr lang="en-CA" altLang="en-US">
                <a:solidFill>
                  <a:srgbClr val="002060"/>
                </a:solidFill>
              </a:rPr>
              <a:t>How long does it take an employer to scan your Resume?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5">
            <a:extLst>
              <a:ext uri="{FF2B5EF4-FFF2-40B4-BE49-F238E27FC236}">
                <a16:creationId xmlns:a16="http://schemas.microsoft.com/office/drawing/2014/main" id="{888F83E3-3827-FB13-5320-83FB30B4DACF}"/>
              </a:ext>
            </a:extLst>
          </p:cNvPr>
          <p:cNvSpPr>
            <a:spLocks noGrp="1" noChangeArrowheads="1"/>
          </p:cNvSpPr>
          <p:nvPr>
            <p:ph type="body" idx="1"/>
          </p:nvPr>
        </p:nvSpPr>
        <p:spPr/>
        <p:txBody>
          <a:bodyPr/>
          <a:lstStyle/>
          <a:p>
            <a:pPr marL="0" indent="0" algn="ctr" eaLnBrk="1" hangingPunct="1">
              <a:buFont typeface="Wingdings" pitchFamily="2" charset="2"/>
              <a:buNone/>
            </a:pPr>
            <a:endParaRPr lang="en-CA" altLang="en-US">
              <a:solidFill>
                <a:srgbClr val="002060"/>
              </a:solidFill>
            </a:endParaRPr>
          </a:p>
          <a:p>
            <a:pPr marL="0" indent="0" algn="ctr" eaLnBrk="1" hangingPunct="1">
              <a:buFont typeface="Wingdings" pitchFamily="2" charset="2"/>
              <a:buNone/>
            </a:pPr>
            <a:endParaRPr lang="en-CA" altLang="en-US">
              <a:solidFill>
                <a:srgbClr val="002060"/>
              </a:solidFill>
            </a:endParaRPr>
          </a:p>
          <a:p>
            <a:pPr marL="0" indent="0" algn="ctr" eaLnBrk="1" hangingPunct="1">
              <a:buFont typeface="Wingdings" pitchFamily="2" charset="2"/>
              <a:buNone/>
            </a:pPr>
            <a:r>
              <a:rPr lang="en-CA" altLang="en-US">
                <a:solidFill>
                  <a:srgbClr val="002060"/>
                </a:solidFill>
              </a:rPr>
              <a:t>What should you include in your Resume?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5">
            <a:extLst>
              <a:ext uri="{FF2B5EF4-FFF2-40B4-BE49-F238E27FC236}">
                <a16:creationId xmlns:a16="http://schemas.microsoft.com/office/drawing/2014/main" id="{CD4DE598-0279-2518-938C-153E6FD0CE97}"/>
              </a:ext>
            </a:extLst>
          </p:cNvPr>
          <p:cNvSpPr>
            <a:spLocks noGrp="1" noChangeArrowheads="1"/>
          </p:cNvSpPr>
          <p:nvPr>
            <p:ph type="body" idx="1"/>
          </p:nvPr>
        </p:nvSpPr>
        <p:spPr/>
        <p:txBody>
          <a:bodyPr/>
          <a:lstStyle/>
          <a:p>
            <a:pPr marL="0" indent="0" eaLnBrk="1" hangingPunct="1">
              <a:buFont typeface="Wingdings" pitchFamily="2" charset="2"/>
              <a:buNone/>
            </a:pPr>
            <a:endParaRPr lang="en-CA" altLang="en-US" sz="2000" b="1" dirty="0">
              <a:cs typeface="Arial" panose="020B0604020202020204" pitchFamily="34" charset="0"/>
            </a:endParaRPr>
          </a:p>
          <a:p>
            <a:pPr lvl="1" eaLnBrk="1" hangingPunct="1">
              <a:buFont typeface="Arial" panose="020B0604020202020204" pitchFamily="34" charset="0"/>
              <a:buChar char="•"/>
            </a:pPr>
            <a:r>
              <a:rPr lang="en-CA" altLang="en-US" sz="2000" dirty="0">
                <a:cs typeface="Arial" panose="020B0604020202020204" pitchFamily="34" charset="0"/>
              </a:rPr>
              <a:t>Name, First and Last </a:t>
            </a:r>
          </a:p>
          <a:p>
            <a:pPr lvl="1" eaLnBrk="1" hangingPunct="1">
              <a:buFont typeface="Arial" panose="020B0604020202020204" pitchFamily="34" charset="0"/>
              <a:buChar char="•"/>
            </a:pPr>
            <a:r>
              <a:rPr lang="en-CA" altLang="en-US" sz="2000" dirty="0">
                <a:cs typeface="Arial" panose="020B0604020202020204" pitchFamily="34" charset="0"/>
              </a:rPr>
              <a:t>Local Address, (Street address optional add City and Province)</a:t>
            </a:r>
          </a:p>
          <a:p>
            <a:pPr lvl="1" eaLnBrk="1" hangingPunct="1">
              <a:buFont typeface="Arial" panose="020B0604020202020204" pitchFamily="34" charset="0"/>
              <a:buChar char="•"/>
            </a:pPr>
            <a:r>
              <a:rPr lang="en-CA" altLang="en-US" sz="2000" dirty="0">
                <a:cs typeface="Arial" panose="020B0604020202020204" pitchFamily="34" charset="0"/>
              </a:rPr>
              <a:t>Phone Number (416) 416-1234</a:t>
            </a:r>
          </a:p>
          <a:p>
            <a:pPr lvl="1" eaLnBrk="1" hangingPunct="1">
              <a:buFont typeface="Arial" panose="020B0604020202020204" pitchFamily="34" charset="0"/>
              <a:buChar char="•"/>
            </a:pPr>
            <a:r>
              <a:rPr lang="en-CA" altLang="en-US" sz="2000" dirty="0">
                <a:cs typeface="Arial" panose="020B0604020202020204" pitchFamily="34" charset="0"/>
              </a:rPr>
              <a:t>E-mail (use your George Brown email address) </a:t>
            </a:r>
            <a:r>
              <a:rPr lang="en-CA" altLang="en-US" sz="2000" dirty="0" err="1">
                <a:cs typeface="Arial" panose="020B0604020202020204" pitchFamily="34" charset="0"/>
              </a:rPr>
              <a:t>first.last@georgebrown.ca</a:t>
            </a:r>
            <a:endParaRPr lang="en-CA" altLang="en-US" sz="2000" dirty="0">
              <a:cs typeface="Arial" panose="020B0604020202020204" pitchFamily="34" charset="0"/>
            </a:endParaRPr>
          </a:p>
          <a:p>
            <a:pPr lvl="1" eaLnBrk="1" hangingPunct="1">
              <a:buFont typeface="Arial" panose="020B0604020202020204" pitchFamily="34" charset="0"/>
              <a:buChar char="•"/>
            </a:pPr>
            <a:r>
              <a:rPr lang="en-CA" altLang="en-US" sz="2000" dirty="0">
                <a:cs typeface="Arial" panose="020B0604020202020204" pitchFamily="34" charset="0"/>
              </a:rPr>
              <a:t>Webpage, Digital portfolio</a:t>
            </a:r>
          </a:p>
        </p:txBody>
      </p:sp>
      <p:sp>
        <p:nvSpPr>
          <p:cNvPr id="3" name="TextBox 2">
            <a:extLst>
              <a:ext uri="{FF2B5EF4-FFF2-40B4-BE49-F238E27FC236}">
                <a16:creationId xmlns:a16="http://schemas.microsoft.com/office/drawing/2014/main" id="{E23A89D4-88F4-9121-A686-706F7C11D838}"/>
              </a:ext>
            </a:extLst>
          </p:cNvPr>
          <p:cNvSpPr txBox="1"/>
          <p:nvPr/>
        </p:nvSpPr>
        <p:spPr>
          <a:xfrm>
            <a:off x="1955800" y="558800"/>
            <a:ext cx="4127500" cy="461665"/>
          </a:xfrm>
          <a:prstGeom prst="rect">
            <a:avLst/>
          </a:prstGeom>
          <a:noFill/>
        </p:spPr>
        <p:txBody>
          <a:bodyPr wrap="square" rtlCol="0">
            <a:spAutoFit/>
          </a:bodyPr>
          <a:lstStyle/>
          <a:p>
            <a:r>
              <a:rPr lang="en-US" sz="2400" b="1" dirty="0"/>
              <a:t>Contact Information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5">
            <a:extLst>
              <a:ext uri="{FF2B5EF4-FFF2-40B4-BE49-F238E27FC236}">
                <a16:creationId xmlns:a16="http://schemas.microsoft.com/office/drawing/2014/main" id="{3CC57140-6971-F482-7C57-89E3BFBFAED9}"/>
              </a:ext>
            </a:extLst>
          </p:cNvPr>
          <p:cNvSpPr>
            <a:spLocks noGrp="1" noChangeArrowheads="1"/>
          </p:cNvSpPr>
          <p:nvPr>
            <p:ph type="body" idx="1"/>
          </p:nvPr>
        </p:nvSpPr>
        <p:spPr/>
        <p:txBody>
          <a:bodyPr/>
          <a:lstStyle/>
          <a:p>
            <a:pPr marL="0" indent="0">
              <a:buFont typeface="Wingdings" pitchFamily="2" charset="2"/>
              <a:buNone/>
            </a:pPr>
            <a:r>
              <a:rPr lang="en-CA" altLang="en-US" sz="2000" b="1" u="sng" dirty="0">
                <a:cs typeface="Arial" panose="020B0604020202020204" pitchFamily="34" charset="0"/>
              </a:rPr>
              <a:t>Objective:</a:t>
            </a:r>
          </a:p>
          <a:p>
            <a:pPr marL="0" indent="0">
              <a:buFont typeface="Wingdings" pitchFamily="2" charset="2"/>
              <a:buNone/>
            </a:pPr>
            <a:endParaRPr lang="en-CA" altLang="en-US" sz="2000" b="1" dirty="0">
              <a:cs typeface="Arial" panose="020B0604020202020204" pitchFamily="34" charset="0"/>
            </a:endParaRPr>
          </a:p>
          <a:p>
            <a:pPr lvl="1">
              <a:buFont typeface="Arial" panose="020B0604020202020204" pitchFamily="34" charset="0"/>
              <a:buChar char="•"/>
            </a:pPr>
            <a:r>
              <a:rPr lang="en-CA" altLang="en-US" sz="2000" dirty="0">
                <a:cs typeface="Arial" panose="020B0604020202020204" pitchFamily="34" charset="0"/>
              </a:rPr>
              <a:t>Customize for each job</a:t>
            </a:r>
          </a:p>
          <a:p>
            <a:pPr lvl="1">
              <a:buFont typeface="Arial" panose="020B0604020202020204" pitchFamily="34" charset="0"/>
              <a:buChar char="•"/>
            </a:pPr>
            <a:r>
              <a:rPr lang="en-CA" altLang="en-US" sz="2000" dirty="0">
                <a:cs typeface="Arial" panose="020B0604020202020204" pitchFamily="34" charset="0"/>
              </a:rPr>
              <a:t>Make it clear and concise</a:t>
            </a:r>
          </a:p>
          <a:p>
            <a:pPr lvl="1">
              <a:buFont typeface="Arial" panose="020B0604020202020204" pitchFamily="34" charset="0"/>
              <a:buChar char="•"/>
            </a:pPr>
            <a:r>
              <a:rPr lang="en-CA" altLang="en-US" sz="2000" dirty="0">
                <a:cs typeface="Arial" panose="020B0604020202020204" pitchFamily="34" charset="0"/>
              </a:rPr>
              <a:t>Include position, field and organization in which you wish to work </a:t>
            </a:r>
          </a:p>
        </p:txBody>
      </p:sp>
      <p:sp>
        <p:nvSpPr>
          <p:cNvPr id="2" name="TextBox 1">
            <a:extLst>
              <a:ext uri="{FF2B5EF4-FFF2-40B4-BE49-F238E27FC236}">
                <a16:creationId xmlns:a16="http://schemas.microsoft.com/office/drawing/2014/main" id="{46393EAA-D0A6-5FC2-2FB4-03583297D8F8}"/>
              </a:ext>
            </a:extLst>
          </p:cNvPr>
          <p:cNvSpPr txBox="1"/>
          <p:nvPr/>
        </p:nvSpPr>
        <p:spPr>
          <a:xfrm>
            <a:off x="2044700" y="547171"/>
            <a:ext cx="2095500" cy="461665"/>
          </a:xfrm>
          <a:prstGeom prst="rect">
            <a:avLst/>
          </a:prstGeom>
          <a:noFill/>
        </p:spPr>
        <p:txBody>
          <a:bodyPr wrap="square" rtlCol="0">
            <a:spAutoFit/>
          </a:bodyPr>
          <a:lstStyle/>
          <a:p>
            <a:r>
              <a:rPr lang="en-US" sz="2400" b="1" dirty="0"/>
              <a:t>Objective</a:t>
            </a:r>
            <a:r>
              <a:rPr lang="en-US" sz="2400" dirty="0"/>
              <a:t>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B2E4DA89-32C3-E745-910A-7BF6F377B791}"/>
              </a:ext>
            </a:extLst>
          </p:cNvPr>
          <p:cNvSpPr>
            <a:spLocks noGrp="1" noChangeArrowheads="1"/>
          </p:cNvSpPr>
          <p:nvPr>
            <p:ph type="body" idx="1"/>
          </p:nvPr>
        </p:nvSpPr>
        <p:spPr/>
        <p:txBody>
          <a:bodyPr/>
          <a:lstStyle/>
          <a:p>
            <a:pPr marL="0" indent="0">
              <a:buFont typeface="Wingdings" pitchFamily="2" charset="2"/>
              <a:buNone/>
              <a:defRPr/>
            </a:pPr>
            <a:r>
              <a:rPr lang="en-CA" sz="2000" b="1" u="sng" dirty="0">
                <a:ea typeface="Arial" charset="0"/>
                <a:cs typeface="Arial" charset="0"/>
              </a:rPr>
              <a:t>Highlights of Qualifications:</a:t>
            </a:r>
          </a:p>
          <a:p>
            <a:pPr marL="0" indent="0">
              <a:buFont typeface="Wingdings" pitchFamily="2" charset="2"/>
              <a:buNone/>
              <a:defRPr/>
            </a:pPr>
            <a:r>
              <a:rPr lang="en-CA" sz="2000" b="1" dirty="0">
                <a:ea typeface="Arial" charset="0"/>
                <a:cs typeface="Arial" charset="0"/>
              </a:rPr>
              <a:t>5-7 bullets relating to the job requirements</a:t>
            </a:r>
          </a:p>
          <a:p>
            <a:pPr marL="530352" lvl="1" indent="0">
              <a:buFontTx/>
              <a:buNone/>
              <a:defRPr/>
            </a:pPr>
            <a:endParaRPr lang="en-CA" sz="2000" dirty="0">
              <a:ea typeface="Arial" charset="0"/>
              <a:cs typeface="Arial" charset="0"/>
            </a:endParaRPr>
          </a:p>
          <a:p>
            <a:pPr lvl="1">
              <a:buFont typeface="Arial" panose="020B0604020202020204" pitchFamily="34" charset="0"/>
              <a:buChar char="•"/>
              <a:defRPr/>
            </a:pPr>
            <a:r>
              <a:rPr lang="en-CA" sz="2000" dirty="0">
                <a:ea typeface="Arial" charset="0"/>
                <a:cs typeface="Arial" charset="0"/>
              </a:rPr>
              <a:t>List key achievements customized for each role</a:t>
            </a:r>
          </a:p>
          <a:p>
            <a:pPr lvl="1">
              <a:buFont typeface="Arial" panose="020B0604020202020204" pitchFamily="34" charset="0"/>
              <a:buChar char="•"/>
              <a:defRPr/>
            </a:pPr>
            <a:r>
              <a:rPr lang="en-CA" sz="2000" dirty="0">
                <a:ea typeface="Arial" charset="0"/>
                <a:cs typeface="Arial" charset="0"/>
              </a:rPr>
              <a:t>Technical Skills </a:t>
            </a:r>
          </a:p>
          <a:p>
            <a:pPr lvl="1">
              <a:buFont typeface="Arial" panose="020B0604020202020204" pitchFamily="34" charset="0"/>
              <a:buChar char="•"/>
              <a:defRPr/>
            </a:pPr>
            <a:r>
              <a:rPr lang="en-CA" sz="2000" dirty="0">
                <a:ea typeface="Arial" charset="0"/>
                <a:cs typeface="Arial" charset="0"/>
              </a:rPr>
              <a:t>Transferable Skills</a:t>
            </a:r>
          </a:p>
          <a:p>
            <a:pPr lvl="1">
              <a:buFont typeface="Arial" panose="020B0604020202020204" pitchFamily="34" charset="0"/>
              <a:buChar char="•"/>
              <a:defRPr/>
            </a:pPr>
            <a:r>
              <a:rPr lang="en-CA" sz="2000" dirty="0">
                <a:ea typeface="Arial" charset="0"/>
                <a:cs typeface="Arial" charset="0"/>
              </a:rPr>
              <a:t>Attributes</a:t>
            </a:r>
          </a:p>
          <a:p>
            <a:pPr lvl="1">
              <a:buFont typeface="Arial" panose="020B0604020202020204" pitchFamily="34" charset="0"/>
              <a:buChar char="•"/>
              <a:defRPr/>
            </a:pPr>
            <a:r>
              <a:rPr lang="en-CA" sz="2000" dirty="0">
                <a:ea typeface="Arial" charset="0"/>
                <a:cs typeface="Arial" charset="0"/>
              </a:rPr>
              <a:t>Experience relevant to the position you are applying </a:t>
            </a:r>
          </a:p>
        </p:txBody>
      </p:sp>
      <p:sp>
        <p:nvSpPr>
          <p:cNvPr id="2" name="TextBox 1">
            <a:extLst>
              <a:ext uri="{FF2B5EF4-FFF2-40B4-BE49-F238E27FC236}">
                <a16:creationId xmlns:a16="http://schemas.microsoft.com/office/drawing/2014/main" id="{A685D5E4-12CD-D056-0C3A-55E76724384F}"/>
              </a:ext>
            </a:extLst>
          </p:cNvPr>
          <p:cNvSpPr txBox="1"/>
          <p:nvPr/>
        </p:nvSpPr>
        <p:spPr>
          <a:xfrm flipH="1">
            <a:off x="1943100" y="501004"/>
            <a:ext cx="4254500" cy="461665"/>
          </a:xfrm>
          <a:prstGeom prst="rect">
            <a:avLst/>
          </a:prstGeom>
          <a:noFill/>
        </p:spPr>
        <p:txBody>
          <a:bodyPr wrap="square" rtlCol="0">
            <a:spAutoFit/>
          </a:bodyPr>
          <a:lstStyle/>
          <a:p>
            <a:r>
              <a:rPr lang="en-US" sz="2400" b="1" dirty="0"/>
              <a:t>Highlights of Qualifications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5">
            <a:extLst>
              <a:ext uri="{FF2B5EF4-FFF2-40B4-BE49-F238E27FC236}">
                <a16:creationId xmlns:a16="http://schemas.microsoft.com/office/drawing/2014/main" id="{F5346014-024B-D675-F947-518EFBE595C7}"/>
              </a:ext>
            </a:extLst>
          </p:cNvPr>
          <p:cNvSpPr>
            <a:spLocks noGrp="1" noChangeArrowheads="1"/>
          </p:cNvSpPr>
          <p:nvPr>
            <p:ph type="body" idx="1"/>
          </p:nvPr>
        </p:nvSpPr>
        <p:spPr/>
        <p:txBody>
          <a:bodyPr/>
          <a:lstStyle/>
          <a:p>
            <a:pPr marL="0" indent="0">
              <a:buFont typeface="Wingdings" pitchFamily="2" charset="2"/>
              <a:buNone/>
            </a:pPr>
            <a:r>
              <a:rPr lang="en-CA" altLang="en-US" sz="2000" b="1" u="sng" dirty="0">
                <a:cs typeface="Arial" panose="020B0604020202020204" pitchFamily="34" charset="0"/>
              </a:rPr>
              <a:t>Technical Skills:</a:t>
            </a:r>
          </a:p>
          <a:p>
            <a:pPr marL="0" indent="0">
              <a:buFont typeface="Wingdings" pitchFamily="2" charset="2"/>
              <a:buNone/>
            </a:pPr>
            <a:endParaRPr lang="en-CA" altLang="en-US" sz="2000" b="1" dirty="0">
              <a:cs typeface="Arial" panose="020B0604020202020204" pitchFamily="34" charset="0"/>
            </a:endParaRPr>
          </a:p>
          <a:p>
            <a:pPr lvl="1">
              <a:buFont typeface="Arial" panose="020B0604020202020204" pitchFamily="34" charset="0"/>
              <a:buChar char="•"/>
            </a:pPr>
            <a:r>
              <a:rPr lang="en-CA" altLang="en-US" sz="2000" dirty="0">
                <a:cs typeface="Arial" panose="020B0604020202020204" pitchFamily="34" charset="0"/>
              </a:rPr>
              <a:t>Technical Skills (level of proficiency)</a:t>
            </a:r>
          </a:p>
          <a:p>
            <a:pPr lvl="1">
              <a:buFont typeface="Arial" panose="020B0604020202020204" pitchFamily="34" charset="0"/>
              <a:buChar char="•"/>
            </a:pPr>
            <a:r>
              <a:rPr lang="en-CA" altLang="en-US" sz="2000" dirty="0">
                <a:cs typeface="Arial" panose="020B0604020202020204" pitchFamily="34" charset="0"/>
              </a:rPr>
              <a:t>Programming Languages</a:t>
            </a:r>
          </a:p>
          <a:p>
            <a:pPr marL="457200" lvl="1" indent="0">
              <a:buNone/>
            </a:pPr>
            <a:r>
              <a:rPr lang="en-CA" altLang="en-US" sz="2000" dirty="0">
                <a:cs typeface="Arial" panose="020B0604020202020204" pitchFamily="34" charset="0"/>
              </a:rPr>
              <a:t>If you added any technical skills in the Highlights of Qualifications section, don’t add it here.</a:t>
            </a:r>
          </a:p>
        </p:txBody>
      </p:sp>
      <p:sp>
        <p:nvSpPr>
          <p:cNvPr id="2" name="TextBox 1">
            <a:extLst>
              <a:ext uri="{FF2B5EF4-FFF2-40B4-BE49-F238E27FC236}">
                <a16:creationId xmlns:a16="http://schemas.microsoft.com/office/drawing/2014/main" id="{25E18D7C-6339-5097-B33F-3840C209A83E}"/>
              </a:ext>
            </a:extLst>
          </p:cNvPr>
          <p:cNvSpPr txBox="1"/>
          <p:nvPr/>
        </p:nvSpPr>
        <p:spPr>
          <a:xfrm>
            <a:off x="2019300" y="501004"/>
            <a:ext cx="2552700" cy="461665"/>
          </a:xfrm>
          <a:prstGeom prst="rect">
            <a:avLst/>
          </a:prstGeom>
          <a:noFill/>
        </p:spPr>
        <p:txBody>
          <a:bodyPr wrap="square" rtlCol="0">
            <a:spAutoFit/>
          </a:bodyPr>
          <a:lstStyle/>
          <a:p>
            <a:r>
              <a:rPr lang="en-US" sz="2400" b="1" dirty="0"/>
              <a:t>Technical Skills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F0CC25F0-9935-9045-84DE-1DECE5F4ECD8}"/>
              </a:ext>
            </a:extLst>
          </p:cNvPr>
          <p:cNvSpPr>
            <a:spLocks noGrp="1" noChangeArrowheads="1"/>
          </p:cNvSpPr>
          <p:nvPr>
            <p:ph type="body" idx="1"/>
          </p:nvPr>
        </p:nvSpPr>
        <p:spPr>
          <a:xfrm>
            <a:off x="457200" y="1192213"/>
            <a:ext cx="8229600" cy="5189537"/>
          </a:xfrm>
        </p:spPr>
        <p:txBody>
          <a:bodyPr/>
          <a:lstStyle/>
          <a:p>
            <a:pPr marL="0" indent="0">
              <a:lnSpc>
                <a:spcPct val="90000"/>
              </a:lnSpc>
              <a:buFont typeface="Wingdings" pitchFamily="2" charset="2"/>
              <a:buNone/>
              <a:defRPr/>
            </a:pPr>
            <a:r>
              <a:rPr lang="en-CA" sz="2000" b="1" u="sng" dirty="0">
                <a:ea typeface="Arial" charset="0"/>
                <a:cs typeface="Arial" charset="0"/>
              </a:rPr>
              <a:t>Education/Certifications:</a:t>
            </a:r>
            <a:endParaRPr lang="en-CA" sz="2000" dirty="0">
              <a:ea typeface="Arial" charset="0"/>
              <a:cs typeface="Arial" panose="020B0604020202020204" pitchFamily="34" charset="0"/>
            </a:endParaRPr>
          </a:p>
          <a:p>
            <a:pPr lvl="1">
              <a:lnSpc>
                <a:spcPct val="90000"/>
              </a:lnSpc>
              <a:buFont typeface="Arial" panose="020B0604020202020204" pitchFamily="34" charset="0"/>
              <a:buChar char="•"/>
              <a:defRPr/>
            </a:pPr>
            <a:r>
              <a:rPr lang="en-US" sz="2000" dirty="0">
                <a:cs typeface="Arial" panose="020B0604020202020204" pitchFamily="34" charset="0"/>
              </a:rPr>
              <a:t>List all colleges and universities from which you have earned or will earn a degree, diploma and certificate. Do not abbreviate. Start with your most recent, reverse chronological order. </a:t>
            </a:r>
            <a:endParaRPr lang="en-CA" sz="2000" dirty="0">
              <a:ea typeface="Arial" charset="0"/>
              <a:cs typeface="Arial" panose="020B0604020202020204" pitchFamily="34" charset="0"/>
            </a:endParaRPr>
          </a:p>
          <a:p>
            <a:pPr lvl="1">
              <a:lnSpc>
                <a:spcPct val="90000"/>
              </a:lnSpc>
              <a:buFont typeface="Arial" panose="020B0604020202020204" pitchFamily="34" charset="0"/>
              <a:buChar char="•"/>
              <a:defRPr/>
            </a:pPr>
            <a:r>
              <a:rPr lang="en-CA" sz="2000" dirty="0">
                <a:ea typeface="Arial" charset="0"/>
                <a:cs typeface="Arial" panose="020B0604020202020204" pitchFamily="34" charset="0"/>
              </a:rPr>
              <a:t>Add samples of project work under your GBC Certificate program, related to your objective (team/individual projects) this will show your current experience.  </a:t>
            </a:r>
          </a:p>
          <a:p>
            <a:pPr lvl="1">
              <a:lnSpc>
                <a:spcPct val="90000"/>
              </a:lnSpc>
              <a:buFont typeface="Arial" panose="020B0604020202020204" pitchFamily="34" charset="0"/>
              <a:buChar char="•"/>
              <a:defRPr/>
            </a:pPr>
            <a:r>
              <a:rPr lang="en-CA" sz="2000" dirty="0">
                <a:ea typeface="Arial" charset="0"/>
                <a:cs typeface="Arial" panose="020B0604020202020204" pitchFamily="34" charset="0"/>
              </a:rPr>
              <a:t>Other significant Certifications</a:t>
            </a:r>
          </a:p>
          <a:p>
            <a:pPr marL="0" indent="0">
              <a:buFont typeface="Wingdings" pitchFamily="2" charset="2"/>
              <a:buNone/>
              <a:defRPr/>
            </a:pPr>
            <a:r>
              <a:rPr lang="en-CA" sz="2000" b="1" u="sng" dirty="0">
                <a:ea typeface="Arial" charset="0"/>
                <a:cs typeface="Arial" panose="020B0604020202020204" pitchFamily="34" charset="0"/>
              </a:rPr>
              <a:t>Example:</a:t>
            </a:r>
          </a:p>
          <a:p>
            <a:pPr marL="0" indent="0">
              <a:spcBef>
                <a:spcPts val="0"/>
              </a:spcBef>
              <a:spcAft>
                <a:spcPts val="0"/>
              </a:spcAft>
              <a:buFont typeface="Wingdings" pitchFamily="2" charset="2"/>
              <a:buNone/>
              <a:defRPr/>
            </a:pPr>
            <a:r>
              <a:rPr lang="en-US" sz="1600" b="1" dirty="0">
                <a:cs typeface="Arial" panose="020B0604020202020204" pitchFamily="34" charset="0"/>
              </a:rPr>
              <a:t>Cloud Computing Technologies, Graduate Certificate Program Jan 2024 - Dec 2024</a:t>
            </a:r>
          </a:p>
          <a:p>
            <a:pPr marL="0" indent="0">
              <a:spcBef>
                <a:spcPts val="0"/>
              </a:spcBef>
              <a:spcAft>
                <a:spcPts val="0"/>
              </a:spcAft>
              <a:buFont typeface="Wingdings" pitchFamily="2" charset="2"/>
              <a:buNone/>
              <a:defRPr/>
            </a:pPr>
            <a:r>
              <a:rPr lang="en-US" sz="1600" b="1" dirty="0">
                <a:cs typeface="Arial" panose="020B0604020202020204" pitchFamily="34" charset="0"/>
              </a:rPr>
              <a:t>George Brown College, Toronto, ON	(GPA optional)</a:t>
            </a:r>
            <a:r>
              <a:rPr lang="en-US" sz="2000" b="1" dirty="0">
                <a:cs typeface="Arial" panose="020B0604020202020204" pitchFamily="34" charset="0"/>
              </a:rPr>
              <a:t>			     </a:t>
            </a:r>
            <a:endParaRPr lang="en-CA" sz="2000" dirty="0">
              <a:cs typeface="Arial" panose="020B0604020202020204" pitchFamily="34" charset="0"/>
            </a:endParaRPr>
          </a:p>
          <a:p>
            <a:pPr>
              <a:buFont typeface="Arial" panose="020B0604020202020204" pitchFamily="34" charset="0"/>
              <a:buChar char="•"/>
              <a:defRPr/>
            </a:pPr>
            <a:r>
              <a:rPr lang="en-US" sz="2000" dirty="0">
                <a:cs typeface="Arial" panose="020B0604020202020204" pitchFamily="34" charset="0"/>
              </a:rPr>
              <a:t>Research, Class Projects: Note research or class projects completed in your program</a:t>
            </a:r>
            <a:endParaRPr lang="en-CA" sz="2000" dirty="0">
              <a:ea typeface="Arial" charset="0"/>
              <a:cs typeface="Arial" panose="020B0604020202020204" pitchFamily="34" charset="0"/>
            </a:endParaRPr>
          </a:p>
        </p:txBody>
      </p:sp>
      <p:sp>
        <p:nvSpPr>
          <p:cNvPr id="2" name="TextBox 1">
            <a:extLst>
              <a:ext uri="{FF2B5EF4-FFF2-40B4-BE49-F238E27FC236}">
                <a16:creationId xmlns:a16="http://schemas.microsoft.com/office/drawing/2014/main" id="{DC647C71-48A8-EBF8-34B0-C529C4A1DBAE}"/>
              </a:ext>
            </a:extLst>
          </p:cNvPr>
          <p:cNvSpPr txBox="1"/>
          <p:nvPr/>
        </p:nvSpPr>
        <p:spPr>
          <a:xfrm>
            <a:off x="1816100" y="476250"/>
            <a:ext cx="5905500" cy="461665"/>
          </a:xfrm>
          <a:prstGeom prst="rect">
            <a:avLst/>
          </a:prstGeom>
          <a:noFill/>
        </p:spPr>
        <p:txBody>
          <a:bodyPr wrap="square" rtlCol="0">
            <a:spAutoFit/>
          </a:bodyPr>
          <a:lstStyle/>
          <a:p>
            <a:r>
              <a:rPr lang="en-US" sz="2400" b="1" dirty="0"/>
              <a:t>Education/Certifications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5">
            <a:extLst>
              <a:ext uri="{FF2B5EF4-FFF2-40B4-BE49-F238E27FC236}">
                <a16:creationId xmlns:a16="http://schemas.microsoft.com/office/drawing/2014/main" id="{7172FCAE-D082-A447-9235-B415A0B9A498}"/>
              </a:ext>
            </a:extLst>
          </p:cNvPr>
          <p:cNvSpPr>
            <a:spLocks noGrp="1" noChangeArrowheads="1"/>
          </p:cNvSpPr>
          <p:nvPr>
            <p:ph type="body" idx="1"/>
          </p:nvPr>
        </p:nvSpPr>
        <p:spPr>
          <a:xfrm>
            <a:off x="457200" y="1325563"/>
            <a:ext cx="8351838" cy="5151437"/>
          </a:xfrm>
        </p:spPr>
        <p:txBody>
          <a:bodyPr/>
          <a:lstStyle/>
          <a:p>
            <a:pPr marL="0" indent="0">
              <a:lnSpc>
                <a:spcPct val="90000"/>
              </a:lnSpc>
              <a:buFont typeface="Wingdings" pitchFamily="2" charset="2"/>
              <a:buNone/>
              <a:defRPr/>
            </a:pPr>
            <a:r>
              <a:rPr lang="en-CA" altLang="en-US" sz="2000" b="1" u="sng" dirty="0">
                <a:cs typeface="Arial" panose="020B0604020202020204" pitchFamily="34" charset="0"/>
              </a:rPr>
              <a:t>Professional Experience:</a:t>
            </a:r>
          </a:p>
          <a:p>
            <a:pPr marL="0" indent="0">
              <a:lnSpc>
                <a:spcPct val="90000"/>
              </a:lnSpc>
              <a:buFont typeface="Wingdings" pitchFamily="2" charset="2"/>
              <a:buNone/>
              <a:defRPr/>
            </a:pPr>
            <a:r>
              <a:rPr lang="en-US" altLang="en-US" sz="2000" dirty="0">
                <a:cs typeface="Arial" panose="020B0604020202020204" pitchFamily="34" charset="0"/>
              </a:rPr>
              <a:t>Includes accomplishments as well as job duties and should be listed in reverse chronological order (most recent first)</a:t>
            </a:r>
            <a:r>
              <a:rPr lang="en-CA" altLang="en-US" sz="2000" dirty="0">
                <a:cs typeface="Arial" panose="020B0604020202020204" pitchFamily="34" charset="0"/>
              </a:rPr>
              <a:t> all jobs even if not related</a:t>
            </a:r>
            <a:endParaRPr lang="en-CA" altLang="en-US" sz="2000" b="1" dirty="0">
              <a:cs typeface="Arial" panose="020B0604020202020204" pitchFamily="34" charset="0"/>
            </a:endParaRPr>
          </a:p>
          <a:p>
            <a:pPr lvl="1">
              <a:lnSpc>
                <a:spcPct val="90000"/>
              </a:lnSpc>
              <a:buFont typeface="Arial" panose="020B0604020202020204" pitchFamily="34" charset="0"/>
              <a:buChar char="•"/>
              <a:defRPr/>
            </a:pPr>
            <a:r>
              <a:rPr lang="en-CA" altLang="en-US" sz="2000" dirty="0">
                <a:cs typeface="Arial" panose="020B0604020202020204" pitchFamily="34" charset="0"/>
              </a:rPr>
              <a:t>Employer</a:t>
            </a:r>
          </a:p>
          <a:p>
            <a:pPr lvl="1">
              <a:lnSpc>
                <a:spcPct val="90000"/>
              </a:lnSpc>
              <a:buFont typeface="Arial" panose="020B0604020202020204" pitchFamily="34" charset="0"/>
              <a:buChar char="•"/>
              <a:defRPr/>
            </a:pPr>
            <a:r>
              <a:rPr lang="en-CA" altLang="en-US" sz="2000" dirty="0">
                <a:cs typeface="Arial" panose="020B0604020202020204" pitchFamily="34" charset="0"/>
              </a:rPr>
              <a:t>Length of Employment (years, if less than a year add the months)</a:t>
            </a:r>
          </a:p>
          <a:p>
            <a:pPr lvl="1">
              <a:lnSpc>
                <a:spcPct val="90000"/>
              </a:lnSpc>
              <a:buFont typeface="Arial" panose="020B0604020202020204" pitchFamily="34" charset="0"/>
              <a:buChar char="•"/>
              <a:defRPr/>
            </a:pPr>
            <a:r>
              <a:rPr lang="en-CA" altLang="en-US" sz="2000" dirty="0">
                <a:cs typeface="Arial" panose="020B0604020202020204" pitchFamily="34" charset="0"/>
              </a:rPr>
              <a:t>Position(s)</a:t>
            </a:r>
          </a:p>
          <a:p>
            <a:pPr lvl="1">
              <a:lnSpc>
                <a:spcPct val="90000"/>
              </a:lnSpc>
              <a:buFont typeface="Arial" panose="020B0604020202020204" pitchFamily="34" charset="0"/>
              <a:buChar char="•"/>
              <a:defRPr/>
            </a:pPr>
            <a:r>
              <a:rPr lang="en-CA" altLang="en-US" sz="2000" dirty="0">
                <a:cs typeface="Arial" panose="020B0604020202020204" pitchFamily="34" charset="0"/>
              </a:rPr>
              <a:t>Accomplishments (measurable)</a:t>
            </a:r>
          </a:p>
          <a:p>
            <a:pPr lvl="1">
              <a:lnSpc>
                <a:spcPct val="90000"/>
              </a:lnSpc>
              <a:buFont typeface="Arial" panose="020B0604020202020204" pitchFamily="34" charset="0"/>
              <a:buChar char="•"/>
              <a:defRPr/>
            </a:pPr>
            <a:r>
              <a:rPr lang="en-CA" altLang="en-US" sz="2000" dirty="0">
                <a:cs typeface="Arial" panose="020B0604020202020204" pitchFamily="34" charset="0"/>
              </a:rPr>
              <a:t>Samples of best work (quantify if able)</a:t>
            </a:r>
            <a:endParaRPr lang="en-US" altLang="en-US" sz="2000" b="1" dirty="0">
              <a:cs typeface="Arial" panose="020B0604020202020204" pitchFamily="34" charset="0"/>
            </a:endParaRPr>
          </a:p>
          <a:p>
            <a:pPr marL="0" indent="0">
              <a:buFont typeface="Wingdings" pitchFamily="2" charset="2"/>
              <a:buNone/>
              <a:defRPr/>
            </a:pPr>
            <a:r>
              <a:rPr lang="en-US" altLang="en-US" sz="1600" b="1" u="sng" dirty="0">
                <a:cs typeface="Arial" panose="020B0604020202020204" pitchFamily="34" charset="0"/>
              </a:rPr>
              <a:t>Example:</a:t>
            </a:r>
          </a:p>
          <a:p>
            <a:pPr marL="0" indent="0">
              <a:spcBef>
                <a:spcPts val="0"/>
              </a:spcBef>
              <a:spcAft>
                <a:spcPts val="0"/>
              </a:spcAft>
              <a:buFont typeface="Wingdings" pitchFamily="2" charset="2"/>
              <a:buNone/>
              <a:defRPr/>
            </a:pPr>
            <a:r>
              <a:rPr lang="en-US" altLang="en-US" sz="1600" b="1" dirty="0">
                <a:cs typeface="Arial" panose="020B0604020202020204" pitchFamily="34" charset="0"/>
              </a:rPr>
              <a:t>ABC Company, Toronto ON                               		              May 2017 - Present</a:t>
            </a:r>
          </a:p>
          <a:p>
            <a:pPr marL="0" indent="0">
              <a:spcBef>
                <a:spcPts val="0"/>
              </a:spcBef>
              <a:spcAft>
                <a:spcPts val="0"/>
              </a:spcAft>
              <a:buFont typeface="Wingdings" pitchFamily="2" charset="2"/>
              <a:buNone/>
              <a:defRPr/>
            </a:pPr>
            <a:r>
              <a:rPr lang="en-US" altLang="en-US" sz="1600" b="1" dirty="0">
                <a:cs typeface="Arial" panose="020B0604020202020204" pitchFamily="34" charset="0"/>
              </a:rPr>
              <a:t>Computer Programmer</a:t>
            </a:r>
          </a:p>
          <a:p>
            <a:pPr>
              <a:spcBef>
                <a:spcPts val="0"/>
              </a:spcBef>
              <a:spcAft>
                <a:spcPts val="0"/>
              </a:spcAft>
              <a:defRPr/>
            </a:pPr>
            <a:r>
              <a:rPr lang="en-US" altLang="en-US" sz="1600" b="1" dirty="0">
                <a:cs typeface="Arial" panose="020B0604020202020204" pitchFamily="34" charset="0"/>
              </a:rPr>
              <a:t>………..</a:t>
            </a:r>
          </a:p>
          <a:p>
            <a:pPr>
              <a:spcBef>
                <a:spcPts val="0"/>
              </a:spcBef>
              <a:spcAft>
                <a:spcPts val="0"/>
              </a:spcAft>
              <a:defRPr/>
            </a:pPr>
            <a:r>
              <a:rPr lang="en-US" altLang="en-US" sz="1600" b="1" dirty="0">
                <a:cs typeface="Arial" panose="020B0604020202020204" pitchFamily="34" charset="0"/>
              </a:rPr>
              <a:t>…………</a:t>
            </a:r>
          </a:p>
        </p:txBody>
      </p:sp>
      <p:sp>
        <p:nvSpPr>
          <p:cNvPr id="2" name="TextBox 1">
            <a:extLst>
              <a:ext uri="{FF2B5EF4-FFF2-40B4-BE49-F238E27FC236}">
                <a16:creationId xmlns:a16="http://schemas.microsoft.com/office/drawing/2014/main" id="{E5A973DF-1A6C-4E05-E556-0B351ABF8F0E}"/>
              </a:ext>
            </a:extLst>
          </p:cNvPr>
          <p:cNvSpPr txBox="1"/>
          <p:nvPr/>
        </p:nvSpPr>
        <p:spPr>
          <a:xfrm>
            <a:off x="1968500" y="546100"/>
            <a:ext cx="5384800" cy="461665"/>
          </a:xfrm>
          <a:prstGeom prst="rect">
            <a:avLst/>
          </a:prstGeom>
          <a:noFill/>
        </p:spPr>
        <p:txBody>
          <a:bodyPr wrap="square" rtlCol="0">
            <a:spAutoFit/>
          </a:bodyPr>
          <a:lstStyle/>
          <a:p>
            <a:r>
              <a:rPr lang="en-US" sz="2400" b="1" dirty="0"/>
              <a:t>Professional Experience </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5">
            <a:extLst>
              <a:ext uri="{FF2B5EF4-FFF2-40B4-BE49-F238E27FC236}">
                <a16:creationId xmlns:a16="http://schemas.microsoft.com/office/drawing/2014/main" id="{E1609F23-7474-6219-E76D-79396E6518E9}"/>
              </a:ext>
            </a:extLst>
          </p:cNvPr>
          <p:cNvSpPr>
            <a:spLocks noGrp="1" noChangeArrowheads="1"/>
          </p:cNvSpPr>
          <p:nvPr>
            <p:ph type="body" idx="1"/>
          </p:nvPr>
        </p:nvSpPr>
        <p:spPr/>
        <p:txBody>
          <a:bodyPr/>
          <a:lstStyle/>
          <a:p>
            <a:pPr marL="0" indent="0" eaLnBrk="1" hangingPunct="1">
              <a:buFont typeface="Wingdings" pitchFamily="2" charset="2"/>
              <a:buNone/>
            </a:pPr>
            <a:r>
              <a:rPr lang="en-CA" altLang="en-US" sz="2000" b="1" u="sng" dirty="0">
                <a:cs typeface="Arial" panose="020B0604020202020204" pitchFamily="34" charset="0"/>
              </a:rPr>
              <a:t>Volunteer Experience: (Optional)</a:t>
            </a:r>
          </a:p>
          <a:p>
            <a:pPr marL="0" indent="0" eaLnBrk="1" hangingPunct="1">
              <a:buFont typeface="Wingdings" pitchFamily="2" charset="2"/>
              <a:buNone/>
            </a:pPr>
            <a:endParaRPr lang="en-CA" altLang="en-US" sz="2000" b="1" dirty="0">
              <a:cs typeface="Arial" panose="020B0604020202020204" pitchFamily="34" charset="0"/>
            </a:endParaRPr>
          </a:p>
          <a:p>
            <a:pPr lvl="1" eaLnBrk="1" hangingPunct="1">
              <a:buFont typeface="Arial" panose="020B0604020202020204" pitchFamily="34" charset="0"/>
              <a:buChar char="•"/>
            </a:pPr>
            <a:r>
              <a:rPr lang="en-CA" altLang="en-US" sz="2000" dirty="0">
                <a:cs typeface="Arial" panose="020B0604020202020204" pitchFamily="34" charset="0"/>
              </a:rPr>
              <a:t>Organization</a:t>
            </a:r>
          </a:p>
          <a:p>
            <a:pPr lvl="1" eaLnBrk="1" hangingPunct="1">
              <a:buFont typeface="Arial" panose="020B0604020202020204" pitchFamily="34" charset="0"/>
              <a:buChar char="•"/>
            </a:pPr>
            <a:r>
              <a:rPr lang="en-CA" altLang="en-US" sz="2000" dirty="0">
                <a:cs typeface="Arial" panose="020B0604020202020204" pitchFamily="34" charset="0"/>
              </a:rPr>
              <a:t>Length of Involvement</a:t>
            </a:r>
          </a:p>
          <a:p>
            <a:pPr lvl="1" eaLnBrk="1" hangingPunct="1">
              <a:buFont typeface="Arial" panose="020B0604020202020204" pitchFamily="34" charset="0"/>
              <a:buChar char="•"/>
            </a:pPr>
            <a:r>
              <a:rPr lang="en-CA" altLang="en-US" sz="2000" dirty="0">
                <a:cs typeface="Arial" panose="020B0604020202020204" pitchFamily="34" charset="0"/>
              </a:rPr>
              <a:t>Role</a:t>
            </a:r>
          </a:p>
          <a:p>
            <a:pPr lvl="1" eaLnBrk="1" hangingPunct="1">
              <a:buFont typeface="Arial" panose="020B0604020202020204" pitchFamily="34" charset="0"/>
              <a:buChar char="•"/>
            </a:pPr>
            <a:r>
              <a:rPr lang="en-CA" altLang="en-US" sz="2000" dirty="0">
                <a:cs typeface="Arial" panose="020B0604020202020204" pitchFamily="34" charset="0"/>
              </a:rPr>
              <a:t>Accomplishments</a:t>
            </a:r>
          </a:p>
          <a:p>
            <a:pPr lvl="1" eaLnBrk="1" hangingPunct="1">
              <a:buFont typeface="Arial" panose="020B0604020202020204" pitchFamily="34" charset="0"/>
              <a:buChar char="•"/>
            </a:pPr>
            <a:r>
              <a:rPr lang="en-CA" altLang="en-US" sz="2000" dirty="0">
                <a:cs typeface="Arial" panose="020B0604020202020204" pitchFamily="34" charset="0"/>
              </a:rPr>
              <a:t>Samples of best work</a:t>
            </a:r>
          </a:p>
        </p:txBody>
      </p:sp>
      <p:sp>
        <p:nvSpPr>
          <p:cNvPr id="2" name="TextBox 1">
            <a:extLst>
              <a:ext uri="{FF2B5EF4-FFF2-40B4-BE49-F238E27FC236}">
                <a16:creationId xmlns:a16="http://schemas.microsoft.com/office/drawing/2014/main" id="{D343B5E0-27A3-043A-22B8-50ADFE0301A2}"/>
              </a:ext>
            </a:extLst>
          </p:cNvPr>
          <p:cNvSpPr txBox="1"/>
          <p:nvPr/>
        </p:nvSpPr>
        <p:spPr>
          <a:xfrm>
            <a:off x="1955800" y="558800"/>
            <a:ext cx="4483100" cy="461665"/>
          </a:xfrm>
          <a:prstGeom prst="rect">
            <a:avLst/>
          </a:prstGeom>
          <a:noFill/>
        </p:spPr>
        <p:txBody>
          <a:bodyPr wrap="square" rtlCol="0">
            <a:spAutoFit/>
          </a:bodyPr>
          <a:lstStyle/>
          <a:p>
            <a:r>
              <a:rPr lang="en-US" sz="2400" b="1" dirty="0"/>
              <a:t>Volunteer Experience </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5">
            <a:extLst>
              <a:ext uri="{FF2B5EF4-FFF2-40B4-BE49-F238E27FC236}">
                <a16:creationId xmlns:a16="http://schemas.microsoft.com/office/drawing/2014/main" id="{BC07A537-F86D-CF9E-1569-49CD7EC0FADA}"/>
              </a:ext>
            </a:extLst>
          </p:cNvPr>
          <p:cNvSpPr>
            <a:spLocks noGrp="1" noChangeArrowheads="1"/>
          </p:cNvSpPr>
          <p:nvPr>
            <p:ph type="body" idx="1"/>
          </p:nvPr>
        </p:nvSpPr>
        <p:spPr>
          <a:xfrm>
            <a:off x="390525" y="1152525"/>
            <a:ext cx="8229600" cy="5367338"/>
          </a:xfrm>
        </p:spPr>
        <p:txBody>
          <a:bodyPr/>
          <a:lstStyle/>
          <a:p>
            <a:pPr marL="0" indent="0">
              <a:buFont typeface="Wingdings" pitchFamily="2" charset="2"/>
              <a:buNone/>
            </a:pPr>
            <a:r>
              <a:rPr lang="en-CA" altLang="en-US" sz="2000">
                <a:cs typeface="Arial" panose="020B0604020202020204" pitchFamily="34" charset="0"/>
              </a:rPr>
              <a:t>When including content into your resume, be sure that each point achieves its purpose, and is accomplishment focused.  The syntax below will help:</a:t>
            </a:r>
          </a:p>
          <a:p>
            <a:pPr lvl="1">
              <a:buFont typeface="Arial" panose="020B0604020202020204" pitchFamily="34" charset="0"/>
              <a:buChar char="•"/>
            </a:pPr>
            <a:r>
              <a:rPr lang="en-CA" altLang="en-US" sz="2000" b="1">
                <a:cs typeface="Arial" panose="020B0604020202020204" pitchFamily="34" charset="0"/>
              </a:rPr>
              <a:t>Skill/Verb</a:t>
            </a:r>
            <a:r>
              <a:rPr lang="en-CA" altLang="en-US" sz="2000">
                <a:cs typeface="Arial" panose="020B0604020202020204" pitchFamily="34" charset="0"/>
              </a:rPr>
              <a:t>: what action you took—action verb (e.g., "designed")</a:t>
            </a:r>
          </a:p>
          <a:p>
            <a:pPr lvl="1">
              <a:buFont typeface="Arial" panose="020B0604020202020204" pitchFamily="34" charset="0"/>
              <a:buChar char="•"/>
            </a:pPr>
            <a:r>
              <a:rPr lang="en-CA" altLang="en-US" sz="2000" b="1">
                <a:cs typeface="Arial" panose="020B0604020202020204" pitchFamily="34" charset="0"/>
              </a:rPr>
              <a:t>Task/deliverable</a:t>
            </a:r>
            <a:r>
              <a:rPr lang="en-CA" altLang="en-US" sz="2000">
                <a:cs typeface="Arial" panose="020B0604020202020204" pitchFamily="34" charset="0"/>
              </a:rPr>
              <a:t>: ways in which you applied skills—using descriptors, adjectives, and nouns (e.g., "client database")</a:t>
            </a:r>
          </a:p>
          <a:p>
            <a:pPr lvl="1">
              <a:buFont typeface="Arial" panose="020B0604020202020204" pitchFamily="34" charset="0"/>
              <a:buChar char="•"/>
            </a:pPr>
            <a:r>
              <a:rPr lang="en-CA" altLang="en-US" sz="2000" b="1">
                <a:cs typeface="Arial" panose="020B0604020202020204" pitchFamily="34" charset="0"/>
              </a:rPr>
              <a:t>Tools/Condition</a:t>
            </a:r>
            <a:r>
              <a:rPr lang="en-CA" altLang="en-US" sz="2000">
                <a:cs typeface="Arial" panose="020B0604020202020204" pitchFamily="34" charset="0"/>
              </a:rPr>
              <a:t>: how you performed the task—attitude conveyed, hardware/software, or process used (e.g., "MS Access")</a:t>
            </a:r>
          </a:p>
          <a:p>
            <a:pPr lvl="1">
              <a:buFont typeface="Arial" panose="020B0604020202020204" pitchFamily="34" charset="0"/>
              <a:buChar char="•"/>
            </a:pPr>
            <a:r>
              <a:rPr lang="en-CA" altLang="en-US" sz="2000" b="1">
                <a:cs typeface="Arial" panose="020B0604020202020204" pitchFamily="34" charset="0"/>
              </a:rPr>
              <a:t>Result</a:t>
            </a:r>
            <a:r>
              <a:rPr lang="en-CA" altLang="en-US" sz="2000">
                <a:cs typeface="Arial" panose="020B0604020202020204" pitchFamily="34" charset="0"/>
              </a:rPr>
              <a:t>: what outcome you achieved—quantified wherever possible (e.g., "doubled speed of information retrieval") </a:t>
            </a:r>
          </a:p>
          <a:p>
            <a:pPr marL="0" indent="0">
              <a:buFont typeface="Wingdings" pitchFamily="2" charset="2"/>
              <a:buNone/>
            </a:pPr>
            <a:r>
              <a:rPr lang="en-CA" altLang="en-US" sz="2000" b="1">
                <a:cs typeface="Arial" panose="020B0604020202020204" pitchFamily="34" charset="0"/>
              </a:rPr>
              <a:t>Complete statement: </a:t>
            </a:r>
            <a:r>
              <a:rPr lang="en-CA" altLang="en-US" sz="2000">
                <a:cs typeface="Arial" panose="020B0604020202020204" pitchFamily="34" charset="0"/>
              </a:rPr>
              <a:t>Designed client database using MS Access which resulted in information retrieval time reduction of 50% for client support staff </a:t>
            </a:r>
          </a:p>
          <a:p>
            <a:pPr marL="0" indent="0">
              <a:buFont typeface="Wingdings" pitchFamily="2" charset="2"/>
              <a:buNone/>
            </a:pPr>
            <a:r>
              <a:rPr lang="en-CA" altLang="en-US" sz="1200"/>
              <a:t>University of Waterloo</a:t>
            </a:r>
          </a:p>
          <a:p>
            <a:pPr marL="0" indent="0">
              <a:buFont typeface="Wingdings" pitchFamily="2" charset="2"/>
              <a:buNone/>
            </a:pPr>
            <a:endParaRPr lang="en-CA" altLang="en-US" sz="2000">
              <a:cs typeface="Arial" panose="020B0604020202020204" pitchFamily="34" charset="0"/>
            </a:endParaRPr>
          </a:p>
          <a:p>
            <a:pPr marL="0" indent="0">
              <a:buFont typeface="Wingdings" pitchFamily="2" charset="2"/>
              <a:buNone/>
            </a:pPr>
            <a:endParaRPr lang="en-CA" altLang="en-US" sz="2000">
              <a:cs typeface="Arial" panose="020B0604020202020204" pitchFamily="34" charset="0"/>
            </a:endParaRPr>
          </a:p>
          <a:p>
            <a:pPr marL="0" indent="0" eaLnBrk="1" hangingPunct="1">
              <a:buFont typeface="Wingdings" pitchFamily="2" charset="2"/>
              <a:buNone/>
            </a:pPr>
            <a:endParaRPr lang="en-CA" altLang="en-US"/>
          </a:p>
        </p:txBody>
      </p:sp>
      <p:sp>
        <p:nvSpPr>
          <p:cNvPr id="26626" name="Rectangle 4">
            <a:extLst>
              <a:ext uri="{FF2B5EF4-FFF2-40B4-BE49-F238E27FC236}">
                <a16:creationId xmlns:a16="http://schemas.microsoft.com/office/drawing/2014/main" id="{7D51A8B4-3AD7-1355-2E1E-ECEFE286C8DD}"/>
              </a:ext>
            </a:extLst>
          </p:cNvPr>
          <p:cNvSpPr>
            <a:spLocks noGrp="1" noChangeArrowheads="1"/>
          </p:cNvSpPr>
          <p:nvPr>
            <p:ph type="title"/>
          </p:nvPr>
        </p:nvSpPr>
        <p:spPr>
          <a:xfrm>
            <a:off x="1930400" y="874713"/>
            <a:ext cx="6994525" cy="139700"/>
          </a:xfrm>
        </p:spPr>
        <p:txBody>
          <a:bodyPr/>
          <a:lstStyle/>
          <a:p>
            <a:pPr eaLnBrk="1" hangingPunct="1"/>
            <a:r>
              <a:rPr lang="en-CA" altLang="en-US">
                <a:cs typeface="Arial" panose="020B0604020202020204" pitchFamily="34" charset="0"/>
              </a:rPr>
              <a:t>Syntax of a Well-Written Bullet</a:t>
            </a:r>
            <a:br>
              <a:rPr lang="en-CA" altLang="en-US">
                <a:cs typeface="Arial" panose="020B0604020202020204" pitchFamily="34" charset="0"/>
              </a:rPr>
            </a:br>
            <a:endParaRPr lang="en-CA" alt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5">
            <a:extLst>
              <a:ext uri="{FF2B5EF4-FFF2-40B4-BE49-F238E27FC236}">
                <a16:creationId xmlns:a16="http://schemas.microsoft.com/office/drawing/2014/main" id="{D923B907-6143-04FC-8385-0ACB6029136D}"/>
              </a:ext>
            </a:extLst>
          </p:cNvPr>
          <p:cNvSpPr>
            <a:spLocks noGrp="1" noChangeArrowheads="1"/>
          </p:cNvSpPr>
          <p:nvPr>
            <p:ph type="body" idx="1"/>
          </p:nvPr>
        </p:nvSpPr>
        <p:spPr/>
        <p:txBody>
          <a:bodyPr/>
          <a:lstStyle/>
          <a:p>
            <a:pPr marL="0" indent="0" eaLnBrk="1" hangingPunct="1">
              <a:buFont typeface="Wingdings" pitchFamily="2" charset="2"/>
              <a:buNone/>
            </a:pPr>
            <a:endParaRPr lang="en-CA" altLang="en-US"/>
          </a:p>
          <a:p>
            <a:pPr marL="0" indent="0" eaLnBrk="1" hangingPunct="1">
              <a:buFont typeface="Wingdings" pitchFamily="2" charset="2"/>
              <a:buNone/>
            </a:pPr>
            <a:endParaRPr lang="en-CA" altLang="en-US"/>
          </a:p>
          <a:p>
            <a:pPr marL="0" indent="0" eaLnBrk="1" hangingPunct="1">
              <a:buFont typeface="Wingdings" pitchFamily="2" charset="2"/>
              <a:buNone/>
            </a:pPr>
            <a:endParaRPr lang="en-CA" altLang="en-US"/>
          </a:p>
          <a:p>
            <a:pPr marL="0" indent="0" algn="ctr" eaLnBrk="1" hangingPunct="1">
              <a:buFont typeface="Wingdings" pitchFamily="2" charset="2"/>
              <a:buNone/>
            </a:pPr>
            <a:r>
              <a:rPr lang="en-CA" altLang="en-US">
                <a:solidFill>
                  <a:srgbClr val="002060"/>
                </a:solidFill>
              </a:rPr>
              <a:t>How many pages should your resume be?</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a:extLst>
              <a:ext uri="{FF2B5EF4-FFF2-40B4-BE49-F238E27FC236}">
                <a16:creationId xmlns:a16="http://schemas.microsoft.com/office/drawing/2014/main" id="{763EBF88-D963-7AD4-14A4-A69030D1E76F}"/>
              </a:ext>
            </a:extLst>
          </p:cNvPr>
          <p:cNvSpPr>
            <a:spLocks noGrp="1" noChangeArrowheads="1"/>
          </p:cNvSpPr>
          <p:nvPr>
            <p:ph type="body" idx="1"/>
          </p:nvPr>
        </p:nvSpPr>
        <p:spPr/>
        <p:txBody>
          <a:bodyPr/>
          <a:lstStyle/>
          <a:p>
            <a:pPr marL="0" indent="0" eaLnBrk="1" hangingPunct="1">
              <a:buFont typeface="Wingdings" pitchFamily="2" charset="2"/>
              <a:buNone/>
            </a:pPr>
            <a:endParaRPr lang="en-CA" altLang="en-US" dirty="0"/>
          </a:p>
          <a:p>
            <a:pPr marL="0" indent="0" eaLnBrk="1" hangingPunct="1">
              <a:buFont typeface="Wingdings" pitchFamily="2" charset="2"/>
              <a:buNone/>
            </a:pPr>
            <a:endParaRPr lang="en-CA" altLang="en-US" dirty="0"/>
          </a:p>
          <a:p>
            <a:pPr marL="0" indent="0" eaLnBrk="1" hangingPunct="1">
              <a:buFont typeface="Wingdings" pitchFamily="2" charset="2"/>
              <a:buNone/>
            </a:pPr>
            <a:endParaRPr lang="en-CA" altLang="en-US" dirty="0"/>
          </a:p>
          <a:p>
            <a:pPr marL="0" indent="0" algn="ctr" eaLnBrk="1" hangingPunct="1">
              <a:buFont typeface="Wingdings" pitchFamily="2" charset="2"/>
              <a:buNone/>
            </a:pPr>
            <a:r>
              <a:rPr lang="en-CA" altLang="en-US" dirty="0">
                <a:solidFill>
                  <a:srgbClr val="002060"/>
                </a:solidFill>
              </a:rPr>
              <a:t>What should you not include in your resume?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5">
            <a:extLst>
              <a:ext uri="{FF2B5EF4-FFF2-40B4-BE49-F238E27FC236}">
                <a16:creationId xmlns:a16="http://schemas.microsoft.com/office/drawing/2014/main" id="{72D78500-7B5C-BEC7-1E4F-2A93CB04C151}"/>
              </a:ext>
            </a:extLst>
          </p:cNvPr>
          <p:cNvSpPr>
            <a:spLocks noGrp="1" noChangeArrowheads="1"/>
          </p:cNvSpPr>
          <p:nvPr>
            <p:ph type="body" idx="1"/>
          </p:nvPr>
        </p:nvSpPr>
        <p:spPr>
          <a:xfrm>
            <a:off x="457200" y="1112838"/>
            <a:ext cx="8229600" cy="5407025"/>
          </a:xfrm>
        </p:spPr>
        <p:txBody>
          <a:bodyPr/>
          <a:lstStyle/>
          <a:p>
            <a:pPr eaLnBrk="1" hangingPunct="1">
              <a:buFont typeface="Arial" panose="020B0604020202020204" pitchFamily="34" charset="0"/>
              <a:buChar char="•"/>
            </a:pPr>
            <a:r>
              <a:rPr lang="en-US" altLang="en-US" sz="2000" dirty="0">
                <a:cs typeface="Arial" panose="020B0604020202020204" pitchFamily="34" charset="0"/>
              </a:rPr>
              <a:t>Ensure that there is a CLEAR and specific Objective</a:t>
            </a:r>
          </a:p>
          <a:p>
            <a:pPr eaLnBrk="1" hangingPunct="1">
              <a:buFont typeface="Arial" panose="020B0604020202020204" pitchFamily="34" charset="0"/>
              <a:buChar char="•"/>
            </a:pPr>
            <a:r>
              <a:rPr lang="en-US" altLang="en-US" sz="2000" dirty="0">
                <a:cs typeface="Arial" panose="020B0604020202020204" pitchFamily="34" charset="0"/>
              </a:rPr>
              <a:t>Review and customize your resume before applying to each job</a:t>
            </a:r>
          </a:p>
          <a:p>
            <a:pPr eaLnBrk="1" hangingPunct="1">
              <a:buFont typeface="Arial" panose="020B0604020202020204" pitchFamily="34" charset="0"/>
              <a:buChar char="•"/>
            </a:pPr>
            <a:r>
              <a:rPr lang="en-US" altLang="en-US" sz="2000" dirty="0">
                <a:cs typeface="Arial" panose="020B0604020202020204" pitchFamily="34" charset="0"/>
              </a:rPr>
              <a:t>Use a standard email – </a:t>
            </a:r>
            <a:r>
              <a:rPr lang="en-US" altLang="en-US" sz="2000" dirty="0">
                <a:cs typeface="Arial" panose="020B0604020202020204" pitchFamily="34" charset="0"/>
                <a:hlinkClick r:id="rId3"/>
              </a:rPr>
              <a:t>name.name@email.com</a:t>
            </a:r>
            <a:endParaRPr lang="en-US" altLang="en-US" sz="2000" dirty="0">
              <a:cs typeface="Arial" panose="020B0604020202020204" pitchFamily="34" charset="0"/>
            </a:endParaRPr>
          </a:p>
          <a:p>
            <a:pPr>
              <a:buFont typeface="Arial" panose="020B0604020202020204" pitchFamily="34" charset="0"/>
              <a:buChar char="•"/>
            </a:pPr>
            <a:r>
              <a:rPr lang="en-US" altLang="en-US" sz="2000" dirty="0">
                <a:cs typeface="Arial" panose="020B0604020202020204" pitchFamily="34" charset="0"/>
              </a:rPr>
              <a:t>Include honest and accurate information</a:t>
            </a:r>
          </a:p>
          <a:p>
            <a:pPr eaLnBrk="1" hangingPunct="1">
              <a:buFont typeface="Arial" panose="020B0604020202020204" pitchFamily="34" charset="0"/>
              <a:buChar char="•"/>
            </a:pPr>
            <a:r>
              <a:rPr lang="en-US" altLang="en-US" sz="2000" dirty="0">
                <a:cs typeface="Arial" panose="020B0604020202020204" pitchFamily="34" charset="0"/>
              </a:rPr>
              <a:t>Resume format should be .doc or .pdf</a:t>
            </a:r>
          </a:p>
          <a:p>
            <a:pPr eaLnBrk="1" hangingPunct="1">
              <a:buFont typeface="Arial" panose="020B0604020202020204" pitchFamily="34" charset="0"/>
              <a:buChar char="•"/>
            </a:pPr>
            <a:r>
              <a:rPr lang="en-US" altLang="en-US" sz="2000" dirty="0">
                <a:cs typeface="Arial" panose="020B0604020202020204" pitchFamily="34" charset="0"/>
              </a:rPr>
              <a:t>Proofread and spell check </a:t>
            </a:r>
          </a:p>
          <a:p>
            <a:pPr eaLnBrk="1" hangingPunct="1">
              <a:buFont typeface="Arial" panose="020B0604020202020204" pitchFamily="34" charset="0"/>
              <a:buChar char="•"/>
            </a:pPr>
            <a:r>
              <a:rPr lang="en-US" altLang="en-US" sz="2000" dirty="0">
                <a:cs typeface="Arial" panose="020B0604020202020204" pitchFamily="34" charset="0"/>
              </a:rPr>
              <a:t>Try to ensure that there are no glaring gaps in experience in your resume</a:t>
            </a:r>
          </a:p>
          <a:p>
            <a:pPr>
              <a:buFont typeface="Arial" panose="020B0604020202020204" pitchFamily="34" charset="0"/>
              <a:buChar char="•"/>
            </a:pPr>
            <a:r>
              <a:rPr lang="en-CA" altLang="en-US" sz="2000" dirty="0">
                <a:cs typeface="Arial" panose="020B0604020202020204" pitchFamily="34" charset="0"/>
              </a:rPr>
              <a:t>Stick with the </a:t>
            </a:r>
            <a:r>
              <a:rPr lang="en-CA" altLang="en-US" sz="2000" b="1" dirty="0">
                <a:cs typeface="Arial" panose="020B0604020202020204" pitchFamily="34" charset="0"/>
              </a:rPr>
              <a:t>past</a:t>
            </a:r>
            <a:r>
              <a:rPr lang="en-CA" altLang="en-US" sz="2000" dirty="0">
                <a:cs typeface="Arial" panose="020B0604020202020204" pitchFamily="34" charset="0"/>
              </a:rPr>
              <a:t> tense throughout your entire resume</a:t>
            </a:r>
          </a:p>
          <a:p>
            <a:pPr>
              <a:buFont typeface="Arial" panose="020B0604020202020204" pitchFamily="34" charset="0"/>
              <a:buChar char="•"/>
            </a:pPr>
            <a:r>
              <a:rPr lang="en-CA" altLang="en-US" sz="2000" dirty="0">
                <a:cs typeface="Arial" panose="020B0604020202020204" pitchFamily="34" charset="0"/>
              </a:rPr>
              <a:t>Minimize the use of articles and pronouns. Never use "I" or other pronouns to identify yourself.</a:t>
            </a:r>
          </a:p>
          <a:p>
            <a:pPr>
              <a:buFont typeface="Arial" panose="020B0604020202020204" pitchFamily="34" charset="0"/>
              <a:buChar char="•"/>
            </a:pPr>
            <a:r>
              <a:rPr lang="en-CA" altLang="en-US" sz="2000" dirty="0">
                <a:cs typeface="Arial" panose="020B0604020202020204" pitchFamily="34" charset="0"/>
              </a:rPr>
              <a:t>Quantify, quantify, quantify. Include any relevant quantitative elements related to your past work.</a:t>
            </a:r>
          </a:p>
        </p:txBody>
      </p:sp>
      <p:sp>
        <p:nvSpPr>
          <p:cNvPr id="32770" name="Rectangle 4">
            <a:extLst>
              <a:ext uri="{FF2B5EF4-FFF2-40B4-BE49-F238E27FC236}">
                <a16:creationId xmlns:a16="http://schemas.microsoft.com/office/drawing/2014/main" id="{15069459-F53A-694D-15B4-44CFB486E8D3}"/>
              </a:ext>
            </a:extLst>
          </p:cNvPr>
          <p:cNvSpPr>
            <a:spLocks noGrp="1" noChangeArrowheads="1"/>
          </p:cNvSpPr>
          <p:nvPr>
            <p:ph type="title"/>
          </p:nvPr>
        </p:nvSpPr>
        <p:spPr/>
        <p:txBody>
          <a:bodyPr/>
          <a:lstStyle/>
          <a:p>
            <a:pPr eaLnBrk="1" hangingPunct="1"/>
            <a:r>
              <a:rPr lang="en-CA" altLang="en-US"/>
              <a:t>Resume Tips </a:t>
            </a:r>
          </a:p>
        </p:txBody>
      </p:sp>
    </p:spTree>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2694</TotalTime>
  <Words>1968</Words>
  <Application>Microsoft Macintosh PowerPoint</Application>
  <PresentationFormat>On-screen Show (4:3)</PresentationFormat>
  <Paragraphs>197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Wingdings</vt:lpstr>
      <vt:lpstr>Calibri</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Syntax of a Well-Written Bullet </vt:lpstr>
      <vt:lpstr>PowerPoint Presentation</vt:lpstr>
      <vt:lpstr>PowerPoint Presentation</vt:lpstr>
      <vt:lpstr>Resume Tips </vt:lpstr>
    </vt:vector>
  </TitlesOfParts>
  <Company>STSMEDIA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for Arts &amp; Design Slide Template</dc:title>
  <dc:subject>Centre for Arts &amp; Design Slide Template</dc:subject>
  <dc:creator>George Brown College;Centre for Arts &amp; Design</dc:creator>
  <cp:keywords>George Brown College; Centre for Arts &amp; Design; PowerPoint; Slides Template; Master Layout</cp:keywords>
  <cp:lastModifiedBy>Tyanne Fluke</cp:lastModifiedBy>
  <cp:revision>50</cp:revision>
  <cp:lastPrinted>2021-09-28T13:04:39Z</cp:lastPrinted>
  <dcterms:created xsi:type="dcterms:W3CDTF">2008-02-14T00:02:49Z</dcterms:created>
  <dcterms:modified xsi:type="dcterms:W3CDTF">2024-05-05T15:47:05Z</dcterms:modified>
</cp:coreProperties>
</file>