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65" r:id="rId3"/>
    <p:sldId id="266" r:id="rId4"/>
    <p:sldId id="267" r:id="rId5"/>
    <p:sldId id="268" r:id="rId6"/>
    <p:sldId id="269" r:id="rId7"/>
    <p:sldId id="270" r:id="rId8"/>
    <p:sldId id="271" r:id="rId9"/>
    <p:sldId id="272" r:id="rId10"/>
    <p:sldId id="273" r:id="rId11"/>
    <p:sldId id="274" r:id="rId12"/>
    <p:sldId id="276" r:id="rId13"/>
  </p:sldIdLst>
  <p:sldSz cx="9144000" cy="6858000" type="screen4x3"/>
  <p:notesSz cx="6858000" cy="9144000"/>
  <p:defaultTextStyle>
    <a:defPPr>
      <a:defRPr lang="en-CA"/>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566">
          <p15:clr>
            <a:srgbClr val="A4A3A4"/>
          </p15:clr>
        </p15:guide>
        <p15:guide id="2" pos="129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014" autoAdjust="0"/>
    <p:restoredTop sz="86515" autoAdjust="0"/>
  </p:normalViewPr>
  <p:slideViewPr>
    <p:cSldViewPr snapToGrid="0">
      <p:cViewPr varScale="1">
        <p:scale>
          <a:sx n="98" d="100"/>
          <a:sy n="98" d="100"/>
        </p:scale>
        <p:origin x="1328" y="184"/>
      </p:cViewPr>
      <p:guideLst>
        <p:guide orient="horz" pos="566"/>
        <p:guide pos="12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C319B4B-8A53-514E-A299-5FA3A765E691}"/>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mn-cs"/>
              </a:defRPr>
            </a:lvl1pPr>
          </a:lstStyle>
          <a:p>
            <a:pPr>
              <a:defRPr/>
            </a:pPr>
            <a:endParaRPr lang="en-CA"/>
          </a:p>
        </p:txBody>
      </p:sp>
      <p:sp>
        <p:nvSpPr>
          <p:cNvPr id="3" name="Date Placeholder 2">
            <a:extLst>
              <a:ext uri="{FF2B5EF4-FFF2-40B4-BE49-F238E27FC236}">
                <a16:creationId xmlns:a16="http://schemas.microsoft.com/office/drawing/2014/main" id="{04214427-3533-6543-BB32-117D6CF3A287}"/>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mn-cs"/>
              </a:defRPr>
            </a:lvl1pPr>
          </a:lstStyle>
          <a:p>
            <a:pPr>
              <a:defRPr/>
            </a:pPr>
            <a:fld id="{4D8F48FE-6CA7-0D4C-A53F-2C6113C088F9}" type="datetimeFigureOut">
              <a:rPr lang="en-CA"/>
              <a:pPr>
                <a:defRPr/>
              </a:pPr>
              <a:t>2024-05-05</a:t>
            </a:fld>
            <a:endParaRPr lang="en-CA"/>
          </a:p>
        </p:txBody>
      </p:sp>
      <p:sp>
        <p:nvSpPr>
          <p:cNvPr id="4" name="Slide Image Placeholder 3">
            <a:extLst>
              <a:ext uri="{FF2B5EF4-FFF2-40B4-BE49-F238E27FC236}">
                <a16:creationId xmlns:a16="http://schemas.microsoft.com/office/drawing/2014/main" id="{372B56B7-B751-FB4A-813A-7BCB8F4E9E85}"/>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CA" noProof="0"/>
          </a:p>
        </p:txBody>
      </p:sp>
      <p:sp>
        <p:nvSpPr>
          <p:cNvPr id="5" name="Notes Placeholder 4">
            <a:extLst>
              <a:ext uri="{FF2B5EF4-FFF2-40B4-BE49-F238E27FC236}">
                <a16:creationId xmlns:a16="http://schemas.microsoft.com/office/drawing/2014/main" id="{519BD65E-0203-0744-AA23-0E8108B3F1A4}"/>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a:p>
        </p:txBody>
      </p:sp>
      <p:sp>
        <p:nvSpPr>
          <p:cNvPr id="6" name="Footer Placeholder 5">
            <a:extLst>
              <a:ext uri="{FF2B5EF4-FFF2-40B4-BE49-F238E27FC236}">
                <a16:creationId xmlns:a16="http://schemas.microsoft.com/office/drawing/2014/main" id="{2EB7A42E-23BD-8040-AF15-61CCEE54599B}"/>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mn-cs"/>
              </a:defRPr>
            </a:lvl1pPr>
          </a:lstStyle>
          <a:p>
            <a:pPr>
              <a:defRPr/>
            </a:pPr>
            <a:endParaRPr lang="en-CA"/>
          </a:p>
        </p:txBody>
      </p:sp>
      <p:sp>
        <p:nvSpPr>
          <p:cNvPr id="7" name="Slide Number Placeholder 6">
            <a:extLst>
              <a:ext uri="{FF2B5EF4-FFF2-40B4-BE49-F238E27FC236}">
                <a16:creationId xmlns:a16="http://schemas.microsoft.com/office/drawing/2014/main" id="{EF5ED23C-79B7-FD47-9C0A-350CF700651E}"/>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C215062C-DFC9-0F4C-95AB-70922AB23001}" type="slidenum">
              <a:rPr lang="en-CA" altLang="en-US"/>
              <a:pPr/>
              <a:t>‹#›</a:t>
            </a:fld>
            <a:endParaRPr lang="en-CA"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Slide Image Placeholder 1">
            <a:extLst>
              <a:ext uri="{FF2B5EF4-FFF2-40B4-BE49-F238E27FC236}">
                <a16:creationId xmlns:a16="http://schemas.microsoft.com/office/drawing/2014/main" id="{E2D8DE0C-6FA8-D6CE-210B-8581F12714D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2" name="Notes Placeholder 2">
            <a:extLst>
              <a:ext uri="{FF2B5EF4-FFF2-40B4-BE49-F238E27FC236}">
                <a16:creationId xmlns:a16="http://schemas.microsoft.com/office/drawing/2014/main" id="{287E376F-A6C2-A420-781D-0C9F2F3F1B4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123" name="Slide Number Placeholder 3">
            <a:extLst>
              <a:ext uri="{FF2B5EF4-FFF2-40B4-BE49-F238E27FC236}">
                <a16:creationId xmlns:a16="http://schemas.microsoft.com/office/drawing/2014/main" id="{6293591B-988D-FD67-241D-7B1286CD8D2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41BEF2E-04F4-604F-AB94-4A8A22834ED4}" type="slidenum">
              <a:rPr lang="en-CA" altLang="en-US">
                <a:latin typeface="Arial" panose="020B0604020202020204" pitchFamily="34" charset="0"/>
              </a:rPr>
              <a:pPr>
                <a:spcBef>
                  <a:spcPct val="0"/>
                </a:spcBef>
              </a:pPr>
              <a:t>1</a:t>
            </a:fld>
            <a:endParaRPr lang="en-CA"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Slide Image Placeholder 1">
            <a:extLst>
              <a:ext uri="{FF2B5EF4-FFF2-40B4-BE49-F238E27FC236}">
                <a16:creationId xmlns:a16="http://schemas.microsoft.com/office/drawing/2014/main" id="{1FADF223-28DA-7F07-72A0-B8B505EC921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0" name="Notes Placeholder 2">
            <a:extLst>
              <a:ext uri="{FF2B5EF4-FFF2-40B4-BE49-F238E27FC236}">
                <a16:creationId xmlns:a16="http://schemas.microsoft.com/office/drawing/2014/main" id="{18F6FF62-8579-F9EC-E9F1-04F10958A14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CA" altLang="en-US" dirty="0"/>
              <a:t>The purpose of the cover letter is to introduce yourself to an organization, demonstrate your </a:t>
            </a:r>
            <a:r>
              <a:rPr lang="en-CA" altLang="en-US" b="1" dirty="0"/>
              <a:t>interest</a:t>
            </a:r>
            <a:r>
              <a:rPr lang="en-CA" altLang="en-US" dirty="0"/>
              <a:t> in the company or a specific vacancy, draw attention to your </a:t>
            </a:r>
            <a:r>
              <a:rPr lang="en-CA" altLang="en-US" b="1" dirty="0"/>
              <a:t>resume</a:t>
            </a:r>
            <a:r>
              <a:rPr lang="en-CA" altLang="en-US" dirty="0"/>
              <a:t> and motivate the reader to </a:t>
            </a:r>
            <a:r>
              <a:rPr lang="en-CA" altLang="en-US" b="1" dirty="0"/>
              <a:t>interview</a:t>
            </a:r>
            <a:r>
              <a:rPr lang="en-CA" altLang="en-US" dirty="0"/>
              <a:t> you. Often this letter is the first contact you have with a prospective employer.</a:t>
            </a:r>
          </a:p>
          <a:p>
            <a:r>
              <a:rPr lang="en-CA" altLang="en-US" dirty="0"/>
              <a:t>.</a:t>
            </a:r>
            <a:endParaRPr lang="en-US" altLang="en-US" dirty="0"/>
          </a:p>
          <a:p>
            <a:r>
              <a:rPr lang="en-US" altLang="en-US" dirty="0"/>
              <a:t>The Cover letter is used by Human Resources to </a:t>
            </a:r>
            <a:r>
              <a:rPr lang="en-US" altLang="en-US" b="1" dirty="0"/>
              <a:t>screen you out</a:t>
            </a:r>
          </a:p>
          <a:p>
            <a:endParaRPr lang="en-US" altLang="en-US" b="1" dirty="0"/>
          </a:p>
          <a:p>
            <a:r>
              <a:rPr lang="en-US" altLang="en-US" dirty="0">
                <a:solidFill>
                  <a:srgbClr val="1F497D"/>
                </a:solidFill>
                <a:latin typeface="Arial" panose="020B0604020202020204" pitchFamily="34" charset="0"/>
                <a:ea typeface="Source Sans Pro" panose="020B0503030403020204" pitchFamily="34" charset="0"/>
                <a:cs typeface="Arial" panose="020B0604020202020204" pitchFamily="34" charset="0"/>
                <a:sym typeface="Source Sans Pro" panose="020B0503030403020204" pitchFamily="34" charset="0"/>
              </a:rPr>
              <a:t>- - Outlines who you are and how you fit the position or organization</a:t>
            </a:r>
          </a:p>
          <a:p>
            <a:pPr>
              <a:spcBef>
                <a:spcPts val="1200"/>
              </a:spcBef>
              <a:buClr>
                <a:srgbClr val="1F497D"/>
              </a:buClr>
              <a:buFont typeface="Source Sans Pro" panose="020B0503030403020204" pitchFamily="34" charset="0"/>
              <a:buNone/>
            </a:pPr>
            <a:r>
              <a:rPr lang="en-US" altLang="en-US" dirty="0">
                <a:solidFill>
                  <a:srgbClr val="1F497D"/>
                </a:solidFill>
                <a:latin typeface="Arial" panose="020B0604020202020204" pitchFamily="34" charset="0"/>
                <a:ea typeface="Source Sans Pro" panose="020B0503030403020204" pitchFamily="34" charset="0"/>
                <a:cs typeface="Arial" panose="020B0604020202020204" pitchFamily="34" charset="0"/>
                <a:sym typeface="Source Sans Pro" panose="020B0503030403020204" pitchFamily="34" charset="0"/>
              </a:rPr>
              <a:t>- It is meant to convince the reader to review your resume</a:t>
            </a:r>
          </a:p>
          <a:p>
            <a:pPr>
              <a:spcBef>
                <a:spcPts val="1200"/>
              </a:spcBef>
              <a:buClr>
                <a:srgbClr val="1F497D"/>
              </a:buClr>
              <a:buFont typeface="Source Sans Pro" panose="020B0503030403020204" pitchFamily="34" charset="0"/>
              <a:buNone/>
            </a:pPr>
            <a:r>
              <a:rPr lang="en-US" altLang="en-US" dirty="0">
                <a:solidFill>
                  <a:srgbClr val="1F497D"/>
                </a:solidFill>
                <a:latin typeface="Arial" panose="020B0604020202020204" pitchFamily="34" charset="0"/>
                <a:ea typeface="Source Sans Pro" panose="020B0503030403020204" pitchFamily="34" charset="0"/>
                <a:cs typeface="Arial" panose="020B0604020202020204" pitchFamily="34" charset="0"/>
                <a:sym typeface="Source Sans Pro" panose="020B0503030403020204" pitchFamily="34" charset="0"/>
              </a:rPr>
              <a:t>- It is not a recap of your resume but an opportunity to expand and add to what your resume cannot capture – you as a person, your personality</a:t>
            </a:r>
          </a:p>
          <a:p>
            <a:pPr>
              <a:spcBef>
                <a:spcPts val="1200"/>
              </a:spcBef>
              <a:buClr>
                <a:srgbClr val="1F497D"/>
              </a:buClr>
              <a:buFont typeface="Source Sans Pro" panose="020B0503030403020204" pitchFamily="34" charset="0"/>
              <a:buNone/>
            </a:pPr>
            <a:r>
              <a:rPr lang="en-US" altLang="en-US" dirty="0">
                <a:solidFill>
                  <a:srgbClr val="1F497D"/>
                </a:solidFill>
                <a:latin typeface="Arial" panose="020B0604020202020204" pitchFamily="34" charset="0"/>
                <a:ea typeface="Source Sans Pro" panose="020B0503030403020204" pitchFamily="34" charset="0"/>
                <a:cs typeface="Arial" panose="020B0604020202020204" pitchFamily="34" charset="0"/>
                <a:sym typeface="Source Sans Pro" panose="020B0503030403020204" pitchFamily="34" charset="0"/>
              </a:rPr>
              <a:t>- It’s a chance to introduce yourself and express genuine interest</a:t>
            </a:r>
          </a:p>
          <a:p>
            <a:pPr eaLnBrk="1" hangingPunct="1">
              <a:spcBef>
                <a:spcPct val="0"/>
              </a:spcBef>
            </a:pPr>
            <a:endParaRPr lang="en-US" altLang="en-US" dirty="0"/>
          </a:p>
        </p:txBody>
      </p:sp>
      <p:sp>
        <p:nvSpPr>
          <p:cNvPr id="7171" name="Slide Number Placeholder 3">
            <a:extLst>
              <a:ext uri="{FF2B5EF4-FFF2-40B4-BE49-F238E27FC236}">
                <a16:creationId xmlns:a16="http://schemas.microsoft.com/office/drawing/2014/main" id="{080E7AED-A057-A4EE-3436-D7B1EE1E501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F192411-9CDA-B747-B603-E6B228D63F46}" type="slidenum">
              <a:rPr lang="en-CA" altLang="en-US">
                <a:latin typeface="Arial" panose="020B0604020202020204" pitchFamily="34" charset="0"/>
              </a:rPr>
              <a:pPr>
                <a:spcBef>
                  <a:spcPct val="0"/>
                </a:spcBef>
              </a:pPr>
              <a:t>2</a:t>
            </a:fld>
            <a:endParaRPr lang="en-CA"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Slide Image Placeholder 1">
            <a:extLst>
              <a:ext uri="{FF2B5EF4-FFF2-40B4-BE49-F238E27FC236}">
                <a16:creationId xmlns:a16="http://schemas.microsoft.com/office/drawing/2014/main" id="{55FA445E-242E-74CC-C4BB-BC8D06ADE2E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8" name="Notes Placeholder 2">
            <a:extLst>
              <a:ext uri="{FF2B5EF4-FFF2-40B4-BE49-F238E27FC236}">
                <a16:creationId xmlns:a16="http://schemas.microsoft.com/office/drawing/2014/main" id="{EE5A756C-57F8-6A95-711D-CE43C8DC424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It will be reviewed in 7-10 seconds</a:t>
            </a:r>
          </a:p>
          <a:p>
            <a:endParaRPr lang="en-US" altLang="en-US"/>
          </a:p>
          <a:p>
            <a:r>
              <a:rPr lang="en-US" altLang="en-US"/>
              <a:t>Customize each cover letter to be job specific</a:t>
            </a:r>
          </a:p>
          <a:p>
            <a:endParaRPr lang="en-US" altLang="en-US"/>
          </a:p>
          <a:p>
            <a:r>
              <a:rPr lang="en-US" altLang="en-US"/>
              <a:t>If its too long or has errors your resume may not get reviewed</a:t>
            </a:r>
          </a:p>
          <a:p>
            <a:endParaRPr lang="en-US" altLang="en-US"/>
          </a:p>
          <a:p>
            <a:r>
              <a:rPr lang="en-US" altLang="en-US"/>
              <a:t>Recruiters will use the cover letter to weed you out as part of their prescreen process, typically the technical hiring manager won’t read your cover letter, its part of the prescreen process for HR to ensure when they select you they have the confidence to forward your resume to the technical hiring manager.</a:t>
            </a:r>
          </a:p>
          <a:p>
            <a:endParaRPr lang="en-US" altLang="en-US"/>
          </a:p>
          <a:p>
            <a:r>
              <a:rPr lang="en-US" altLang="en-US"/>
              <a:t>HR may request a phone screen after they select your resume to assess your communication skills before they forward your resume to the hiring manager.</a:t>
            </a:r>
          </a:p>
          <a:p>
            <a:pPr eaLnBrk="1" hangingPunct="1">
              <a:spcBef>
                <a:spcPct val="0"/>
              </a:spcBef>
            </a:pPr>
            <a:endParaRPr lang="en-CA" altLang="en-US"/>
          </a:p>
          <a:p>
            <a:pPr eaLnBrk="1" hangingPunct="1">
              <a:spcBef>
                <a:spcPct val="0"/>
              </a:spcBef>
            </a:pPr>
            <a:endParaRPr lang="en-US" altLang="en-US"/>
          </a:p>
        </p:txBody>
      </p:sp>
      <p:sp>
        <p:nvSpPr>
          <p:cNvPr id="9219" name="Slide Number Placeholder 3">
            <a:extLst>
              <a:ext uri="{FF2B5EF4-FFF2-40B4-BE49-F238E27FC236}">
                <a16:creationId xmlns:a16="http://schemas.microsoft.com/office/drawing/2014/main" id="{1F44A1E0-ACA6-93E0-C464-F2CDD841413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79427F0-BDCB-7B47-89B1-7C076E4C2117}" type="slidenum">
              <a:rPr lang="en-CA" altLang="en-US">
                <a:latin typeface="Arial" panose="020B0604020202020204" pitchFamily="34" charset="0"/>
              </a:rPr>
              <a:pPr>
                <a:spcBef>
                  <a:spcPct val="0"/>
                </a:spcBef>
              </a:pPr>
              <a:t>3</a:t>
            </a:fld>
            <a:endParaRPr lang="en-CA"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Slide Image Placeholder 1">
            <a:extLst>
              <a:ext uri="{FF2B5EF4-FFF2-40B4-BE49-F238E27FC236}">
                <a16:creationId xmlns:a16="http://schemas.microsoft.com/office/drawing/2014/main" id="{4F23F7FD-2236-9F64-ED7A-B053F166217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6" name="Notes Placeholder 2">
            <a:extLst>
              <a:ext uri="{FF2B5EF4-FFF2-40B4-BE49-F238E27FC236}">
                <a16:creationId xmlns:a16="http://schemas.microsoft.com/office/drawing/2014/main" id="{3937EF4F-8A6B-AAF2-C23E-9657E08C745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One page (keep it brief and job specific)</a:t>
            </a:r>
          </a:p>
          <a:p>
            <a:pPr eaLnBrk="1" hangingPunct="1">
              <a:spcBef>
                <a:spcPct val="0"/>
              </a:spcBef>
            </a:pPr>
            <a:endParaRPr lang="en-US" altLang="en-US"/>
          </a:p>
        </p:txBody>
      </p:sp>
      <p:sp>
        <p:nvSpPr>
          <p:cNvPr id="11267" name="Slide Number Placeholder 3">
            <a:extLst>
              <a:ext uri="{FF2B5EF4-FFF2-40B4-BE49-F238E27FC236}">
                <a16:creationId xmlns:a16="http://schemas.microsoft.com/office/drawing/2014/main" id="{6DAA5DE9-2915-78BA-4BED-4B2CA94E9BC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1ACF731A-9E71-BA4E-871C-9DE9F00D491B}" type="slidenum">
              <a:rPr lang="en-CA" altLang="en-US">
                <a:latin typeface="Arial" panose="020B0604020202020204" pitchFamily="34" charset="0"/>
              </a:rPr>
              <a:pPr>
                <a:spcBef>
                  <a:spcPct val="0"/>
                </a:spcBef>
              </a:pPr>
              <a:t>4</a:t>
            </a:fld>
            <a:endParaRPr lang="en-CA"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Slide Image Placeholder 1">
            <a:extLst>
              <a:ext uri="{FF2B5EF4-FFF2-40B4-BE49-F238E27FC236}">
                <a16:creationId xmlns:a16="http://schemas.microsoft.com/office/drawing/2014/main" id="{35D80CFE-A156-3F2F-EEC6-78BEAF857E4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4" name="Notes Placeholder 2">
            <a:extLst>
              <a:ext uri="{FF2B5EF4-FFF2-40B4-BE49-F238E27FC236}">
                <a16:creationId xmlns:a16="http://schemas.microsoft.com/office/drawing/2014/main" id="{AFE50D27-8CD5-B1A7-89BA-C8B9AE53152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Your Contact Info</a:t>
            </a:r>
          </a:p>
          <a:p>
            <a:r>
              <a:rPr lang="en-US" altLang="en-US"/>
              <a:t>Date</a:t>
            </a:r>
          </a:p>
          <a:p>
            <a:r>
              <a:rPr lang="en-US" altLang="en-US"/>
              <a:t>Company Info</a:t>
            </a:r>
          </a:p>
          <a:p>
            <a:r>
              <a:rPr lang="en-US" altLang="en-US"/>
              <a:t>RE: </a:t>
            </a:r>
          </a:p>
          <a:p>
            <a:r>
              <a:rPr lang="en-US" altLang="en-US"/>
              <a:t>Salutation</a:t>
            </a:r>
          </a:p>
          <a:p>
            <a:r>
              <a:rPr lang="en-US" altLang="en-US"/>
              <a:t>First Paragraph (Introduction)</a:t>
            </a:r>
          </a:p>
          <a:p>
            <a:r>
              <a:rPr lang="en-US" altLang="en-US"/>
              <a:t>Second Paragraph (Body)</a:t>
            </a:r>
          </a:p>
          <a:p>
            <a:r>
              <a:rPr lang="en-US" altLang="en-US"/>
              <a:t>Third Paragraph  (Closing Paragraph)</a:t>
            </a:r>
          </a:p>
          <a:p>
            <a:r>
              <a:rPr lang="en-US" altLang="en-US"/>
              <a:t>Complimentary Close</a:t>
            </a:r>
          </a:p>
          <a:p>
            <a:endParaRPr lang="en-US" altLang="en-US"/>
          </a:p>
          <a:p>
            <a:pPr>
              <a:lnSpc>
                <a:spcPct val="94000"/>
              </a:lnSpc>
              <a:spcBef>
                <a:spcPct val="0"/>
              </a:spcBef>
              <a:buClr>
                <a:srgbClr val="1F497D"/>
              </a:buClr>
              <a:buSzPct val="25000"/>
              <a:buFont typeface="Source Sans Pro" panose="020B0503030403020204" pitchFamily="34" charset="0"/>
              <a:buNone/>
            </a:pPr>
            <a:r>
              <a:rPr lang="en-US" altLang="en-US" b="1">
                <a:solidFill>
                  <a:srgbClr val="1F497D"/>
                </a:solidFill>
                <a:latin typeface="Source Sans Pro" panose="020B0503030403020204" pitchFamily="34" charset="0"/>
                <a:ea typeface="Source Sans Pro" panose="020B0503030403020204" pitchFamily="34" charset="0"/>
                <a:cs typeface="Source Sans Pro" panose="020B0503030403020204" pitchFamily="34" charset="0"/>
                <a:sym typeface="Source Sans Pro" panose="020B0503030403020204" pitchFamily="34" charset="0"/>
              </a:rPr>
              <a:t>Tailor Each Letter</a:t>
            </a:r>
          </a:p>
          <a:p>
            <a:pPr>
              <a:lnSpc>
                <a:spcPct val="94000"/>
              </a:lnSpc>
              <a:spcBef>
                <a:spcPct val="0"/>
              </a:spcBef>
              <a:buClr>
                <a:srgbClr val="1F497D"/>
              </a:buClr>
              <a:buSzPct val="25000"/>
              <a:buFont typeface="Source Sans Pro" panose="020B0503030403020204" pitchFamily="34" charset="0"/>
              <a:buNone/>
            </a:pPr>
            <a:endParaRPr lang="en-US" altLang="en-US" b="1">
              <a:solidFill>
                <a:srgbClr val="1F497D"/>
              </a:solidFill>
              <a:latin typeface="Source Sans Pro" panose="020B0503030403020204" pitchFamily="34" charset="0"/>
              <a:ea typeface="Source Sans Pro" panose="020B0503030403020204" pitchFamily="34" charset="0"/>
              <a:cs typeface="Source Sans Pro" panose="020B0503030403020204" pitchFamily="34" charset="0"/>
              <a:sym typeface="Source Sans Pro" panose="020B0503030403020204" pitchFamily="34" charset="0"/>
            </a:endParaRPr>
          </a:p>
          <a:p>
            <a:pPr>
              <a:lnSpc>
                <a:spcPct val="94000"/>
              </a:lnSpc>
              <a:spcBef>
                <a:spcPts val="1200"/>
              </a:spcBef>
              <a:buClr>
                <a:srgbClr val="1F497D"/>
              </a:buClr>
              <a:buFont typeface="Source Sans Pro" panose="020B0503030403020204" pitchFamily="34" charset="0"/>
              <a:buNone/>
            </a:pPr>
            <a:r>
              <a:rPr lang="en-US" altLang="en-US">
                <a:solidFill>
                  <a:srgbClr val="1F497D"/>
                </a:solidFill>
                <a:latin typeface="Source Sans Pro" panose="020B0503030403020204" pitchFamily="34" charset="0"/>
                <a:ea typeface="Source Sans Pro" panose="020B0503030403020204" pitchFamily="34" charset="0"/>
                <a:cs typeface="Source Sans Pro" panose="020B0503030403020204" pitchFamily="34" charset="0"/>
                <a:sym typeface="Source Sans Pro" panose="020B0503030403020204" pitchFamily="34" charset="0"/>
              </a:rPr>
              <a:t>Link their unique needs to your unique experiences</a:t>
            </a:r>
          </a:p>
          <a:p>
            <a:pPr eaLnBrk="1" hangingPunct="1">
              <a:spcBef>
                <a:spcPct val="0"/>
              </a:spcBef>
            </a:pPr>
            <a:endParaRPr lang="en-US" altLang="en-US"/>
          </a:p>
        </p:txBody>
      </p:sp>
      <p:sp>
        <p:nvSpPr>
          <p:cNvPr id="13315" name="Slide Number Placeholder 3">
            <a:extLst>
              <a:ext uri="{FF2B5EF4-FFF2-40B4-BE49-F238E27FC236}">
                <a16:creationId xmlns:a16="http://schemas.microsoft.com/office/drawing/2014/main" id="{12CF5F9A-48EE-BFE0-F0FA-FA8CB85CCD4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67DAA9F-0A66-8742-83C4-3C0D0DBEF9B5}" type="slidenum">
              <a:rPr lang="en-CA" altLang="en-US">
                <a:latin typeface="Arial" panose="020B0604020202020204" pitchFamily="34" charset="0"/>
              </a:rPr>
              <a:pPr>
                <a:spcBef>
                  <a:spcPct val="0"/>
                </a:spcBef>
              </a:pPr>
              <a:t>5</a:t>
            </a:fld>
            <a:endParaRPr lang="en-CA"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Image Placeholder 1">
            <a:extLst>
              <a:ext uri="{FF2B5EF4-FFF2-40B4-BE49-F238E27FC236}">
                <a16:creationId xmlns:a16="http://schemas.microsoft.com/office/drawing/2014/main" id="{AF478A23-BE7E-7317-D757-9B24FCA00CD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2" name="Notes Placeholder 2">
            <a:extLst>
              <a:ext uri="{FF2B5EF4-FFF2-40B4-BE49-F238E27FC236}">
                <a16:creationId xmlns:a16="http://schemas.microsoft.com/office/drawing/2014/main" id="{CDCC14BD-5E71-2EF8-3748-29AFE003765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You can use the same header from your resume format for your contact information or the formal letter format </a:t>
            </a:r>
          </a:p>
          <a:p>
            <a:endParaRPr lang="en-US" altLang="en-US" dirty="0"/>
          </a:p>
          <a:p>
            <a:br>
              <a:rPr lang="en-US" altLang="en-US" dirty="0"/>
            </a:br>
            <a:r>
              <a:rPr lang="en-US" altLang="en-US" dirty="0"/>
              <a:t>Name </a:t>
            </a:r>
            <a:br>
              <a:rPr lang="en-US" altLang="en-US" dirty="0"/>
            </a:br>
            <a:r>
              <a:rPr lang="en-US" altLang="en-US" dirty="0"/>
              <a:t>Address </a:t>
            </a:r>
            <a:br>
              <a:rPr lang="en-US" altLang="en-US" dirty="0"/>
            </a:br>
            <a:r>
              <a:rPr lang="en-US" altLang="en-US" dirty="0"/>
              <a:t>City, Province, Postal Code </a:t>
            </a:r>
            <a:br>
              <a:rPr lang="en-US" altLang="en-US" dirty="0"/>
            </a:br>
            <a:r>
              <a:rPr lang="en-US" altLang="en-US" dirty="0"/>
              <a:t>Phone Number (only list one number preferably your cell number, not a landline)</a:t>
            </a:r>
            <a:br>
              <a:rPr lang="en-US" altLang="en-US" dirty="0"/>
            </a:br>
            <a:r>
              <a:rPr lang="en-US" altLang="en-US" dirty="0"/>
              <a:t>GBC Email Address</a:t>
            </a:r>
          </a:p>
          <a:p>
            <a:endParaRPr lang="en-CA" altLang="en-US" dirty="0"/>
          </a:p>
          <a:p>
            <a:r>
              <a:rPr lang="en-US" altLang="en-US" dirty="0"/>
              <a:t>Date</a:t>
            </a:r>
          </a:p>
          <a:p>
            <a:endParaRPr lang="en-CA" altLang="en-US" dirty="0"/>
          </a:p>
          <a:p>
            <a:r>
              <a:rPr lang="en-US" altLang="en-US" b="1" dirty="0"/>
              <a:t>Employer Contact Information </a:t>
            </a:r>
            <a:br>
              <a:rPr lang="en-US" altLang="en-US" dirty="0"/>
            </a:br>
            <a:r>
              <a:rPr lang="en-US" altLang="en-US" dirty="0"/>
              <a:t>Name (if you have it)</a:t>
            </a:r>
            <a:br>
              <a:rPr lang="en-US" altLang="en-US" dirty="0"/>
            </a:br>
            <a:r>
              <a:rPr lang="en-US" altLang="en-US" dirty="0"/>
              <a:t>Title (if you have it)</a:t>
            </a:r>
            <a:br>
              <a:rPr lang="en-US" altLang="en-US" dirty="0"/>
            </a:br>
            <a:r>
              <a:rPr lang="en-US" altLang="en-US" dirty="0"/>
              <a:t>Company</a:t>
            </a:r>
            <a:br>
              <a:rPr lang="en-US" altLang="en-US" dirty="0"/>
            </a:br>
            <a:r>
              <a:rPr lang="en-US" altLang="en-US" dirty="0"/>
              <a:t>Address </a:t>
            </a:r>
            <a:br>
              <a:rPr lang="en-US" altLang="en-US" dirty="0"/>
            </a:br>
            <a:r>
              <a:rPr lang="en-US" altLang="en-US" dirty="0"/>
              <a:t>City, Province, Postal Code</a:t>
            </a:r>
          </a:p>
          <a:p>
            <a:endParaRPr lang="en-CA" altLang="en-US" dirty="0"/>
          </a:p>
          <a:p>
            <a:r>
              <a:rPr lang="en-US" altLang="en-US" dirty="0"/>
              <a:t>Re: Job title and job number </a:t>
            </a:r>
          </a:p>
          <a:p>
            <a:endParaRPr lang="en-US" altLang="en-US" dirty="0"/>
          </a:p>
          <a:p>
            <a:r>
              <a:rPr lang="en-US" altLang="en-US" dirty="0"/>
              <a:t>Dear Hiring Manager,</a:t>
            </a:r>
          </a:p>
          <a:p>
            <a:r>
              <a:rPr lang="en-US" altLang="en-US" dirty="0"/>
              <a:t>Avoid using “Dear Sir or Madam” or “To Whom it May Concern” as it is generally perceived as impersonal.</a:t>
            </a:r>
          </a:p>
          <a:p>
            <a:endParaRPr lang="en-US" altLang="en-US" dirty="0"/>
          </a:p>
          <a:p>
            <a:r>
              <a:rPr lang="en-US" altLang="en-US" dirty="0"/>
              <a:t>For example If you have a contact name Sue Smith, use Dear Ms. Smith, don’t address them as Dear Sue (not professional)</a:t>
            </a:r>
          </a:p>
          <a:p>
            <a:endParaRPr lang="en-CA" altLang="en-US" dirty="0"/>
          </a:p>
          <a:p>
            <a:pPr eaLnBrk="1" hangingPunct="1">
              <a:spcBef>
                <a:spcPct val="0"/>
              </a:spcBef>
            </a:pPr>
            <a:endParaRPr lang="en-US" altLang="en-US" dirty="0"/>
          </a:p>
        </p:txBody>
      </p:sp>
      <p:sp>
        <p:nvSpPr>
          <p:cNvPr id="15363" name="Slide Number Placeholder 3">
            <a:extLst>
              <a:ext uri="{FF2B5EF4-FFF2-40B4-BE49-F238E27FC236}">
                <a16:creationId xmlns:a16="http://schemas.microsoft.com/office/drawing/2014/main" id="{8FACABC1-E77C-3931-2A8A-9892EBF39DA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6F6293F-E743-2640-870B-E8C0F5B53A72}" type="slidenum">
              <a:rPr lang="en-CA" altLang="en-US">
                <a:latin typeface="Arial" panose="020B0604020202020204" pitchFamily="34" charset="0"/>
              </a:rPr>
              <a:pPr>
                <a:spcBef>
                  <a:spcPct val="0"/>
                </a:spcBef>
              </a:pPr>
              <a:t>6</a:t>
            </a:fld>
            <a:endParaRPr lang="en-CA"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Slide Image Placeholder 1">
            <a:extLst>
              <a:ext uri="{FF2B5EF4-FFF2-40B4-BE49-F238E27FC236}">
                <a16:creationId xmlns:a16="http://schemas.microsoft.com/office/drawing/2014/main" id="{14074EEB-75A7-FEC9-0BCB-46593F0F607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0" name="Notes Placeholder 2">
            <a:extLst>
              <a:ext uri="{FF2B5EF4-FFF2-40B4-BE49-F238E27FC236}">
                <a16:creationId xmlns:a16="http://schemas.microsoft.com/office/drawing/2014/main" id="{8B1BC111-B4B9-F728-F654-7281854D18B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Do your research on each company </a:t>
            </a:r>
          </a:p>
          <a:p>
            <a:endParaRPr lang="en-US" altLang="en-US" dirty="0"/>
          </a:p>
          <a:p>
            <a:r>
              <a:rPr lang="en-US" altLang="en-US" dirty="0"/>
              <a:t>If you are referred by a mutual contact (referral) include their name and Job Title.</a:t>
            </a:r>
          </a:p>
          <a:p>
            <a:endParaRPr lang="en-US" altLang="en-US" dirty="0"/>
          </a:p>
          <a:p>
            <a:r>
              <a:rPr lang="en-US" altLang="en-US" dirty="0"/>
              <a:t>This is an assignment use this format</a:t>
            </a:r>
          </a:p>
        </p:txBody>
      </p:sp>
      <p:sp>
        <p:nvSpPr>
          <p:cNvPr id="17411" name="Slide Number Placeholder 3">
            <a:extLst>
              <a:ext uri="{FF2B5EF4-FFF2-40B4-BE49-F238E27FC236}">
                <a16:creationId xmlns:a16="http://schemas.microsoft.com/office/drawing/2014/main" id="{5EB3013F-C345-BAC0-C5A2-C0D434CF23B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B0DCE11-DB95-F648-87C5-2177B66D4451}" type="slidenum">
              <a:rPr lang="en-CA" altLang="en-US">
                <a:latin typeface="Arial" panose="020B0604020202020204" pitchFamily="34" charset="0"/>
              </a:rPr>
              <a:pPr>
                <a:spcBef>
                  <a:spcPct val="0"/>
                </a:spcBef>
              </a:pPr>
              <a:t>7</a:t>
            </a:fld>
            <a:endParaRPr lang="en-CA"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Image Placeholder 1">
            <a:extLst>
              <a:ext uri="{FF2B5EF4-FFF2-40B4-BE49-F238E27FC236}">
                <a16:creationId xmlns:a16="http://schemas.microsoft.com/office/drawing/2014/main" id="{3358E88A-99BF-3371-6382-F3AA1441B79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8" name="Notes Placeholder 2">
            <a:extLst>
              <a:ext uri="{FF2B5EF4-FFF2-40B4-BE49-F238E27FC236}">
                <a16:creationId xmlns:a16="http://schemas.microsoft.com/office/drawing/2014/main" id="{E7A9E57F-E30F-5DE9-4176-F5302734344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Align your experience with their job and their company</a:t>
            </a:r>
          </a:p>
          <a:p>
            <a:endParaRPr lang="en-US" altLang="en-US" dirty="0"/>
          </a:p>
          <a:p>
            <a:r>
              <a:rPr lang="en-US" altLang="en-US" dirty="0"/>
              <a:t>Do your research on the company</a:t>
            </a:r>
          </a:p>
          <a:p>
            <a:endParaRPr lang="en-US" altLang="en-US" dirty="0"/>
          </a:p>
          <a:p>
            <a:r>
              <a:rPr lang="en-US" altLang="en-US" dirty="0"/>
              <a:t>Show that you want to work there and you align your experience to their role</a:t>
            </a:r>
          </a:p>
          <a:p>
            <a:pPr eaLnBrk="1" hangingPunct="1">
              <a:spcBef>
                <a:spcPct val="0"/>
              </a:spcBef>
            </a:pPr>
            <a:endParaRPr lang="en-US" altLang="en-US" dirty="0"/>
          </a:p>
        </p:txBody>
      </p:sp>
      <p:sp>
        <p:nvSpPr>
          <p:cNvPr id="19459" name="Slide Number Placeholder 3">
            <a:extLst>
              <a:ext uri="{FF2B5EF4-FFF2-40B4-BE49-F238E27FC236}">
                <a16:creationId xmlns:a16="http://schemas.microsoft.com/office/drawing/2014/main" id="{8E9F6CCC-0682-3993-955B-5CDB6E0BBB0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66465A7-DD69-794C-B68A-3880C82BD051}" type="slidenum">
              <a:rPr lang="en-CA" altLang="en-US">
                <a:latin typeface="Arial" panose="020B0604020202020204" pitchFamily="34" charset="0"/>
              </a:rPr>
              <a:pPr>
                <a:spcBef>
                  <a:spcPct val="0"/>
                </a:spcBef>
              </a:pPr>
              <a:t>8</a:t>
            </a:fld>
            <a:endParaRPr lang="en-CA"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a:extLst>
              <a:ext uri="{FF2B5EF4-FFF2-40B4-BE49-F238E27FC236}">
                <a16:creationId xmlns:a16="http://schemas.microsoft.com/office/drawing/2014/main" id="{A04131DD-2631-AA1C-321F-8AD8CD1F42B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6" name="Notes Placeholder 2">
            <a:extLst>
              <a:ext uri="{FF2B5EF4-FFF2-40B4-BE49-F238E27FC236}">
                <a16:creationId xmlns:a16="http://schemas.microsoft.com/office/drawing/2014/main" id="{9F4666D7-9BB8-C7DA-1A0B-C6636EA67BF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Yes repeat your contact information in the final paragraph, phone number and email address even though it is in your heading</a:t>
            </a:r>
          </a:p>
          <a:p>
            <a:pPr eaLnBrk="1" hangingPunct="1">
              <a:spcBef>
                <a:spcPct val="0"/>
              </a:spcBef>
            </a:pPr>
            <a:endParaRPr lang="en-US" altLang="en-US"/>
          </a:p>
        </p:txBody>
      </p:sp>
      <p:sp>
        <p:nvSpPr>
          <p:cNvPr id="21507" name="Slide Number Placeholder 3">
            <a:extLst>
              <a:ext uri="{FF2B5EF4-FFF2-40B4-BE49-F238E27FC236}">
                <a16:creationId xmlns:a16="http://schemas.microsoft.com/office/drawing/2014/main" id="{9981D415-BF82-DDA4-953A-3446C5996A4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8220083-131D-664D-906E-25B043A5655F}" type="slidenum">
              <a:rPr lang="en-CA" altLang="en-US">
                <a:latin typeface="Arial" panose="020B0604020202020204" pitchFamily="34" charset="0"/>
              </a:rPr>
              <a:pPr>
                <a:spcBef>
                  <a:spcPct val="0"/>
                </a:spcBef>
              </a:pPr>
              <a:t>9</a:t>
            </a:fld>
            <a:endParaRPr lang="en-CA"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a:extLst>
              <a:ext uri="{FF2B5EF4-FFF2-40B4-BE49-F238E27FC236}">
                <a16:creationId xmlns:a16="http://schemas.microsoft.com/office/drawing/2014/main" id="{9678DA13-5664-6745-C2F5-A590EDA9DED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4" name="Notes Placeholder 2">
            <a:extLst>
              <a:ext uri="{FF2B5EF4-FFF2-40B4-BE49-F238E27FC236}">
                <a16:creationId xmlns:a16="http://schemas.microsoft.com/office/drawing/2014/main" id="{B2F11216-91C6-9D22-CBCE-AB1607B0B4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dirty="0"/>
              <a:t>Do your homework </a:t>
            </a:r>
            <a:r>
              <a:rPr lang="en-US" altLang="en-US" dirty="0"/>
              <a:t>- Research each company</a:t>
            </a:r>
          </a:p>
          <a:p>
            <a:endParaRPr lang="en-US" altLang="en-US" dirty="0"/>
          </a:p>
          <a:p>
            <a:r>
              <a:rPr lang="en-US" altLang="en-US" b="1" dirty="0"/>
              <a:t>Follow instructions - </a:t>
            </a:r>
            <a:r>
              <a:rPr lang="en-US" altLang="en-US" dirty="0"/>
              <a:t>Read the submissions instructions carefully and make sure you follow them. If they ask you to submit your cover letter and resume in one pdf, make sure you follow their instructions.</a:t>
            </a:r>
          </a:p>
          <a:p>
            <a:endParaRPr lang="en-US" altLang="en-US" dirty="0"/>
          </a:p>
          <a:p>
            <a:r>
              <a:rPr lang="en-US" altLang="en-US" dirty="0"/>
              <a:t>What document goes first it they requested one file with the Cover Letter and the Resume?   The Cover Letter, its surprising how many people will attach the Resume before the Cover Letter</a:t>
            </a:r>
          </a:p>
          <a:p>
            <a:endParaRPr lang="en-US" altLang="en-US" dirty="0"/>
          </a:p>
          <a:p>
            <a:r>
              <a:rPr lang="en-US" altLang="en-US" b="1" dirty="0"/>
              <a:t>Be Brief - </a:t>
            </a:r>
            <a:r>
              <a:rPr lang="en-US" altLang="en-US" dirty="0"/>
              <a:t>They will scan your doc for 7-10 seconds and if your letter is too long you may get rejected before they get to view your resume</a:t>
            </a:r>
          </a:p>
          <a:p>
            <a:endParaRPr lang="en-US" altLang="en-US" dirty="0"/>
          </a:p>
          <a:p>
            <a:r>
              <a:rPr lang="en-US" altLang="en-US" dirty="0"/>
              <a:t>I’ve seen cover letters saying the individual is detail oriented, and then the documents are filled with spelling errors, or addressed to the incorrect person, or the wrong company</a:t>
            </a:r>
          </a:p>
          <a:p>
            <a:endParaRPr lang="en-US" altLang="en-US" dirty="0"/>
          </a:p>
          <a:p>
            <a:r>
              <a:rPr lang="en-US" altLang="en-US" dirty="0"/>
              <a:t>Proofread and have someone else proofread it for you</a:t>
            </a:r>
          </a:p>
          <a:p>
            <a:endParaRPr lang="en-US" altLang="en-US" dirty="0"/>
          </a:p>
          <a:p>
            <a:pPr eaLnBrk="1" hangingPunct="1">
              <a:spcBef>
                <a:spcPct val="0"/>
              </a:spcBef>
            </a:pPr>
            <a:endParaRPr lang="en-US" altLang="en-US" dirty="0"/>
          </a:p>
        </p:txBody>
      </p:sp>
      <p:sp>
        <p:nvSpPr>
          <p:cNvPr id="23555" name="Slide Number Placeholder 3">
            <a:extLst>
              <a:ext uri="{FF2B5EF4-FFF2-40B4-BE49-F238E27FC236}">
                <a16:creationId xmlns:a16="http://schemas.microsoft.com/office/drawing/2014/main" id="{E8097151-DD46-B5B9-57D7-2EF1FDC92B2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A824549-954E-AD4D-B8FC-54A275A612C4}" type="slidenum">
              <a:rPr lang="en-CA" altLang="en-US">
                <a:latin typeface="Arial" panose="020B0604020202020204" pitchFamily="34" charset="0"/>
              </a:rPr>
              <a:pPr>
                <a:spcBef>
                  <a:spcPct val="0"/>
                </a:spcBef>
              </a:pPr>
              <a:t>10</a:t>
            </a:fld>
            <a:endParaRPr lang="en-CA"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Image Placeholder 1">
            <a:extLst>
              <a:ext uri="{FF2B5EF4-FFF2-40B4-BE49-F238E27FC236}">
                <a16:creationId xmlns:a16="http://schemas.microsoft.com/office/drawing/2014/main" id="{679D73C8-2238-FBE3-1E0B-2DDCDD6D664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2" name="Notes Placeholder 2">
            <a:extLst>
              <a:ext uri="{FF2B5EF4-FFF2-40B4-BE49-F238E27FC236}">
                <a16:creationId xmlns:a16="http://schemas.microsoft.com/office/drawing/2014/main" id="{1FD1A3A2-CA6D-DC4D-A86A-64109D1B3D88}"/>
              </a:ext>
            </a:extLst>
          </p:cNvPr>
          <p:cNvSpPr>
            <a:spLocks noGrp="1"/>
          </p:cNvSpPr>
          <p:nvPr>
            <p:ph type="body" idx="1"/>
          </p:nvPr>
        </p:nvSpPr>
        <p:spPr bwMode="auto"/>
        <p:txBody>
          <a:bodyPr wrap="square" numCol="1" anchor="t" anchorCtr="0" compatLnSpc="1">
            <a:prstTxWarp prst="textNoShape">
              <a:avLst/>
            </a:prstTxWarp>
          </a:bodyPr>
          <a:lstStyle/>
          <a:p>
            <a:pPr marL="228600" indent="-228600">
              <a:buFontTx/>
              <a:buAutoNum type="arabicPeriod"/>
              <a:defRPr/>
            </a:pPr>
            <a:r>
              <a:rPr lang="en-CA" b="1" dirty="0"/>
              <a:t> Any Spelling or Grammar Errors</a:t>
            </a:r>
          </a:p>
          <a:p>
            <a:pPr marL="228600" indent="-228600">
              <a:buFontTx/>
              <a:buAutoNum type="arabicPeriod"/>
              <a:defRPr/>
            </a:pPr>
            <a:r>
              <a:rPr lang="en-CA" b="1" dirty="0"/>
              <a:t> The Wrong Company Name or the Wrong Name of the Contact Person</a:t>
            </a:r>
          </a:p>
          <a:p>
            <a:pPr marL="228600" indent="-228600">
              <a:buFontTx/>
              <a:buAutoNum type="arabicPeriod"/>
              <a:defRPr/>
            </a:pPr>
            <a:r>
              <a:rPr lang="en-CA" b="1" dirty="0"/>
              <a:t> Anything That Isn't True</a:t>
            </a:r>
          </a:p>
          <a:p>
            <a:pPr marL="228600" indent="-228600">
              <a:buFontTx/>
              <a:buAutoNum type="arabicPeriod"/>
              <a:defRPr/>
            </a:pPr>
            <a:r>
              <a:rPr lang="en-CA" b="1" dirty="0"/>
              <a:t> Paragraphs That Are Too Long</a:t>
            </a:r>
          </a:p>
          <a:p>
            <a:pPr marL="228600" indent="-228600">
              <a:buFontTx/>
              <a:buAutoNum type="arabicPeriod"/>
              <a:defRPr/>
            </a:pPr>
            <a:r>
              <a:rPr lang="en-CA" b="1" dirty="0"/>
              <a:t> Your Salary Requirements or Expectations</a:t>
            </a:r>
          </a:p>
          <a:p>
            <a:pPr marL="228600" indent="-228600">
              <a:buFontTx/>
              <a:buAutoNum type="arabicPeriod"/>
              <a:defRPr/>
            </a:pPr>
            <a:r>
              <a:rPr lang="en-CA" b="1" dirty="0"/>
              <a:t> Negative Comments About a Current or Past Employer</a:t>
            </a:r>
          </a:p>
          <a:p>
            <a:pPr marL="228600" indent="-228600">
              <a:buFontTx/>
              <a:buAutoNum type="arabicPeriod"/>
              <a:defRPr/>
            </a:pPr>
            <a:r>
              <a:rPr lang="en-CA" b="1" dirty="0"/>
              <a:t> Information Not Related to the Job</a:t>
            </a:r>
          </a:p>
          <a:p>
            <a:pPr marL="228600" indent="-228600">
              <a:buFontTx/>
              <a:buAutoNum type="arabicPeriod"/>
              <a:defRPr/>
            </a:pPr>
            <a:r>
              <a:rPr lang="en-CA" b="1" dirty="0"/>
              <a:t> Personal Information</a:t>
            </a:r>
          </a:p>
          <a:p>
            <a:pPr marL="228600" indent="-228600">
              <a:buFontTx/>
              <a:buAutoNum type="arabicPeriod"/>
              <a:defRPr/>
            </a:pPr>
            <a:r>
              <a:rPr lang="en-CA" b="1" dirty="0"/>
              <a:t> Any Portrayal of the Position as a Stepping Stone</a:t>
            </a:r>
          </a:p>
          <a:p>
            <a:pPr marL="228600" indent="-228600">
              <a:buFontTx/>
              <a:buAutoNum type="arabicPeriod"/>
              <a:defRPr/>
            </a:pPr>
            <a:r>
              <a:rPr lang="en-CA" b="1" dirty="0"/>
              <a:t> What You Want</a:t>
            </a:r>
            <a:br>
              <a:rPr lang="en-CA" dirty="0"/>
            </a:br>
            <a:r>
              <a:rPr lang="en-CA" dirty="0"/>
              <a:t>Don’t mention what you want to get out of the job or the company. The precious space in your cover letter should focus on what you have to offer the employer.</a:t>
            </a:r>
          </a:p>
          <a:p>
            <a:pPr marL="228600" indent="-228600">
              <a:buFontTx/>
              <a:buAutoNum type="arabicPeriod"/>
              <a:defRPr/>
            </a:pPr>
            <a:r>
              <a:rPr lang="en-CA" b="1" dirty="0"/>
              <a:t> What You Don't Want</a:t>
            </a:r>
          </a:p>
          <a:p>
            <a:pPr marL="228600" indent="-228600">
              <a:buFontTx/>
              <a:buAutoNum type="arabicPeriod"/>
              <a:defRPr/>
            </a:pPr>
            <a:r>
              <a:rPr lang="en-CA" b="1" dirty="0"/>
              <a:t> Qualifications You Don’t Have</a:t>
            </a:r>
          </a:p>
          <a:p>
            <a:pPr marL="228600" indent="-228600">
              <a:buFontTx/>
              <a:buAutoNum type="arabicPeriod"/>
              <a:defRPr/>
            </a:pPr>
            <a:r>
              <a:rPr lang="en-CA" b="1" dirty="0"/>
              <a:t> Explanations for Leaving Past Jobs Which Sound Like Excuses</a:t>
            </a:r>
          </a:p>
          <a:p>
            <a:pPr marL="228600" indent="-228600">
              <a:buFontTx/>
              <a:buAutoNum type="arabicPeriod"/>
              <a:defRPr/>
            </a:pPr>
            <a:r>
              <a:rPr lang="en-CA" b="1" dirty="0"/>
              <a:t>Excessive Modesty or Overly Flattering Language</a:t>
            </a:r>
          </a:p>
          <a:p>
            <a:pPr marL="228600" indent="-228600">
              <a:buFontTx/>
              <a:buAutoNum type="arabicPeriod"/>
              <a:defRPr/>
            </a:pPr>
            <a:r>
              <a:rPr lang="en-CA" b="1" dirty="0"/>
              <a:t>An Overwhelming Amount of Interest in the Job</a:t>
            </a:r>
            <a:br>
              <a:rPr lang="en-CA" dirty="0"/>
            </a:br>
            <a:r>
              <a:rPr lang="en-CA" dirty="0"/>
              <a:t>Excessive interest can hint of desperation or undercut your leverage for salary negotiation. You’re pitching your candidacy, not begging for an interview. Showing desperation is a sure fire way to turn off the hiring manager.</a:t>
            </a:r>
          </a:p>
          <a:p>
            <a:pPr marL="228600" indent="-228600" eaLnBrk="1" fontAlgn="auto" hangingPunct="1">
              <a:spcBef>
                <a:spcPts val="0"/>
              </a:spcBef>
              <a:spcAft>
                <a:spcPts val="0"/>
              </a:spcAft>
              <a:buFontTx/>
              <a:buAutoNum type="arabicPeriod"/>
              <a:defRPr/>
            </a:pPr>
            <a:r>
              <a:rPr lang="en-CA" b="1" dirty="0">
                <a:latin typeface="Arial" panose="020B0604020202020204" pitchFamily="34" charset="0"/>
                <a:cs typeface="Arial" panose="020B0604020202020204" pitchFamily="34" charset="0"/>
              </a:rPr>
              <a:t>Droning on too long</a:t>
            </a:r>
            <a:br>
              <a:rPr lang="en-CA" dirty="0">
                <a:latin typeface="Arial" panose="020B0604020202020204" pitchFamily="34" charset="0"/>
                <a:cs typeface="Arial" panose="020B0604020202020204" pitchFamily="34" charset="0"/>
              </a:rPr>
            </a:br>
            <a:r>
              <a:rPr lang="en-CA" dirty="0">
                <a:latin typeface="Arial" panose="020B0604020202020204" pitchFamily="34" charset="0"/>
                <a:cs typeface="Arial" panose="020B0604020202020204" pitchFamily="34" charset="0"/>
              </a:rPr>
              <a:t>Keep it simple and clean - not cluttered. Use no more than seven lines, and preferably five or fewer, per paragraph. Vary the sentence length. None of the sentences should be very long, or too short . </a:t>
            </a:r>
            <a:r>
              <a:rPr lang="en-CA" b="1" dirty="0">
                <a:latin typeface="Arial" panose="020B0604020202020204" pitchFamily="34" charset="0"/>
                <a:cs typeface="Arial" panose="020B0604020202020204" pitchFamily="34" charset="0"/>
              </a:rPr>
              <a:t>One page is the maximum for cover letters.</a:t>
            </a:r>
          </a:p>
          <a:p>
            <a:pPr>
              <a:defRPr/>
            </a:pPr>
            <a:endParaRPr lang="en-US" dirty="0"/>
          </a:p>
          <a:p>
            <a:pPr>
              <a:defRPr/>
            </a:pPr>
            <a:endParaRPr lang="en-US" dirty="0"/>
          </a:p>
          <a:p>
            <a:pPr eaLnBrk="1" hangingPunct="1">
              <a:spcBef>
                <a:spcPct val="0"/>
              </a:spcBef>
              <a:defRPr/>
            </a:pPr>
            <a:endParaRPr lang="en-US" altLang="en-US" dirty="0"/>
          </a:p>
        </p:txBody>
      </p:sp>
      <p:sp>
        <p:nvSpPr>
          <p:cNvPr id="25603" name="Slide Number Placeholder 3">
            <a:extLst>
              <a:ext uri="{FF2B5EF4-FFF2-40B4-BE49-F238E27FC236}">
                <a16:creationId xmlns:a16="http://schemas.microsoft.com/office/drawing/2014/main" id="{FCA5B76B-E781-053B-406A-F11221366E3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1B2C1A45-AC70-8E47-BB66-0EB8A6B81678}" type="slidenum">
              <a:rPr lang="en-CA" altLang="en-US">
                <a:latin typeface="Arial" panose="020B0604020202020204" pitchFamily="34" charset="0"/>
              </a:rPr>
              <a:pPr>
                <a:spcBef>
                  <a:spcPct val="0"/>
                </a:spcBef>
              </a:pPr>
              <a:t>11</a:t>
            </a:fld>
            <a:endParaRPr lang="en-CA"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Tx/>
              <a:buAutoNum type="arabicPeriod"/>
              <a:defRPr/>
            </a:pPr>
            <a:r>
              <a:rPr lang="en-CA" b="1" dirty="0"/>
              <a:t> Any Spelling or Grammar Errors</a:t>
            </a:r>
          </a:p>
          <a:p>
            <a:pPr marL="228600" indent="-228600">
              <a:buFontTx/>
              <a:buAutoNum type="arabicPeriod"/>
              <a:defRPr/>
            </a:pPr>
            <a:r>
              <a:rPr lang="en-CA" b="1" dirty="0"/>
              <a:t> The Wrong Company Name or the Wrong Name of the Contact Person</a:t>
            </a:r>
          </a:p>
          <a:p>
            <a:pPr marL="228600" indent="-228600">
              <a:buFontTx/>
              <a:buAutoNum type="arabicPeriod"/>
              <a:defRPr/>
            </a:pPr>
            <a:r>
              <a:rPr lang="en-CA" b="1" dirty="0"/>
              <a:t> Anything That Isn't True</a:t>
            </a:r>
          </a:p>
          <a:p>
            <a:pPr marL="228600" indent="-228600">
              <a:buFontTx/>
              <a:buAutoNum type="arabicPeriod"/>
              <a:defRPr/>
            </a:pPr>
            <a:r>
              <a:rPr lang="en-CA" b="1" dirty="0"/>
              <a:t> Paragraphs That Are Too Long</a:t>
            </a:r>
          </a:p>
          <a:p>
            <a:pPr marL="228600" indent="-228600">
              <a:buFontTx/>
              <a:buAutoNum type="arabicPeriod"/>
              <a:defRPr/>
            </a:pPr>
            <a:r>
              <a:rPr lang="en-CA" b="1" dirty="0"/>
              <a:t> Your Salary Requirements or Expectations</a:t>
            </a:r>
          </a:p>
          <a:p>
            <a:pPr marL="228600" indent="-228600">
              <a:buFontTx/>
              <a:buAutoNum type="arabicPeriod"/>
              <a:defRPr/>
            </a:pPr>
            <a:r>
              <a:rPr lang="en-CA" b="1" dirty="0"/>
              <a:t> Negative Comments About a Current or Past Employer</a:t>
            </a:r>
          </a:p>
          <a:p>
            <a:pPr marL="228600" indent="-228600">
              <a:buFontTx/>
              <a:buAutoNum type="arabicPeriod"/>
              <a:defRPr/>
            </a:pPr>
            <a:r>
              <a:rPr lang="en-CA" b="1" dirty="0"/>
              <a:t> Information Not Related to the Job</a:t>
            </a:r>
          </a:p>
          <a:p>
            <a:pPr marL="228600" indent="-228600">
              <a:buFontTx/>
              <a:buAutoNum type="arabicPeriod"/>
              <a:defRPr/>
            </a:pPr>
            <a:r>
              <a:rPr lang="en-CA" b="1" dirty="0"/>
              <a:t> Personal Information</a:t>
            </a:r>
          </a:p>
          <a:p>
            <a:pPr marL="228600" indent="-228600">
              <a:buFontTx/>
              <a:buAutoNum type="arabicPeriod"/>
              <a:defRPr/>
            </a:pPr>
            <a:r>
              <a:rPr lang="en-CA" b="1" dirty="0"/>
              <a:t> Any Portrayal of the Position as a Stepping Stone</a:t>
            </a:r>
          </a:p>
          <a:p>
            <a:pPr marL="228600" indent="-228600">
              <a:buFontTx/>
              <a:buAutoNum type="arabicPeriod"/>
              <a:defRPr/>
            </a:pPr>
            <a:r>
              <a:rPr lang="en-CA" b="1" dirty="0"/>
              <a:t> What You Want</a:t>
            </a:r>
            <a:br>
              <a:rPr lang="en-CA" dirty="0"/>
            </a:br>
            <a:r>
              <a:rPr lang="en-CA" dirty="0"/>
              <a:t>Don’t mention what you want to get out of the job or the company. The precious space in your cover letter should focus on what you have to offer the employer.</a:t>
            </a:r>
          </a:p>
          <a:p>
            <a:pPr marL="228600" indent="-228600">
              <a:buFontTx/>
              <a:buAutoNum type="arabicPeriod"/>
              <a:defRPr/>
            </a:pPr>
            <a:r>
              <a:rPr lang="en-CA" b="1" dirty="0"/>
              <a:t> What You Don't Want</a:t>
            </a:r>
          </a:p>
          <a:p>
            <a:pPr marL="228600" indent="-228600">
              <a:buFontTx/>
              <a:buAutoNum type="arabicPeriod"/>
              <a:defRPr/>
            </a:pPr>
            <a:r>
              <a:rPr lang="en-CA" b="1" dirty="0"/>
              <a:t> Qualifications You Don’t Have</a:t>
            </a:r>
          </a:p>
          <a:p>
            <a:pPr marL="228600" indent="-228600">
              <a:buFontTx/>
              <a:buAutoNum type="arabicPeriod"/>
              <a:defRPr/>
            </a:pPr>
            <a:r>
              <a:rPr lang="en-CA" b="1" dirty="0"/>
              <a:t> Explanations for Leaving Past Jobs Which Sound Like Excuses</a:t>
            </a:r>
          </a:p>
          <a:p>
            <a:pPr marL="228600" indent="-228600">
              <a:buFontTx/>
              <a:buAutoNum type="arabicPeriod"/>
              <a:defRPr/>
            </a:pPr>
            <a:r>
              <a:rPr lang="en-CA" b="1" dirty="0"/>
              <a:t>Excessive Modesty or Overly Flattering Language</a:t>
            </a:r>
          </a:p>
          <a:p>
            <a:pPr marL="228600" indent="-228600">
              <a:buFontTx/>
              <a:buAutoNum type="arabicPeriod"/>
              <a:defRPr/>
            </a:pPr>
            <a:r>
              <a:rPr lang="en-CA" b="1" dirty="0"/>
              <a:t>An Overwhelming Amount of Interest in the Job</a:t>
            </a:r>
            <a:br>
              <a:rPr lang="en-CA" dirty="0"/>
            </a:br>
            <a:r>
              <a:rPr lang="en-CA" dirty="0"/>
              <a:t>Excessive interest can hint of desperation or undercut your leverage for salary negotiation. You’re pitching your candidacy, not begging for an interview. Showing desperation is a sure fire way to turn off the hiring manager.</a:t>
            </a:r>
          </a:p>
          <a:p>
            <a:pPr marL="228600" indent="-228600" eaLnBrk="1" fontAlgn="auto" hangingPunct="1">
              <a:spcBef>
                <a:spcPts val="0"/>
              </a:spcBef>
              <a:spcAft>
                <a:spcPts val="0"/>
              </a:spcAft>
              <a:buFontTx/>
              <a:buAutoNum type="arabicPeriod"/>
              <a:defRPr/>
            </a:pPr>
            <a:r>
              <a:rPr lang="en-CA" b="1" dirty="0">
                <a:latin typeface="Arial" panose="020B0604020202020204" pitchFamily="34" charset="0"/>
                <a:cs typeface="Arial" panose="020B0604020202020204" pitchFamily="34" charset="0"/>
              </a:rPr>
              <a:t>Droning on too long</a:t>
            </a:r>
            <a:br>
              <a:rPr lang="en-CA" dirty="0">
                <a:latin typeface="Arial" panose="020B0604020202020204" pitchFamily="34" charset="0"/>
                <a:cs typeface="Arial" panose="020B0604020202020204" pitchFamily="34" charset="0"/>
              </a:rPr>
            </a:br>
            <a:r>
              <a:rPr lang="en-CA" dirty="0">
                <a:latin typeface="Arial" panose="020B0604020202020204" pitchFamily="34" charset="0"/>
                <a:cs typeface="Arial" panose="020B0604020202020204" pitchFamily="34" charset="0"/>
              </a:rPr>
              <a:t>Keep it simple and clean - not cluttered. Use no more than seven lines, and preferably five or fewer, per paragraph. Vary the sentence length. None of the sentences should be very long, or too short . </a:t>
            </a:r>
            <a:r>
              <a:rPr lang="en-CA" b="1" dirty="0">
                <a:latin typeface="Arial" panose="020B0604020202020204" pitchFamily="34" charset="0"/>
                <a:cs typeface="Arial" panose="020B0604020202020204" pitchFamily="34" charset="0"/>
              </a:rPr>
              <a:t>One page is the maximum for cover letters.</a:t>
            </a:r>
          </a:p>
          <a:p>
            <a:pPr>
              <a:defRPr/>
            </a:pPr>
            <a:endParaRPr lang="en-US" dirty="0"/>
          </a:p>
          <a:p>
            <a:endParaRPr lang="en-US" dirty="0"/>
          </a:p>
        </p:txBody>
      </p:sp>
      <p:sp>
        <p:nvSpPr>
          <p:cNvPr id="4" name="Slide Number Placeholder 3"/>
          <p:cNvSpPr>
            <a:spLocks noGrp="1"/>
          </p:cNvSpPr>
          <p:nvPr>
            <p:ph type="sldNum" sz="quarter" idx="5"/>
          </p:nvPr>
        </p:nvSpPr>
        <p:spPr/>
        <p:txBody>
          <a:bodyPr/>
          <a:lstStyle/>
          <a:p>
            <a:fld id="{C215062C-DFC9-0F4C-95AB-70922AB23001}" type="slidenum">
              <a:rPr lang="en-CA" altLang="en-US" smtClean="0"/>
              <a:pPr/>
              <a:t>12</a:t>
            </a:fld>
            <a:endParaRPr lang="en-CA" altLang="en-US"/>
          </a:p>
        </p:txBody>
      </p:sp>
    </p:spTree>
    <p:extLst>
      <p:ext uri="{BB962C8B-B14F-4D97-AF65-F5344CB8AC3E}">
        <p14:creationId xmlns:p14="http://schemas.microsoft.com/office/powerpoint/2010/main" val="25293133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BCAB97-6A41-0A10-F7A7-7ECD11388E0D}"/>
              </a:ext>
            </a:extLst>
          </p:cNvPr>
          <p:cNvCxnSpPr/>
          <p:nvPr userDrawn="1"/>
        </p:nvCxnSpPr>
        <p:spPr>
          <a:xfrm>
            <a:off x="-6350" y="6565900"/>
            <a:ext cx="9150350" cy="0"/>
          </a:xfrm>
          <a:prstGeom prst="line">
            <a:avLst/>
          </a:prstGeom>
          <a:ln w="57150">
            <a:solidFill>
              <a:srgbClr val="7482BF"/>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AE42BE64-06DD-26D0-59A3-EA35863CCC84}"/>
              </a:ext>
            </a:extLst>
          </p:cNvPr>
          <p:cNvSpPr/>
          <p:nvPr userDrawn="1"/>
        </p:nvSpPr>
        <p:spPr>
          <a:xfrm>
            <a:off x="1652588" y="0"/>
            <a:ext cx="7497762" cy="1065213"/>
          </a:xfrm>
          <a:prstGeom prst="rect">
            <a:avLst/>
          </a:prstGeom>
          <a:solidFill>
            <a:srgbClr val="7482B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pic>
        <p:nvPicPr>
          <p:cNvPr id="4" name="Picture 10">
            <a:extLst>
              <a:ext uri="{FF2B5EF4-FFF2-40B4-BE49-F238E27FC236}">
                <a16:creationId xmlns:a16="http://schemas.microsoft.com/office/drawing/2014/main" id="{2ADF1E9F-D0C6-F944-C427-7160CADC7DC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305" t="2190" r="1263" b="2048"/>
          <a:stretch>
            <a:fillRect/>
          </a:stretch>
        </p:blipFill>
        <p:spPr bwMode="auto">
          <a:xfrm>
            <a:off x="0" y="0"/>
            <a:ext cx="1652588" cy="106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1">
            <a:extLst>
              <a:ext uri="{FF2B5EF4-FFF2-40B4-BE49-F238E27FC236}">
                <a16:creationId xmlns:a16="http://schemas.microsoft.com/office/drawing/2014/main" id="{2AA7F7F9-B1A6-A656-AF9D-8859EEB4F79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046288" y="114300"/>
            <a:ext cx="59309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3"/>
          <p:cNvSpPr>
            <a:spLocks noGrp="1" noChangeArrowheads="1"/>
          </p:cNvSpPr>
          <p:nvPr>
            <p:ph type="ctrTitle"/>
          </p:nvPr>
        </p:nvSpPr>
        <p:spPr>
          <a:xfrm>
            <a:off x="1955800" y="517525"/>
            <a:ext cx="7188200" cy="431800"/>
          </a:xfrm>
        </p:spPr>
        <p:txBody>
          <a:bodyPr/>
          <a:lstStyle>
            <a:lvl1pPr>
              <a:defRPr/>
            </a:lvl1pPr>
          </a:lstStyle>
          <a:p>
            <a:pPr lvl="0"/>
            <a:r>
              <a:rPr lang="en-CA" altLang="en-US" noProof="0"/>
              <a:t>Click to edit Master title style</a:t>
            </a:r>
          </a:p>
        </p:txBody>
      </p:sp>
      <p:sp>
        <p:nvSpPr>
          <p:cNvPr id="3076" name="Rectangle 4"/>
          <p:cNvSpPr>
            <a:spLocks noGrp="1" noChangeArrowheads="1"/>
          </p:cNvSpPr>
          <p:nvPr>
            <p:ph type="subTitle" idx="1"/>
          </p:nvPr>
        </p:nvSpPr>
        <p:spPr>
          <a:xfrm>
            <a:off x="838200" y="2408238"/>
            <a:ext cx="7467600" cy="1752600"/>
          </a:xfrm>
        </p:spPr>
        <p:txBody>
          <a:bodyPr/>
          <a:lstStyle>
            <a:lvl1pPr marL="0" indent="0" algn="ctr">
              <a:buFont typeface="Wingdings" pitchFamily="2" charset="2"/>
              <a:buNone/>
              <a:defRPr sz="4400" b="1"/>
            </a:lvl1pPr>
          </a:lstStyle>
          <a:p>
            <a:pPr lvl="0"/>
            <a:r>
              <a:rPr lang="en-CA" altLang="en-US" noProof="0"/>
              <a:t>Place Header Here</a:t>
            </a:r>
            <a:br>
              <a:rPr lang="en-CA" altLang="en-US" noProof="0"/>
            </a:br>
            <a:r>
              <a:rPr lang="en-CA" altLang="en-US" noProof="0"/>
              <a:t>Place Text Here</a:t>
            </a:r>
          </a:p>
        </p:txBody>
      </p:sp>
    </p:spTree>
    <p:extLst>
      <p:ext uri="{BB962C8B-B14F-4D97-AF65-F5344CB8AC3E}">
        <p14:creationId xmlns:p14="http://schemas.microsoft.com/office/powerpoint/2010/main" val="1103192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264355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395788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897317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882614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34665876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7110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27629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65182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583094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8788" y="381000"/>
            <a:ext cx="2116137" cy="5745163"/>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381000"/>
            <a:ext cx="6199188" cy="5745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4211539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1930400" y="381000"/>
            <a:ext cx="6994525" cy="633413"/>
          </a:xfrm>
        </p:spPr>
        <p:txBody>
          <a:bodyPr/>
          <a:lstStyle/>
          <a:p>
            <a:r>
              <a:rPr lang="en-US"/>
              <a:t>Click to edit Master title style</a:t>
            </a:r>
            <a:endParaRPr lang="en-CA"/>
          </a:p>
        </p:txBody>
      </p:sp>
      <p:sp>
        <p:nvSpPr>
          <p:cNvPr id="3" name="SmartArt Placeholder 2"/>
          <p:cNvSpPr>
            <a:spLocks noGrp="1"/>
          </p:cNvSpPr>
          <p:nvPr>
            <p:ph type="dgm" idx="1"/>
          </p:nvPr>
        </p:nvSpPr>
        <p:spPr>
          <a:xfrm>
            <a:off x="457200" y="1600200"/>
            <a:ext cx="8229600" cy="4525963"/>
          </a:xfrm>
        </p:spPr>
        <p:txBody>
          <a:bodyPr/>
          <a:lstStyle/>
          <a:p>
            <a:pPr lvl="0"/>
            <a:endParaRPr lang="en-CA" noProof="0" dirty="0"/>
          </a:p>
        </p:txBody>
      </p:sp>
    </p:spTree>
    <p:extLst>
      <p:ext uri="{BB962C8B-B14F-4D97-AF65-F5344CB8AC3E}">
        <p14:creationId xmlns:p14="http://schemas.microsoft.com/office/powerpoint/2010/main" val="2966450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75F71942-F1D2-8243-A94E-FE443D2C8C33}"/>
              </a:ext>
            </a:extLst>
          </p:cNvPr>
          <p:cNvCxnSpPr/>
          <p:nvPr userDrawn="1"/>
        </p:nvCxnSpPr>
        <p:spPr>
          <a:xfrm>
            <a:off x="-6350" y="6565900"/>
            <a:ext cx="9150350" cy="0"/>
          </a:xfrm>
          <a:prstGeom prst="line">
            <a:avLst/>
          </a:prstGeom>
          <a:ln w="57150">
            <a:solidFill>
              <a:srgbClr val="7482BF"/>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88EEB50A-7918-D44D-B927-3E67CE202C3C}"/>
              </a:ext>
            </a:extLst>
          </p:cNvPr>
          <p:cNvSpPr/>
          <p:nvPr userDrawn="1"/>
        </p:nvSpPr>
        <p:spPr>
          <a:xfrm>
            <a:off x="1652588" y="0"/>
            <a:ext cx="7497762" cy="1065213"/>
          </a:xfrm>
          <a:prstGeom prst="rect">
            <a:avLst/>
          </a:prstGeom>
          <a:solidFill>
            <a:srgbClr val="7482B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pic>
        <p:nvPicPr>
          <p:cNvPr id="1028" name="Picture 6">
            <a:extLst>
              <a:ext uri="{FF2B5EF4-FFF2-40B4-BE49-F238E27FC236}">
                <a16:creationId xmlns:a16="http://schemas.microsoft.com/office/drawing/2014/main" id="{E0041B6F-6E81-3A6C-4543-3AE5189A3976}"/>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l="1305" t="2190" r="1263" b="2048"/>
          <a:stretch>
            <a:fillRect/>
          </a:stretch>
        </p:blipFill>
        <p:spPr bwMode="auto">
          <a:xfrm>
            <a:off x="0" y="0"/>
            <a:ext cx="1652588" cy="106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 name="Picture 7">
            <a:extLst>
              <a:ext uri="{FF2B5EF4-FFF2-40B4-BE49-F238E27FC236}">
                <a16:creationId xmlns:a16="http://schemas.microsoft.com/office/drawing/2014/main" id="{EA260320-C095-5B4F-6407-0C928BA14B7D}"/>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2046288" y="114300"/>
            <a:ext cx="5930900"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Rectangle 2">
            <a:extLst>
              <a:ext uri="{FF2B5EF4-FFF2-40B4-BE49-F238E27FC236}">
                <a16:creationId xmlns:a16="http://schemas.microsoft.com/office/drawing/2014/main" id="{23FF6CC6-373D-373A-D5ED-259230072607}"/>
              </a:ext>
            </a:extLst>
          </p:cNvPr>
          <p:cNvSpPr>
            <a:spLocks noGrp="1" noChangeArrowheads="1"/>
          </p:cNvSpPr>
          <p:nvPr>
            <p:ph type="title"/>
          </p:nvPr>
        </p:nvSpPr>
        <p:spPr bwMode="white">
          <a:xfrm>
            <a:off x="1930400" y="381000"/>
            <a:ext cx="6994525" cy="633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CA" altLang="en-US"/>
              <a:t>Click to edit Master title style</a:t>
            </a:r>
          </a:p>
        </p:txBody>
      </p:sp>
      <p:sp>
        <p:nvSpPr>
          <p:cNvPr id="1031" name="Rectangle 3">
            <a:extLst>
              <a:ext uri="{FF2B5EF4-FFF2-40B4-BE49-F238E27FC236}">
                <a16:creationId xmlns:a16="http://schemas.microsoft.com/office/drawing/2014/main" id="{CA199714-CC9E-E9EA-4F8D-7F407451AF72}"/>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CA" altLang="en-US"/>
              <a:t>Click to edit Master text styles</a:t>
            </a:r>
          </a:p>
          <a:p>
            <a:pPr lvl="1"/>
            <a:r>
              <a:rPr lang="en-CA" altLang="en-US"/>
              <a:t>Second level</a:t>
            </a:r>
          </a:p>
          <a:p>
            <a:pPr lvl="2"/>
            <a:r>
              <a:rPr lang="en-CA" altLang="en-US"/>
              <a:t>Third level</a:t>
            </a:r>
          </a:p>
          <a:p>
            <a:pPr lvl="3"/>
            <a:r>
              <a:rPr lang="en-CA" altLang="en-US"/>
              <a:t>Fourth level</a:t>
            </a:r>
          </a:p>
          <a:p>
            <a:pPr lvl="4"/>
            <a:r>
              <a:rPr lang="en-CA" altLang="en-US"/>
              <a:t>Fifth level</a:t>
            </a:r>
          </a:p>
        </p:txBody>
      </p:sp>
    </p:spTree>
  </p:cSld>
  <p:clrMap bg1="lt1" tx1="dk1" bg2="lt2" tx2="dk2" accent1="accent1" accent2="accent2" accent3="accent3" accent4="accent4" accent5="accent5" accent6="accent6" hlink="hlink" folHlink="folHlink"/>
  <p:sldLayoutIdLst>
    <p:sldLayoutId id="2147483777"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Lst>
  <p:txStyles>
    <p:titleStyle>
      <a:lvl1pPr algn="l" rtl="0" eaLnBrk="0" fontAlgn="base" hangingPunct="0">
        <a:spcBef>
          <a:spcPct val="0"/>
        </a:spcBef>
        <a:spcAft>
          <a:spcPct val="0"/>
        </a:spcAft>
        <a:defRPr sz="3600" b="1">
          <a:solidFill>
            <a:schemeClr val="tx2"/>
          </a:solidFill>
          <a:latin typeface="+mj-lt"/>
          <a:ea typeface="+mj-ea"/>
          <a:cs typeface="+mj-cs"/>
        </a:defRPr>
      </a:lvl1pPr>
      <a:lvl2pPr algn="l" rtl="0" eaLnBrk="0" fontAlgn="base" hangingPunct="0">
        <a:spcBef>
          <a:spcPct val="0"/>
        </a:spcBef>
        <a:spcAft>
          <a:spcPct val="0"/>
        </a:spcAft>
        <a:defRPr sz="3600" b="1">
          <a:solidFill>
            <a:schemeClr val="tx2"/>
          </a:solidFill>
          <a:latin typeface="Arial" charset="0"/>
        </a:defRPr>
      </a:lvl2pPr>
      <a:lvl3pPr algn="l" rtl="0" eaLnBrk="0" fontAlgn="base" hangingPunct="0">
        <a:spcBef>
          <a:spcPct val="0"/>
        </a:spcBef>
        <a:spcAft>
          <a:spcPct val="0"/>
        </a:spcAft>
        <a:defRPr sz="3600" b="1">
          <a:solidFill>
            <a:schemeClr val="tx2"/>
          </a:solidFill>
          <a:latin typeface="Arial" charset="0"/>
        </a:defRPr>
      </a:lvl3pPr>
      <a:lvl4pPr algn="l" rtl="0" eaLnBrk="0" fontAlgn="base" hangingPunct="0">
        <a:spcBef>
          <a:spcPct val="0"/>
        </a:spcBef>
        <a:spcAft>
          <a:spcPct val="0"/>
        </a:spcAft>
        <a:defRPr sz="3600" b="1">
          <a:solidFill>
            <a:schemeClr val="tx2"/>
          </a:solidFill>
          <a:latin typeface="Arial" charset="0"/>
        </a:defRPr>
      </a:lvl4pPr>
      <a:lvl5pPr algn="l" rtl="0" eaLnBrk="0" fontAlgn="base" hangingPunct="0">
        <a:spcBef>
          <a:spcPct val="0"/>
        </a:spcBef>
        <a:spcAft>
          <a:spcPct val="0"/>
        </a:spcAft>
        <a:defRPr sz="3600" b="1">
          <a:solidFill>
            <a:schemeClr val="tx2"/>
          </a:solidFill>
          <a:latin typeface="Arial" charset="0"/>
        </a:defRPr>
      </a:lvl5pPr>
      <a:lvl6pPr marL="457200" algn="l" rtl="0" fontAlgn="base">
        <a:spcBef>
          <a:spcPct val="0"/>
        </a:spcBef>
        <a:spcAft>
          <a:spcPct val="0"/>
        </a:spcAft>
        <a:defRPr sz="3600" b="1">
          <a:solidFill>
            <a:schemeClr val="tx2"/>
          </a:solidFill>
          <a:latin typeface="Arial" charset="0"/>
        </a:defRPr>
      </a:lvl6pPr>
      <a:lvl7pPr marL="914400" algn="l" rtl="0" fontAlgn="base">
        <a:spcBef>
          <a:spcPct val="0"/>
        </a:spcBef>
        <a:spcAft>
          <a:spcPct val="0"/>
        </a:spcAft>
        <a:defRPr sz="3600" b="1">
          <a:solidFill>
            <a:schemeClr val="tx2"/>
          </a:solidFill>
          <a:latin typeface="Arial" charset="0"/>
        </a:defRPr>
      </a:lvl7pPr>
      <a:lvl8pPr marL="1371600" algn="l" rtl="0" fontAlgn="base">
        <a:spcBef>
          <a:spcPct val="0"/>
        </a:spcBef>
        <a:spcAft>
          <a:spcPct val="0"/>
        </a:spcAft>
        <a:defRPr sz="3600" b="1">
          <a:solidFill>
            <a:schemeClr val="tx2"/>
          </a:solidFill>
          <a:latin typeface="Arial" charset="0"/>
        </a:defRPr>
      </a:lvl8pPr>
      <a:lvl9pPr marL="1828800" algn="l" rtl="0" fontAlgn="base">
        <a:spcBef>
          <a:spcPct val="0"/>
        </a:spcBef>
        <a:spcAft>
          <a:spcPct val="0"/>
        </a:spcAft>
        <a:defRPr sz="3600" b="1">
          <a:solidFill>
            <a:schemeClr val="tx2"/>
          </a:solidFill>
          <a:latin typeface="Arial" charset="0"/>
        </a:defRPr>
      </a:lvl9pPr>
    </p:titleStyle>
    <p:bodyStyle>
      <a:lvl1pPr marL="342900" indent="-342900" algn="l" rtl="0" eaLnBrk="0" fontAlgn="base" hangingPunct="0">
        <a:spcBef>
          <a:spcPct val="25000"/>
        </a:spcBef>
        <a:spcAft>
          <a:spcPct val="25000"/>
        </a:spcAft>
        <a:buClr>
          <a:srgbClr val="005AA6"/>
        </a:buClr>
        <a:buFont typeface="Wingdings" pitchFamily="2" charset="2"/>
        <a:buChar char="§"/>
        <a:defRPr sz="2800">
          <a:solidFill>
            <a:srgbClr val="4D4D4D"/>
          </a:solidFill>
          <a:latin typeface="+mn-lt"/>
          <a:ea typeface="+mn-ea"/>
          <a:cs typeface="+mn-cs"/>
        </a:defRPr>
      </a:lvl1pPr>
      <a:lvl2pPr marL="742950" indent="-285750" algn="l" rtl="0" eaLnBrk="0" fontAlgn="base" hangingPunct="0">
        <a:spcBef>
          <a:spcPct val="25000"/>
        </a:spcBef>
        <a:spcAft>
          <a:spcPct val="25000"/>
        </a:spcAft>
        <a:buClr>
          <a:srgbClr val="005AA6"/>
        </a:buClr>
        <a:buChar char="–"/>
        <a:defRPr sz="2400">
          <a:solidFill>
            <a:srgbClr val="4D4D4D"/>
          </a:solidFill>
          <a:latin typeface="+mn-lt"/>
        </a:defRPr>
      </a:lvl2pPr>
      <a:lvl3pPr marL="1143000" indent="-228600" algn="l" rtl="0" eaLnBrk="0" fontAlgn="base" hangingPunct="0">
        <a:spcBef>
          <a:spcPct val="25000"/>
        </a:spcBef>
        <a:spcAft>
          <a:spcPct val="25000"/>
        </a:spcAft>
        <a:buClr>
          <a:srgbClr val="005AA6"/>
        </a:buClr>
        <a:buChar char="•"/>
        <a:defRPr sz="2000">
          <a:solidFill>
            <a:srgbClr val="4D4D4D"/>
          </a:solidFill>
          <a:latin typeface="+mn-lt"/>
        </a:defRPr>
      </a:lvl3pPr>
      <a:lvl4pPr marL="1600200" indent="-228600" algn="l" rtl="0" eaLnBrk="0" fontAlgn="base" hangingPunct="0">
        <a:spcBef>
          <a:spcPct val="25000"/>
        </a:spcBef>
        <a:spcAft>
          <a:spcPct val="25000"/>
        </a:spcAft>
        <a:buClr>
          <a:srgbClr val="005AA6"/>
        </a:buClr>
        <a:buChar char="–"/>
        <a:defRPr>
          <a:solidFill>
            <a:srgbClr val="4D4D4D"/>
          </a:solidFill>
          <a:latin typeface="+mn-lt"/>
        </a:defRPr>
      </a:lvl4pPr>
      <a:lvl5pPr marL="2057400" indent="-228600" algn="l" rtl="0" eaLnBrk="0" fontAlgn="base" hangingPunct="0">
        <a:spcBef>
          <a:spcPct val="25000"/>
        </a:spcBef>
        <a:spcAft>
          <a:spcPct val="25000"/>
        </a:spcAft>
        <a:buClr>
          <a:srgbClr val="005AA6"/>
        </a:buClr>
        <a:buChar char="»"/>
        <a:defRPr>
          <a:solidFill>
            <a:srgbClr val="4D4D4D"/>
          </a:solidFill>
          <a:latin typeface="+mn-lt"/>
        </a:defRPr>
      </a:lvl5pPr>
      <a:lvl6pPr marL="2514600" indent="-228600" algn="l" rtl="0" fontAlgn="base">
        <a:spcBef>
          <a:spcPct val="25000"/>
        </a:spcBef>
        <a:spcAft>
          <a:spcPct val="25000"/>
        </a:spcAft>
        <a:buClr>
          <a:srgbClr val="005AA6"/>
        </a:buClr>
        <a:buChar char="»"/>
        <a:defRPr>
          <a:solidFill>
            <a:srgbClr val="4D4D4D"/>
          </a:solidFill>
          <a:latin typeface="+mn-lt"/>
        </a:defRPr>
      </a:lvl6pPr>
      <a:lvl7pPr marL="2971800" indent="-228600" algn="l" rtl="0" fontAlgn="base">
        <a:spcBef>
          <a:spcPct val="25000"/>
        </a:spcBef>
        <a:spcAft>
          <a:spcPct val="25000"/>
        </a:spcAft>
        <a:buClr>
          <a:srgbClr val="005AA6"/>
        </a:buClr>
        <a:buChar char="»"/>
        <a:defRPr>
          <a:solidFill>
            <a:srgbClr val="4D4D4D"/>
          </a:solidFill>
          <a:latin typeface="+mn-lt"/>
        </a:defRPr>
      </a:lvl7pPr>
      <a:lvl8pPr marL="3429000" indent="-228600" algn="l" rtl="0" fontAlgn="base">
        <a:spcBef>
          <a:spcPct val="25000"/>
        </a:spcBef>
        <a:spcAft>
          <a:spcPct val="25000"/>
        </a:spcAft>
        <a:buClr>
          <a:srgbClr val="005AA6"/>
        </a:buClr>
        <a:buChar char="»"/>
        <a:defRPr>
          <a:solidFill>
            <a:srgbClr val="4D4D4D"/>
          </a:solidFill>
          <a:latin typeface="+mn-lt"/>
        </a:defRPr>
      </a:lvl8pPr>
      <a:lvl9pPr marL="3886200" indent="-228600" algn="l" rtl="0" fontAlgn="base">
        <a:spcBef>
          <a:spcPct val="25000"/>
        </a:spcBef>
        <a:spcAft>
          <a:spcPct val="25000"/>
        </a:spcAft>
        <a:buClr>
          <a:srgbClr val="005AA6"/>
        </a:buClr>
        <a:buChar char="»"/>
        <a:defRPr>
          <a:solidFill>
            <a:srgbClr val="4D4D4D"/>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1">
            <a:extLst>
              <a:ext uri="{FF2B5EF4-FFF2-40B4-BE49-F238E27FC236}">
                <a16:creationId xmlns:a16="http://schemas.microsoft.com/office/drawing/2014/main" id="{703CA8AF-F9F2-C3D8-6F69-0FD9A998256F}"/>
              </a:ext>
            </a:extLst>
          </p:cNvPr>
          <p:cNvSpPr>
            <a:spLocks noGrp="1" noChangeArrowheads="1"/>
          </p:cNvSpPr>
          <p:nvPr>
            <p:ph type="subTitle" idx="1"/>
          </p:nvPr>
        </p:nvSpPr>
        <p:spPr/>
        <p:txBody>
          <a:bodyPr/>
          <a:lstStyle/>
          <a:p>
            <a:pPr eaLnBrk="1" hangingPunct="1"/>
            <a:endParaRPr lang="en-US" altLang="en-US"/>
          </a:p>
          <a:p>
            <a:pPr eaLnBrk="1" hangingPunct="1"/>
            <a:r>
              <a:rPr lang="en-US" altLang="en-US"/>
              <a:t>Cover Letter Preparation</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1">
            <a:extLst>
              <a:ext uri="{FF2B5EF4-FFF2-40B4-BE49-F238E27FC236}">
                <a16:creationId xmlns:a16="http://schemas.microsoft.com/office/drawing/2014/main" id="{072EB154-8AB5-94B8-DA27-D3B5E7B5393E}"/>
              </a:ext>
            </a:extLst>
          </p:cNvPr>
          <p:cNvSpPr>
            <a:spLocks noGrp="1" noChangeArrowheads="1"/>
          </p:cNvSpPr>
          <p:nvPr>
            <p:ph type="subTitle" idx="1"/>
          </p:nvPr>
        </p:nvSpPr>
        <p:spPr/>
        <p:txBody>
          <a:bodyPr/>
          <a:lstStyle/>
          <a:p>
            <a:pPr eaLnBrk="1" hangingPunct="1"/>
            <a:endParaRPr lang="en-US" altLang="en-US"/>
          </a:p>
          <a:p>
            <a:pPr eaLnBrk="1" hangingPunct="1"/>
            <a:r>
              <a:rPr lang="en-US" altLang="en-US" sz="2800">
                <a:solidFill>
                  <a:srgbClr val="002060"/>
                </a:solidFill>
              </a:rPr>
              <a:t>What is the purpose of the Cover Letter?</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1">
            <a:extLst>
              <a:ext uri="{FF2B5EF4-FFF2-40B4-BE49-F238E27FC236}">
                <a16:creationId xmlns:a16="http://schemas.microsoft.com/office/drawing/2014/main" id="{8539A9C2-FCD1-0D47-5EE4-C93C3FF2ED76}"/>
              </a:ext>
            </a:extLst>
          </p:cNvPr>
          <p:cNvSpPr>
            <a:spLocks noGrp="1" noChangeArrowheads="1"/>
          </p:cNvSpPr>
          <p:nvPr>
            <p:ph type="subTitle" idx="1"/>
          </p:nvPr>
        </p:nvSpPr>
        <p:spPr/>
        <p:txBody>
          <a:bodyPr/>
          <a:lstStyle/>
          <a:p>
            <a:pPr eaLnBrk="1" hangingPunct="1"/>
            <a:endParaRPr lang="en-US" altLang="en-US"/>
          </a:p>
          <a:p>
            <a:pPr eaLnBrk="1" hangingPunct="1"/>
            <a:r>
              <a:rPr lang="en-US" altLang="en-US" sz="2800">
                <a:solidFill>
                  <a:srgbClr val="002060"/>
                </a:solidFill>
              </a:rPr>
              <a:t>How long does it take an employer to scan your Cover Letter?</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1">
            <a:extLst>
              <a:ext uri="{FF2B5EF4-FFF2-40B4-BE49-F238E27FC236}">
                <a16:creationId xmlns:a16="http://schemas.microsoft.com/office/drawing/2014/main" id="{80E38794-69F5-21FF-8024-EEEF9679B7B4}"/>
              </a:ext>
            </a:extLst>
          </p:cNvPr>
          <p:cNvSpPr>
            <a:spLocks noGrp="1" noChangeArrowheads="1"/>
          </p:cNvSpPr>
          <p:nvPr>
            <p:ph type="subTitle" idx="1"/>
          </p:nvPr>
        </p:nvSpPr>
        <p:spPr>
          <a:xfrm>
            <a:off x="1543050" y="2408238"/>
            <a:ext cx="6057900" cy="1752600"/>
          </a:xfrm>
        </p:spPr>
        <p:txBody>
          <a:bodyPr/>
          <a:lstStyle/>
          <a:p>
            <a:pPr eaLnBrk="1" hangingPunct="1"/>
            <a:endParaRPr lang="en-US" altLang="en-US"/>
          </a:p>
          <a:p>
            <a:pPr eaLnBrk="1" hangingPunct="1"/>
            <a:r>
              <a:rPr lang="en-US" altLang="en-US" sz="2800">
                <a:solidFill>
                  <a:srgbClr val="002060"/>
                </a:solidFill>
              </a:rPr>
              <a:t>How many pages should your Cover Letter be?</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1">
            <a:extLst>
              <a:ext uri="{FF2B5EF4-FFF2-40B4-BE49-F238E27FC236}">
                <a16:creationId xmlns:a16="http://schemas.microsoft.com/office/drawing/2014/main" id="{EBA80048-728B-7E39-C758-6E32B2AF299E}"/>
              </a:ext>
            </a:extLst>
          </p:cNvPr>
          <p:cNvSpPr>
            <a:spLocks noGrp="1" noChangeArrowheads="1"/>
          </p:cNvSpPr>
          <p:nvPr>
            <p:ph type="subTitle" idx="1"/>
          </p:nvPr>
        </p:nvSpPr>
        <p:spPr>
          <a:xfrm>
            <a:off x="1622425" y="2408238"/>
            <a:ext cx="6076950" cy="1752600"/>
          </a:xfrm>
        </p:spPr>
        <p:txBody>
          <a:bodyPr/>
          <a:lstStyle/>
          <a:p>
            <a:pPr eaLnBrk="1" hangingPunct="1"/>
            <a:endParaRPr lang="en-US" altLang="en-US"/>
          </a:p>
          <a:p>
            <a:pPr eaLnBrk="1" hangingPunct="1"/>
            <a:r>
              <a:rPr lang="en-US" altLang="en-US" sz="2800">
                <a:solidFill>
                  <a:srgbClr val="002060"/>
                </a:solidFill>
              </a:rPr>
              <a:t>What should you include in your Cover Letter?</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1">
            <a:extLst>
              <a:ext uri="{FF2B5EF4-FFF2-40B4-BE49-F238E27FC236}">
                <a16:creationId xmlns:a16="http://schemas.microsoft.com/office/drawing/2014/main" id="{1548D09A-9C94-4D99-C58A-889298A44757}"/>
              </a:ext>
            </a:extLst>
          </p:cNvPr>
          <p:cNvSpPr>
            <a:spLocks noGrp="1" noChangeArrowheads="1"/>
          </p:cNvSpPr>
          <p:nvPr>
            <p:ph type="subTitle" idx="1"/>
          </p:nvPr>
        </p:nvSpPr>
        <p:spPr>
          <a:xfrm>
            <a:off x="838200" y="1152525"/>
            <a:ext cx="7467600" cy="5129213"/>
          </a:xfrm>
        </p:spPr>
        <p:txBody>
          <a:bodyPr/>
          <a:lstStyle/>
          <a:p>
            <a:pPr algn="l"/>
            <a:r>
              <a:rPr lang="en-US" altLang="en-US" sz="2000" b="0" dirty="0">
                <a:solidFill>
                  <a:schemeClr val="tx1"/>
                </a:solidFill>
                <a:cs typeface="Arial" panose="020B0604020202020204" pitchFamily="34" charset="0"/>
              </a:rPr>
              <a:t>Name </a:t>
            </a:r>
            <a:br>
              <a:rPr lang="en-US" altLang="en-US" sz="2000" b="0" dirty="0">
                <a:solidFill>
                  <a:schemeClr val="tx1"/>
                </a:solidFill>
                <a:cs typeface="Arial" panose="020B0604020202020204" pitchFamily="34" charset="0"/>
              </a:rPr>
            </a:br>
            <a:r>
              <a:rPr lang="en-US" altLang="en-US" sz="2000" b="0" dirty="0">
                <a:solidFill>
                  <a:schemeClr val="tx1"/>
                </a:solidFill>
                <a:cs typeface="Arial" panose="020B0604020202020204" pitchFamily="34" charset="0"/>
              </a:rPr>
              <a:t>Street Address (Optional)</a:t>
            </a:r>
            <a:br>
              <a:rPr lang="en-US" altLang="en-US" sz="2000" b="0" dirty="0">
                <a:solidFill>
                  <a:schemeClr val="tx1"/>
                </a:solidFill>
                <a:cs typeface="Arial" panose="020B0604020202020204" pitchFamily="34" charset="0"/>
              </a:rPr>
            </a:br>
            <a:r>
              <a:rPr lang="en-US" altLang="en-US" sz="2000" b="0" dirty="0">
                <a:solidFill>
                  <a:schemeClr val="tx1"/>
                </a:solidFill>
                <a:cs typeface="Arial" panose="020B0604020202020204" pitchFamily="34" charset="0"/>
              </a:rPr>
              <a:t>City, Province, Postal Code </a:t>
            </a:r>
            <a:br>
              <a:rPr lang="en-US" altLang="en-US" sz="2000" b="0" dirty="0">
                <a:solidFill>
                  <a:schemeClr val="tx1"/>
                </a:solidFill>
                <a:cs typeface="Arial" panose="020B0604020202020204" pitchFamily="34" charset="0"/>
              </a:rPr>
            </a:br>
            <a:r>
              <a:rPr lang="en-US" altLang="en-US" sz="2000" b="0" dirty="0">
                <a:solidFill>
                  <a:schemeClr val="tx1"/>
                </a:solidFill>
                <a:cs typeface="Arial" panose="020B0604020202020204" pitchFamily="34" charset="0"/>
              </a:rPr>
              <a:t>Phone Number </a:t>
            </a:r>
            <a:br>
              <a:rPr lang="en-US" altLang="en-US" sz="2000" b="0" dirty="0">
                <a:solidFill>
                  <a:schemeClr val="tx1"/>
                </a:solidFill>
                <a:cs typeface="Arial" panose="020B0604020202020204" pitchFamily="34" charset="0"/>
              </a:rPr>
            </a:br>
            <a:r>
              <a:rPr lang="en-US" altLang="en-US" sz="2000" b="0" dirty="0">
                <a:solidFill>
                  <a:schemeClr val="tx1"/>
                </a:solidFill>
                <a:cs typeface="Arial" panose="020B0604020202020204" pitchFamily="34" charset="0"/>
              </a:rPr>
              <a:t>GBC Email Address</a:t>
            </a:r>
            <a:endParaRPr lang="en-CA" altLang="en-US" sz="2000" b="0" dirty="0">
              <a:solidFill>
                <a:schemeClr val="tx1"/>
              </a:solidFill>
              <a:cs typeface="Arial" panose="020B0604020202020204" pitchFamily="34" charset="0"/>
            </a:endParaRPr>
          </a:p>
          <a:p>
            <a:pPr algn="l"/>
            <a:r>
              <a:rPr lang="en-US" altLang="en-US" sz="2000" b="0" dirty="0">
                <a:solidFill>
                  <a:schemeClr val="tx1"/>
                </a:solidFill>
                <a:cs typeface="Arial" panose="020B0604020202020204" pitchFamily="34" charset="0"/>
              </a:rPr>
              <a:t>Date</a:t>
            </a:r>
            <a:endParaRPr lang="en-CA" altLang="en-US" sz="2000" b="0" dirty="0">
              <a:solidFill>
                <a:schemeClr val="tx1"/>
              </a:solidFill>
              <a:cs typeface="Arial" panose="020B0604020202020204" pitchFamily="34" charset="0"/>
            </a:endParaRPr>
          </a:p>
          <a:p>
            <a:pPr algn="l"/>
            <a:r>
              <a:rPr lang="en-US" altLang="en-US" sz="2000" b="0" dirty="0">
                <a:solidFill>
                  <a:schemeClr val="tx1"/>
                </a:solidFill>
                <a:cs typeface="Arial" panose="020B0604020202020204" pitchFamily="34" charset="0"/>
              </a:rPr>
              <a:t>Employer Contact Information </a:t>
            </a:r>
            <a:br>
              <a:rPr lang="en-US" altLang="en-US" sz="2000" b="0" dirty="0">
                <a:solidFill>
                  <a:schemeClr val="tx1"/>
                </a:solidFill>
                <a:cs typeface="Arial" panose="020B0604020202020204" pitchFamily="34" charset="0"/>
              </a:rPr>
            </a:br>
            <a:r>
              <a:rPr lang="en-US" altLang="en-US" sz="2000" b="0" dirty="0">
                <a:solidFill>
                  <a:schemeClr val="tx1"/>
                </a:solidFill>
                <a:highlight>
                  <a:srgbClr val="FFFF00"/>
                </a:highlight>
                <a:cs typeface="Arial" panose="020B0604020202020204" pitchFamily="34" charset="0"/>
              </a:rPr>
              <a:t>Contact Name (only if they provided it)</a:t>
            </a:r>
            <a:br>
              <a:rPr lang="en-US" altLang="en-US" sz="2000" b="0" dirty="0">
                <a:solidFill>
                  <a:schemeClr val="tx1"/>
                </a:solidFill>
                <a:highlight>
                  <a:srgbClr val="FFFF00"/>
                </a:highlight>
                <a:cs typeface="Arial" panose="020B0604020202020204" pitchFamily="34" charset="0"/>
              </a:rPr>
            </a:br>
            <a:r>
              <a:rPr lang="en-US" altLang="en-US" sz="2000" b="0" dirty="0">
                <a:solidFill>
                  <a:schemeClr val="tx1"/>
                </a:solidFill>
                <a:highlight>
                  <a:srgbClr val="FFFF00"/>
                </a:highlight>
                <a:cs typeface="Arial" panose="020B0604020202020204" pitchFamily="34" charset="0"/>
              </a:rPr>
              <a:t>Title (only if they provided it)</a:t>
            </a:r>
            <a:br>
              <a:rPr lang="en-US" altLang="en-US" sz="2000" b="0" dirty="0">
                <a:solidFill>
                  <a:schemeClr val="tx1"/>
                </a:solidFill>
                <a:highlight>
                  <a:srgbClr val="FFFF00"/>
                </a:highlight>
                <a:cs typeface="Arial" panose="020B0604020202020204" pitchFamily="34" charset="0"/>
              </a:rPr>
            </a:br>
            <a:r>
              <a:rPr lang="en-US" altLang="en-US" sz="2000" b="0" dirty="0">
                <a:solidFill>
                  <a:schemeClr val="tx1"/>
                </a:solidFill>
                <a:cs typeface="Arial" panose="020B0604020202020204" pitchFamily="34" charset="0"/>
              </a:rPr>
              <a:t>Company Address( Full Street Address)</a:t>
            </a:r>
            <a:br>
              <a:rPr lang="en-US" altLang="en-US" sz="2000" b="0" dirty="0">
                <a:solidFill>
                  <a:schemeClr val="tx1"/>
                </a:solidFill>
                <a:cs typeface="Arial" panose="020B0604020202020204" pitchFamily="34" charset="0"/>
              </a:rPr>
            </a:br>
            <a:r>
              <a:rPr lang="en-US" altLang="en-US" sz="2000" b="0" dirty="0">
                <a:solidFill>
                  <a:schemeClr val="tx1"/>
                </a:solidFill>
                <a:cs typeface="Arial" panose="020B0604020202020204" pitchFamily="34" charset="0"/>
              </a:rPr>
              <a:t>City, Province, Postal Code</a:t>
            </a:r>
          </a:p>
          <a:p>
            <a:pPr algn="l"/>
            <a:r>
              <a:rPr lang="en-US" altLang="en-US" sz="2000" b="0" dirty="0">
                <a:solidFill>
                  <a:schemeClr val="tx1"/>
                </a:solidFill>
                <a:cs typeface="Arial" panose="020B0604020202020204" pitchFamily="34" charset="0"/>
              </a:rPr>
              <a:t>Re: Job title and job number </a:t>
            </a:r>
          </a:p>
          <a:p>
            <a:pPr algn="l"/>
            <a:r>
              <a:rPr lang="en-US" altLang="en-US" sz="2000" b="0" dirty="0">
                <a:solidFill>
                  <a:schemeClr val="tx1"/>
                </a:solidFill>
                <a:cs typeface="Arial" panose="020B0604020202020204" pitchFamily="34" charset="0"/>
              </a:rPr>
              <a:t>Dear Hiring Manager,</a:t>
            </a:r>
            <a:endParaRPr lang="en-CA" altLang="en-US" sz="2000" b="0" dirty="0">
              <a:solidFill>
                <a:schemeClr val="tx1"/>
              </a:solidFill>
              <a:cs typeface="Arial" panose="020B0604020202020204" pitchFamily="34" charset="0"/>
            </a:endParaRPr>
          </a:p>
          <a:p>
            <a:pPr eaLnBrk="1" hangingPunct="1"/>
            <a:endParaRPr lang="en-US" altLang="en-US" sz="2000" dirty="0"/>
          </a:p>
        </p:txBody>
      </p:sp>
      <p:sp>
        <p:nvSpPr>
          <p:cNvPr id="2" name="TextBox 1">
            <a:extLst>
              <a:ext uri="{FF2B5EF4-FFF2-40B4-BE49-F238E27FC236}">
                <a16:creationId xmlns:a16="http://schemas.microsoft.com/office/drawing/2014/main" id="{ACCCC938-26E3-5183-ADD4-9BC824417374}"/>
              </a:ext>
            </a:extLst>
          </p:cNvPr>
          <p:cNvSpPr txBox="1"/>
          <p:nvPr/>
        </p:nvSpPr>
        <p:spPr>
          <a:xfrm>
            <a:off x="1998617" y="313509"/>
            <a:ext cx="2952206" cy="369332"/>
          </a:xfrm>
          <a:prstGeom prst="rect">
            <a:avLst/>
          </a:prstGeom>
          <a:noFill/>
        </p:spPr>
        <p:txBody>
          <a:bodyPr wrap="square" rtlCol="0">
            <a:spAutoFit/>
          </a:bodyPr>
          <a:lstStyle/>
          <a:p>
            <a:pPr algn="l"/>
            <a:r>
              <a:rPr lang="en-CA" altLang="en-US" sz="1800" dirty="0">
                <a:cs typeface="Arial" panose="020B0604020202020204" pitchFamily="34" charset="0"/>
              </a:rPr>
              <a:t>Heading:  </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1">
            <a:extLst>
              <a:ext uri="{FF2B5EF4-FFF2-40B4-BE49-F238E27FC236}">
                <a16:creationId xmlns:a16="http://schemas.microsoft.com/office/drawing/2014/main" id="{707734A6-15F2-7246-B726-D6C4C580AA72}"/>
              </a:ext>
            </a:extLst>
          </p:cNvPr>
          <p:cNvSpPr>
            <a:spLocks noGrp="1" noChangeArrowheads="1"/>
          </p:cNvSpPr>
          <p:nvPr>
            <p:ph type="subTitle" idx="1"/>
          </p:nvPr>
        </p:nvSpPr>
        <p:spPr>
          <a:xfrm>
            <a:off x="838200" y="1616075"/>
            <a:ext cx="7467600" cy="3843338"/>
          </a:xfrm>
        </p:spPr>
        <p:txBody>
          <a:bodyPr/>
          <a:lstStyle/>
          <a:p>
            <a:pPr algn="l">
              <a:defRPr/>
            </a:pPr>
            <a:r>
              <a:rPr lang="en-US" sz="2000" u="sng" dirty="0">
                <a:cs typeface="Arial" panose="020B0604020202020204" pitchFamily="34" charset="0"/>
              </a:rPr>
              <a:t>Introduction</a:t>
            </a:r>
          </a:p>
          <a:p>
            <a:pPr marL="342900" indent="-342900" algn="l">
              <a:buFont typeface="Arial" panose="020B0604020202020204" pitchFamily="34" charset="0"/>
              <a:buChar char="•"/>
              <a:defRPr/>
            </a:pPr>
            <a:r>
              <a:rPr lang="en-CA" sz="2000" b="0" dirty="0">
                <a:cs typeface="Arial" panose="020B0604020202020204" pitchFamily="34" charset="0"/>
              </a:rPr>
              <a:t>Use this paragraph to introduce yourself and to get the attention of the employer. </a:t>
            </a:r>
          </a:p>
          <a:p>
            <a:pPr marL="342900" indent="-342900" algn="l">
              <a:buFont typeface="Arial" panose="020B0604020202020204" pitchFamily="34" charset="0"/>
              <a:buChar char="•"/>
              <a:defRPr/>
            </a:pPr>
            <a:r>
              <a:rPr lang="en-CA" sz="2000" b="0" dirty="0">
                <a:cs typeface="Arial" panose="020B0604020202020204" pitchFamily="34" charset="0"/>
              </a:rPr>
              <a:t>Be professional and polite in language and tone. </a:t>
            </a:r>
          </a:p>
          <a:p>
            <a:pPr marL="342900" indent="-342900" algn="l">
              <a:buFont typeface="Arial" panose="020B0604020202020204" pitchFamily="34" charset="0"/>
              <a:buChar char="•"/>
              <a:defRPr/>
            </a:pPr>
            <a:r>
              <a:rPr lang="en-CA" sz="2000" b="0" dirty="0">
                <a:cs typeface="Arial" panose="020B0604020202020204" pitchFamily="34" charset="0"/>
              </a:rPr>
              <a:t>Mention the position you are applying for, why you are applying for the job, and how you found out about it.</a:t>
            </a:r>
          </a:p>
          <a:p>
            <a:pPr marL="342900" indent="-342900" algn="l">
              <a:buFont typeface="Arial" panose="020B0604020202020204" pitchFamily="34" charset="0"/>
              <a:buChar char="•"/>
              <a:defRPr/>
            </a:pPr>
            <a:r>
              <a:rPr lang="en-CA" sz="2000" b="0" dirty="0">
                <a:cs typeface="Arial" panose="020B0604020202020204" pitchFamily="34" charset="0"/>
              </a:rPr>
              <a:t>Show interest in the organization and explain why you would like to be part of it.</a:t>
            </a:r>
          </a:p>
          <a:p>
            <a:pPr marL="342900" indent="-342900" algn="l">
              <a:buFont typeface="Arial" panose="020B0604020202020204" pitchFamily="34" charset="0"/>
              <a:buChar char="•"/>
              <a:defRPr/>
            </a:pPr>
            <a:r>
              <a:rPr lang="en-US" sz="2000" b="0" dirty="0">
                <a:cs typeface="Arial" panose="020B0604020202020204" pitchFamily="34" charset="0"/>
              </a:rPr>
              <a:t>Include the name and job title of a mutual contact (referral), if you have one.</a:t>
            </a:r>
            <a:endParaRPr lang="en-CA" sz="2000" b="0" dirty="0">
              <a:cs typeface="Arial" panose="020B0604020202020204" pitchFamily="34" charset="0"/>
            </a:endParaRPr>
          </a:p>
          <a:p>
            <a:pPr eaLnBrk="1" hangingPunct="1">
              <a:defRPr/>
            </a:pPr>
            <a:endParaRPr lang="en-US" altLang="en-US"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1">
            <a:extLst>
              <a:ext uri="{FF2B5EF4-FFF2-40B4-BE49-F238E27FC236}">
                <a16:creationId xmlns:a16="http://schemas.microsoft.com/office/drawing/2014/main" id="{D8300B44-55C7-8B47-B747-A61D0064DCBA}"/>
              </a:ext>
            </a:extLst>
          </p:cNvPr>
          <p:cNvSpPr>
            <a:spLocks noGrp="1" noChangeArrowheads="1"/>
          </p:cNvSpPr>
          <p:nvPr>
            <p:ph type="subTitle" idx="1"/>
          </p:nvPr>
        </p:nvSpPr>
        <p:spPr>
          <a:xfrm>
            <a:off x="838200" y="1576388"/>
            <a:ext cx="7467600" cy="4321175"/>
          </a:xfrm>
        </p:spPr>
        <p:txBody>
          <a:bodyPr/>
          <a:lstStyle/>
          <a:p>
            <a:pPr algn="l">
              <a:defRPr/>
            </a:pPr>
            <a:r>
              <a:rPr lang="en-CA" sz="2000" u="sng" dirty="0">
                <a:cs typeface="Arial" panose="020B0604020202020204" pitchFamily="34" charset="0"/>
              </a:rPr>
              <a:t>Body</a:t>
            </a:r>
          </a:p>
          <a:p>
            <a:pPr marL="342900" indent="-342900" algn="l">
              <a:buFont typeface="Arial" panose="020B0604020202020204" pitchFamily="34" charset="0"/>
              <a:buChar char="•"/>
              <a:defRPr/>
            </a:pPr>
            <a:r>
              <a:rPr lang="en-CA" sz="2000" b="0" dirty="0">
                <a:cs typeface="Arial" panose="020B0604020202020204" pitchFamily="34" charset="0"/>
              </a:rPr>
              <a:t>Explain your qualifications and why you should be considered for the position. </a:t>
            </a:r>
          </a:p>
          <a:p>
            <a:pPr marL="342900" indent="-342900" algn="l">
              <a:buFont typeface="Arial" panose="020B0604020202020204" pitchFamily="34" charset="0"/>
              <a:buChar char="•"/>
              <a:defRPr/>
            </a:pPr>
            <a:r>
              <a:rPr lang="en-CA" sz="2000" b="0" dirty="0">
                <a:cs typeface="Arial" panose="020B0604020202020204" pitchFamily="34" charset="0"/>
              </a:rPr>
              <a:t>Don’t just repeat the content of your résumé -- give specific examples and explain how your individual skills will help you in the position you’re applying for. </a:t>
            </a:r>
          </a:p>
          <a:p>
            <a:pPr marL="342900" indent="-342900" algn="l">
              <a:buFont typeface="Arial" panose="020B0604020202020204" pitchFamily="34" charset="0"/>
              <a:buChar char="•"/>
              <a:defRPr/>
            </a:pPr>
            <a:r>
              <a:rPr lang="en-CA" sz="2000" b="0" dirty="0">
                <a:cs typeface="Arial" panose="020B0604020202020204" pitchFamily="34" charset="0"/>
              </a:rPr>
              <a:t>Feel free to talk about any special workplace recognition or awards you received in the past. </a:t>
            </a:r>
          </a:p>
          <a:p>
            <a:pPr marL="342900" indent="-342900" algn="l">
              <a:buFont typeface="Arial" panose="020B0604020202020204" pitchFamily="34" charset="0"/>
              <a:buChar char="•"/>
              <a:defRPr/>
            </a:pPr>
            <a:r>
              <a:rPr lang="en-CA" sz="2000" b="0" dirty="0">
                <a:cs typeface="Arial" panose="020B0604020202020204" pitchFamily="34" charset="0"/>
              </a:rPr>
              <a:t>This part of the letter is meant to convince the employer that you would be a valuable addition to the team.</a:t>
            </a:r>
          </a:p>
          <a:p>
            <a:pPr eaLnBrk="1" hangingPunct="1">
              <a:defRPr/>
            </a:pPr>
            <a:endParaRPr lang="en-US" altLang="en-US" sz="20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1">
            <a:extLst>
              <a:ext uri="{FF2B5EF4-FFF2-40B4-BE49-F238E27FC236}">
                <a16:creationId xmlns:a16="http://schemas.microsoft.com/office/drawing/2014/main" id="{A64E9616-123A-374F-A54D-2CFAE4A8E4BA}"/>
              </a:ext>
            </a:extLst>
          </p:cNvPr>
          <p:cNvSpPr>
            <a:spLocks noGrp="1" noChangeArrowheads="1"/>
          </p:cNvSpPr>
          <p:nvPr>
            <p:ph type="subTitle" idx="1"/>
          </p:nvPr>
        </p:nvSpPr>
        <p:spPr>
          <a:xfrm>
            <a:off x="838200" y="1404938"/>
            <a:ext cx="7467600" cy="4730750"/>
          </a:xfrm>
        </p:spPr>
        <p:txBody>
          <a:bodyPr/>
          <a:lstStyle/>
          <a:p>
            <a:pPr algn="l">
              <a:defRPr/>
            </a:pPr>
            <a:r>
              <a:rPr lang="en-CA" sz="2000" u="sng" dirty="0">
                <a:cs typeface="Arial" panose="020B0604020202020204" pitchFamily="34" charset="0"/>
              </a:rPr>
              <a:t>Closing </a:t>
            </a:r>
          </a:p>
          <a:p>
            <a:pPr marL="342900" indent="-342900" algn="l">
              <a:buFont typeface="Arial" panose="020B0604020202020204" pitchFamily="34" charset="0"/>
              <a:buChar char="•"/>
              <a:defRPr/>
            </a:pPr>
            <a:r>
              <a:rPr lang="en-CA" sz="2000" b="0" dirty="0">
                <a:cs typeface="Arial" panose="020B0604020202020204" pitchFamily="34" charset="0"/>
              </a:rPr>
              <a:t>It’s important to end your letter in a courteous way.</a:t>
            </a:r>
          </a:p>
          <a:p>
            <a:pPr marL="342900" indent="-342900" algn="l">
              <a:buFont typeface="Arial" panose="020B0604020202020204" pitchFamily="34" charset="0"/>
              <a:buChar char="•"/>
              <a:defRPr/>
            </a:pPr>
            <a:r>
              <a:rPr lang="en-CA" sz="2000" b="0" dirty="0">
                <a:cs typeface="Arial" panose="020B0604020202020204" pitchFamily="34" charset="0"/>
              </a:rPr>
              <a:t>Reinforce your desire to be part of the organization, and politely request an interview. </a:t>
            </a:r>
          </a:p>
          <a:p>
            <a:pPr marL="342900" indent="-342900" algn="l">
              <a:buFont typeface="Arial" panose="020B0604020202020204" pitchFamily="34" charset="0"/>
              <a:buChar char="•"/>
              <a:defRPr/>
            </a:pPr>
            <a:r>
              <a:rPr lang="en-CA" sz="2000" b="0" dirty="0">
                <a:cs typeface="Arial" panose="020B0604020202020204" pitchFamily="34" charset="0"/>
              </a:rPr>
              <a:t>End with an action statement, informing the employer about when you plan to contact him or her to follow up on your application </a:t>
            </a:r>
            <a:r>
              <a:rPr lang="en-CA" sz="2000" b="0" dirty="0">
                <a:highlight>
                  <a:srgbClr val="FFFF00"/>
                </a:highlight>
                <a:cs typeface="Arial" panose="020B0604020202020204" pitchFamily="34" charset="0"/>
              </a:rPr>
              <a:t>(only if you have the contact information).   </a:t>
            </a:r>
          </a:p>
          <a:p>
            <a:pPr marL="342900" indent="-342900" algn="l">
              <a:buFont typeface="Arial" panose="020B0604020202020204" pitchFamily="34" charset="0"/>
              <a:buChar char="•"/>
              <a:defRPr/>
            </a:pPr>
            <a:r>
              <a:rPr lang="en-CA" sz="2000" b="0" dirty="0">
                <a:cs typeface="Arial" panose="020B0604020202020204" pitchFamily="34" charset="0"/>
              </a:rPr>
              <a:t>Provide your personal contact information, in case the employer would like to reach you before you contact him or her. It’s important to follow instructions, so if the job advertisement says not to call or e-mail, respect their wishes.</a:t>
            </a:r>
          </a:p>
          <a:p>
            <a:pPr eaLnBrk="1" hangingPunct="1">
              <a:defRPr/>
            </a:pPr>
            <a:endParaRPr lang="en-US" altLang="en-US"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1">
            <a:extLst>
              <a:ext uri="{FF2B5EF4-FFF2-40B4-BE49-F238E27FC236}">
                <a16:creationId xmlns:a16="http://schemas.microsoft.com/office/drawing/2014/main" id="{BFC805DD-B463-4B43-84AA-EAD49AABD168}"/>
              </a:ext>
            </a:extLst>
          </p:cNvPr>
          <p:cNvSpPr>
            <a:spLocks noGrp="1" noChangeArrowheads="1"/>
          </p:cNvSpPr>
          <p:nvPr>
            <p:ph type="subTitle" idx="1"/>
          </p:nvPr>
        </p:nvSpPr>
        <p:spPr>
          <a:xfrm>
            <a:off x="838200" y="1603375"/>
            <a:ext cx="7467600" cy="4386263"/>
          </a:xfrm>
        </p:spPr>
        <p:txBody>
          <a:bodyPr/>
          <a:lstStyle/>
          <a:p>
            <a:pPr algn="l" eaLnBrk="1" hangingPunct="1">
              <a:defRPr/>
            </a:pPr>
            <a:r>
              <a:rPr lang="en-US" altLang="en-US" sz="2800" dirty="0"/>
              <a:t>Cover Letter Tips</a:t>
            </a:r>
          </a:p>
          <a:p>
            <a:pPr marL="342900" indent="-342900" algn="l">
              <a:buFont typeface="Arial" panose="020B0604020202020204" pitchFamily="34" charset="0"/>
              <a:buChar char="•"/>
              <a:defRPr/>
            </a:pPr>
            <a:r>
              <a:rPr lang="en-US" sz="2000" b="0" dirty="0">
                <a:cs typeface="Arial" panose="020B0604020202020204" pitchFamily="34" charset="0"/>
              </a:rPr>
              <a:t>Do your homework</a:t>
            </a:r>
            <a:endParaRPr lang="en-CA" sz="2000" b="0" dirty="0">
              <a:cs typeface="Arial" panose="020B0604020202020204" pitchFamily="34" charset="0"/>
            </a:endParaRPr>
          </a:p>
          <a:p>
            <a:pPr marL="342900" indent="-342900" algn="l">
              <a:buFont typeface="Arial" panose="020B0604020202020204" pitchFamily="34" charset="0"/>
              <a:buChar char="•"/>
              <a:defRPr/>
            </a:pPr>
            <a:r>
              <a:rPr lang="en-US" sz="2000" b="0" dirty="0">
                <a:cs typeface="Arial" panose="020B0604020202020204" pitchFamily="34" charset="0"/>
              </a:rPr>
              <a:t>Follow instructions </a:t>
            </a:r>
            <a:endParaRPr lang="en-CA" sz="2000" b="0" dirty="0">
              <a:cs typeface="Arial" panose="020B0604020202020204" pitchFamily="34" charset="0"/>
            </a:endParaRPr>
          </a:p>
          <a:p>
            <a:pPr marL="342900" indent="-342900" algn="l">
              <a:buFont typeface="Arial" panose="020B0604020202020204" pitchFamily="34" charset="0"/>
              <a:buChar char="•"/>
              <a:defRPr/>
            </a:pPr>
            <a:r>
              <a:rPr lang="en-US" sz="2000" b="0" dirty="0">
                <a:cs typeface="Arial" panose="020B0604020202020204" pitchFamily="34" charset="0"/>
              </a:rPr>
              <a:t>Don’t just restate your résumé </a:t>
            </a:r>
            <a:endParaRPr lang="en-CA" sz="2000" b="0" dirty="0">
              <a:cs typeface="Arial" panose="020B0604020202020204" pitchFamily="34" charset="0"/>
            </a:endParaRPr>
          </a:p>
          <a:p>
            <a:pPr marL="342900" indent="-342900" algn="l">
              <a:buFont typeface="Arial" panose="020B0604020202020204" pitchFamily="34" charset="0"/>
              <a:buChar char="•"/>
              <a:defRPr/>
            </a:pPr>
            <a:r>
              <a:rPr lang="en-US" sz="2000" b="0" dirty="0">
                <a:cs typeface="Arial" panose="020B0604020202020204" pitchFamily="34" charset="0"/>
              </a:rPr>
              <a:t>Personalize your letter</a:t>
            </a:r>
            <a:endParaRPr lang="en-CA" sz="2000" b="0" dirty="0">
              <a:cs typeface="Arial" panose="020B0604020202020204" pitchFamily="34" charset="0"/>
            </a:endParaRPr>
          </a:p>
          <a:p>
            <a:pPr marL="342900" indent="-342900" algn="l">
              <a:buFont typeface="Arial" panose="020B0604020202020204" pitchFamily="34" charset="0"/>
              <a:buChar char="•"/>
              <a:defRPr/>
            </a:pPr>
            <a:r>
              <a:rPr lang="en-US" sz="2000" b="0" dirty="0">
                <a:cs typeface="Arial" panose="020B0604020202020204" pitchFamily="34" charset="0"/>
              </a:rPr>
              <a:t>Tailor your letter to the job </a:t>
            </a:r>
            <a:endParaRPr lang="en-CA" sz="2000" b="0" dirty="0">
              <a:cs typeface="Arial" panose="020B0604020202020204" pitchFamily="34" charset="0"/>
            </a:endParaRPr>
          </a:p>
          <a:p>
            <a:pPr marL="342900" indent="-342900" algn="l">
              <a:buFont typeface="Arial" panose="020B0604020202020204" pitchFamily="34" charset="0"/>
              <a:buChar char="•"/>
              <a:defRPr/>
            </a:pPr>
            <a:r>
              <a:rPr lang="en-US" sz="2000" b="0" dirty="0">
                <a:cs typeface="Arial" panose="020B0604020202020204" pitchFamily="34" charset="0"/>
              </a:rPr>
              <a:t>Use a professional tone </a:t>
            </a:r>
            <a:endParaRPr lang="en-CA" sz="2000" b="0" dirty="0">
              <a:cs typeface="Arial" panose="020B0604020202020204" pitchFamily="34" charset="0"/>
            </a:endParaRPr>
          </a:p>
          <a:p>
            <a:pPr marL="342900" indent="-342900" algn="l">
              <a:buFont typeface="Arial" panose="020B0604020202020204" pitchFamily="34" charset="0"/>
              <a:buChar char="•"/>
              <a:defRPr/>
            </a:pPr>
            <a:r>
              <a:rPr lang="en-US" sz="2000" b="0" dirty="0">
                <a:cs typeface="Arial" panose="020B0604020202020204" pitchFamily="34" charset="0"/>
              </a:rPr>
              <a:t>Be brief</a:t>
            </a:r>
            <a:endParaRPr lang="en-CA" sz="2000" b="0" dirty="0">
              <a:cs typeface="Arial" panose="020B0604020202020204" pitchFamily="34" charset="0"/>
            </a:endParaRPr>
          </a:p>
          <a:p>
            <a:pPr marL="342900" indent="-342900" algn="l">
              <a:buFont typeface="Arial" panose="020B0604020202020204" pitchFamily="34" charset="0"/>
              <a:buChar char="•"/>
              <a:defRPr/>
            </a:pPr>
            <a:r>
              <a:rPr lang="en-US" sz="2000" b="0" dirty="0">
                <a:cs typeface="Arial" panose="020B0604020202020204" pitchFamily="34" charset="0"/>
              </a:rPr>
              <a:t>Proofread </a:t>
            </a:r>
            <a:endParaRPr lang="en-CA" sz="2000" b="0" dirty="0">
              <a:cs typeface="Arial" panose="020B0604020202020204" pitchFamily="34" charset="0"/>
            </a:endParaRPr>
          </a:p>
          <a:p>
            <a:pPr algn="l" eaLnBrk="1" hangingPunct="1">
              <a:defRPr/>
            </a:pPr>
            <a:endParaRPr lang="en-US" altLang="en-US" sz="20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1">
            <a:extLst>
              <a:ext uri="{FF2B5EF4-FFF2-40B4-BE49-F238E27FC236}">
                <a16:creationId xmlns:a16="http://schemas.microsoft.com/office/drawing/2014/main" id="{25A7D11F-35EE-DBC3-C227-278CA4B5B20A}"/>
              </a:ext>
            </a:extLst>
          </p:cNvPr>
          <p:cNvSpPr>
            <a:spLocks noGrp="1" noChangeArrowheads="1"/>
          </p:cNvSpPr>
          <p:nvPr>
            <p:ph type="subTitle" idx="1"/>
          </p:nvPr>
        </p:nvSpPr>
        <p:spPr>
          <a:xfrm>
            <a:off x="1228725" y="1603375"/>
            <a:ext cx="6981825" cy="4386263"/>
          </a:xfrm>
        </p:spPr>
        <p:txBody>
          <a:bodyPr/>
          <a:lstStyle/>
          <a:p>
            <a:pPr algn="l" eaLnBrk="1" hangingPunct="1"/>
            <a:endParaRPr lang="en-US" altLang="en-US" sz="2400">
              <a:solidFill>
                <a:srgbClr val="002060"/>
              </a:solidFill>
            </a:endParaRPr>
          </a:p>
          <a:p>
            <a:pPr algn="l" eaLnBrk="1" hangingPunct="1"/>
            <a:endParaRPr lang="en-US" altLang="en-US" sz="2400">
              <a:solidFill>
                <a:srgbClr val="002060"/>
              </a:solidFill>
            </a:endParaRPr>
          </a:p>
          <a:p>
            <a:pPr algn="l" eaLnBrk="1" hangingPunct="1"/>
            <a:endParaRPr lang="en-US" altLang="en-US" sz="2400">
              <a:solidFill>
                <a:srgbClr val="002060"/>
              </a:solidFill>
            </a:endParaRPr>
          </a:p>
          <a:p>
            <a:pPr eaLnBrk="1" hangingPunct="1"/>
            <a:r>
              <a:rPr lang="en-US" altLang="en-US" sz="2800">
                <a:solidFill>
                  <a:srgbClr val="002060"/>
                </a:solidFill>
              </a:rPr>
              <a:t>What should you not include in your Cover Letter?</a:t>
            </a:r>
          </a:p>
          <a:p>
            <a:pPr algn="l" eaLnBrk="1" hangingPunct="1"/>
            <a:endParaRPr lang="en-US" altLang="en-US" sz="200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66FFE-AB5C-72FE-CB80-2725B45429FB}"/>
              </a:ext>
            </a:extLst>
          </p:cNvPr>
          <p:cNvSpPr>
            <a:spLocks noGrp="1"/>
          </p:cNvSpPr>
          <p:nvPr>
            <p:ph type="title"/>
          </p:nvPr>
        </p:nvSpPr>
        <p:spPr/>
        <p:txBody>
          <a:bodyPr/>
          <a:lstStyle/>
          <a:p>
            <a:r>
              <a:rPr lang="en-US" dirty="0"/>
              <a:t>What not to Include</a:t>
            </a:r>
          </a:p>
        </p:txBody>
      </p:sp>
      <p:sp>
        <p:nvSpPr>
          <p:cNvPr id="3" name="Content Placeholder 2">
            <a:extLst>
              <a:ext uri="{FF2B5EF4-FFF2-40B4-BE49-F238E27FC236}">
                <a16:creationId xmlns:a16="http://schemas.microsoft.com/office/drawing/2014/main" id="{C62ABB25-2B79-66BF-21A7-9BE5993A85BE}"/>
              </a:ext>
            </a:extLst>
          </p:cNvPr>
          <p:cNvSpPr>
            <a:spLocks noGrp="1"/>
          </p:cNvSpPr>
          <p:nvPr>
            <p:ph idx="1"/>
          </p:nvPr>
        </p:nvSpPr>
        <p:spPr>
          <a:xfrm>
            <a:off x="457200" y="1358538"/>
            <a:ext cx="8229600" cy="4767626"/>
          </a:xfrm>
        </p:spPr>
        <p:txBody>
          <a:bodyPr/>
          <a:lstStyle/>
          <a:p>
            <a:pPr>
              <a:spcBef>
                <a:spcPts val="0"/>
              </a:spcBef>
              <a:spcAft>
                <a:spcPts val="0"/>
              </a:spcAft>
              <a:buFont typeface="Arial" panose="020B0604020202020204" pitchFamily="34" charset="0"/>
              <a:buChar char="•"/>
              <a:defRPr/>
            </a:pPr>
            <a:r>
              <a:rPr lang="en-CA" sz="2000" b="1" dirty="0"/>
              <a:t> Any Spelling or Grammar Errors</a:t>
            </a:r>
          </a:p>
          <a:p>
            <a:pPr>
              <a:spcBef>
                <a:spcPts val="0"/>
              </a:spcBef>
              <a:spcAft>
                <a:spcPts val="0"/>
              </a:spcAft>
              <a:buFont typeface="Arial" panose="020B0604020202020204" pitchFamily="34" charset="0"/>
              <a:buChar char="•"/>
              <a:defRPr/>
            </a:pPr>
            <a:r>
              <a:rPr lang="en-CA" sz="2000" b="1" dirty="0"/>
              <a:t> The Wrong Company Name or the Wrong Name of the Contact</a:t>
            </a:r>
          </a:p>
          <a:p>
            <a:pPr>
              <a:spcBef>
                <a:spcPts val="0"/>
              </a:spcBef>
              <a:spcAft>
                <a:spcPts val="0"/>
              </a:spcAft>
              <a:buFont typeface="Arial" panose="020B0604020202020204" pitchFamily="34" charset="0"/>
              <a:buChar char="•"/>
              <a:defRPr/>
            </a:pPr>
            <a:r>
              <a:rPr lang="en-CA" sz="2000" b="1" dirty="0"/>
              <a:t> Anything That Isn't True</a:t>
            </a:r>
          </a:p>
          <a:p>
            <a:pPr>
              <a:spcBef>
                <a:spcPts val="0"/>
              </a:spcBef>
              <a:spcAft>
                <a:spcPts val="0"/>
              </a:spcAft>
              <a:buFont typeface="Arial" panose="020B0604020202020204" pitchFamily="34" charset="0"/>
              <a:buChar char="•"/>
              <a:defRPr/>
            </a:pPr>
            <a:r>
              <a:rPr lang="en-CA" sz="2000" b="1" dirty="0"/>
              <a:t> Paragraphs That Are Too Long</a:t>
            </a:r>
          </a:p>
          <a:p>
            <a:pPr>
              <a:spcBef>
                <a:spcPts val="0"/>
              </a:spcBef>
              <a:spcAft>
                <a:spcPts val="0"/>
              </a:spcAft>
              <a:buFont typeface="Arial" panose="020B0604020202020204" pitchFamily="34" charset="0"/>
              <a:buChar char="•"/>
              <a:defRPr/>
            </a:pPr>
            <a:r>
              <a:rPr lang="en-CA" sz="2000" b="1" dirty="0"/>
              <a:t> Your Salary Requirements or Expectations</a:t>
            </a:r>
          </a:p>
          <a:p>
            <a:pPr>
              <a:spcBef>
                <a:spcPts val="0"/>
              </a:spcBef>
              <a:spcAft>
                <a:spcPts val="0"/>
              </a:spcAft>
              <a:buFont typeface="Arial" panose="020B0604020202020204" pitchFamily="34" charset="0"/>
              <a:buChar char="•"/>
              <a:defRPr/>
            </a:pPr>
            <a:r>
              <a:rPr lang="en-CA" sz="2000" b="1" dirty="0"/>
              <a:t> Negative Comments About a Current or Past Employer</a:t>
            </a:r>
          </a:p>
          <a:p>
            <a:pPr>
              <a:spcBef>
                <a:spcPts val="0"/>
              </a:spcBef>
              <a:spcAft>
                <a:spcPts val="0"/>
              </a:spcAft>
              <a:buFont typeface="Arial" panose="020B0604020202020204" pitchFamily="34" charset="0"/>
              <a:buChar char="•"/>
              <a:defRPr/>
            </a:pPr>
            <a:r>
              <a:rPr lang="en-CA" sz="2000" b="1" dirty="0"/>
              <a:t> Information Not Related to the Job</a:t>
            </a:r>
          </a:p>
          <a:p>
            <a:pPr>
              <a:spcBef>
                <a:spcPts val="0"/>
              </a:spcBef>
              <a:spcAft>
                <a:spcPts val="0"/>
              </a:spcAft>
              <a:buFont typeface="Arial" panose="020B0604020202020204" pitchFamily="34" charset="0"/>
              <a:buChar char="•"/>
              <a:defRPr/>
            </a:pPr>
            <a:r>
              <a:rPr lang="en-CA" sz="2000" b="1" dirty="0"/>
              <a:t> Personal Information, such as age, picture, marital status…</a:t>
            </a:r>
          </a:p>
          <a:p>
            <a:pPr>
              <a:spcBef>
                <a:spcPts val="0"/>
              </a:spcBef>
              <a:spcAft>
                <a:spcPts val="0"/>
              </a:spcAft>
              <a:buFont typeface="Arial" panose="020B0604020202020204" pitchFamily="34" charset="0"/>
              <a:buChar char="•"/>
              <a:defRPr/>
            </a:pPr>
            <a:r>
              <a:rPr lang="en-CA" sz="2000" b="1" dirty="0"/>
              <a:t> Any Portrayal of the Position as a Stepping Stone</a:t>
            </a:r>
          </a:p>
          <a:p>
            <a:pPr>
              <a:spcBef>
                <a:spcPts val="0"/>
              </a:spcBef>
              <a:spcAft>
                <a:spcPts val="0"/>
              </a:spcAft>
              <a:buFont typeface="Arial" panose="020B0604020202020204" pitchFamily="34" charset="0"/>
              <a:buChar char="•"/>
              <a:defRPr/>
            </a:pPr>
            <a:r>
              <a:rPr lang="en-CA" sz="2000" b="1" dirty="0"/>
              <a:t> What You Want</a:t>
            </a:r>
            <a:br>
              <a:rPr lang="en-CA" sz="2000" dirty="0"/>
            </a:br>
            <a:r>
              <a:rPr lang="en-CA" sz="2000" dirty="0"/>
              <a:t> Don’t mention what you want to get out of the job or the company.                      </a:t>
            </a:r>
          </a:p>
          <a:p>
            <a:pPr marL="400050" lvl="1" indent="0">
              <a:spcBef>
                <a:spcPts val="0"/>
              </a:spcBef>
              <a:spcAft>
                <a:spcPts val="0"/>
              </a:spcAft>
              <a:buNone/>
              <a:defRPr/>
            </a:pPr>
            <a:r>
              <a:rPr lang="en-CA" sz="2000" dirty="0"/>
              <a:t>The precious space in your cover letter should focus on what you              have to offer the employer.</a:t>
            </a:r>
          </a:p>
          <a:p>
            <a:pPr>
              <a:spcBef>
                <a:spcPts val="0"/>
              </a:spcBef>
              <a:spcAft>
                <a:spcPts val="0"/>
              </a:spcAft>
              <a:buFont typeface="Arial" panose="020B0604020202020204" pitchFamily="34" charset="0"/>
              <a:buChar char="•"/>
              <a:defRPr/>
            </a:pPr>
            <a:r>
              <a:rPr lang="en-CA" sz="2000" b="1" dirty="0"/>
              <a:t> Qualifications You Don’t Have</a:t>
            </a:r>
          </a:p>
          <a:p>
            <a:pPr marL="0" indent="0">
              <a:buNone/>
            </a:pPr>
            <a:endParaRPr lang="en-US" dirty="0"/>
          </a:p>
        </p:txBody>
      </p:sp>
    </p:spTree>
    <p:extLst>
      <p:ext uri="{BB962C8B-B14F-4D97-AF65-F5344CB8AC3E}">
        <p14:creationId xmlns:p14="http://schemas.microsoft.com/office/powerpoint/2010/main" val="2193445361"/>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194</TotalTime>
  <Words>1691</Words>
  <Application>Microsoft Macintosh PowerPoint</Application>
  <PresentationFormat>On-screen Show (4:3)</PresentationFormat>
  <Paragraphs>170</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Source Sans Pro</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not to Include</vt:lpstr>
    </vt:vector>
  </TitlesOfParts>
  <Company>STSMEDIA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Centre for Arts &amp; Design Slide Template</dc:title>
  <dc:subject>Centre for Arts &amp; Design Slide Template</dc:subject>
  <dc:creator>George Brown College;Centre for Arts &amp; Design</dc:creator>
  <cp:keywords>George Brown College; Centre for Arts &amp; Design; PowerPoint; Slides Template; Master Layout</cp:keywords>
  <cp:lastModifiedBy>Tyanne Fluke</cp:lastModifiedBy>
  <cp:revision>33</cp:revision>
  <dcterms:created xsi:type="dcterms:W3CDTF">2008-02-14T00:02:49Z</dcterms:created>
  <dcterms:modified xsi:type="dcterms:W3CDTF">2024-05-05T14:56:42Z</dcterms:modified>
</cp:coreProperties>
</file>