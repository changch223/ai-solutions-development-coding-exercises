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Lst>
  <p:notesMasterIdLst>
    <p:notesMasterId r:id="rId9"/>
  </p:notesMasterIdLst>
  <p:sldIdLst>
    <p:sldId id="256" r:id="rId2"/>
    <p:sldId id="257" r:id="rId3"/>
    <p:sldId id="265" r:id="rId4"/>
    <p:sldId id="266" r:id="rId5"/>
    <p:sldId id="267" r:id="rId6"/>
    <p:sldId id="268" r:id="rId7"/>
    <p:sldId id="270" r:id="rId8"/>
  </p:sldIdLst>
  <p:sldSz cx="9144000" cy="6858000" type="screen4x3"/>
  <p:notesSz cx="7010400" cy="9296400"/>
  <p:defaultTextStyle>
    <a:defPPr>
      <a:defRPr lang="en-CA"/>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111" autoAdjust="0"/>
    <p:restoredTop sz="86446" autoAdjust="0"/>
  </p:normalViewPr>
  <p:slideViewPr>
    <p:cSldViewPr snapToGrid="0">
      <p:cViewPr varScale="1">
        <p:scale>
          <a:sx n="98" d="100"/>
          <a:sy n="98" d="100"/>
        </p:scale>
        <p:origin x="1552" y="200"/>
      </p:cViewPr>
      <p:guideLst>
        <p:guide orient="horz" pos="566"/>
        <p:guide pos="12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8" d="100"/>
          <a:sy n="68" d="100"/>
        </p:scale>
        <p:origin x="3067"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2F1CE8-FB73-A34F-9931-CA887D8AE88E}"/>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eaLnBrk="1" hangingPunct="1">
              <a:defRPr sz="1200">
                <a:latin typeface="Arial" charset="0"/>
                <a:cs typeface="+mn-cs"/>
              </a:defRPr>
            </a:lvl1pPr>
          </a:lstStyle>
          <a:p>
            <a:pPr>
              <a:defRPr/>
            </a:pPr>
            <a:endParaRPr lang="en-CA"/>
          </a:p>
        </p:txBody>
      </p:sp>
      <p:sp>
        <p:nvSpPr>
          <p:cNvPr id="3" name="Date Placeholder 2">
            <a:extLst>
              <a:ext uri="{FF2B5EF4-FFF2-40B4-BE49-F238E27FC236}">
                <a16:creationId xmlns:a16="http://schemas.microsoft.com/office/drawing/2014/main" id="{848B52CB-F24A-754B-9EE3-3DF39DED1DA1}"/>
              </a:ext>
            </a:extLst>
          </p:cNvPr>
          <p:cNvSpPr>
            <a:spLocks noGrp="1"/>
          </p:cNvSpPr>
          <p:nvPr>
            <p:ph type="dt" idx="1"/>
          </p:nvPr>
        </p:nvSpPr>
        <p:spPr>
          <a:xfrm>
            <a:off x="3970338" y="0"/>
            <a:ext cx="3038475" cy="465138"/>
          </a:xfrm>
          <a:prstGeom prst="rect">
            <a:avLst/>
          </a:prstGeom>
        </p:spPr>
        <p:txBody>
          <a:bodyPr vert="horz" lIns="93177" tIns="46589" rIns="93177" bIns="46589" rtlCol="0"/>
          <a:lstStyle>
            <a:lvl1pPr algn="r" eaLnBrk="1" hangingPunct="1">
              <a:defRPr sz="1200">
                <a:latin typeface="Arial" charset="0"/>
                <a:cs typeface="+mn-cs"/>
              </a:defRPr>
            </a:lvl1pPr>
          </a:lstStyle>
          <a:p>
            <a:pPr>
              <a:defRPr/>
            </a:pPr>
            <a:fld id="{110FDA5D-BB09-C642-92D5-8EBBCB15713C}" type="datetimeFigureOut">
              <a:rPr lang="en-CA"/>
              <a:pPr>
                <a:defRPr/>
              </a:pPr>
              <a:t>2022-09-11</a:t>
            </a:fld>
            <a:endParaRPr lang="en-CA"/>
          </a:p>
        </p:txBody>
      </p:sp>
      <p:sp>
        <p:nvSpPr>
          <p:cNvPr id="4" name="Slide Image Placeholder 3">
            <a:extLst>
              <a:ext uri="{FF2B5EF4-FFF2-40B4-BE49-F238E27FC236}">
                <a16:creationId xmlns:a16="http://schemas.microsoft.com/office/drawing/2014/main" id="{C38879CD-95FE-2D4F-AB13-8854F72DEB71}"/>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CA" noProof="0"/>
          </a:p>
        </p:txBody>
      </p:sp>
      <p:sp>
        <p:nvSpPr>
          <p:cNvPr id="5" name="Notes Placeholder 4">
            <a:extLst>
              <a:ext uri="{FF2B5EF4-FFF2-40B4-BE49-F238E27FC236}">
                <a16:creationId xmlns:a16="http://schemas.microsoft.com/office/drawing/2014/main" id="{EA9ACD2A-DB19-F742-A534-1CC3931B2399}"/>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a:extLst>
              <a:ext uri="{FF2B5EF4-FFF2-40B4-BE49-F238E27FC236}">
                <a16:creationId xmlns:a16="http://schemas.microsoft.com/office/drawing/2014/main" id="{9CC85AB6-9165-674F-9E2E-FFD6FDA243F5}"/>
              </a:ext>
            </a:extLst>
          </p:cNvPr>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eaLnBrk="1" hangingPunct="1">
              <a:defRPr sz="1200">
                <a:latin typeface="Arial" charset="0"/>
                <a:cs typeface="+mn-cs"/>
              </a:defRPr>
            </a:lvl1pPr>
          </a:lstStyle>
          <a:p>
            <a:pPr>
              <a:defRPr/>
            </a:pPr>
            <a:endParaRPr lang="en-CA"/>
          </a:p>
        </p:txBody>
      </p:sp>
      <p:sp>
        <p:nvSpPr>
          <p:cNvPr id="7" name="Slide Number Placeholder 6">
            <a:extLst>
              <a:ext uri="{FF2B5EF4-FFF2-40B4-BE49-F238E27FC236}">
                <a16:creationId xmlns:a16="http://schemas.microsoft.com/office/drawing/2014/main" id="{8C09B451-8703-A34B-B059-CBD3887257DA}"/>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fld id="{E062FC83-96EC-7F4C-A8F6-6C00F6C8D9C9}"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westmonroepartners.com/Insights/White-Papers/IT-Soft-Skills"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westmonroepartners.com/"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Slide Image Placeholder 1">
            <a:extLst>
              <a:ext uri="{FF2B5EF4-FFF2-40B4-BE49-F238E27FC236}">
                <a16:creationId xmlns:a16="http://schemas.microsoft.com/office/drawing/2014/main" id="{A7039E7F-179E-CC2C-A279-CCC3B2DC4F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2" name="Notes Placeholder 2">
            <a:extLst>
              <a:ext uri="{FF2B5EF4-FFF2-40B4-BE49-F238E27FC236}">
                <a16:creationId xmlns:a16="http://schemas.microsoft.com/office/drawing/2014/main" id="{122061D6-99DF-6ABA-E57F-EF1792BD05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This article is a good resource for us to use when discussing this topic</a:t>
            </a:r>
          </a:p>
          <a:p>
            <a:pPr eaLnBrk="1" hangingPunct="1">
              <a:spcBef>
                <a:spcPct val="0"/>
              </a:spcBef>
            </a:pPr>
            <a:endParaRPr lang="en-US" altLang="en-US"/>
          </a:p>
          <a:p>
            <a:pPr eaLnBrk="1" hangingPunct="1">
              <a:spcBef>
                <a:spcPct val="0"/>
              </a:spcBef>
            </a:pPr>
            <a:endParaRPr lang="en-US" altLang="en-US"/>
          </a:p>
          <a:p>
            <a:pPr eaLnBrk="1" hangingPunct="1">
              <a:spcBef>
                <a:spcPct val="0"/>
              </a:spcBef>
            </a:pPr>
            <a:r>
              <a:rPr lang="en-US" altLang="en-US"/>
              <a:t>https://enterprisersproject.com/article/2019/10/10-soft-skills-it-teams</a:t>
            </a:r>
          </a:p>
          <a:p>
            <a:pPr eaLnBrk="1" hangingPunct="1">
              <a:spcBef>
                <a:spcPct val="0"/>
              </a:spcBef>
            </a:pPr>
            <a:endParaRPr lang="en-US" altLang="en-US"/>
          </a:p>
          <a:p>
            <a:pPr eaLnBrk="1" hangingPunct="1">
              <a:spcBef>
                <a:spcPct val="0"/>
              </a:spcBef>
            </a:pPr>
            <a:endParaRPr lang="en-US" altLang="en-US"/>
          </a:p>
        </p:txBody>
      </p:sp>
      <p:sp>
        <p:nvSpPr>
          <p:cNvPr id="5123" name="Slide Number Placeholder 3">
            <a:extLst>
              <a:ext uri="{FF2B5EF4-FFF2-40B4-BE49-F238E27FC236}">
                <a16:creationId xmlns:a16="http://schemas.microsoft.com/office/drawing/2014/main" id="{18A20872-B556-EC14-3246-FBCB62F97D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55650" indent="-290513">
              <a:spcBef>
                <a:spcPct val="30000"/>
              </a:spcBef>
              <a:defRPr sz="1200">
                <a:solidFill>
                  <a:schemeClr val="tx1"/>
                </a:solidFill>
                <a:latin typeface="Calibri" panose="020F0502020204030204" pitchFamily="34" charset="0"/>
              </a:defRPr>
            </a:lvl2pPr>
            <a:lvl3pPr marL="1163638" indent="-231775">
              <a:spcBef>
                <a:spcPct val="30000"/>
              </a:spcBef>
              <a:defRPr sz="1200">
                <a:solidFill>
                  <a:schemeClr val="tx1"/>
                </a:solidFill>
                <a:latin typeface="Calibri" panose="020F0502020204030204" pitchFamily="34" charset="0"/>
              </a:defRPr>
            </a:lvl3pPr>
            <a:lvl4pPr marL="1630363" indent="-231775">
              <a:spcBef>
                <a:spcPct val="30000"/>
              </a:spcBef>
              <a:defRPr sz="1200">
                <a:solidFill>
                  <a:schemeClr val="tx1"/>
                </a:solidFill>
                <a:latin typeface="Calibri" panose="020F0502020204030204" pitchFamily="34" charset="0"/>
              </a:defRPr>
            </a:lvl4pPr>
            <a:lvl5pPr marL="2095500" indent="-231775">
              <a:spcBef>
                <a:spcPct val="30000"/>
              </a:spcBef>
              <a:defRPr sz="1200">
                <a:solidFill>
                  <a:schemeClr val="tx1"/>
                </a:solidFill>
                <a:latin typeface="Calibri" panose="020F0502020204030204" pitchFamily="34" charset="0"/>
              </a:defRPr>
            </a:lvl5pPr>
            <a:lvl6pPr marL="2552700" indent="-231775" eaLnBrk="0" fontAlgn="base" hangingPunct="0">
              <a:spcBef>
                <a:spcPct val="30000"/>
              </a:spcBef>
              <a:spcAft>
                <a:spcPct val="0"/>
              </a:spcAft>
              <a:defRPr sz="1200">
                <a:solidFill>
                  <a:schemeClr val="tx1"/>
                </a:solidFill>
                <a:latin typeface="Calibri" panose="020F0502020204030204" pitchFamily="34" charset="0"/>
              </a:defRPr>
            </a:lvl6pPr>
            <a:lvl7pPr marL="3009900" indent="-231775" eaLnBrk="0" fontAlgn="base" hangingPunct="0">
              <a:spcBef>
                <a:spcPct val="30000"/>
              </a:spcBef>
              <a:spcAft>
                <a:spcPct val="0"/>
              </a:spcAft>
              <a:defRPr sz="1200">
                <a:solidFill>
                  <a:schemeClr val="tx1"/>
                </a:solidFill>
                <a:latin typeface="Calibri" panose="020F0502020204030204" pitchFamily="34" charset="0"/>
              </a:defRPr>
            </a:lvl7pPr>
            <a:lvl8pPr marL="3467100" indent="-231775" eaLnBrk="0" fontAlgn="base" hangingPunct="0">
              <a:spcBef>
                <a:spcPct val="30000"/>
              </a:spcBef>
              <a:spcAft>
                <a:spcPct val="0"/>
              </a:spcAft>
              <a:defRPr sz="1200">
                <a:solidFill>
                  <a:schemeClr val="tx1"/>
                </a:solidFill>
                <a:latin typeface="Calibri" panose="020F0502020204030204" pitchFamily="34" charset="0"/>
              </a:defRPr>
            </a:lvl8pPr>
            <a:lvl9pPr marL="3924300" indent="-2317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231FD58-523A-BE48-92DB-D0F43F66258C}" type="slidenum">
              <a:rPr lang="en-CA" altLang="en-US">
                <a:latin typeface="Arial" panose="020B0604020202020204" pitchFamily="34" charset="0"/>
              </a:rPr>
              <a:pPr>
                <a:spcBef>
                  <a:spcPct val="0"/>
                </a:spcBef>
              </a:pPr>
              <a:t>1</a:t>
            </a:fld>
            <a:endParaRPr lang="en-CA"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Slide Image Placeholder 1">
            <a:extLst>
              <a:ext uri="{FF2B5EF4-FFF2-40B4-BE49-F238E27FC236}">
                <a16:creationId xmlns:a16="http://schemas.microsoft.com/office/drawing/2014/main" id="{BCDD722B-C971-9BBE-6C36-FB3691CC2A0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0" name="Notes Placeholder 2">
            <a:extLst>
              <a:ext uri="{FF2B5EF4-FFF2-40B4-BE49-F238E27FC236}">
                <a16:creationId xmlns:a16="http://schemas.microsoft.com/office/drawing/2014/main" id="{AB059524-1A05-164C-0354-ED1E540B72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A </a:t>
            </a:r>
            <a:r>
              <a:rPr lang="en-CA" altLang="en-US" dirty="0">
                <a:hlinkClick r:id="rId3"/>
              </a:rPr>
              <a:t>study</a:t>
            </a:r>
            <a:r>
              <a:rPr lang="en-CA" altLang="en-US" dirty="0"/>
              <a:t> from business and technology consulting firm </a:t>
            </a:r>
            <a:r>
              <a:rPr lang="en-CA" altLang="en-US" dirty="0">
                <a:hlinkClick r:id="rId4"/>
              </a:rPr>
              <a:t>West Monroe</a:t>
            </a:r>
            <a:r>
              <a:rPr lang="en-CA" altLang="en-US" dirty="0"/>
              <a:t> found that more than three-quarters (78 percent) of HR leaders say they’ve become more focused on finding technology employees with strong soft skills. Sixty-seven percent say they have withheld a job offer due to a candidate’s lack of soft skills.</a:t>
            </a:r>
          </a:p>
          <a:p>
            <a:endParaRPr lang="en-CA" altLang="en-US" dirty="0"/>
          </a:p>
          <a:p>
            <a:r>
              <a:rPr lang="en-CA" altLang="en-US" dirty="0"/>
              <a:t>“[Businesses] should actively look for technologists with the interpersonal, writing, and teamwork abilities to thrive in an integrated business setting and develop into leaders,” notes Greg </a:t>
            </a:r>
            <a:r>
              <a:rPr lang="en-CA" altLang="en-US" dirty="0" err="1"/>
              <a:t>Layok</a:t>
            </a:r>
            <a:r>
              <a:rPr lang="en-CA" altLang="en-US" dirty="0"/>
              <a:t>, managing director with West Monroe and leader of the firm’s technology practice, in the report. </a:t>
            </a:r>
          </a:p>
          <a:p>
            <a:r>
              <a:rPr lang="en-CA" altLang="en-US" dirty="0"/>
              <a:t>IT leaders say that a gap in soft skills on a team can lead to trouble, ranging from daily team friction to missed deadlines to poor results.</a:t>
            </a:r>
          </a:p>
          <a:p>
            <a:endParaRPr lang="en-US" altLang="en-US" dirty="0"/>
          </a:p>
        </p:txBody>
      </p:sp>
      <p:sp>
        <p:nvSpPr>
          <p:cNvPr id="7171" name="Slide Number Placeholder 3">
            <a:extLst>
              <a:ext uri="{FF2B5EF4-FFF2-40B4-BE49-F238E27FC236}">
                <a16:creationId xmlns:a16="http://schemas.microsoft.com/office/drawing/2014/main" id="{49D001A4-7FD8-ACFA-B7A6-02F646B742D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490F86-C1EA-4149-8247-C323696F99DC}" type="slidenum">
              <a:rPr lang="en-CA" altLang="en-US"/>
              <a:pPr/>
              <a:t>2</a:t>
            </a:fld>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Slide Image Placeholder 1">
            <a:extLst>
              <a:ext uri="{FF2B5EF4-FFF2-40B4-BE49-F238E27FC236}">
                <a16:creationId xmlns:a16="http://schemas.microsoft.com/office/drawing/2014/main" id="{FDBBFF11-63CD-A43A-19DD-76570F29C5B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8" name="Notes Placeholder 2">
            <a:extLst>
              <a:ext uri="{FF2B5EF4-FFF2-40B4-BE49-F238E27FC236}">
                <a16:creationId xmlns:a16="http://schemas.microsoft.com/office/drawing/2014/main" id="{F61C8F55-63A8-B3A7-E1A5-7A1711E3B2B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a:buFontTx/>
              <a:buChar char="•"/>
            </a:pPr>
            <a:endParaRPr lang="en-US" altLang="en-US"/>
          </a:p>
          <a:p>
            <a:pPr marL="174625" indent="-174625">
              <a:buFontTx/>
              <a:buChar char="•"/>
            </a:pPr>
            <a:r>
              <a:rPr lang="en-US" altLang="en-US"/>
              <a:t>Communication and Collaboration (must haves)</a:t>
            </a:r>
          </a:p>
          <a:p>
            <a:pPr marL="174625" indent="-174625">
              <a:buFontTx/>
              <a:buChar char="•"/>
            </a:pPr>
            <a:r>
              <a:rPr lang="en-US" altLang="en-US"/>
              <a:t>Creative Problem Solving</a:t>
            </a:r>
          </a:p>
          <a:p>
            <a:pPr marL="174625" indent="-174625">
              <a:buFontTx/>
              <a:buChar char="•"/>
            </a:pPr>
            <a:endParaRPr lang="en-US" altLang="en-US"/>
          </a:p>
          <a:p>
            <a:pPr marL="174625" indent="-174625">
              <a:buFontTx/>
              <a:buChar char="•"/>
            </a:pPr>
            <a:r>
              <a:rPr lang="en-US" altLang="en-US"/>
              <a:t>Leadership Skills </a:t>
            </a:r>
          </a:p>
          <a:p>
            <a:pPr marL="174625" indent="-174625">
              <a:buFontTx/>
              <a:buChar char="•"/>
            </a:pPr>
            <a:r>
              <a:rPr lang="en-US" altLang="en-US"/>
              <a:t>The ability to Learn</a:t>
            </a:r>
          </a:p>
          <a:p>
            <a:pPr marL="174625" indent="-174625">
              <a:buFontTx/>
              <a:buChar char="•"/>
            </a:pPr>
            <a:r>
              <a:rPr lang="en-US" altLang="en-US"/>
              <a:t>Creativity</a:t>
            </a:r>
          </a:p>
          <a:p>
            <a:pPr marL="174625" indent="-174625">
              <a:buFontTx/>
              <a:buChar char="•"/>
            </a:pPr>
            <a:r>
              <a:rPr lang="en-US" altLang="en-US"/>
              <a:t>Healthy Ego</a:t>
            </a:r>
          </a:p>
          <a:p>
            <a:pPr marL="174625" indent="-174625">
              <a:buFontTx/>
              <a:buChar char="•"/>
            </a:pPr>
            <a:r>
              <a:rPr lang="en-US" altLang="en-US"/>
              <a:t>Accountability </a:t>
            </a:r>
          </a:p>
          <a:p>
            <a:pPr marL="174625" indent="-174625">
              <a:buFontTx/>
              <a:buChar char="•"/>
            </a:pPr>
            <a:r>
              <a:rPr lang="en-US" altLang="en-US"/>
              <a:t>Critical Thinking</a:t>
            </a:r>
          </a:p>
          <a:p>
            <a:pPr marL="174625" indent="-174625">
              <a:buFontTx/>
              <a:buChar char="•"/>
            </a:pPr>
            <a:r>
              <a:rPr lang="en-US" altLang="en-US"/>
              <a:t>Empathy </a:t>
            </a:r>
          </a:p>
          <a:p>
            <a:pPr marL="174625" indent="-174625">
              <a:buFontTx/>
              <a:buChar char="•"/>
            </a:pPr>
            <a:r>
              <a:rPr lang="en-US" altLang="en-US"/>
              <a:t>Flexibility</a:t>
            </a:r>
          </a:p>
          <a:p>
            <a:pPr marL="174625" indent="-174625">
              <a:buFontTx/>
              <a:buChar char="•"/>
            </a:pPr>
            <a:r>
              <a:rPr lang="en-US" altLang="en-US"/>
              <a:t>Passion</a:t>
            </a:r>
          </a:p>
          <a:p>
            <a:pPr marL="174625" indent="-174625">
              <a:buFontTx/>
              <a:buChar char="•"/>
            </a:pPr>
            <a:endParaRPr lang="en-US" altLang="en-US"/>
          </a:p>
        </p:txBody>
      </p:sp>
      <p:sp>
        <p:nvSpPr>
          <p:cNvPr id="9219" name="Slide Number Placeholder 3">
            <a:extLst>
              <a:ext uri="{FF2B5EF4-FFF2-40B4-BE49-F238E27FC236}">
                <a16:creationId xmlns:a16="http://schemas.microsoft.com/office/drawing/2014/main" id="{4FC82E51-358A-6082-C2AD-78F3B02088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928D56A-7BEE-BB4B-808A-0C4E6E008670}" type="slidenum">
              <a:rPr lang="en-CA" altLang="en-US"/>
              <a:pPr/>
              <a:t>3</a:t>
            </a:fld>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a:extLst>
              <a:ext uri="{FF2B5EF4-FFF2-40B4-BE49-F238E27FC236}">
                <a16:creationId xmlns:a16="http://schemas.microsoft.com/office/drawing/2014/main" id="{6EEBE091-3F28-A942-D20F-4CB964B6E64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a:extLst>
              <a:ext uri="{FF2B5EF4-FFF2-40B4-BE49-F238E27FC236}">
                <a16:creationId xmlns:a16="http://schemas.microsoft.com/office/drawing/2014/main" id="{1DF88A8D-DBF8-4062-0823-D6B9AE7D134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a:buFontTx/>
              <a:buChar char="•"/>
            </a:pPr>
            <a:endParaRPr lang="en-US" altLang="en-US"/>
          </a:p>
        </p:txBody>
      </p:sp>
      <p:sp>
        <p:nvSpPr>
          <p:cNvPr id="11267" name="Slide Number Placeholder 3">
            <a:extLst>
              <a:ext uri="{FF2B5EF4-FFF2-40B4-BE49-F238E27FC236}">
                <a16:creationId xmlns:a16="http://schemas.microsoft.com/office/drawing/2014/main" id="{6234D626-B894-A9F5-EDE0-441A62BEB1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0B2274-4D18-624A-8E1C-496B928AE44E}" type="slidenum">
              <a:rPr lang="en-CA" altLang="en-US"/>
              <a:pPr/>
              <a:t>4</a:t>
            </a:fld>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a:extLst>
              <a:ext uri="{FF2B5EF4-FFF2-40B4-BE49-F238E27FC236}">
                <a16:creationId xmlns:a16="http://schemas.microsoft.com/office/drawing/2014/main" id="{9BBC48D2-A2E7-7216-84F9-230AFB84F5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4" name="Notes Placeholder 2">
            <a:extLst>
              <a:ext uri="{FF2B5EF4-FFF2-40B4-BE49-F238E27FC236}">
                <a16:creationId xmlns:a16="http://schemas.microsoft.com/office/drawing/2014/main" id="{F370BA50-9AEB-F513-C2CB-CE5A7EE9DB3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a:buFontTx/>
              <a:buChar char="•"/>
            </a:pPr>
            <a:endParaRPr lang="en-US" altLang="en-US"/>
          </a:p>
        </p:txBody>
      </p:sp>
      <p:sp>
        <p:nvSpPr>
          <p:cNvPr id="13315" name="Slide Number Placeholder 3">
            <a:extLst>
              <a:ext uri="{FF2B5EF4-FFF2-40B4-BE49-F238E27FC236}">
                <a16:creationId xmlns:a16="http://schemas.microsoft.com/office/drawing/2014/main" id="{736ACD42-D132-154D-1546-C3581E40B5B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3E65E19-F376-AB4C-AF98-5EA263641685}" type="slidenum">
              <a:rPr lang="en-CA" altLang="en-US"/>
              <a:pPr/>
              <a:t>5</a:t>
            </a:fld>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A3B8F432-9D2A-5CDD-0B07-C6FB49B2C86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Notes Placeholder 2">
            <a:extLst>
              <a:ext uri="{FF2B5EF4-FFF2-40B4-BE49-F238E27FC236}">
                <a16:creationId xmlns:a16="http://schemas.microsoft.com/office/drawing/2014/main" id="{769DF943-AD23-E73B-C6B2-6B7109B02CD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a:buFontTx/>
              <a:buChar char="•"/>
            </a:pPr>
            <a:endParaRPr lang="en-US" altLang="en-US"/>
          </a:p>
        </p:txBody>
      </p:sp>
      <p:sp>
        <p:nvSpPr>
          <p:cNvPr id="15363" name="Slide Number Placeholder 3">
            <a:extLst>
              <a:ext uri="{FF2B5EF4-FFF2-40B4-BE49-F238E27FC236}">
                <a16:creationId xmlns:a16="http://schemas.microsoft.com/office/drawing/2014/main" id="{0AB0935D-CE07-B71D-9EC7-BFB089AB8CB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00AF6D-C378-9F44-A487-3213F24A1152}" type="slidenum">
              <a:rPr lang="en-CA" altLang="en-US"/>
              <a:pPr/>
              <a:t>6</a:t>
            </a:fld>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D4332A6E-4163-C119-D92A-B9310131994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Notes Placeholder 2">
            <a:extLst>
              <a:ext uri="{FF2B5EF4-FFF2-40B4-BE49-F238E27FC236}">
                <a16:creationId xmlns:a16="http://schemas.microsoft.com/office/drawing/2014/main" id="{FFA6CF65-186F-EEDC-6763-A9B006A4D4D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625" indent="-174625">
              <a:buFontTx/>
              <a:buChar char="•"/>
            </a:pPr>
            <a:r>
              <a:rPr lang="en-US" altLang="en-US"/>
              <a:t>https://enterprisersproject.com/article/2019/10/10-soft-skills-it-teams</a:t>
            </a:r>
          </a:p>
          <a:p>
            <a:pPr marL="174625" indent="-174625">
              <a:buFontTx/>
              <a:buChar char="•"/>
            </a:pPr>
            <a:endParaRPr lang="en-US" altLang="en-US"/>
          </a:p>
        </p:txBody>
      </p:sp>
      <p:sp>
        <p:nvSpPr>
          <p:cNvPr id="17411" name="Slide Number Placeholder 3">
            <a:extLst>
              <a:ext uri="{FF2B5EF4-FFF2-40B4-BE49-F238E27FC236}">
                <a16:creationId xmlns:a16="http://schemas.microsoft.com/office/drawing/2014/main" id="{8D0506BB-38CD-9126-2F6F-85FDBA46C7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55650" indent="-290513">
              <a:defRPr>
                <a:solidFill>
                  <a:schemeClr val="tx1"/>
                </a:solidFill>
                <a:latin typeface="Arial" panose="020B0604020202020204" pitchFamily="34" charset="0"/>
                <a:cs typeface="Arial" panose="020B0604020202020204" pitchFamily="34" charset="0"/>
              </a:defRPr>
            </a:lvl2pPr>
            <a:lvl3pPr marL="1163638" indent="-231775">
              <a:defRPr>
                <a:solidFill>
                  <a:schemeClr val="tx1"/>
                </a:solidFill>
                <a:latin typeface="Arial" panose="020B0604020202020204" pitchFamily="34" charset="0"/>
                <a:cs typeface="Arial" panose="020B0604020202020204" pitchFamily="34" charset="0"/>
              </a:defRPr>
            </a:lvl3pPr>
            <a:lvl4pPr marL="1630363" indent="-231775">
              <a:defRPr>
                <a:solidFill>
                  <a:schemeClr val="tx1"/>
                </a:solidFill>
                <a:latin typeface="Arial" panose="020B0604020202020204" pitchFamily="34" charset="0"/>
                <a:cs typeface="Arial" panose="020B0604020202020204" pitchFamily="34" charset="0"/>
              </a:defRPr>
            </a:lvl4pPr>
            <a:lvl5pPr marL="2095500" indent="-231775">
              <a:defRPr>
                <a:solidFill>
                  <a:schemeClr val="tx1"/>
                </a:solidFill>
                <a:latin typeface="Arial" panose="020B0604020202020204" pitchFamily="34" charset="0"/>
                <a:cs typeface="Arial" panose="020B0604020202020204" pitchFamily="34" charset="0"/>
              </a:defRPr>
            </a:lvl5pPr>
            <a:lvl6pPr marL="25527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0099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671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924300" indent="-2317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55D9068-4FD1-B141-8057-56CEC686947E}" type="slidenum">
              <a:rPr lang="en-CA" altLang="en-US"/>
              <a:pPr/>
              <a:t>7</a:t>
            </a:fld>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4FE532C-D8C0-90B2-BEC5-09EA41E206B1}"/>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BED5293-BDE6-B72F-847C-B89F59BF4E0C}"/>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10">
            <a:extLst>
              <a:ext uri="{FF2B5EF4-FFF2-40B4-BE49-F238E27FC236}">
                <a16:creationId xmlns:a16="http://schemas.microsoft.com/office/drawing/2014/main" id="{F832DBD4-80BA-F1D5-B8E2-A575CAD0A3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a:extLst>
              <a:ext uri="{FF2B5EF4-FFF2-40B4-BE49-F238E27FC236}">
                <a16:creationId xmlns:a16="http://schemas.microsoft.com/office/drawing/2014/main" id="{056D7079-CE9E-5874-B7AA-12DEDE41ED6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1955800" y="517525"/>
            <a:ext cx="7188200" cy="431800"/>
          </a:xfrm>
        </p:spPr>
        <p:txBody>
          <a:bodyPr/>
          <a:lstStyle>
            <a:lvl1pPr>
              <a:defRPr/>
            </a:lvl1pPr>
          </a:lstStyle>
          <a:p>
            <a:pPr lvl="0"/>
            <a:r>
              <a:rPr lang="en-CA" altLang="en-US" noProof="0"/>
              <a:t>Click to edit Master title style</a:t>
            </a:r>
          </a:p>
        </p:txBody>
      </p:sp>
      <p:sp>
        <p:nvSpPr>
          <p:cNvPr id="3076" name="Rectangle 4"/>
          <p:cNvSpPr>
            <a:spLocks noGrp="1" noChangeArrowheads="1"/>
          </p:cNvSpPr>
          <p:nvPr>
            <p:ph type="subTitle" idx="1"/>
          </p:nvPr>
        </p:nvSpPr>
        <p:spPr>
          <a:xfrm>
            <a:off x="838200" y="2408238"/>
            <a:ext cx="7467600" cy="1752600"/>
          </a:xfrm>
        </p:spPr>
        <p:txBody>
          <a:bodyPr/>
          <a:lstStyle>
            <a:lvl1pPr marL="0" indent="0" algn="ctr">
              <a:buFont typeface="Wingdings" pitchFamily="2" charset="2"/>
              <a:buNone/>
              <a:defRPr sz="4400" b="1"/>
            </a:lvl1pPr>
          </a:lstStyle>
          <a:p>
            <a:pPr lvl="0"/>
            <a:r>
              <a:rPr lang="en-CA" altLang="en-US" noProof="0"/>
              <a:t>Place Header Here</a:t>
            </a:r>
            <a:br>
              <a:rPr lang="en-CA" altLang="en-US" noProof="0"/>
            </a:br>
            <a:r>
              <a:rPr lang="en-CA" altLang="en-US" noProof="0"/>
              <a:t>Place Text Here</a:t>
            </a:r>
          </a:p>
        </p:txBody>
      </p:sp>
    </p:spTree>
    <p:extLst>
      <p:ext uri="{BB962C8B-B14F-4D97-AF65-F5344CB8AC3E}">
        <p14:creationId xmlns:p14="http://schemas.microsoft.com/office/powerpoint/2010/main" val="58310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23884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4640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38926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31529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237437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86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0389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16634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356157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8788" y="381000"/>
            <a:ext cx="2116137" cy="5745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81000"/>
            <a:ext cx="6199188"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38085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930400" y="381000"/>
            <a:ext cx="6994525" cy="633413"/>
          </a:xfrm>
        </p:spPr>
        <p:txBody>
          <a:bodyPr/>
          <a:lstStyle/>
          <a:p>
            <a:r>
              <a:rPr lang="en-US"/>
              <a:t>Click to edit Master title style</a:t>
            </a:r>
            <a:endParaRPr lang="en-CA"/>
          </a:p>
        </p:txBody>
      </p:sp>
      <p:sp>
        <p:nvSpPr>
          <p:cNvPr id="3" name="SmartArt Placeholder 2"/>
          <p:cNvSpPr>
            <a:spLocks noGrp="1"/>
          </p:cNvSpPr>
          <p:nvPr>
            <p:ph type="dgm" idx="1"/>
          </p:nvPr>
        </p:nvSpPr>
        <p:spPr>
          <a:xfrm>
            <a:off x="457200" y="1600200"/>
            <a:ext cx="8229600" cy="4525963"/>
          </a:xfrm>
        </p:spPr>
        <p:txBody>
          <a:bodyPr/>
          <a:lstStyle/>
          <a:p>
            <a:pPr lvl="0"/>
            <a:endParaRPr lang="en-CA" noProof="0" dirty="0"/>
          </a:p>
        </p:txBody>
      </p:sp>
    </p:spTree>
    <p:extLst>
      <p:ext uri="{BB962C8B-B14F-4D97-AF65-F5344CB8AC3E}">
        <p14:creationId xmlns:p14="http://schemas.microsoft.com/office/powerpoint/2010/main" val="1909716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436D183-3956-9349-BDF8-5EA83826C54D}"/>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A9A15F-DEEE-7F48-9591-9451FD731755}"/>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1028" name="Picture 6">
            <a:extLst>
              <a:ext uri="{FF2B5EF4-FFF2-40B4-BE49-F238E27FC236}">
                <a16:creationId xmlns:a16="http://schemas.microsoft.com/office/drawing/2014/main" id="{8E1D2646-1BEC-1D8E-48FF-C771DDB1371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7">
            <a:extLst>
              <a:ext uri="{FF2B5EF4-FFF2-40B4-BE49-F238E27FC236}">
                <a16:creationId xmlns:a16="http://schemas.microsoft.com/office/drawing/2014/main" id="{F5559D39-AAA8-8BC8-C065-B00BC49D3E89}"/>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2">
            <a:extLst>
              <a:ext uri="{FF2B5EF4-FFF2-40B4-BE49-F238E27FC236}">
                <a16:creationId xmlns:a16="http://schemas.microsoft.com/office/drawing/2014/main" id="{C591B423-1AEC-0FD0-53B2-1BD2CFFED3A9}"/>
              </a:ext>
            </a:extLst>
          </p:cNvPr>
          <p:cNvSpPr>
            <a:spLocks noGrp="1" noChangeArrowheads="1"/>
          </p:cNvSpPr>
          <p:nvPr>
            <p:ph type="title"/>
          </p:nvPr>
        </p:nvSpPr>
        <p:spPr bwMode="white">
          <a:xfrm>
            <a:off x="1930400" y="381000"/>
            <a:ext cx="69945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CA" altLang="en-US"/>
              <a:t>Click to edit Master title style</a:t>
            </a:r>
          </a:p>
        </p:txBody>
      </p:sp>
      <p:sp>
        <p:nvSpPr>
          <p:cNvPr id="1031" name="Rectangle 3">
            <a:extLst>
              <a:ext uri="{FF2B5EF4-FFF2-40B4-BE49-F238E27FC236}">
                <a16:creationId xmlns:a16="http://schemas.microsoft.com/office/drawing/2014/main" id="{C9479827-83ED-9D54-C041-2586BC0C894E}"/>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charset="0"/>
        </a:defRPr>
      </a:lvl2pPr>
      <a:lvl3pPr algn="l" rtl="0" eaLnBrk="0" fontAlgn="base" hangingPunct="0">
        <a:spcBef>
          <a:spcPct val="0"/>
        </a:spcBef>
        <a:spcAft>
          <a:spcPct val="0"/>
        </a:spcAft>
        <a:defRPr sz="3600" b="1">
          <a:solidFill>
            <a:schemeClr val="tx2"/>
          </a:solidFill>
          <a:latin typeface="Arial" charset="0"/>
        </a:defRPr>
      </a:lvl3pPr>
      <a:lvl4pPr algn="l" rtl="0" eaLnBrk="0" fontAlgn="base" hangingPunct="0">
        <a:spcBef>
          <a:spcPct val="0"/>
        </a:spcBef>
        <a:spcAft>
          <a:spcPct val="0"/>
        </a:spcAft>
        <a:defRPr sz="3600" b="1">
          <a:solidFill>
            <a:schemeClr val="tx2"/>
          </a:solidFill>
          <a:latin typeface="Arial" charset="0"/>
        </a:defRPr>
      </a:lvl4pPr>
      <a:lvl5pPr algn="l" rtl="0" eaLnBrk="0" fontAlgn="base" hangingPunct="0">
        <a:spcBef>
          <a:spcPct val="0"/>
        </a:spcBef>
        <a:spcAft>
          <a:spcPct val="0"/>
        </a:spcAft>
        <a:defRPr sz="3600" b="1">
          <a:solidFill>
            <a:schemeClr val="tx2"/>
          </a:solidFill>
          <a:latin typeface="Arial" charset="0"/>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5000"/>
        </a:spcBef>
        <a:spcAft>
          <a:spcPct val="25000"/>
        </a:spcAft>
        <a:buClr>
          <a:srgbClr val="005AA6"/>
        </a:buClr>
        <a:buFont typeface="Wingdings" pitchFamily="2" charset="2"/>
        <a:buChar char="§"/>
        <a:defRPr sz="2800">
          <a:solidFill>
            <a:srgbClr val="4D4D4D"/>
          </a:solidFill>
          <a:latin typeface="+mn-lt"/>
          <a:ea typeface="+mn-ea"/>
          <a:cs typeface="+mn-cs"/>
        </a:defRPr>
      </a:lvl1pPr>
      <a:lvl2pPr marL="742950" indent="-285750" algn="l" rtl="0" eaLnBrk="0" fontAlgn="base" hangingPunct="0">
        <a:spcBef>
          <a:spcPct val="25000"/>
        </a:spcBef>
        <a:spcAft>
          <a:spcPct val="25000"/>
        </a:spcAft>
        <a:buClr>
          <a:srgbClr val="005AA6"/>
        </a:buClr>
        <a:buChar char="–"/>
        <a:defRPr sz="2400">
          <a:solidFill>
            <a:srgbClr val="4D4D4D"/>
          </a:solidFill>
          <a:latin typeface="+mn-lt"/>
        </a:defRPr>
      </a:lvl2pPr>
      <a:lvl3pPr marL="1143000" indent="-228600" algn="l" rtl="0" eaLnBrk="0" fontAlgn="base" hangingPunct="0">
        <a:spcBef>
          <a:spcPct val="25000"/>
        </a:spcBef>
        <a:spcAft>
          <a:spcPct val="25000"/>
        </a:spcAft>
        <a:buClr>
          <a:srgbClr val="005AA6"/>
        </a:buClr>
        <a:buChar char="•"/>
        <a:defRPr sz="2000">
          <a:solidFill>
            <a:srgbClr val="4D4D4D"/>
          </a:solidFill>
          <a:latin typeface="+mn-lt"/>
        </a:defRPr>
      </a:lvl3pPr>
      <a:lvl4pPr marL="1600200" indent="-228600" algn="l" rtl="0" eaLnBrk="0" fontAlgn="base" hangingPunct="0">
        <a:spcBef>
          <a:spcPct val="25000"/>
        </a:spcBef>
        <a:spcAft>
          <a:spcPct val="25000"/>
        </a:spcAft>
        <a:buClr>
          <a:srgbClr val="005AA6"/>
        </a:buClr>
        <a:buChar char="–"/>
        <a:defRPr>
          <a:solidFill>
            <a:srgbClr val="4D4D4D"/>
          </a:solidFill>
          <a:latin typeface="+mn-lt"/>
        </a:defRPr>
      </a:lvl4pPr>
      <a:lvl5pPr marL="2057400" indent="-228600" algn="l" rtl="0" eaLnBrk="0" fontAlgn="base" hangingPunct="0">
        <a:spcBef>
          <a:spcPct val="25000"/>
        </a:spcBef>
        <a:spcAft>
          <a:spcPct val="25000"/>
        </a:spcAft>
        <a:buClr>
          <a:srgbClr val="005AA6"/>
        </a:buClr>
        <a:buChar char="»"/>
        <a:defRPr>
          <a:solidFill>
            <a:srgbClr val="4D4D4D"/>
          </a:solidFill>
          <a:latin typeface="+mn-lt"/>
        </a:defRPr>
      </a:lvl5pPr>
      <a:lvl6pPr marL="2514600" indent="-228600" algn="l" rtl="0" fontAlgn="base">
        <a:spcBef>
          <a:spcPct val="25000"/>
        </a:spcBef>
        <a:spcAft>
          <a:spcPct val="25000"/>
        </a:spcAft>
        <a:buClr>
          <a:srgbClr val="005AA6"/>
        </a:buClr>
        <a:buChar char="»"/>
        <a:defRPr>
          <a:solidFill>
            <a:srgbClr val="4D4D4D"/>
          </a:solidFill>
          <a:latin typeface="+mn-lt"/>
        </a:defRPr>
      </a:lvl6pPr>
      <a:lvl7pPr marL="2971800" indent="-228600" algn="l" rtl="0" fontAlgn="base">
        <a:spcBef>
          <a:spcPct val="25000"/>
        </a:spcBef>
        <a:spcAft>
          <a:spcPct val="25000"/>
        </a:spcAft>
        <a:buClr>
          <a:srgbClr val="005AA6"/>
        </a:buClr>
        <a:buChar char="»"/>
        <a:defRPr>
          <a:solidFill>
            <a:srgbClr val="4D4D4D"/>
          </a:solidFill>
          <a:latin typeface="+mn-lt"/>
        </a:defRPr>
      </a:lvl7pPr>
      <a:lvl8pPr marL="3429000" indent="-228600" algn="l" rtl="0" fontAlgn="base">
        <a:spcBef>
          <a:spcPct val="25000"/>
        </a:spcBef>
        <a:spcAft>
          <a:spcPct val="25000"/>
        </a:spcAft>
        <a:buClr>
          <a:srgbClr val="005AA6"/>
        </a:buClr>
        <a:buChar char="»"/>
        <a:defRPr>
          <a:solidFill>
            <a:srgbClr val="4D4D4D"/>
          </a:solidFill>
          <a:latin typeface="+mn-lt"/>
        </a:defRPr>
      </a:lvl8pPr>
      <a:lvl9pPr marL="3886200" indent="-228600" algn="l" rtl="0" fontAlgn="base">
        <a:spcBef>
          <a:spcPct val="25000"/>
        </a:spcBef>
        <a:spcAft>
          <a:spcPct val="25000"/>
        </a:spcAft>
        <a:buClr>
          <a:srgbClr val="005AA6"/>
        </a:buClr>
        <a:buChar char="»"/>
        <a:defRPr>
          <a:solidFill>
            <a:srgbClr val="4D4D4D"/>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1">
            <a:extLst>
              <a:ext uri="{FF2B5EF4-FFF2-40B4-BE49-F238E27FC236}">
                <a16:creationId xmlns:a16="http://schemas.microsoft.com/office/drawing/2014/main" id="{D4716709-C046-7ADA-15FC-DE26C0D3C515}"/>
              </a:ext>
            </a:extLst>
          </p:cNvPr>
          <p:cNvSpPr>
            <a:spLocks noGrp="1" noChangeArrowheads="1"/>
          </p:cNvSpPr>
          <p:nvPr>
            <p:ph type="subTitle" idx="1"/>
          </p:nvPr>
        </p:nvSpPr>
        <p:spPr/>
        <p:txBody>
          <a:bodyPr/>
          <a:lstStyle/>
          <a:p>
            <a:pPr eaLnBrk="1" hangingPunct="1"/>
            <a:endParaRPr lang="en-US" altLang="en-US"/>
          </a:p>
          <a:p>
            <a:pPr eaLnBrk="1" hangingPunct="1"/>
            <a:r>
              <a:rPr lang="en-US" altLang="en-US"/>
              <a:t>Soft Skills</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8E79C314-607F-9D41-A127-242C62373D11}"/>
              </a:ext>
            </a:extLst>
          </p:cNvPr>
          <p:cNvSpPr>
            <a:spLocks noGrp="1" noChangeArrowheads="1"/>
          </p:cNvSpPr>
          <p:nvPr>
            <p:ph type="body" idx="1"/>
          </p:nvPr>
        </p:nvSpPr>
        <p:spPr/>
        <p:txBody>
          <a:bodyPr/>
          <a:lstStyle/>
          <a:p>
            <a:pPr marL="0" indent="0" eaLnBrk="1" hangingPunct="1">
              <a:buFont typeface="Wingdings" pitchFamily="2" charset="2"/>
              <a:buNone/>
              <a:defRPr/>
            </a:pPr>
            <a:endParaRPr lang="en-US" sz="2000" dirty="0"/>
          </a:p>
          <a:p>
            <a:pPr eaLnBrk="1" hangingPunct="1">
              <a:defRPr/>
            </a:pPr>
            <a:r>
              <a:rPr lang="en-US" sz="2000" dirty="0"/>
              <a:t>When people think of technology careers, they think of computer-savvy people who can code, understand computer networks, run cable and have various other technical skills. Most overlook the importance of soft skills, which are vital for any career.</a:t>
            </a:r>
          </a:p>
          <a:p>
            <a:pPr eaLnBrk="1" hangingPunct="1">
              <a:defRPr/>
            </a:pPr>
            <a:r>
              <a:rPr lang="en-US" sz="2000" dirty="0">
                <a:solidFill>
                  <a:schemeClr val="accent4">
                    <a:lumMod val="75000"/>
                    <a:lumOff val="25000"/>
                  </a:schemeClr>
                </a:solidFill>
              </a:rPr>
              <a:t>Tech professionals not only need to be able to work well within their own teams, but also work well with other employees in the company that lack their understanding of technology.</a:t>
            </a:r>
          </a:p>
          <a:p>
            <a:pPr eaLnBrk="1" hangingPunct="1">
              <a:defRPr/>
            </a:pPr>
            <a:r>
              <a:rPr lang="en-US" sz="2000" dirty="0">
                <a:solidFill>
                  <a:schemeClr val="accent4">
                    <a:lumMod val="75000"/>
                    <a:lumOff val="25000"/>
                  </a:schemeClr>
                </a:solidFill>
              </a:rPr>
              <a:t>Soft skills are so essential to success in IT that some CIOs have started to call them </a:t>
            </a:r>
            <a:r>
              <a:rPr lang="en-US" sz="2000" b="1" i="1" dirty="0">
                <a:solidFill>
                  <a:schemeClr val="accent4">
                    <a:lumMod val="75000"/>
                    <a:lumOff val="25000"/>
                  </a:schemeClr>
                </a:solidFill>
              </a:rPr>
              <a:t>core skills</a:t>
            </a:r>
            <a:r>
              <a:rPr lang="en-US" sz="2000" dirty="0">
                <a:solidFill>
                  <a:schemeClr val="accent4">
                    <a:lumMod val="75000"/>
                    <a:lumOff val="25000"/>
                  </a:schemeClr>
                </a:solidFill>
              </a:rPr>
              <a:t>.</a:t>
            </a:r>
          </a:p>
          <a:p>
            <a:pPr marL="0" indent="0" eaLnBrk="1" hangingPunct="1">
              <a:buFont typeface="Wingdings" pitchFamily="2" charset="2"/>
              <a:buNone/>
              <a:defRPr/>
            </a:pPr>
            <a:endParaRPr lang="en-CA" alt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5">
            <a:extLst>
              <a:ext uri="{FF2B5EF4-FFF2-40B4-BE49-F238E27FC236}">
                <a16:creationId xmlns:a16="http://schemas.microsoft.com/office/drawing/2014/main" id="{76F63DF3-818F-F22D-F94E-32BF9704BCA0}"/>
              </a:ext>
            </a:extLst>
          </p:cNvPr>
          <p:cNvSpPr>
            <a:spLocks noGrp="1" noChangeArrowheads="1"/>
          </p:cNvSpPr>
          <p:nvPr>
            <p:ph type="body" idx="1"/>
          </p:nvPr>
        </p:nvSpPr>
        <p:spPr>
          <a:xfrm>
            <a:off x="939800" y="1600200"/>
            <a:ext cx="7377113" cy="4525963"/>
          </a:xfrm>
        </p:spPr>
        <p:txBody>
          <a:bodyPr/>
          <a:lstStyle/>
          <a:p>
            <a:pPr marL="0" indent="0" eaLnBrk="1" hangingPunct="1">
              <a:buFont typeface="Wingdings" pitchFamily="2" charset="2"/>
              <a:buNone/>
            </a:pPr>
            <a:endParaRPr lang="en-CA" altLang="en-US"/>
          </a:p>
          <a:p>
            <a:pPr marL="0" indent="0" eaLnBrk="1" hangingPunct="1">
              <a:buFont typeface="Wingdings" pitchFamily="2" charset="2"/>
              <a:buNone/>
            </a:pPr>
            <a:endParaRPr lang="en-CA" altLang="en-US">
              <a:solidFill>
                <a:srgbClr val="002060"/>
              </a:solidFill>
            </a:endParaRPr>
          </a:p>
          <a:p>
            <a:pPr marL="0" indent="0" eaLnBrk="1" hangingPunct="1">
              <a:buFont typeface="Wingdings" pitchFamily="2" charset="2"/>
              <a:buNone/>
            </a:pPr>
            <a:r>
              <a:rPr lang="en-CA" altLang="en-US">
                <a:solidFill>
                  <a:srgbClr val="002060"/>
                </a:solidFill>
              </a:rPr>
              <a:t>What Soft Skills IT Leaders </a:t>
            </a:r>
            <a:r>
              <a:rPr lang="en-CA" altLang="en-US" i="1">
                <a:solidFill>
                  <a:srgbClr val="002060"/>
                </a:solidFill>
              </a:rPr>
              <a:t>Can’t Do Without </a:t>
            </a:r>
            <a:r>
              <a:rPr lang="en-CA" altLang="en-US">
                <a:solidFill>
                  <a:srgbClr val="002060"/>
                </a:solidFill>
              </a:rPr>
              <a:t>On Their Teams? </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A9944FCD-0F49-0040-BDE2-35864C75772E}"/>
              </a:ext>
            </a:extLst>
          </p:cNvPr>
          <p:cNvSpPr>
            <a:spLocks noGrp="1" noChangeArrowheads="1"/>
          </p:cNvSpPr>
          <p:nvPr>
            <p:ph type="body" idx="1"/>
          </p:nvPr>
        </p:nvSpPr>
        <p:spPr/>
        <p:txBody>
          <a:bodyPr/>
          <a:lstStyle/>
          <a:p>
            <a:pPr marL="0" indent="0" eaLnBrk="1" hangingPunct="1">
              <a:buFont typeface="Wingdings" pitchFamily="2" charset="2"/>
              <a:buNone/>
              <a:defRPr/>
            </a:pPr>
            <a:r>
              <a:rPr lang="en-CA" altLang="en-US" dirty="0">
                <a:solidFill>
                  <a:srgbClr val="002060"/>
                </a:solidFill>
              </a:rPr>
              <a:t>Communication Skills</a:t>
            </a:r>
            <a:r>
              <a:rPr lang="en-CA" altLang="en-US" dirty="0"/>
              <a:t>:</a:t>
            </a:r>
          </a:p>
          <a:p>
            <a:pPr eaLnBrk="1" hangingPunct="1">
              <a:defRPr/>
            </a:pPr>
            <a:r>
              <a:rPr lang="en-US" sz="2000" dirty="0">
                <a:ea typeface="Arial" charset="0"/>
                <a:cs typeface="Arial" charset="0"/>
              </a:rPr>
              <a:t>In any tech role, you will be interacting with people who do not have the same level of technical expertise as you. It's important that you are able to explain complex technical concepts in a digestible way for someone who doesn't have that background. </a:t>
            </a:r>
          </a:p>
          <a:p>
            <a:pPr eaLnBrk="1" hangingPunct="1">
              <a:defRPr/>
            </a:pPr>
            <a:r>
              <a:rPr lang="en-US" sz="2000" dirty="0">
                <a:ea typeface="Arial" charset="0"/>
                <a:cs typeface="Arial" charset="0"/>
              </a:rPr>
              <a:t>It is equally important that you can break down the potential business implications of a technology problem. </a:t>
            </a:r>
            <a:r>
              <a:rPr lang="en-US" sz="2000" i="1" dirty="0">
                <a:ea typeface="Arial" charset="0"/>
                <a:cs typeface="Arial" charset="0"/>
              </a:rPr>
              <a:t>Remember, technology is there to support business functions </a:t>
            </a:r>
            <a:r>
              <a:rPr lang="en-US" sz="2000" dirty="0">
                <a:ea typeface="Arial" charset="0"/>
                <a:cs typeface="Arial" charset="0"/>
              </a:rPr>
              <a:t>and whenever you interact with management, whether to get a budget for a project, request new equipment, etc., you need to be able to </a:t>
            </a:r>
            <a:r>
              <a:rPr lang="en-US" sz="2000" b="1" dirty="0">
                <a:ea typeface="Arial" charset="0"/>
                <a:cs typeface="Arial" charset="0"/>
              </a:rPr>
              <a:t>clearly explain</a:t>
            </a:r>
            <a:r>
              <a:rPr lang="en-US" sz="2000" dirty="0">
                <a:ea typeface="Arial" charset="0"/>
                <a:cs typeface="Arial" charset="0"/>
              </a:rPr>
              <a:t> the impact it will have on the business.</a:t>
            </a:r>
            <a:r>
              <a:rPr lang="en-US" sz="2000" b="1" dirty="0">
                <a:ea typeface="Arial" charset="0"/>
                <a:cs typeface="Arial" charset="0"/>
              </a:rPr>
              <a:t> </a:t>
            </a:r>
            <a:endParaRPr lang="en-US" sz="2000" dirty="0">
              <a:ea typeface="Arial" charset="0"/>
              <a:cs typeface="Arial" charset="0"/>
            </a:endParaRPr>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solidFill>
                <a:srgbClr val="002060"/>
              </a:solidFil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B2A5123D-E22E-A54B-8FED-2D1A7A21C4B4}"/>
              </a:ext>
            </a:extLst>
          </p:cNvPr>
          <p:cNvSpPr>
            <a:spLocks noGrp="1" noChangeArrowheads="1"/>
          </p:cNvSpPr>
          <p:nvPr>
            <p:ph type="body" idx="1"/>
          </p:nvPr>
        </p:nvSpPr>
        <p:spPr>
          <a:xfrm>
            <a:off x="457200" y="1600200"/>
            <a:ext cx="8229600" cy="4705350"/>
          </a:xfrm>
        </p:spPr>
        <p:txBody>
          <a:bodyPr/>
          <a:lstStyle/>
          <a:p>
            <a:pPr marL="0" indent="0" eaLnBrk="1" hangingPunct="1">
              <a:buFont typeface="Wingdings" pitchFamily="2" charset="2"/>
              <a:buNone/>
              <a:defRPr/>
            </a:pPr>
            <a:r>
              <a:rPr lang="en-CA" altLang="en-US" dirty="0">
                <a:solidFill>
                  <a:srgbClr val="002060"/>
                </a:solidFill>
              </a:rPr>
              <a:t>Collaboration Skills</a:t>
            </a:r>
            <a:r>
              <a:rPr lang="en-CA" altLang="en-US" dirty="0"/>
              <a:t>:</a:t>
            </a:r>
          </a:p>
          <a:p>
            <a:pPr>
              <a:defRPr/>
            </a:pPr>
            <a:r>
              <a:rPr lang="en-US" sz="2000" dirty="0">
                <a:ea typeface="Arial" charset="0"/>
                <a:cs typeface="Arial" charset="0"/>
              </a:rPr>
              <a:t>In a business setting, technology supports applications, which in turn support the business itself. Therefore, tech professionals need to be able to work well with all of the members of the teams they support for the business to run smoothly. </a:t>
            </a:r>
            <a:r>
              <a:rPr lang="en-US" sz="2000" b="1" dirty="0">
                <a:ea typeface="Arial" charset="0"/>
                <a:cs typeface="Arial" charset="0"/>
              </a:rPr>
              <a:t>Collaboration </a:t>
            </a:r>
            <a:r>
              <a:rPr lang="en-US" sz="2000" dirty="0">
                <a:ea typeface="Arial" charset="0"/>
                <a:cs typeface="Arial" charset="0"/>
              </a:rPr>
              <a:t>is particularly important when there appears to be a conflict of interest between the different teams. Working in a tech position becomes significantly easier if you have strong conflict resolution skills to be able to mediate tense situations.</a:t>
            </a:r>
          </a:p>
          <a:p>
            <a:pPr>
              <a:defRPr/>
            </a:pPr>
            <a:r>
              <a:rPr lang="en-US" sz="2000" dirty="0">
                <a:ea typeface="Arial" charset="0"/>
                <a:cs typeface="Arial" charset="0"/>
              </a:rPr>
              <a:t>To be effective in a company, it’s vital to work </a:t>
            </a:r>
            <a:r>
              <a:rPr lang="en-US" sz="2000" b="1" dirty="0">
                <a:ea typeface="Arial" charset="0"/>
                <a:cs typeface="Arial" charset="0"/>
              </a:rPr>
              <a:t>collaboratively</a:t>
            </a:r>
            <a:r>
              <a:rPr lang="en-US" sz="2000" dirty="0">
                <a:ea typeface="Arial" charset="0"/>
                <a:cs typeface="Arial" charset="0"/>
              </a:rPr>
              <a:t> across all business lines and important not to work in isolation but to understand other teams' workflows.</a:t>
            </a:r>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solidFill>
                <a:srgbClr val="002060"/>
              </a:solidFill>
            </a:endParaRPr>
          </a:p>
        </p:txBody>
      </p:sp>
      <p:sp>
        <p:nvSpPr>
          <p:cNvPr id="12290" name="Rectangle 4">
            <a:extLst>
              <a:ext uri="{FF2B5EF4-FFF2-40B4-BE49-F238E27FC236}">
                <a16:creationId xmlns:a16="http://schemas.microsoft.com/office/drawing/2014/main" id="{165B94B0-7DC5-AD7E-C5B6-414C36AB9E39}"/>
              </a:ext>
            </a:extLst>
          </p:cNvPr>
          <p:cNvSpPr>
            <a:spLocks noGrp="1" noChangeArrowheads="1"/>
          </p:cNvSpPr>
          <p:nvPr>
            <p:ph type="title"/>
          </p:nvPr>
        </p:nvSpPr>
        <p:spPr/>
        <p:txBody>
          <a:bodyPr/>
          <a:lstStyle/>
          <a:p>
            <a:pPr eaLnBrk="1" hangingPunct="1"/>
            <a:endParaRPr lang="en-CA"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F16C9260-99C9-2243-9276-18ABA3BEBDAE}"/>
              </a:ext>
            </a:extLst>
          </p:cNvPr>
          <p:cNvSpPr>
            <a:spLocks noGrp="1" noChangeArrowheads="1"/>
          </p:cNvSpPr>
          <p:nvPr>
            <p:ph type="body" idx="1"/>
          </p:nvPr>
        </p:nvSpPr>
        <p:spPr/>
        <p:txBody>
          <a:bodyPr/>
          <a:lstStyle/>
          <a:p>
            <a:pPr marL="0" indent="0" eaLnBrk="1" hangingPunct="1">
              <a:buFont typeface="Wingdings" pitchFamily="2" charset="2"/>
              <a:buNone/>
              <a:defRPr/>
            </a:pPr>
            <a:r>
              <a:rPr lang="en-CA" altLang="en-US" dirty="0">
                <a:solidFill>
                  <a:srgbClr val="002060"/>
                </a:solidFill>
              </a:rPr>
              <a:t>Creative Problem Solving</a:t>
            </a:r>
            <a:r>
              <a:rPr lang="en-CA" altLang="en-US" dirty="0"/>
              <a:t>:</a:t>
            </a:r>
          </a:p>
          <a:p>
            <a:pPr>
              <a:defRPr/>
            </a:pPr>
            <a:r>
              <a:rPr lang="en-US" sz="2000" dirty="0">
                <a:ea typeface="Arial" charset="0"/>
                <a:cs typeface="Arial" charset="0"/>
              </a:rPr>
              <a:t>The technology industry is rapidly changing. To thrive in this field you need to be able adapt to the new problems that arise with new technology and create solutions. </a:t>
            </a:r>
          </a:p>
          <a:p>
            <a:pPr>
              <a:defRPr/>
            </a:pPr>
            <a:r>
              <a:rPr lang="en-US" sz="2000" dirty="0">
                <a:ea typeface="Arial" charset="0"/>
                <a:cs typeface="Arial" charset="0"/>
              </a:rPr>
              <a:t>Every year there are new computer viruses and new updates for software, and each of these new interactions come with their own unique set of exploits or malfunctions. Handling these challenges sometimes requires </a:t>
            </a:r>
            <a:r>
              <a:rPr lang="en-US" sz="2000" b="1" dirty="0">
                <a:ea typeface="Arial" charset="0"/>
                <a:cs typeface="Arial" charset="0"/>
              </a:rPr>
              <a:t>creative</a:t>
            </a:r>
            <a:r>
              <a:rPr lang="en-US" sz="2000" dirty="0">
                <a:ea typeface="Arial" charset="0"/>
                <a:cs typeface="Arial" charset="0"/>
              </a:rPr>
              <a:t> problem-solving skills that go beyond technical knowledge.</a:t>
            </a:r>
          </a:p>
          <a:p>
            <a:pPr>
              <a:defRPr/>
            </a:pPr>
            <a:r>
              <a:rPr lang="en-US" sz="2000" dirty="0">
                <a:ea typeface="Arial" charset="0"/>
                <a:cs typeface="Arial" charset="0"/>
              </a:rPr>
              <a:t>Technology is about innovation. Successful companies create their competitive advantage through innovation and as a result look for employees with </a:t>
            </a:r>
            <a:r>
              <a:rPr lang="en-US" sz="2000" b="1" dirty="0">
                <a:ea typeface="Arial" charset="0"/>
                <a:cs typeface="Arial" charset="0"/>
              </a:rPr>
              <a:t>creative</a:t>
            </a:r>
            <a:r>
              <a:rPr lang="en-US" sz="2000" dirty="0">
                <a:ea typeface="Arial" charset="0"/>
                <a:cs typeface="Arial" charset="0"/>
              </a:rPr>
              <a:t> problem solving skills</a:t>
            </a:r>
            <a:r>
              <a:rPr lang="en-US" sz="2000" dirty="0"/>
              <a:t>.</a:t>
            </a:r>
          </a:p>
          <a:p>
            <a:pPr marL="0" indent="0" eaLnBrk="1" hangingPunct="1">
              <a:buFont typeface="Wingdings" pitchFamily="2" charset="2"/>
              <a:buNone/>
              <a:defRPr/>
            </a:pPr>
            <a:endParaRPr lang="en-CA" altLang="en-US" sz="2000" dirty="0"/>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solidFill>
                <a:srgbClr val="002060"/>
              </a:solidFill>
            </a:endParaRPr>
          </a:p>
        </p:txBody>
      </p:sp>
      <p:sp>
        <p:nvSpPr>
          <p:cNvPr id="14338" name="Rectangle 4">
            <a:extLst>
              <a:ext uri="{FF2B5EF4-FFF2-40B4-BE49-F238E27FC236}">
                <a16:creationId xmlns:a16="http://schemas.microsoft.com/office/drawing/2014/main" id="{347AE767-6A53-5825-FE1F-C3BB035339C3}"/>
              </a:ext>
            </a:extLst>
          </p:cNvPr>
          <p:cNvSpPr>
            <a:spLocks noGrp="1" noChangeArrowheads="1"/>
          </p:cNvSpPr>
          <p:nvPr>
            <p:ph type="title"/>
          </p:nvPr>
        </p:nvSpPr>
        <p:spPr/>
        <p:txBody>
          <a:bodyPr/>
          <a:lstStyle/>
          <a:p>
            <a:pPr eaLnBrk="1" hangingPunct="1"/>
            <a:endParaRPr lang="en-CA" alt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5">
            <a:extLst>
              <a:ext uri="{FF2B5EF4-FFF2-40B4-BE49-F238E27FC236}">
                <a16:creationId xmlns:a16="http://schemas.microsoft.com/office/drawing/2014/main" id="{8DB4AD2F-F7E1-F142-93B7-8093C3D8BD30}"/>
              </a:ext>
            </a:extLst>
          </p:cNvPr>
          <p:cNvSpPr>
            <a:spLocks noGrp="1" noChangeArrowheads="1"/>
          </p:cNvSpPr>
          <p:nvPr>
            <p:ph type="body" idx="1"/>
          </p:nvPr>
        </p:nvSpPr>
        <p:spPr/>
        <p:txBody>
          <a:bodyPr/>
          <a:lstStyle/>
          <a:p>
            <a:pPr marL="0" indent="0" eaLnBrk="1" hangingPunct="1">
              <a:buFont typeface="Wingdings" pitchFamily="2" charset="2"/>
              <a:buNone/>
              <a:defRPr/>
            </a:pPr>
            <a:r>
              <a:rPr lang="en-CA" altLang="en-US" dirty="0">
                <a:solidFill>
                  <a:srgbClr val="002060"/>
                </a:solidFill>
              </a:rPr>
              <a:t>Leadership Skills</a:t>
            </a:r>
            <a:r>
              <a:rPr lang="en-CA" altLang="en-US" dirty="0"/>
              <a:t>:</a:t>
            </a:r>
          </a:p>
          <a:p>
            <a:pPr eaLnBrk="1" hangingPunct="1">
              <a:defRPr/>
            </a:pPr>
            <a:r>
              <a:rPr lang="en-US" sz="2000" dirty="0">
                <a:ea typeface="Arial" charset="0"/>
                <a:cs typeface="Arial" charset="0"/>
              </a:rPr>
              <a:t>As you move up the ladder in the company, you need to demonstrate the capability to effectively </a:t>
            </a:r>
            <a:r>
              <a:rPr lang="en-US" sz="2000" b="1" dirty="0">
                <a:ea typeface="Arial" charset="0"/>
                <a:cs typeface="Arial" charset="0"/>
              </a:rPr>
              <a:t>lead</a:t>
            </a:r>
            <a:r>
              <a:rPr lang="en-US" sz="2000" dirty="0">
                <a:ea typeface="Arial" charset="0"/>
                <a:cs typeface="Arial" charset="0"/>
              </a:rPr>
              <a:t> your team. This includes being able to see the strengths and weaknesses of your team members and distribute the work to the person who can do the tasks the most efficiently.</a:t>
            </a:r>
          </a:p>
          <a:p>
            <a:pPr>
              <a:defRPr/>
            </a:pPr>
            <a:r>
              <a:rPr lang="en-US" sz="2000" dirty="0">
                <a:ea typeface="Arial" charset="0"/>
                <a:cs typeface="Arial" charset="0"/>
              </a:rPr>
              <a:t>You also need to be able to </a:t>
            </a:r>
            <a:r>
              <a:rPr lang="en-US" sz="2000" b="1" dirty="0">
                <a:ea typeface="Arial" charset="0"/>
                <a:cs typeface="Arial" charset="0"/>
              </a:rPr>
              <a:t>motivate</a:t>
            </a:r>
            <a:r>
              <a:rPr lang="en-US" sz="2000" dirty="0">
                <a:ea typeface="Arial" charset="0"/>
                <a:cs typeface="Arial" charset="0"/>
              </a:rPr>
              <a:t> your team members, settle disputes fairly, and be able to accept a greater level of responsibility for your team's success. You may be placed in a situation where the internet isn't working, a business application is malfunctioning, or there's a security breach. You will be expected to walk into a room full of disgruntled employees and executives, take control of that situation, and solve the problem. </a:t>
            </a:r>
          </a:p>
          <a:p>
            <a:pPr marL="0" indent="0" eaLnBrk="1" hangingPunct="1">
              <a:buFont typeface="Wingdings" pitchFamily="2" charset="2"/>
              <a:buNone/>
              <a:defRPr/>
            </a:pPr>
            <a:endParaRPr lang="en-CA" altLang="en-US" sz="2000" dirty="0"/>
          </a:p>
          <a:p>
            <a:pPr marL="0" indent="0" eaLnBrk="1" hangingPunct="1">
              <a:buFont typeface="Wingdings" pitchFamily="2" charset="2"/>
              <a:buNone/>
              <a:defRPr/>
            </a:pPr>
            <a:endParaRPr lang="en-CA" altLang="en-US" dirty="0"/>
          </a:p>
          <a:p>
            <a:pPr marL="0" indent="0" eaLnBrk="1" hangingPunct="1">
              <a:buFont typeface="Wingdings" pitchFamily="2" charset="2"/>
              <a:buNone/>
              <a:defRPr/>
            </a:pPr>
            <a:endParaRPr lang="en-CA" altLang="en-US" dirty="0">
              <a:solidFill>
                <a:srgbClr val="002060"/>
              </a:solidFill>
            </a:endParaRPr>
          </a:p>
        </p:txBody>
      </p:sp>
      <p:sp>
        <p:nvSpPr>
          <p:cNvPr id="16386" name="Rectangle 4">
            <a:extLst>
              <a:ext uri="{FF2B5EF4-FFF2-40B4-BE49-F238E27FC236}">
                <a16:creationId xmlns:a16="http://schemas.microsoft.com/office/drawing/2014/main" id="{6D1572EB-BF64-76AA-5803-ED7D04EC2789}"/>
              </a:ext>
            </a:extLst>
          </p:cNvPr>
          <p:cNvSpPr>
            <a:spLocks noGrp="1" noChangeArrowheads="1"/>
          </p:cNvSpPr>
          <p:nvPr>
            <p:ph type="title"/>
          </p:nvPr>
        </p:nvSpPr>
        <p:spPr/>
        <p:txBody>
          <a:bodyPr/>
          <a:lstStyle/>
          <a:p>
            <a:pPr eaLnBrk="1" hangingPunct="1"/>
            <a:endParaRPr lang="en-CA" altLang="en-US"/>
          </a:p>
        </p:txBody>
      </p:sp>
    </p:spTree>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787</Words>
  <Application>Microsoft Macintosh PowerPoint</Application>
  <PresentationFormat>On-screen Show (4:3)</PresentationFormat>
  <Paragraphs>55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Wingdings</vt:lpstr>
      <vt:lpstr>Calibri</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STSMEDIA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for Arts &amp; Design Slide Template</dc:title>
  <dc:subject>Centre for Arts &amp; Design Slide Template</dc:subject>
  <dc:creator>George Brown College;Centre for Arts &amp; Design</dc:creator>
  <cp:keywords>George Brown College; Centre for Arts &amp; Design; PowerPoint; Slides Template; Master Layout</cp:keywords>
  <cp:lastModifiedBy>Tyanne Fluke</cp:lastModifiedBy>
  <cp:revision>39</cp:revision>
  <cp:lastPrinted>2021-01-05T21:52:00Z</cp:lastPrinted>
  <dcterms:created xsi:type="dcterms:W3CDTF">2008-02-14T00:02:49Z</dcterms:created>
  <dcterms:modified xsi:type="dcterms:W3CDTF">2022-09-11T23:52:52Z</dcterms:modified>
</cp:coreProperties>
</file>