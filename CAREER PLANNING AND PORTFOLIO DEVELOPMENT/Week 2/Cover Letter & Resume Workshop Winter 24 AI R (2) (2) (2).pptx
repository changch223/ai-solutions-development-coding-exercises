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66">
          <p15:clr>
            <a:srgbClr val="A4A3A4"/>
          </p15:clr>
        </p15:guide>
        <p15:guide id="2" pos="1292">
          <p15:clr>
            <a:srgbClr val="A4A3A4"/>
          </p15:clr>
        </p15:guide>
      </p15:sldGuideLst>
    </p:ext>
    <p:ext uri="GoogleSlidesCustomDataVersion2">
      <go:slidesCustomData xmlns:go="http://customooxmlschemas.google.com/" r:id="rId37" roundtripDataSignature="AMtx7mgCuKnSx6YhPvo6huEcVQktgLjbz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66" orient="horz"/>
        <p:guide pos="1292"/>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CA"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novoresume.com/career-blog/hobbies-and-interests-to-put-on-a-resume"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1" name="Google Shape;61;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Slides in this template are examples of the slides available in the Slide Master View. When creating a new Slide, use the same Master Layout as specified by the corresponding Sample Slide.</a:t>
            </a:r>
            <a:endParaRPr/>
          </a:p>
          <a:p>
            <a:pPr indent="0" lvl="0" marL="0" rtl="0" algn="l">
              <a:spcBef>
                <a:spcPts val="0"/>
              </a:spcBef>
              <a:spcAft>
                <a:spcPts val="0"/>
              </a:spcAft>
              <a:buNone/>
            </a:pPr>
            <a:r>
              <a:t/>
            </a:r>
            <a:endParaRPr/>
          </a:p>
        </p:txBody>
      </p:sp>
      <p:sp>
        <p:nvSpPr>
          <p:cNvPr id="62" name="Google Shape;62;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CA"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8" name="Google Shape;68;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First (nickname) Last, reminder to put a nickname in brackets with what they prefer to be called if different from their given first name</a:t>
            </a:r>
            <a:endParaRPr/>
          </a:p>
          <a:p>
            <a:pPr indent="0" lvl="0" marL="0" rtl="0" algn="l">
              <a:spcBef>
                <a:spcPts val="0"/>
              </a:spcBef>
              <a:spcAft>
                <a:spcPts val="0"/>
              </a:spcAft>
              <a:buNone/>
            </a:pPr>
            <a:r>
              <a:rPr lang="en-CA"/>
              <a:t>Street address and house number and postal code are optional</a:t>
            </a:r>
            <a:endParaRPr/>
          </a:p>
          <a:p>
            <a:pPr indent="0" lvl="0" marL="0" rtl="0" algn="l">
              <a:spcBef>
                <a:spcPts val="0"/>
              </a:spcBef>
              <a:spcAft>
                <a:spcPts val="0"/>
              </a:spcAft>
              <a:buNone/>
            </a:pPr>
            <a:r>
              <a:rPr lang="en-CA"/>
              <a:t>Phone number format </a:t>
            </a:r>
            <a:endParaRPr/>
          </a:p>
          <a:p>
            <a:pPr indent="0" lvl="0" marL="0" rtl="0" algn="l">
              <a:spcBef>
                <a:spcPts val="0"/>
              </a:spcBef>
              <a:spcAft>
                <a:spcPts val="0"/>
              </a:spcAft>
              <a:buNone/>
            </a:pPr>
            <a:r>
              <a:rPr lang="en-CA"/>
              <a:t>Single space</a:t>
            </a:r>
            <a:endParaRPr/>
          </a:p>
          <a:p>
            <a:pPr indent="0" lvl="0" marL="0" rtl="0" algn="l">
              <a:spcBef>
                <a:spcPts val="0"/>
              </a:spcBef>
              <a:spcAft>
                <a:spcPts val="0"/>
              </a:spcAft>
              <a:buNone/>
            </a:pPr>
            <a:r>
              <a:rPr lang="en-CA"/>
              <a:t>First (nickname) Last, reminder to put a nickname in brackets with what they prefer to be called if different from their given first name</a:t>
            </a:r>
            <a:endParaRPr/>
          </a:p>
          <a:p>
            <a:pPr indent="0" lvl="0" marL="0" rtl="0" algn="l">
              <a:spcBef>
                <a:spcPts val="0"/>
              </a:spcBef>
              <a:spcAft>
                <a:spcPts val="0"/>
              </a:spcAft>
              <a:buNone/>
            </a:pPr>
            <a:r>
              <a:rPr lang="en-CA"/>
              <a:t>Street address and house number and postal code are optional</a:t>
            </a:r>
            <a:endParaRPr/>
          </a:p>
          <a:p>
            <a:pPr indent="0" lvl="0" marL="0" rtl="0" algn="l">
              <a:spcBef>
                <a:spcPts val="0"/>
              </a:spcBef>
              <a:spcAft>
                <a:spcPts val="0"/>
              </a:spcAft>
              <a:buNone/>
            </a:pPr>
            <a:r>
              <a:rPr lang="en-CA"/>
              <a:t>Must put city and province </a:t>
            </a:r>
            <a:endParaRPr/>
          </a:p>
          <a:p>
            <a:pPr indent="0" lvl="0" marL="0" rtl="0" algn="l">
              <a:spcBef>
                <a:spcPts val="0"/>
              </a:spcBef>
              <a:spcAft>
                <a:spcPts val="0"/>
              </a:spcAft>
              <a:buNone/>
            </a:pPr>
            <a:r>
              <a:rPr lang="en-CA"/>
              <a:t>Phone number format </a:t>
            </a:r>
            <a:endParaRPr/>
          </a:p>
          <a:p>
            <a:pPr indent="0" lvl="0" marL="0" rtl="0" algn="l">
              <a:spcBef>
                <a:spcPts val="0"/>
              </a:spcBef>
              <a:spcAft>
                <a:spcPts val="0"/>
              </a:spcAft>
              <a:buNone/>
            </a:pPr>
            <a:r>
              <a:rPr lang="en-CA"/>
              <a:t>George brown email address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Double space above and below the date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Contact name if you have it if not just the company info </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Single space your contact info and the company info</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Be consistent with the spacing above and below the date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9" name="Google Shape;69;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CA"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5" name="Google Shape;75;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Single space</a:t>
            </a:r>
            <a:endParaRPr/>
          </a:p>
          <a:p>
            <a:pPr indent="0" lvl="0" marL="0" rtl="0" algn="l">
              <a:spcBef>
                <a:spcPts val="0"/>
              </a:spcBef>
              <a:spcAft>
                <a:spcPts val="0"/>
              </a:spcAft>
              <a:buNone/>
            </a:pPr>
            <a:r>
              <a:rPr lang="en-CA"/>
              <a:t>First (nickname) Last, reminder to put a nickname in brackets with what they prefer to be called if different from their given first name</a:t>
            </a:r>
            <a:endParaRPr/>
          </a:p>
          <a:p>
            <a:pPr indent="0" lvl="0" marL="0" rtl="0" algn="l">
              <a:spcBef>
                <a:spcPts val="0"/>
              </a:spcBef>
              <a:spcAft>
                <a:spcPts val="0"/>
              </a:spcAft>
              <a:buNone/>
            </a:pPr>
            <a:r>
              <a:rPr lang="en-CA"/>
              <a:t>Street address and house number and postal code are optional</a:t>
            </a:r>
            <a:endParaRPr/>
          </a:p>
          <a:p>
            <a:pPr indent="0" lvl="0" marL="0" rtl="0" algn="l">
              <a:spcBef>
                <a:spcPts val="0"/>
              </a:spcBef>
              <a:spcAft>
                <a:spcPts val="0"/>
              </a:spcAft>
              <a:buNone/>
            </a:pPr>
            <a:r>
              <a:rPr lang="en-CA"/>
              <a:t>Must put city and province </a:t>
            </a:r>
            <a:endParaRPr/>
          </a:p>
          <a:p>
            <a:pPr indent="0" lvl="0" marL="0" rtl="0" algn="l">
              <a:spcBef>
                <a:spcPts val="0"/>
              </a:spcBef>
              <a:spcAft>
                <a:spcPts val="0"/>
              </a:spcAft>
              <a:buNone/>
            </a:pPr>
            <a:r>
              <a:rPr lang="en-CA"/>
              <a:t>Phone number format </a:t>
            </a:r>
            <a:endParaRPr/>
          </a:p>
          <a:p>
            <a:pPr indent="0" lvl="0" marL="0" rtl="0" algn="l">
              <a:spcBef>
                <a:spcPts val="0"/>
              </a:spcBef>
              <a:spcAft>
                <a:spcPts val="0"/>
              </a:spcAft>
              <a:buNone/>
            </a:pPr>
            <a:r>
              <a:rPr lang="en-CA"/>
              <a:t>George brown email address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Double space above and below the date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Contact name if you have it if not just the company info </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Single space your contact info and the company info</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Be consistent with the spacing above and below the date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76" name="Google Shape;76;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CA"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2" name="Google Shape;82;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Single space</a:t>
            </a:r>
            <a:endParaRPr/>
          </a:p>
          <a:p>
            <a:pPr indent="0" lvl="0" marL="0" rtl="0" algn="l">
              <a:spcBef>
                <a:spcPts val="0"/>
              </a:spcBef>
              <a:spcAft>
                <a:spcPts val="0"/>
              </a:spcAft>
              <a:buNone/>
            </a:pPr>
            <a:r>
              <a:rPr lang="en-CA"/>
              <a:t>First (nickname) Last, reminder to put a nickname in brackets with what they prefer to be called if different from their given first name</a:t>
            </a:r>
            <a:endParaRPr/>
          </a:p>
          <a:p>
            <a:pPr indent="0" lvl="0" marL="0" rtl="0" algn="l">
              <a:spcBef>
                <a:spcPts val="0"/>
              </a:spcBef>
              <a:spcAft>
                <a:spcPts val="0"/>
              </a:spcAft>
              <a:buNone/>
            </a:pPr>
            <a:r>
              <a:rPr lang="en-CA"/>
              <a:t>Street address and house number and postal code are optional</a:t>
            </a:r>
            <a:endParaRPr/>
          </a:p>
          <a:p>
            <a:pPr indent="0" lvl="0" marL="0" rtl="0" algn="l">
              <a:spcBef>
                <a:spcPts val="0"/>
              </a:spcBef>
              <a:spcAft>
                <a:spcPts val="0"/>
              </a:spcAft>
              <a:buNone/>
            </a:pPr>
            <a:r>
              <a:rPr lang="en-CA"/>
              <a:t>Must put city and province </a:t>
            </a:r>
            <a:endParaRPr/>
          </a:p>
          <a:p>
            <a:pPr indent="0" lvl="0" marL="0" rtl="0" algn="l">
              <a:spcBef>
                <a:spcPts val="0"/>
              </a:spcBef>
              <a:spcAft>
                <a:spcPts val="0"/>
              </a:spcAft>
              <a:buNone/>
            </a:pPr>
            <a:r>
              <a:rPr lang="en-CA"/>
              <a:t>Phone number format </a:t>
            </a:r>
            <a:endParaRPr/>
          </a:p>
          <a:p>
            <a:pPr indent="0" lvl="0" marL="0" rtl="0" algn="l">
              <a:spcBef>
                <a:spcPts val="0"/>
              </a:spcBef>
              <a:spcAft>
                <a:spcPts val="0"/>
              </a:spcAft>
              <a:buNone/>
            </a:pPr>
            <a:r>
              <a:rPr lang="en-CA"/>
              <a:t>George brown email address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Double space above and below the date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Contact name if you have it if not just the company info </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Single space your contact info and the company info</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Be consistent with the spacing above and below the date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83" name="Google Shape;83;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CA"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9" name="Google Shape;89;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90" name="Google Shape;90;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CA"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Example only do your own research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97" name="Google Shape;97;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rPr lang="en-CA" sz="1400">
                <a:solidFill>
                  <a:schemeClr val="dk1"/>
                </a:solidFill>
              </a:rPr>
              <a:t>Example Do your research</a:t>
            </a:r>
            <a:endParaRPr/>
          </a:p>
          <a:p>
            <a:pPr indent="0" lvl="0" marL="0" marR="0" rtl="0" algn="l">
              <a:lnSpc>
                <a:spcPct val="100000"/>
              </a:lnSpc>
              <a:spcBef>
                <a:spcPts val="42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lnSpc>
                <a:spcPct val="100000"/>
              </a:lnSpc>
              <a:spcBef>
                <a:spcPts val="540"/>
              </a:spcBef>
              <a:spcAft>
                <a:spcPts val="0"/>
              </a:spcAft>
              <a:buClr>
                <a:schemeClr val="dk1"/>
              </a:buClr>
              <a:buSzPts val="1800"/>
              <a:buFont typeface="Arial"/>
              <a:buNone/>
            </a:pPr>
            <a:r>
              <a:rPr lang="en-CA" sz="1800">
                <a:latin typeface="Arial"/>
                <a:ea typeface="Arial"/>
                <a:cs typeface="Arial"/>
                <a:sym typeface="Arial"/>
              </a:rPr>
              <a:t>I am writing to express my sincere interest in the AI Backend Developer Co-op/Internship position for Summer 2024 at Intact, a role that Ahmed Khan, Director of Technology, recommended to me. Ahmed and I have had the pleasure of collaborating on various academic projects during my enrollment in the Applied AI Solutions Development postgraduate program at George Brown College.</a:t>
            </a:r>
            <a:endParaRPr sz="1800">
              <a:latin typeface="Arial"/>
              <a:ea typeface="Arial"/>
              <a:cs typeface="Arial"/>
              <a:sym typeface="Arial"/>
            </a:endParaRPr>
          </a:p>
          <a:p>
            <a:pPr indent="0" lvl="0" marL="0" rtl="0" algn="l">
              <a:spcBef>
                <a:spcPts val="360"/>
              </a:spcBef>
              <a:spcAft>
                <a:spcPts val="0"/>
              </a:spcAft>
              <a:buClr>
                <a:schemeClr val="dk1"/>
              </a:buClr>
              <a:buSzPts val="1200"/>
              <a:buFont typeface="Calibri"/>
              <a:buNone/>
            </a:pPr>
            <a:r>
              <a:t/>
            </a:r>
            <a:endParaRPr sz="1200"/>
          </a:p>
        </p:txBody>
      </p:sp>
      <p:sp>
        <p:nvSpPr>
          <p:cNvPr id="104" name="Google Shape;104;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0" name="Google Shape;110;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11" name="Google Shape;111;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CA"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You may have past work experience and want to add 2 body paragraphs example only do your own research</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118" name="Google Shape;118;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4" name="Google Shape;124;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CA"/>
              <a:t>This is a formal cover letter format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5" name="Google Shape;125;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CA"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1" name="Google Shape;131;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Signature optional</a:t>
            </a:r>
            <a:endParaRPr/>
          </a:p>
          <a:p>
            <a:pPr indent="0" lvl="0" marL="0" rtl="0" algn="l">
              <a:spcBef>
                <a:spcPts val="0"/>
              </a:spcBef>
              <a:spcAft>
                <a:spcPts val="0"/>
              </a:spcAft>
              <a:buNone/>
            </a:pPr>
            <a:r>
              <a:t/>
            </a:r>
            <a:endParaRPr u="sng"/>
          </a:p>
          <a:p>
            <a:pPr indent="0" lvl="0" marL="0" rtl="0" algn="l">
              <a:spcBef>
                <a:spcPts val="0"/>
              </a:spcBef>
              <a:spcAft>
                <a:spcPts val="0"/>
              </a:spcAft>
              <a:buNone/>
            </a:pPr>
            <a:r>
              <a:rPr lang="en-CA" u="sng"/>
              <a:t>Your Contact Information</a:t>
            </a:r>
            <a:endParaRPr/>
          </a:p>
          <a:p>
            <a:pPr indent="0" lvl="0" marL="0" rtl="0" algn="l">
              <a:spcBef>
                <a:spcPts val="0"/>
              </a:spcBef>
              <a:spcAft>
                <a:spcPts val="0"/>
              </a:spcAft>
              <a:buNone/>
            </a:pPr>
            <a:r>
              <a:rPr lang="en-CA"/>
              <a:t>Name</a:t>
            </a:r>
            <a:endParaRPr/>
          </a:p>
          <a:p>
            <a:pPr indent="0" lvl="0" marL="0" rtl="0" algn="l">
              <a:spcBef>
                <a:spcPts val="0"/>
              </a:spcBef>
              <a:spcAft>
                <a:spcPts val="0"/>
              </a:spcAft>
              <a:buNone/>
            </a:pPr>
            <a:r>
              <a:rPr lang="en-CA"/>
              <a:t>Address </a:t>
            </a:r>
            <a:r>
              <a:rPr lang="en-CA" u="sng"/>
              <a:t>(optional)</a:t>
            </a:r>
            <a:endParaRPr/>
          </a:p>
          <a:p>
            <a:pPr indent="0" lvl="0" marL="0" rtl="0" algn="l">
              <a:spcBef>
                <a:spcPts val="0"/>
              </a:spcBef>
              <a:spcAft>
                <a:spcPts val="0"/>
              </a:spcAft>
              <a:buNone/>
            </a:pPr>
            <a:r>
              <a:rPr lang="en-CA"/>
              <a:t>City, Province, </a:t>
            </a:r>
            <a:r>
              <a:rPr lang="en-CA" u="sng"/>
              <a:t>Postal Code if you don’t add your full address the Postal Code is (optional)</a:t>
            </a:r>
            <a:endParaRPr/>
          </a:p>
          <a:p>
            <a:pPr indent="0" lvl="0" marL="0" rtl="0" algn="l">
              <a:spcBef>
                <a:spcPts val="0"/>
              </a:spcBef>
              <a:spcAft>
                <a:spcPts val="0"/>
              </a:spcAft>
              <a:buNone/>
            </a:pPr>
            <a:r>
              <a:rPr lang="en-CA"/>
              <a:t>Phone Number</a:t>
            </a:r>
            <a:endParaRPr/>
          </a:p>
          <a:p>
            <a:pPr indent="0" lvl="0" marL="0" rtl="0" algn="l">
              <a:spcBef>
                <a:spcPts val="0"/>
              </a:spcBef>
              <a:spcAft>
                <a:spcPts val="0"/>
              </a:spcAft>
              <a:buNone/>
            </a:pPr>
            <a:r>
              <a:rPr lang="en-CA"/>
              <a:t>Email Address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Date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Employer Contact Information</a:t>
            </a:r>
            <a:endParaRPr/>
          </a:p>
          <a:p>
            <a:pPr indent="0" lvl="0" marL="0" rtl="0" algn="l">
              <a:spcBef>
                <a:spcPts val="0"/>
              </a:spcBef>
              <a:spcAft>
                <a:spcPts val="0"/>
              </a:spcAft>
              <a:buNone/>
            </a:pPr>
            <a:r>
              <a:rPr lang="en-CA"/>
              <a:t>Name (if you have it)</a:t>
            </a:r>
            <a:endParaRPr/>
          </a:p>
          <a:p>
            <a:pPr indent="0" lvl="0" marL="0" rtl="0" algn="l">
              <a:spcBef>
                <a:spcPts val="0"/>
              </a:spcBef>
              <a:spcAft>
                <a:spcPts val="0"/>
              </a:spcAft>
              <a:buNone/>
            </a:pPr>
            <a:r>
              <a:rPr lang="en-CA"/>
              <a:t>Title (if you have it)</a:t>
            </a:r>
            <a:endParaRPr/>
          </a:p>
          <a:p>
            <a:pPr indent="0" lvl="0" marL="0" rtl="0" algn="l">
              <a:spcBef>
                <a:spcPts val="0"/>
              </a:spcBef>
              <a:spcAft>
                <a:spcPts val="0"/>
              </a:spcAft>
              <a:buNone/>
            </a:pPr>
            <a:r>
              <a:rPr lang="en-CA"/>
              <a:t>Company</a:t>
            </a:r>
            <a:endParaRPr/>
          </a:p>
          <a:p>
            <a:pPr indent="0" lvl="0" marL="0" rtl="0" algn="l">
              <a:spcBef>
                <a:spcPts val="0"/>
              </a:spcBef>
              <a:spcAft>
                <a:spcPts val="0"/>
              </a:spcAft>
              <a:buNone/>
            </a:pPr>
            <a:r>
              <a:rPr lang="en-CA"/>
              <a:t>Address</a:t>
            </a:r>
            <a:endParaRPr/>
          </a:p>
          <a:p>
            <a:pPr indent="0" lvl="0" marL="0" rtl="0" algn="l">
              <a:spcBef>
                <a:spcPts val="0"/>
              </a:spcBef>
              <a:spcAft>
                <a:spcPts val="0"/>
              </a:spcAft>
              <a:buNone/>
            </a:pPr>
            <a:r>
              <a:rPr lang="en-CA"/>
              <a:t>City, Province, Postal Code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Re: Job title and job number</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Salutation</a:t>
            </a:r>
            <a:endParaRPr/>
          </a:p>
          <a:p>
            <a:pPr indent="0" lvl="0" marL="0" rtl="0" algn="l">
              <a:spcBef>
                <a:spcPts val="0"/>
              </a:spcBef>
              <a:spcAft>
                <a:spcPts val="0"/>
              </a:spcAft>
              <a:buNone/>
            </a:pPr>
            <a:r>
              <a:rPr lang="en-CA"/>
              <a:t>Dear Mr./Ms. Last Name, (if you don't have a contact name use Dear Hiring Manager)</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The body of your cover letter lets the employer know what position you are applying for,</a:t>
            </a:r>
            <a:endParaRPr/>
          </a:p>
          <a:p>
            <a:pPr indent="0" lvl="0" marL="0" rtl="0" algn="l">
              <a:spcBef>
                <a:spcPts val="0"/>
              </a:spcBef>
              <a:spcAft>
                <a:spcPts val="0"/>
              </a:spcAft>
              <a:buNone/>
            </a:pPr>
            <a:r>
              <a:rPr lang="en-CA"/>
              <a:t>why the employer should select you for an interview, and how you will follow-up.</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First Paragraph</a:t>
            </a:r>
            <a:endParaRPr/>
          </a:p>
          <a:p>
            <a:pPr indent="0" lvl="0" marL="0" rtl="0" algn="l">
              <a:spcBef>
                <a:spcPts val="0"/>
              </a:spcBef>
              <a:spcAft>
                <a:spcPts val="0"/>
              </a:spcAft>
              <a:buNone/>
            </a:pPr>
            <a:r>
              <a:rPr lang="en-CA"/>
              <a:t>The first paragraph of your letter should include information on why you are writing.</a:t>
            </a:r>
            <a:endParaRPr/>
          </a:p>
          <a:p>
            <a:pPr indent="0" lvl="0" marL="0" rtl="0" algn="l">
              <a:spcBef>
                <a:spcPts val="0"/>
              </a:spcBef>
              <a:spcAft>
                <a:spcPts val="0"/>
              </a:spcAft>
              <a:buNone/>
            </a:pPr>
            <a:r>
              <a:rPr lang="en-CA"/>
              <a:t>Mention the position you are applying for and where you found the job listing. Include the</a:t>
            </a:r>
            <a:endParaRPr/>
          </a:p>
          <a:p>
            <a:pPr indent="0" lvl="0" marL="0" rtl="0" algn="l">
              <a:spcBef>
                <a:spcPts val="0"/>
              </a:spcBef>
              <a:spcAft>
                <a:spcPts val="0"/>
              </a:spcAft>
              <a:buNone/>
            </a:pPr>
            <a:r>
              <a:rPr lang="en-CA"/>
              <a:t>name of a mutual contact, if you have 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Middle Paragraph</a:t>
            </a:r>
            <a:endParaRPr/>
          </a:p>
          <a:p>
            <a:pPr indent="0" lvl="0" marL="0" rtl="0" algn="l">
              <a:spcBef>
                <a:spcPts val="0"/>
              </a:spcBef>
              <a:spcAft>
                <a:spcPts val="0"/>
              </a:spcAft>
              <a:buNone/>
            </a:pPr>
            <a:r>
              <a:rPr lang="en-CA"/>
              <a:t>The next section of your cover letter should describe what you have to offer the</a:t>
            </a:r>
            <a:endParaRPr/>
          </a:p>
          <a:p>
            <a:pPr indent="0" lvl="0" marL="0" rtl="0" algn="l">
              <a:spcBef>
                <a:spcPts val="0"/>
              </a:spcBef>
              <a:spcAft>
                <a:spcPts val="0"/>
              </a:spcAft>
              <a:buNone/>
            </a:pPr>
            <a:r>
              <a:rPr lang="en-CA"/>
              <a:t>employer. Mention specifically how your qualifications match the job you are applying</a:t>
            </a:r>
            <a:endParaRPr/>
          </a:p>
          <a:p>
            <a:pPr indent="0" lvl="0" marL="0" rtl="0" algn="l">
              <a:spcBef>
                <a:spcPts val="0"/>
              </a:spcBef>
              <a:spcAft>
                <a:spcPts val="0"/>
              </a:spcAft>
              <a:buNone/>
            </a:pPr>
            <a:r>
              <a:rPr lang="en-CA"/>
              <a:t>for. Remember, you are interpreting your resume, not repeating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Final Paragraph</a:t>
            </a:r>
            <a:endParaRPr/>
          </a:p>
          <a:p>
            <a:pPr indent="0" lvl="0" marL="0" rtl="0" algn="l">
              <a:spcBef>
                <a:spcPts val="0"/>
              </a:spcBef>
              <a:spcAft>
                <a:spcPts val="0"/>
              </a:spcAft>
              <a:buNone/>
            </a:pPr>
            <a:r>
              <a:rPr lang="en-CA"/>
              <a:t>Conclude your cover letter by thanking the employer for considering you for the position.</a:t>
            </a:r>
            <a:endParaRPr/>
          </a:p>
          <a:p>
            <a:pPr indent="0" lvl="0" marL="0" rtl="0" algn="l">
              <a:spcBef>
                <a:spcPts val="0"/>
              </a:spcBef>
              <a:spcAft>
                <a:spcPts val="0"/>
              </a:spcAft>
              <a:buNone/>
            </a:pPr>
            <a:r>
              <a:rPr lang="en-CA"/>
              <a:t>Include information on how you will follow-up (if you have a contact). If you don’t have a</a:t>
            </a:r>
            <a:endParaRPr/>
          </a:p>
          <a:p>
            <a:pPr indent="0" lvl="0" marL="0" rtl="0" algn="l">
              <a:spcBef>
                <a:spcPts val="0"/>
              </a:spcBef>
              <a:spcAft>
                <a:spcPts val="0"/>
              </a:spcAft>
              <a:buNone/>
            </a:pPr>
            <a:r>
              <a:rPr lang="en-CA"/>
              <a:t>contact you will have to have them contact you, let them know they can reach you at</a:t>
            </a:r>
            <a:endParaRPr/>
          </a:p>
          <a:p>
            <a:pPr indent="0" lvl="0" marL="0" rtl="0" algn="l">
              <a:spcBef>
                <a:spcPts val="0"/>
              </a:spcBef>
              <a:spcAft>
                <a:spcPts val="0"/>
              </a:spcAft>
              <a:buNone/>
            </a:pPr>
            <a:r>
              <a:rPr lang="en-CA"/>
              <a:t>416... or at email address. (yes put your phone number and email address in this</a:t>
            </a:r>
            <a:endParaRPr/>
          </a:p>
          <a:p>
            <a:pPr indent="0" lvl="0" marL="0" rtl="0" algn="l">
              <a:spcBef>
                <a:spcPts val="0"/>
              </a:spcBef>
              <a:spcAft>
                <a:spcPts val="0"/>
              </a:spcAft>
              <a:buNone/>
            </a:pPr>
            <a:r>
              <a:rPr lang="en-CA"/>
              <a:t>paragraph).</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Complimentary Close</a:t>
            </a:r>
            <a:endParaRPr/>
          </a:p>
          <a:p>
            <a:pPr indent="0" lvl="0" marL="0" rtl="0" algn="l">
              <a:spcBef>
                <a:spcPts val="0"/>
              </a:spcBef>
              <a:spcAft>
                <a:spcPts val="0"/>
              </a:spcAft>
              <a:buNone/>
            </a:pPr>
            <a:r>
              <a:rPr lang="en-CA"/>
              <a:t>Respectfully yours,</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Typed Signature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2" name="Google Shape;132;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CA"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9" name="Google Shape;139;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Signature optional</a:t>
            </a:r>
            <a:endParaRPr/>
          </a:p>
          <a:p>
            <a:pPr indent="0" lvl="0" marL="0" rtl="0" algn="l">
              <a:spcBef>
                <a:spcPts val="0"/>
              </a:spcBef>
              <a:spcAft>
                <a:spcPts val="0"/>
              </a:spcAft>
              <a:buNone/>
            </a:pPr>
            <a:r>
              <a:t/>
            </a:r>
            <a:endParaRPr u="sng"/>
          </a:p>
          <a:p>
            <a:pPr indent="0" lvl="0" marL="0" rtl="0" algn="l">
              <a:spcBef>
                <a:spcPts val="0"/>
              </a:spcBef>
              <a:spcAft>
                <a:spcPts val="0"/>
              </a:spcAft>
              <a:buNone/>
            </a:pPr>
            <a:r>
              <a:rPr lang="en-CA" u="sng"/>
              <a:t>Your Contact Information</a:t>
            </a:r>
            <a:endParaRPr/>
          </a:p>
          <a:p>
            <a:pPr indent="0" lvl="0" marL="0" rtl="0" algn="l">
              <a:spcBef>
                <a:spcPts val="0"/>
              </a:spcBef>
              <a:spcAft>
                <a:spcPts val="0"/>
              </a:spcAft>
              <a:buNone/>
            </a:pPr>
            <a:r>
              <a:rPr lang="en-CA"/>
              <a:t>Name</a:t>
            </a:r>
            <a:endParaRPr/>
          </a:p>
          <a:p>
            <a:pPr indent="0" lvl="0" marL="0" rtl="0" algn="l">
              <a:spcBef>
                <a:spcPts val="0"/>
              </a:spcBef>
              <a:spcAft>
                <a:spcPts val="0"/>
              </a:spcAft>
              <a:buNone/>
            </a:pPr>
            <a:r>
              <a:rPr lang="en-CA"/>
              <a:t>Address </a:t>
            </a:r>
            <a:r>
              <a:rPr lang="en-CA" u="sng"/>
              <a:t>(optional)</a:t>
            </a:r>
            <a:endParaRPr/>
          </a:p>
          <a:p>
            <a:pPr indent="0" lvl="0" marL="0" rtl="0" algn="l">
              <a:spcBef>
                <a:spcPts val="0"/>
              </a:spcBef>
              <a:spcAft>
                <a:spcPts val="0"/>
              </a:spcAft>
              <a:buNone/>
            </a:pPr>
            <a:r>
              <a:rPr lang="en-CA"/>
              <a:t>City, Province, </a:t>
            </a:r>
            <a:r>
              <a:rPr lang="en-CA" u="sng"/>
              <a:t>Postal Code if you don’t add your full address the Postal Code is (optional)</a:t>
            </a:r>
            <a:endParaRPr/>
          </a:p>
          <a:p>
            <a:pPr indent="0" lvl="0" marL="0" rtl="0" algn="l">
              <a:spcBef>
                <a:spcPts val="0"/>
              </a:spcBef>
              <a:spcAft>
                <a:spcPts val="0"/>
              </a:spcAft>
              <a:buNone/>
            </a:pPr>
            <a:r>
              <a:rPr lang="en-CA"/>
              <a:t>Phone Number</a:t>
            </a:r>
            <a:endParaRPr/>
          </a:p>
          <a:p>
            <a:pPr indent="0" lvl="0" marL="0" rtl="0" algn="l">
              <a:spcBef>
                <a:spcPts val="0"/>
              </a:spcBef>
              <a:spcAft>
                <a:spcPts val="0"/>
              </a:spcAft>
              <a:buNone/>
            </a:pPr>
            <a:r>
              <a:rPr lang="en-CA"/>
              <a:t>Email Address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Date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Employer Contact Information</a:t>
            </a:r>
            <a:endParaRPr/>
          </a:p>
          <a:p>
            <a:pPr indent="0" lvl="0" marL="0" rtl="0" algn="l">
              <a:spcBef>
                <a:spcPts val="0"/>
              </a:spcBef>
              <a:spcAft>
                <a:spcPts val="0"/>
              </a:spcAft>
              <a:buNone/>
            </a:pPr>
            <a:r>
              <a:rPr lang="en-CA"/>
              <a:t>Name (if you have it)</a:t>
            </a:r>
            <a:endParaRPr/>
          </a:p>
          <a:p>
            <a:pPr indent="0" lvl="0" marL="0" rtl="0" algn="l">
              <a:spcBef>
                <a:spcPts val="0"/>
              </a:spcBef>
              <a:spcAft>
                <a:spcPts val="0"/>
              </a:spcAft>
              <a:buNone/>
            </a:pPr>
            <a:r>
              <a:rPr lang="en-CA"/>
              <a:t>Title (if you have it)</a:t>
            </a:r>
            <a:endParaRPr/>
          </a:p>
          <a:p>
            <a:pPr indent="0" lvl="0" marL="0" rtl="0" algn="l">
              <a:spcBef>
                <a:spcPts val="0"/>
              </a:spcBef>
              <a:spcAft>
                <a:spcPts val="0"/>
              </a:spcAft>
              <a:buNone/>
            </a:pPr>
            <a:r>
              <a:rPr lang="en-CA"/>
              <a:t>Company</a:t>
            </a:r>
            <a:endParaRPr/>
          </a:p>
          <a:p>
            <a:pPr indent="0" lvl="0" marL="0" rtl="0" algn="l">
              <a:spcBef>
                <a:spcPts val="0"/>
              </a:spcBef>
              <a:spcAft>
                <a:spcPts val="0"/>
              </a:spcAft>
              <a:buNone/>
            </a:pPr>
            <a:r>
              <a:rPr lang="en-CA"/>
              <a:t>Address</a:t>
            </a:r>
            <a:endParaRPr/>
          </a:p>
          <a:p>
            <a:pPr indent="0" lvl="0" marL="0" rtl="0" algn="l">
              <a:spcBef>
                <a:spcPts val="0"/>
              </a:spcBef>
              <a:spcAft>
                <a:spcPts val="0"/>
              </a:spcAft>
              <a:buNone/>
            </a:pPr>
            <a:r>
              <a:rPr lang="en-CA"/>
              <a:t>City, Province, Postal Code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Re: Job title and job number</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Salutation</a:t>
            </a:r>
            <a:endParaRPr/>
          </a:p>
          <a:p>
            <a:pPr indent="0" lvl="0" marL="0" rtl="0" algn="l">
              <a:spcBef>
                <a:spcPts val="0"/>
              </a:spcBef>
              <a:spcAft>
                <a:spcPts val="0"/>
              </a:spcAft>
              <a:buNone/>
            </a:pPr>
            <a:r>
              <a:rPr lang="en-CA"/>
              <a:t>Dear Mr./Ms. Last Name, (if you don't have a contact name use Dear Hiring Manager)</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The body of your cover letter lets the employer know what position you are applying for,</a:t>
            </a:r>
            <a:endParaRPr/>
          </a:p>
          <a:p>
            <a:pPr indent="0" lvl="0" marL="0" rtl="0" algn="l">
              <a:spcBef>
                <a:spcPts val="0"/>
              </a:spcBef>
              <a:spcAft>
                <a:spcPts val="0"/>
              </a:spcAft>
              <a:buNone/>
            </a:pPr>
            <a:r>
              <a:rPr lang="en-CA"/>
              <a:t>why the employer should select you for an interview, and how you will follow-up.</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First Paragraph</a:t>
            </a:r>
            <a:endParaRPr/>
          </a:p>
          <a:p>
            <a:pPr indent="0" lvl="0" marL="0" rtl="0" algn="l">
              <a:spcBef>
                <a:spcPts val="0"/>
              </a:spcBef>
              <a:spcAft>
                <a:spcPts val="0"/>
              </a:spcAft>
              <a:buNone/>
            </a:pPr>
            <a:r>
              <a:rPr lang="en-CA"/>
              <a:t>The first paragraph of your letter should include information on why you are writing.</a:t>
            </a:r>
            <a:endParaRPr/>
          </a:p>
          <a:p>
            <a:pPr indent="0" lvl="0" marL="0" rtl="0" algn="l">
              <a:spcBef>
                <a:spcPts val="0"/>
              </a:spcBef>
              <a:spcAft>
                <a:spcPts val="0"/>
              </a:spcAft>
              <a:buNone/>
            </a:pPr>
            <a:r>
              <a:rPr lang="en-CA"/>
              <a:t>Mention the position you are applying for and where you found the job listing. Include the</a:t>
            </a:r>
            <a:endParaRPr/>
          </a:p>
          <a:p>
            <a:pPr indent="0" lvl="0" marL="0" rtl="0" algn="l">
              <a:spcBef>
                <a:spcPts val="0"/>
              </a:spcBef>
              <a:spcAft>
                <a:spcPts val="0"/>
              </a:spcAft>
              <a:buNone/>
            </a:pPr>
            <a:r>
              <a:rPr lang="en-CA"/>
              <a:t>name of a mutual contact, if you have 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Middle Paragraph</a:t>
            </a:r>
            <a:endParaRPr/>
          </a:p>
          <a:p>
            <a:pPr indent="0" lvl="0" marL="0" rtl="0" algn="l">
              <a:spcBef>
                <a:spcPts val="0"/>
              </a:spcBef>
              <a:spcAft>
                <a:spcPts val="0"/>
              </a:spcAft>
              <a:buNone/>
            </a:pPr>
            <a:r>
              <a:rPr lang="en-CA"/>
              <a:t>The next section of your cover letter should describe what you have to offer the</a:t>
            </a:r>
            <a:endParaRPr/>
          </a:p>
          <a:p>
            <a:pPr indent="0" lvl="0" marL="0" rtl="0" algn="l">
              <a:spcBef>
                <a:spcPts val="0"/>
              </a:spcBef>
              <a:spcAft>
                <a:spcPts val="0"/>
              </a:spcAft>
              <a:buNone/>
            </a:pPr>
            <a:r>
              <a:rPr lang="en-CA"/>
              <a:t>employer. Mention specifically how your qualifications match the job you are applying</a:t>
            </a:r>
            <a:endParaRPr/>
          </a:p>
          <a:p>
            <a:pPr indent="0" lvl="0" marL="0" rtl="0" algn="l">
              <a:spcBef>
                <a:spcPts val="0"/>
              </a:spcBef>
              <a:spcAft>
                <a:spcPts val="0"/>
              </a:spcAft>
              <a:buNone/>
            </a:pPr>
            <a:r>
              <a:rPr lang="en-CA"/>
              <a:t>for. Remember, you are interpreting your resume, not repeating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Final Paragraph</a:t>
            </a:r>
            <a:endParaRPr/>
          </a:p>
          <a:p>
            <a:pPr indent="0" lvl="0" marL="0" rtl="0" algn="l">
              <a:spcBef>
                <a:spcPts val="0"/>
              </a:spcBef>
              <a:spcAft>
                <a:spcPts val="0"/>
              </a:spcAft>
              <a:buNone/>
            </a:pPr>
            <a:r>
              <a:rPr lang="en-CA"/>
              <a:t>Conclude your cover letter by thanking the employer for considering you for the position.</a:t>
            </a:r>
            <a:endParaRPr/>
          </a:p>
          <a:p>
            <a:pPr indent="0" lvl="0" marL="0" rtl="0" algn="l">
              <a:spcBef>
                <a:spcPts val="0"/>
              </a:spcBef>
              <a:spcAft>
                <a:spcPts val="0"/>
              </a:spcAft>
              <a:buNone/>
            </a:pPr>
            <a:r>
              <a:rPr lang="en-CA"/>
              <a:t>Include information on how you will follow-up (if you have a contact). If you don’t have a</a:t>
            </a:r>
            <a:endParaRPr/>
          </a:p>
          <a:p>
            <a:pPr indent="0" lvl="0" marL="0" rtl="0" algn="l">
              <a:spcBef>
                <a:spcPts val="0"/>
              </a:spcBef>
              <a:spcAft>
                <a:spcPts val="0"/>
              </a:spcAft>
              <a:buNone/>
            </a:pPr>
            <a:r>
              <a:rPr lang="en-CA"/>
              <a:t>contact you will have to have them contact you, let them know they can reach you at</a:t>
            </a:r>
            <a:endParaRPr/>
          </a:p>
          <a:p>
            <a:pPr indent="0" lvl="0" marL="0" rtl="0" algn="l">
              <a:spcBef>
                <a:spcPts val="0"/>
              </a:spcBef>
              <a:spcAft>
                <a:spcPts val="0"/>
              </a:spcAft>
              <a:buNone/>
            </a:pPr>
            <a:r>
              <a:rPr lang="en-CA"/>
              <a:t>416... or at email address. (yes put your phone number and email address in this</a:t>
            </a:r>
            <a:endParaRPr/>
          </a:p>
          <a:p>
            <a:pPr indent="0" lvl="0" marL="0" rtl="0" algn="l">
              <a:spcBef>
                <a:spcPts val="0"/>
              </a:spcBef>
              <a:spcAft>
                <a:spcPts val="0"/>
              </a:spcAft>
              <a:buNone/>
            </a:pPr>
            <a:r>
              <a:rPr lang="en-CA"/>
              <a:t>paragraph).</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Complimentary Close</a:t>
            </a:r>
            <a:endParaRPr/>
          </a:p>
          <a:p>
            <a:pPr indent="0" lvl="0" marL="0" rtl="0" algn="l">
              <a:spcBef>
                <a:spcPts val="0"/>
              </a:spcBef>
              <a:spcAft>
                <a:spcPts val="0"/>
              </a:spcAft>
              <a:buNone/>
            </a:pPr>
            <a:r>
              <a:rPr lang="en-CA"/>
              <a:t>Respectfully yours,</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Typed Signature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40" name="Google Shape;140;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CA"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6" name="Google Shape;146;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Add your linked in URL, github, profile or website</a:t>
            </a:r>
            <a:endParaRPr/>
          </a:p>
          <a:p>
            <a:pPr indent="0" lvl="0" marL="0" rtl="0" algn="l">
              <a:spcBef>
                <a:spcPts val="0"/>
              </a:spcBef>
              <a:spcAft>
                <a:spcPts val="0"/>
              </a:spcAft>
              <a:buNone/>
            </a:pPr>
            <a:r>
              <a:rPr lang="en-CA"/>
              <a:t>Have your contact info centered or left aligned or in one line under the header not in the header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47" name="Google Shape;147;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CA"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3" name="Google Shape;153;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360"/>
              </a:spcBef>
              <a:spcAft>
                <a:spcPts val="0"/>
              </a:spcAft>
              <a:buNone/>
            </a:pPr>
            <a:r>
              <a:t/>
            </a:r>
            <a:endParaRPr/>
          </a:p>
        </p:txBody>
      </p:sp>
      <p:sp>
        <p:nvSpPr>
          <p:cNvPr id="154" name="Google Shape;154;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CA"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CA" u="sng"/>
              <a:t>Do your own research, these are just examples </a:t>
            </a:r>
            <a:endParaRPr/>
          </a:p>
          <a:p>
            <a:pPr indent="0" lvl="0" marL="0" rtl="0" algn="l">
              <a:spcBef>
                <a:spcPts val="360"/>
              </a:spcBef>
              <a:spcAft>
                <a:spcPts val="0"/>
              </a:spcAft>
              <a:buNone/>
            </a:pPr>
            <a:r>
              <a:t/>
            </a:r>
            <a:endParaRPr b="1" u="sng"/>
          </a:p>
          <a:p>
            <a:pPr indent="0" lvl="0" marL="0" marR="0" rtl="0" algn="l">
              <a:lnSpc>
                <a:spcPct val="100000"/>
              </a:lnSpc>
              <a:spcBef>
                <a:spcPts val="360"/>
              </a:spcBef>
              <a:spcAft>
                <a:spcPts val="0"/>
              </a:spcAft>
              <a:buClr>
                <a:schemeClr val="dk1"/>
              </a:buClr>
              <a:buSzPts val="1200"/>
              <a:buFont typeface="Calibri"/>
              <a:buNone/>
            </a:pPr>
            <a:r>
              <a:t/>
            </a:r>
            <a:endParaRPr b="1" u="sng"/>
          </a:p>
          <a:p>
            <a:pPr indent="0" lvl="0" marL="0" rtl="0" algn="l">
              <a:spcBef>
                <a:spcPts val="360"/>
              </a:spcBef>
              <a:spcAft>
                <a:spcPts val="0"/>
              </a:spcAft>
              <a:buNone/>
            </a:pPr>
            <a:r>
              <a:t/>
            </a:r>
            <a:endParaRPr b="1" u="sng"/>
          </a:p>
          <a:p>
            <a:pPr indent="0" lvl="0" marL="0" rtl="0" algn="l">
              <a:spcBef>
                <a:spcPts val="360"/>
              </a:spcBef>
              <a:spcAft>
                <a:spcPts val="0"/>
              </a:spcAft>
              <a:buNone/>
            </a:pPr>
            <a:r>
              <a:t/>
            </a:r>
            <a:endParaRPr b="1" u="sng"/>
          </a:p>
        </p:txBody>
      </p:sp>
      <p:sp>
        <p:nvSpPr>
          <p:cNvPr id="161" name="Google Shape;161;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7" name="Google Shape;167;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Align with the job requirements customize for each job</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168" name="Google Shape;168;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CA"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CA" u="sng"/>
              <a:t>Sample of job requirements</a:t>
            </a:r>
            <a:endParaRPr/>
          </a:p>
        </p:txBody>
      </p:sp>
      <p:sp>
        <p:nvSpPr>
          <p:cNvPr id="175" name="Google Shape;175;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b="1" lang="en-CA" u="sng"/>
              <a:t>Sample of job requirements</a:t>
            </a:r>
            <a:endParaRPr/>
          </a:p>
          <a:p>
            <a:pPr indent="0" lvl="0" marL="0" rtl="0" algn="l">
              <a:spcBef>
                <a:spcPts val="360"/>
              </a:spcBef>
              <a:spcAft>
                <a:spcPts val="0"/>
              </a:spcAft>
              <a:buNone/>
            </a:pPr>
            <a:r>
              <a:t/>
            </a:r>
            <a:endParaRPr/>
          </a:p>
        </p:txBody>
      </p:sp>
      <p:sp>
        <p:nvSpPr>
          <p:cNvPr id="182" name="Google Shape;182;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8" name="Google Shape;188;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b="1" i="0" lang="en-CA" sz="1200">
                <a:highlight>
                  <a:srgbClr val="FFFF00"/>
                </a:highlight>
              </a:rPr>
              <a:t>Examples of possible highlights of qualifications – do your own research</a:t>
            </a:r>
            <a:endParaRPr/>
          </a:p>
          <a:p>
            <a:pPr indent="0" lvl="0" marL="0" rtl="0" algn="l">
              <a:spcBef>
                <a:spcPts val="360"/>
              </a:spcBef>
              <a:spcAft>
                <a:spcPts val="0"/>
              </a:spcAft>
              <a:buNone/>
            </a:pPr>
            <a:r>
              <a:t/>
            </a:r>
            <a:endParaRPr/>
          </a:p>
          <a:p>
            <a:pPr indent="0" lvl="0" marL="0" rtl="0" algn="l">
              <a:spcBef>
                <a:spcPts val="540"/>
              </a:spcBef>
              <a:spcAft>
                <a:spcPts val="0"/>
              </a:spcAft>
              <a:buNone/>
            </a:pPr>
            <a:r>
              <a:rPr lang="en-CA" sz="1800">
                <a:latin typeface="Arial"/>
                <a:ea typeface="Arial"/>
                <a:cs typeface="Arial"/>
                <a:sym typeface="Arial"/>
              </a:rPr>
              <a:t>Technical Proficiency: Demonstrated expertise in designing, testing, and developing back-end solutions for artificial intelligence teams. Well-versed in object-oriented programming with skills in Python and Java, showcasing a solid foundation for contributing to major systems.</a:t>
            </a:r>
            <a:endParaRPr sz="1800">
              <a:latin typeface="Arial"/>
              <a:ea typeface="Arial"/>
              <a:cs typeface="Arial"/>
              <a:sym typeface="Arial"/>
            </a:endParaRPr>
          </a:p>
          <a:p>
            <a:pPr indent="0" lvl="0" marL="0" rtl="0" algn="l">
              <a:spcBef>
                <a:spcPts val="540"/>
              </a:spcBef>
              <a:spcAft>
                <a:spcPts val="0"/>
              </a:spcAft>
              <a:buNone/>
            </a:pPr>
            <a:r>
              <a:rPr lang="en-CA" sz="1800">
                <a:latin typeface="Arial"/>
                <a:ea typeface="Arial"/>
                <a:cs typeface="Arial"/>
                <a:sym typeface="Arial"/>
              </a:rPr>
              <a:t> </a:t>
            </a:r>
            <a:endParaRPr sz="1800">
              <a:latin typeface="Arial"/>
              <a:ea typeface="Arial"/>
              <a:cs typeface="Arial"/>
              <a:sym typeface="Arial"/>
            </a:endParaRPr>
          </a:p>
          <a:p>
            <a:pPr indent="0" lvl="0" marL="0" rtl="0" algn="l">
              <a:spcBef>
                <a:spcPts val="540"/>
              </a:spcBef>
              <a:spcAft>
                <a:spcPts val="0"/>
              </a:spcAft>
              <a:buNone/>
            </a:pPr>
            <a:r>
              <a:rPr lang="en-CA" sz="1800">
                <a:latin typeface="Arial"/>
                <a:ea typeface="Arial"/>
                <a:cs typeface="Arial"/>
                <a:sym typeface="Arial"/>
              </a:rPr>
              <a:t>Innovative Problem Solver: Proven ability to stay abreast of new approaches and opportunities, bringing innovative solutions to the design of complex systems. Skilled in transforming intricate data sets into meaningful conclusions and actionable recommendations.</a:t>
            </a:r>
            <a:endParaRPr sz="1800">
              <a:latin typeface="Arial"/>
              <a:ea typeface="Arial"/>
              <a:cs typeface="Arial"/>
              <a:sym typeface="Arial"/>
            </a:endParaRPr>
          </a:p>
          <a:p>
            <a:pPr indent="0" lvl="0" marL="0" rtl="0" algn="l">
              <a:spcBef>
                <a:spcPts val="540"/>
              </a:spcBef>
              <a:spcAft>
                <a:spcPts val="0"/>
              </a:spcAft>
              <a:buNone/>
            </a:pPr>
            <a:r>
              <a:rPr lang="en-CA" sz="1800">
                <a:latin typeface="Arial"/>
                <a:ea typeface="Arial"/>
                <a:cs typeface="Arial"/>
                <a:sym typeface="Arial"/>
              </a:rPr>
              <a:t> </a:t>
            </a:r>
            <a:endParaRPr sz="1800">
              <a:latin typeface="Arial"/>
              <a:ea typeface="Arial"/>
              <a:cs typeface="Arial"/>
              <a:sym typeface="Arial"/>
            </a:endParaRPr>
          </a:p>
          <a:p>
            <a:pPr indent="0" lvl="0" marL="0" rtl="0" algn="l">
              <a:spcBef>
                <a:spcPts val="540"/>
              </a:spcBef>
              <a:spcAft>
                <a:spcPts val="0"/>
              </a:spcAft>
              <a:buNone/>
            </a:pPr>
            <a:r>
              <a:rPr lang="en-CA" sz="1800">
                <a:latin typeface="Arial"/>
                <a:ea typeface="Arial"/>
                <a:cs typeface="Arial"/>
                <a:sym typeface="Arial"/>
              </a:rPr>
              <a:t>Agile Collaboration: Experience working collaboratively in Agile teams, using the latest internet and application technologies to develop major systems. Strong teamwork and brainstorming skills, including the ability to build prototypes for technical solutions.</a:t>
            </a:r>
            <a:endParaRPr sz="1800">
              <a:latin typeface="Arial"/>
              <a:ea typeface="Arial"/>
              <a:cs typeface="Arial"/>
              <a:sym typeface="Arial"/>
            </a:endParaRPr>
          </a:p>
          <a:p>
            <a:pPr indent="0" lvl="0" marL="0" rtl="0" algn="l">
              <a:spcBef>
                <a:spcPts val="540"/>
              </a:spcBef>
              <a:spcAft>
                <a:spcPts val="0"/>
              </a:spcAft>
              <a:buNone/>
            </a:pPr>
            <a:r>
              <a:rPr lang="en-CA" sz="1800">
                <a:latin typeface="Arial"/>
                <a:ea typeface="Arial"/>
                <a:cs typeface="Arial"/>
                <a:sym typeface="Arial"/>
              </a:rPr>
              <a:t> </a:t>
            </a:r>
            <a:endParaRPr sz="1800">
              <a:latin typeface="Arial"/>
              <a:ea typeface="Arial"/>
              <a:cs typeface="Arial"/>
              <a:sym typeface="Arial"/>
            </a:endParaRPr>
          </a:p>
          <a:p>
            <a:pPr indent="0" lvl="0" marL="0" rtl="0" algn="l">
              <a:spcBef>
                <a:spcPts val="540"/>
              </a:spcBef>
              <a:spcAft>
                <a:spcPts val="0"/>
              </a:spcAft>
              <a:buNone/>
            </a:pPr>
            <a:r>
              <a:rPr lang="en-CA" sz="1800">
                <a:latin typeface="Arial"/>
                <a:ea typeface="Arial"/>
                <a:cs typeface="Arial"/>
                <a:sym typeface="Arial"/>
              </a:rPr>
              <a:t>Documentation and Testing: Adept at preparing comprehensive technical documentation for system deployment and support. Experienced in developing and executing unit tests to validate code, ensuring the reliability and functionality of software solutions.</a:t>
            </a:r>
            <a:endParaRPr sz="1800">
              <a:latin typeface="Arial"/>
              <a:ea typeface="Arial"/>
              <a:cs typeface="Arial"/>
              <a:sym typeface="Arial"/>
            </a:endParaRPr>
          </a:p>
          <a:p>
            <a:pPr indent="0" lvl="0" marL="0" rtl="0" algn="l">
              <a:spcBef>
                <a:spcPts val="540"/>
              </a:spcBef>
              <a:spcAft>
                <a:spcPts val="0"/>
              </a:spcAft>
              <a:buNone/>
            </a:pPr>
            <a:r>
              <a:rPr lang="en-CA" sz="1800">
                <a:latin typeface="Arial"/>
                <a:ea typeface="Arial"/>
                <a:cs typeface="Arial"/>
                <a:sym typeface="Arial"/>
              </a:rPr>
              <a:t> </a:t>
            </a:r>
            <a:endParaRPr sz="1800">
              <a:latin typeface="Arial"/>
              <a:ea typeface="Arial"/>
              <a:cs typeface="Arial"/>
              <a:sym typeface="Arial"/>
            </a:endParaRPr>
          </a:p>
          <a:p>
            <a:pPr indent="0" lvl="0" marL="0" rtl="0" algn="l">
              <a:spcBef>
                <a:spcPts val="540"/>
              </a:spcBef>
              <a:spcAft>
                <a:spcPts val="0"/>
              </a:spcAft>
              <a:buNone/>
            </a:pPr>
            <a:r>
              <a:rPr lang="en-CA" sz="1800">
                <a:latin typeface="Arial"/>
                <a:ea typeface="Arial"/>
                <a:cs typeface="Arial"/>
                <a:sym typeface="Arial"/>
              </a:rPr>
              <a:t>Knowledge and Interest: Possess a keen interest in a range of technologies, including Java/Kotlin, Docker/Kubernetes, Hazelcast/Redis, Spring Boot/Spring Cloud, and MongoDB/Oracle. Solid understanding of development design patterns and a demonstrated interest in artificial intelligence.</a:t>
            </a:r>
            <a:endParaRPr sz="1800">
              <a:latin typeface="Arial"/>
              <a:ea typeface="Arial"/>
              <a:cs typeface="Arial"/>
              <a:sym typeface="Arial"/>
            </a:endParaRPr>
          </a:p>
          <a:p>
            <a:pPr indent="0" lvl="0" marL="0" rtl="0" algn="l">
              <a:spcBef>
                <a:spcPts val="540"/>
              </a:spcBef>
              <a:spcAft>
                <a:spcPts val="0"/>
              </a:spcAft>
              <a:buNone/>
            </a:pPr>
            <a:r>
              <a:rPr lang="en-CA" sz="1800">
                <a:latin typeface="Arial"/>
                <a:ea typeface="Arial"/>
                <a:cs typeface="Arial"/>
                <a:sym typeface="Arial"/>
              </a:rPr>
              <a:t> </a:t>
            </a:r>
            <a:endParaRPr sz="1800">
              <a:latin typeface="Arial"/>
              <a:ea typeface="Arial"/>
              <a:cs typeface="Arial"/>
              <a:sym typeface="Arial"/>
            </a:endParaRPr>
          </a:p>
          <a:p>
            <a:pPr indent="0" lvl="0" marL="0" rtl="0" algn="l">
              <a:spcBef>
                <a:spcPts val="540"/>
              </a:spcBef>
              <a:spcAft>
                <a:spcPts val="0"/>
              </a:spcAft>
              <a:buNone/>
            </a:pPr>
            <a:r>
              <a:rPr lang="en-CA" sz="1800">
                <a:latin typeface="Arial"/>
                <a:ea typeface="Arial"/>
                <a:cs typeface="Arial"/>
                <a:sym typeface="Arial"/>
              </a:rPr>
              <a:t>Agile Methodology: Familiarity with the basics of an agile way of work, emphasizing adaptability and collaboration throughout the software development lifecycle.</a:t>
            </a:r>
            <a:endParaRPr sz="1800">
              <a:latin typeface="Arial"/>
              <a:ea typeface="Arial"/>
              <a:cs typeface="Arial"/>
              <a:sym typeface="Arial"/>
            </a:endParaRPr>
          </a:p>
          <a:p>
            <a:pPr indent="0" lvl="0" marL="0" rtl="0" algn="l">
              <a:spcBef>
                <a:spcPts val="540"/>
              </a:spcBef>
              <a:spcAft>
                <a:spcPts val="0"/>
              </a:spcAft>
              <a:buNone/>
            </a:pPr>
            <a:r>
              <a:rPr lang="en-CA" sz="1800">
                <a:latin typeface="Arial"/>
                <a:ea typeface="Arial"/>
                <a:cs typeface="Arial"/>
                <a:sym typeface="Arial"/>
              </a:rPr>
              <a:t> </a:t>
            </a:r>
            <a:endParaRPr sz="1800">
              <a:latin typeface="Arial"/>
              <a:ea typeface="Arial"/>
              <a:cs typeface="Arial"/>
              <a:sym typeface="Arial"/>
            </a:endParaRPr>
          </a:p>
          <a:p>
            <a:pPr indent="0" lvl="0" marL="0" rtl="0" algn="l">
              <a:spcBef>
                <a:spcPts val="540"/>
              </a:spcBef>
              <a:spcAft>
                <a:spcPts val="0"/>
              </a:spcAft>
              <a:buNone/>
            </a:pPr>
            <a:r>
              <a:rPr lang="en-CA" sz="1800">
                <a:latin typeface="Arial"/>
                <a:ea typeface="Arial"/>
                <a:cs typeface="Arial"/>
                <a:sym typeface="Arial"/>
              </a:rPr>
              <a:t>Language Skills: Bilingual in English and French, ensuring effective communication with colleagues across the country. Able to work both in-office and remotely, demonstrating flexibility and adaptability to different working environments.</a:t>
            </a:r>
            <a:endParaRPr sz="1800">
              <a:latin typeface="Arial"/>
              <a:ea typeface="Arial"/>
              <a:cs typeface="Arial"/>
              <a:sym typeface="Arial"/>
            </a:endParaRPr>
          </a:p>
          <a:p>
            <a:pPr indent="0" lvl="0" marL="0" rtl="0" algn="l">
              <a:spcBef>
                <a:spcPts val="360"/>
              </a:spcBef>
              <a:spcAft>
                <a:spcPts val="0"/>
              </a:spcAft>
              <a:buNone/>
            </a:pPr>
            <a:r>
              <a:t/>
            </a:r>
            <a:endParaRPr/>
          </a:p>
        </p:txBody>
      </p:sp>
      <p:sp>
        <p:nvSpPr>
          <p:cNvPr id="195" name="Google Shape;195;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b="1" i="0" lang="en-CA" sz="1200">
                <a:highlight>
                  <a:srgbClr val="FFFF00"/>
                </a:highlight>
              </a:rPr>
              <a:t>Examples of highlights of qualifications – do your own research</a:t>
            </a:r>
            <a:endParaRPr/>
          </a:p>
          <a:p>
            <a:pPr indent="0" lvl="0" marL="0" rtl="0" algn="l">
              <a:spcBef>
                <a:spcPts val="360"/>
              </a:spcBef>
              <a:spcAft>
                <a:spcPts val="0"/>
              </a:spcAft>
              <a:buNone/>
            </a:pPr>
            <a:r>
              <a:t/>
            </a:r>
            <a:endParaRPr/>
          </a:p>
        </p:txBody>
      </p:sp>
      <p:sp>
        <p:nvSpPr>
          <p:cNvPr id="202" name="Google Shape;202;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Single space</a:t>
            </a:r>
            <a:endParaRPr/>
          </a:p>
          <a:p>
            <a:pPr indent="0" lvl="0" marL="0" marR="0" rtl="0" algn="l">
              <a:lnSpc>
                <a:spcPct val="100000"/>
              </a:lnSpc>
              <a:spcBef>
                <a:spcPts val="360"/>
              </a:spcBef>
              <a:spcAft>
                <a:spcPts val="0"/>
              </a:spcAft>
              <a:buClr>
                <a:schemeClr val="dk1"/>
              </a:buClr>
              <a:buSzPts val="1200"/>
              <a:buFont typeface="Calibri"/>
              <a:buNone/>
            </a:pPr>
            <a:r>
              <a:rPr b="1" i="0" lang="en-CA" sz="1200">
                <a:highlight>
                  <a:srgbClr val="FFFF00"/>
                </a:highlight>
              </a:rPr>
              <a:t>Examples of highlights of qualifications slides  – do your own research , 5-7 bullets</a:t>
            </a:r>
            <a:endParaRPr/>
          </a:p>
          <a:p>
            <a:pPr indent="0" lvl="0" marL="0" rtl="0" algn="l">
              <a:spcBef>
                <a:spcPts val="360"/>
              </a:spcBef>
              <a:spcAft>
                <a:spcPts val="0"/>
              </a:spcAft>
              <a:buNone/>
            </a:pPr>
            <a:r>
              <a:t/>
            </a:r>
            <a:endParaRPr/>
          </a:p>
        </p:txBody>
      </p:sp>
      <p:sp>
        <p:nvSpPr>
          <p:cNvPr id="209" name="Google Shape;209;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Used the slides 20-22 with the examples of highlights of qualifications</a:t>
            </a:r>
            <a:endParaRPr/>
          </a:p>
          <a:p>
            <a:pPr indent="0" lvl="0" marL="0" rtl="0" algn="l">
              <a:spcBef>
                <a:spcPts val="360"/>
              </a:spcBef>
              <a:spcAft>
                <a:spcPts val="0"/>
              </a:spcAft>
              <a:buNone/>
            </a:pPr>
            <a:r>
              <a:t/>
            </a:r>
            <a:endParaRPr/>
          </a:p>
        </p:txBody>
      </p:sp>
      <p:sp>
        <p:nvSpPr>
          <p:cNvPr id="216" name="Google Shape;216;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Optional section</a:t>
            </a:r>
            <a:endParaRPr/>
          </a:p>
        </p:txBody>
      </p:sp>
      <p:sp>
        <p:nvSpPr>
          <p:cNvPr id="223" name="Google Shape;223;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CA"/>
              <a:t>Single space. </a:t>
            </a:r>
            <a:r>
              <a:rPr b="1" i="0" lang="en-CA" sz="1200">
                <a:highlight>
                  <a:srgbClr val="FFFF00"/>
                </a:highlight>
              </a:rPr>
              <a:t>Example only– do your own research</a:t>
            </a:r>
            <a:endParaRPr/>
          </a:p>
          <a:p>
            <a:pPr indent="0" lvl="0" marL="0" rtl="0" algn="l">
              <a:spcBef>
                <a:spcPts val="360"/>
              </a:spcBef>
              <a:spcAft>
                <a:spcPts val="0"/>
              </a:spcAft>
              <a:buNone/>
            </a:pPr>
            <a:r>
              <a:t/>
            </a:r>
            <a:endParaRPr/>
          </a:p>
        </p:txBody>
      </p:sp>
      <p:sp>
        <p:nvSpPr>
          <p:cNvPr id="230" name="Google Shape;230;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6" name="Google Shape;236;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Education/Certifications you can have them together, if you have a lot of Certifications,  you can list them after professional experience </a:t>
            </a:r>
            <a:endParaRPr/>
          </a:p>
        </p:txBody>
      </p:sp>
      <p:sp>
        <p:nvSpPr>
          <p:cNvPr id="237" name="Google Shape;237;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CA"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Single space, refer to the syntax of a well written bullet </a:t>
            </a:r>
            <a:endParaRPr/>
          </a:p>
          <a:p>
            <a:pPr indent="0" lvl="0" marL="0" rtl="0" algn="l">
              <a:spcBef>
                <a:spcPts val="360"/>
              </a:spcBef>
              <a:spcAft>
                <a:spcPts val="0"/>
              </a:spcAft>
              <a:buNone/>
            </a:pPr>
            <a:r>
              <a:t/>
            </a:r>
            <a:endParaRPr/>
          </a:p>
          <a:p>
            <a:pPr indent="0" lvl="0" marL="0" marR="0" rtl="0" algn="l">
              <a:lnSpc>
                <a:spcPct val="100000"/>
              </a:lnSpc>
              <a:spcBef>
                <a:spcPts val="360"/>
              </a:spcBef>
              <a:spcAft>
                <a:spcPts val="0"/>
              </a:spcAft>
              <a:buClr>
                <a:schemeClr val="dk1"/>
              </a:buClr>
              <a:buSzPts val="1200"/>
              <a:buFont typeface="Calibri"/>
              <a:buNone/>
            </a:pPr>
            <a:r>
              <a:rPr lang="en-CA" sz="1200">
                <a:solidFill>
                  <a:schemeClr val="dk1"/>
                </a:solidFill>
              </a:rPr>
              <a:t>Other Education listed same as current program school attended, dates, location, without the bullets most recent first, list certifications below education and list them most recent first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CA"/>
              <a:t>You can refer to your program Ontario College Graduate Certificate can be removed from here </a:t>
            </a:r>
            <a:endParaRPr/>
          </a:p>
          <a:p>
            <a:pPr indent="0" lvl="0" marL="0" rtl="0" algn="l">
              <a:spcBef>
                <a:spcPts val="360"/>
              </a:spcBef>
              <a:spcAft>
                <a:spcPts val="0"/>
              </a:spcAft>
              <a:buNone/>
            </a:pPr>
            <a:r>
              <a:t/>
            </a:r>
            <a:endParaRPr/>
          </a:p>
          <a:p>
            <a:pPr indent="0" lvl="0" marL="0" marR="0" rtl="0" algn="l">
              <a:lnSpc>
                <a:spcPct val="100000"/>
              </a:lnSpc>
              <a:spcBef>
                <a:spcPts val="360"/>
              </a:spcBef>
              <a:spcAft>
                <a:spcPts val="0"/>
              </a:spcAft>
              <a:buClr>
                <a:schemeClr val="dk1"/>
              </a:buClr>
              <a:buSzPts val="1200"/>
              <a:buFont typeface="Calibri"/>
              <a:buNone/>
            </a:pPr>
            <a:r>
              <a:rPr lang="en-CA"/>
              <a:t>Just an example </a:t>
            </a:r>
            <a:r>
              <a:rPr b="0" i="0" lang="en-CA" sz="1200">
                <a:solidFill>
                  <a:schemeClr val="dk1"/>
                </a:solidFill>
              </a:rPr>
              <a:t>(Customize with your info) all these bullets will have your project work completed in your program </a:t>
            </a:r>
            <a:endParaRPr/>
          </a:p>
          <a:p>
            <a:pPr indent="0" lvl="0" marL="0" marR="0" rtl="0" algn="l">
              <a:lnSpc>
                <a:spcPct val="100000"/>
              </a:lnSpc>
              <a:spcBef>
                <a:spcPts val="360"/>
              </a:spcBef>
              <a:spcAft>
                <a:spcPts val="0"/>
              </a:spcAft>
              <a:buClr>
                <a:schemeClr val="dk1"/>
              </a:buClr>
              <a:buSzPts val="1200"/>
              <a:buFont typeface="Calibri"/>
              <a:buNone/>
            </a:pPr>
            <a:r>
              <a:t/>
            </a:r>
            <a:endParaRPr b="0" i="0" sz="1200">
              <a:solidFill>
                <a:schemeClr val="dk1"/>
              </a:solidFill>
            </a:endParaRPr>
          </a:p>
          <a:p>
            <a:pPr indent="0" lvl="0" marL="0" marR="0" rtl="0" algn="l">
              <a:lnSpc>
                <a:spcPct val="100000"/>
              </a:lnSpc>
              <a:spcBef>
                <a:spcPts val="360"/>
              </a:spcBef>
              <a:spcAft>
                <a:spcPts val="0"/>
              </a:spcAft>
              <a:buClr>
                <a:schemeClr val="dk1"/>
              </a:buClr>
              <a:buSzPts val="1200"/>
              <a:buFont typeface="Calibri"/>
              <a:buNone/>
            </a:pPr>
            <a:r>
              <a:rPr b="0" i="0" lang="en-CA" sz="1200">
                <a:solidFill>
                  <a:schemeClr val="dk1"/>
                </a:solidFill>
              </a:rPr>
              <a:t>Certifications can be added after the professional experience section, also can add publications, research </a:t>
            </a:r>
            <a:endParaRPr/>
          </a:p>
          <a:p>
            <a:pPr indent="0" lvl="0" marL="0" rtl="0" algn="l">
              <a:spcBef>
                <a:spcPts val="360"/>
              </a:spcBef>
              <a:spcAft>
                <a:spcPts val="0"/>
              </a:spcAft>
              <a:buNone/>
            </a:pPr>
            <a:r>
              <a:t/>
            </a:r>
            <a:endParaRPr/>
          </a:p>
        </p:txBody>
      </p:sp>
      <p:sp>
        <p:nvSpPr>
          <p:cNvPr id="244" name="Google Shape;244;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b="1" i="0" lang="en-CA" sz="1200">
                <a:highlight>
                  <a:srgbClr val="FFFF00"/>
                </a:highlight>
              </a:rPr>
              <a:t>Example only– do your own research</a:t>
            </a:r>
            <a:endParaRPr/>
          </a:p>
          <a:p>
            <a:pPr indent="0" lvl="0" marL="0" rtl="0" algn="l">
              <a:spcBef>
                <a:spcPts val="360"/>
              </a:spcBef>
              <a:spcAft>
                <a:spcPts val="0"/>
              </a:spcAft>
              <a:buNone/>
            </a:pPr>
            <a:r>
              <a:t/>
            </a:r>
            <a:endParaRPr/>
          </a:p>
        </p:txBody>
      </p:sp>
      <p:sp>
        <p:nvSpPr>
          <p:cNvPr id="251" name="Google Shape;251;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64" name="Google Shape;264;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CA" sz="2000" u="sng">
                <a:latin typeface="Arial"/>
                <a:ea typeface="Arial"/>
                <a:cs typeface="Arial"/>
                <a:sym typeface="Arial"/>
              </a:rPr>
              <a:t>This is just to show format, not content sample only, customize </a:t>
            </a:r>
            <a:endParaRPr/>
          </a:p>
          <a:p>
            <a:pPr indent="0" lvl="0" marL="0" rtl="0" algn="l">
              <a:spcBef>
                <a:spcPts val="600"/>
              </a:spcBef>
              <a:spcAft>
                <a:spcPts val="0"/>
              </a:spcAft>
              <a:buNone/>
            </a:pPr>
            <a:r>
              <a:t/>
            </a:r>
            <a:endParaRPr b="1" sz="2000" u="sng">
              <a:latin typeface="Arial"/>
              <a:ea typeface="Arial"/>
              <a:cs typeface="Arial"/>
              <a:sym typeface="Arial"/>
            </a:endParaRPr>
          </a:p>
          <a:p>
            <a:pPr indent="0" lvl="0" marL="0" rtl="0" algn="l">
              <a:spcBef>
                <a:spcPts val="600"/>
              </a:spcBef>
              <a:spcAft>
                <a:spcPts val="0"/>
              </a:spcAft>
              <a:buNone/>
            </a:pPr>
            <a:r>
              <a:rPr lang="en-CA" sz="2000"/>
              <a:t>Example for Data Analyst role, do your own research, this is 5 sample bullets for professional experience </a:t>
            </a:r>
            <a:endParaRPr/>
          </a:p>
          <a:p>
            <a:pPr indent="0" lvl="0" marL="0" rtl="0" algn="l">
              <a:spcBef>
                <a:spcPts val="600"/>
              </a:spcBef>
              <a:spcAft>
                <a:spcPts val="0"/>
              </a:spcAft>
              <a:buNone/>
            </a:pPr>
            <a:r>
              <a:t/>
            </a:r>
            <a:endParaRPr sz="2000"/>
          </a:p>
          <a:p>
            <a:pPr indent="0" lvl="0" marL="0" rtl="0" algn="l">
              <a:spcBef>
                <a:spcPts val="600"/>
              </a:spcBef>
              <a:spcAft>
                <a:spcPts val="0"/>
              </a:spcAft>
              <a:buNone/>
            </a:pPr>
            <a:r>
              <a:rPr lang="en-CA" sz="2000"/>
              <a:t>All jobs need to be in past tense, current job can be in past tense or present tense </a:t>
            </a:r>
            <a:endParaRPr/>
          </a:p>
          <a:p>
            <a:pPr indent="0" lvl="0" marL="0" rtl="0" algn="l">
              <a:spcBef>
                <a:spcPts val="600"/>
              </a:spcBef>
              <a:spcAft>
                <a:spcPts val="0"/>
              </a:spcAft>
              <a:buNone/>
            </a:pPr>
            <a:r>
              <a:t/>
            </a:r>
            <a:endParaRPr b="1" sz="20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Data Analysis and Visualization:</a:t>
            </a:r>
            <a:endParaRPr sz="18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Conducted comprehensive data analysis by leveraging statistical methods and visualization tools to extract actionable insights. Presented findings through clear and concise visualizations, contributing to informed decision-making processes.</a:t>
            </a:r>
            <a:endParaRPr sz="18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 </a:t>
            </a:r>
            <a:endParaRPr b="0" sz="18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Database Management:</a:t>
            </a:r>
            <a:endParaRPr sz="18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Managed and maintained large datasets using SQL databases, ensuring data accuracy, integrity, and accessibility. Implemented efficient data storage and retrieval processes, optimizing overall database performance.</a:t>
            </a:r>
            <a:endParaRPr sz="18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 </a:t>
            </a:r>
            <a:endParaRPr sz="18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Report Generation and Monitoring:</a:t>
            </a:r>
            <a:endParaRPr sz="18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Developed and generated regular reports to monitor key performance indicators (KPIs) and track project progress. Provided stakeholders with timely and accurate information, facilitating strategic decision-making.</a:t>
            </a:r>
            <a:endParaRPr sz="18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 </a:t>
            </a:r>
            <a:endParaRPr sz="18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Cross-functional Collaboration:</a:t>
            </a:r>
            <a:endParaRPr sz="18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Collaborated with cross-functional teams to gather and analyze business requirements, ensuring alignment between data analysis outputs and organizational objectives. Actively participated in team meetings to discuss insights and recommendations.</a:t>
            </a:r>
            <a:endParaRPr sz="18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 </a:t>
            </a:r>
            <a:endParaRPr sz="18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Quality Assurance and Testing:</a:t>
            </a:r>
            <a:endParaRPr sz="18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Executed rigorous testing procedures on datasets and analytical models to validate accuracy and reliability. Implemented quality assurance measures, contributing to the delivery of high-quality and error-free data analyses.</a:t>
            </a:r>
            <a:endParaRPr sz="18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 </a:t>
            </a:r>
            <a:endParaRPr sz="18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Communication and Documentation:</a:t>
            </a:r>
            <a:endParaRPr sz="18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Demonstrated excellent verbal and written communication skills in articulating complex data-driven insights to both technical and non-technical stakeholders. Maintained detailed documentation of analysis methodologies, ensuring transparency and replicability.</a:t>
            </a:r>
            <a:endParaRPr sz="18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 </a:t>
            </a:r>
            <a:endParaRPr sz="18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Process Improvement:</a:t>
            </a:r>
            <a:endParaRPr sz="18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Identified opportunities for process improvement within the data analysis workflow, implementing enhancements to increase efficiency and accuracy. Proactively suggested and implemented changes to streamline data-related processes.</a:t>
            </a:r>
            <a:endParaRPr sz="18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 </a:t>
            </a:r>
            <a:endParaRPr sz="18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Adherence to Data Privacy Regulations:</a:t>
            </a:r>
            <a:endParaRPr sz="18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Ensured compliance with data privacy regulations and company policies in handling sensitive information. Implemented data anonymization and encryption measures to safeguard confidentiality and integrity.</a:t>
            </a:r>
            <a:endParaRPr sz="18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 </a:t>
            </a:r>
            <a:endParaRPr sz="18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Training and Knowledge Sharing:</a:t>
            </a:r>
            <a:endParaRPr b="0" sz="18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Conducted training sessions to share data analysis techniques and best practices with team members, fostering a culture of continuous learning and skill development.</a:t>
            </a:r>
            <a:endParaRPr sz="18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 </a:t>
            </a:r>
            <a:endParaRPr sz="18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Problem Solving and Decision Support:</a:t>
            </a:r>
            <a:endParaRPr sz="1800">
              <a:latin typeface="Arial"/>
              <a:ea typeface="Arial"/>
              <a:cs typeface="Arial"/>
              <a:sym typeface="Arial"/>
            </a:endParaRPr>
          </a:p>
          <a:p>
            <a:pPr indent="0" lvl="0" marL="0" rtl="0" algn="l">
              <a:spcBef>
                <a:spcPts val="540"/>
              </a:spcBef>
              <a:spcAft>
                <a:spcPts val="0"/>
              </a:spcAft>
              <a:buNone/>
            </a:pPr>
            <a:r>
              <a:rPr b="1" lang="en-CA" sz="1800">
                <a:latin typeface="Arial"/>
                <a:ea typeface="Arial"/>
                <a:cs typeface="Arial"/>
                <a:sym typeface="Arial"/>
              </a:rPr>
              <a:t>Applied critical thinking and problem-solving skills to address complex data-related challenges. Provided decision support to management by offering insights into trends, patterns, and potential areas for improvement.</a:t>
            </a:r>
            <a:endParaRPr sz="1800">
              <a:latin typeface="Arial"/>
              <a:ea typeface="Arial"/>
              <a:cs typeface="Arial"/>
              <a:sym typeface="Arial"/>
            </a:endParaRPr>
          </a:p>
          <a:p>
            <a:pPr indent="0" lvl="0" marL="0" rtl="0" algn="l">
              <a:spcBef>
                <a:spcPts val="600"/>
              </a:spcBef>
              <a:spcAft>
                <a:spcPts val="0"/>
              </a:spcAft>
              <a:buNone/>
            </a:pPr>
            <a:r>
              <a:t/>
            </a:r>
            <a:endParaRPr b="1" sz="2000" u="sng">
              <a:latin typeface="Arial"/>
              <a:ea typeface="Arial"/>
              <a:cs typeface="Arial"/>
              <a:sym typeface="Arial"/>
            </a:endParaRPr>
          </a:p>
          <a:p>
            <a:pPr indent="0" lvl="0" marL="0" rtl="0" algn="l">
              <a:spcBef>
                <a:spcPts val="600"/>
              </a:spcBef>
              <a:spcAft>
                <a:spcPts val="0"/>
              </a:spcAft>
              <a:buNone/>
            </a:pPr>
            <a:r>
              <a:t/>
            </a:r>
            <a:endParaRPr b="1" i="0" sz="2000" u="sng">
              <a:solidFill>
                <a:schemeClr val="dk1"/>
              </a:solidFill>
              <a:latin typeface="Arial"/>
              <a:ea typeface="Arial"/>
              <a:cs typeface="Arial"/>
              <a:sym typeface="Arial"/>
            </a:endParaRPr>
          </a:p>
          <a:p>
            <a:pPr indent="0" lvl="0" marL="0" rtl="0" algn="l">
              <a:spcBef>
                <a:spcPts val="360"/>
              </a:spcBef>
              <a:spcAft>
                <a:spcPts val="0"/>
              </a:spcAft>
              <a:buNone/>
            </a:pPr>
            <a:r>
              <a:t/>
            </a:r>
            <a:endParaRPr/>
          </a:p>
        </p:txBody>
      </p:sp>
      <p:sp>
        <p:nvSpPr>
          <p:cNvPr id="265" name="Google Shape;265;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CA"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71" name="Google Shape;271;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Volunteer section is optional, make sure its current volunteer experience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CA"/>
              <a:t>Interests are an optional section. Cycling, travel, </a:t>
            </a:r>
            <a:endParaRPr/>
          </a:p>
          <a:p>
            <a:pPr indent="0" lvl="0" marL="0" rtl="0" algn="l">
              <a:spcBef>
                <a:spcPts val="360"/>
              </a:spcBef>
              <a:spcAft>
                <a:spcPts val="0"/>
              </a:spcAft>
              <a:buNone/>
            </a:pPr>
            <a:r>
              <a:t/>
            </a:r>
            <a:endParaRPr/>
          </a:p>
          <a:p>
            <a:pPr indent="0" lvl="0" marL="0" marR="0" rtl="0" algn="l">
              <a:lnSpc>
                <a:spcPct val="100000"/>
              </a:lnSpc>
              <a:spcBef>
                <a:spcPts val="360"/>
              </a:spcBef>
              <a:spcAft>
                <a:spcPts val="0"/>
              </a:spcAft>
              <a:buClr>
                <a:schemeClr val="dk1"/>
              </a:buClr>
              <a:buSzPts val="1200"/>
              <a:buFont typeface="Calibri"/>
              <a:buNone/>
            </a:pPr>
            <a:r>
              <a:rPr lang="en-CA" sz="1200" u="sng">
                <a:solidFill>
                  <a:schemeClr val="hlink"/>
                </a:solidFill>
                <a:hlinkClick r:id="rId2"/>
              </a:rPr>
              <a:t>https://novoresume.com/career-blog/hobbies-and-interests-to-put-on-a-resume</a:t>
            </a:r>
            <a:endParaRPr sz="1200"/>
          </a:p>
          <a:p>
            <a:pPr indent="0" lvl="0" marL="0" marR="0" rtl="0" algn="l">
              <a:lnSpc>
                <a:spcPct val="100000"/>
              </a:lnSpc>
              <a:spcBef>
                <a:spcPts val="360"/>
              </a:spcBef>
              <a:spcAft>
                <a:spcPts val="0"/>
              </a:spcAft>
              <a:buClr>
                <a:schemeClr val="dk1"/>
              </a:buClr>
              <a:buSzPts val="1200"/>
              <a:buFont typeface="Calibri"/>
              <a:buNone/>
            </a:pPr>
            <a:r>
              <a:t/>
            </a:r>
            <a:endParaRPr sz="1200"/>
          </a:p>
          <a:p>
            <a:pPr indent="0" lvl="0" marL="0" marR="0" rtl="0" algn="l">
              <a:lnSpc>
                <a:spcPct val="100000"/>
              </a:lnSpc>
              <a:spcBef>
                <a:spcPts val="360"/>
              </a:spcBef>
              <a:spcAft>
                <a:spcPts val="0"/>
              </a:spcAft>
              <a:buClr>
                <a:schemeClr val="dk1"/>
              </a:buClr>
              <a:buSzPts val="1200"/>
              <a:buFont typeface="Calibri"/>
              <a:buNone/>
            </a:pPr>
            <a:r>
              <a:t/>
            </a:r>
            <a:endParaRPr sz="1200"/>
          </a:p>
          <a:p>
            <a:pPr indent="0" lvl="0" marL="0" rtl="0" algn="l">
              <a:spcBef>
                <a:spcPts val="360"/>
              </a:spcBef>
              <a:spcAft>
                <a:spcPts val="0"/>
              </a:spcAft>
              <a:buNone/>
            </a:pPr>
            <a:r>
              <a:t/>
            </a:r>
            <a:endParaRPr/>
          </a:p>
        </p:txBody>
      </p:sp>
      <p:sp>
        <p:nvSpPr>
          <p:cNvPr id="272" name="Google Shape;272;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CA"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lt1"/>
        </a:solidFill>
      </p:bgPr>
    </p:bg>
    <p:spTree>
      <p:nvGrpSpPr>
        <p:cNvPr id="16" name="Shape 16"/>
        <p:cNvGrpSpPr/>
        <p:nvPr/>
      </p:nvGrpSpPr>
      <p:grpSpPr>
        <a:xfrm>
          <a:off x="0" y="0"/>
          <a:ext cx="0" cy="0"/>
          <a:chOff x="0" y="0"/>
          <a:chExt cx="0" cy="0"/>
        </a:xfrm>
      </p:grpSpPr>
      <p:cxnSp>
        <p:nvCxnSpPr>
          <p:cNvPr id="17" name="Google Shape;17;p33"/>
          <p:cNvCxnSpPr/>
          <p:nvPr/>
        </p:nvCxnSpPr>
        <p:spPr>
          <a:xfrm>
            <a:off x="-6350" y="6565900"/>
            <a:ext cx="9150350" cy="0"/>
          </a:xfrm>
          <a:prstGeom prst="straightConnector1">
            <a:avLst/>
          </a:prstGeom>
          <a:noFill/>
          <a:ln cap="flat" cmpd="sng" w="57150">
            <a:solidFill>
              <a:srgbClr val="7482BF"/>
            </a:solidFill>
            <a:prstDash val="solid"/>
            <a:round/>
            <a:headEnd len="sm" w="sm" type="none"/>
            <a:tailEnd len="sm" w="sm" type="none"/>
          </a:ln>
        </p:spPr>
      </p:cxnSp>
      <p:sp>
        <p:nvSpPr>
          <p:cNvPr id="18" name="Google Shape;18;p33"/>
          <p:cNvSpPr/>
          <p:nvPr/>
        </p:nvSpPr>
        <p:spPr>
          <a:xfrm>
            <a:off x="1652588" y="0"/>
            <a:ext cx="7497762" cy="1065213"/>
          </a:xfrm>
          <a:prstGeom prst="rect">
            <a:avLst/>
          </a:prstGeom>
          <a:solidFill>
            <a:srgbClr val="7482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9" name="Google Shape;19;p33"/>
          <p:cNvPicPr preferRelativeResize="0"/>
          <p:nvPr/>
        </p:nvPicPr>
        <p:blipFill rotWithShape="1">
          <a:blip r:embed="rId2">
            <a:alphaModFix/>
          </a:blip>
          <a:srcRect b="2047" l="1305" r="1262" t="2190"/>
          <a:stretch/>
        </p:blipFill>
        <p:spPr>
          <a:xfrm>
            <a:off x="0" y="0"/>
            <a:ext cx="1652588" cy="1065213"/>
          </a:xfrm>
          <a:prstGeom prst="rect">
            <a:avLst/>
          </a:prstGeom>
          <a:noFill/>
          <a:ln>
            <a:noFill/>
          </a:ln>
        </p:spPr>
      </p:pic>
      <p:pic>
        <p:nvPicPr>
          <p:cNvPr id="20" name="Google Shape;20;p33"/>
          <p:cNvPicPr preferRelativeResize="0"/>
          <p:nvPr/>
        </p:nvPicPr>
        <p:blipFill rotWithShape="1">
          <a:blip r:embed="rId3">
            <a:alphaModFix/>
          </a:blip>
          <a:srcRect b="0" l="0" r="0" t="0"/>
          <a:stretch/>
        </p:blipFill>
        <p:spPr>
          <a:xfrm>
            <a:off x="2046288" y="114300"/>
            <a:ext cx="5930900" cy="241300"/>
          </a:xfrm>
          <a:prstGeom prst="rect">
            <a:avLst/>
          </a:prstGeom>
          <a:noFill/>
          <a:ln>
            <a:noFill/>
          </a:ln>
        </p:spPr>
      </p:pic>
      <p:sp>
        <p:nvSpPr>
          <p:cNvPr id="21" name="Google Shape;21;p33"/>
          <p:cNvSpPr txBox="1"/>
          <p:nvPr>
            <p:ph type="ctrTitle"/>
          </p:nvPr>
        </p:nvSpPr>
        <p:spPr>
          <a:xfrm>
            <a:off x="1955800" y="517525"/>
            <a:ext cx="7188200" cy="431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3"/>
          <p:cNvSpPr txBox="1"/>
          <p:nvPr>
            <p:ph idx="1" type="subTitle"/>
          </p:nvPr>
        </p:nvSpPr>
        <p:spPr>
          <a:xfrm>
            <a:off x="838200" y="2408238"/>
            <a:ext cx="7467600" cy="1752600"/>
          </a:xfrm>
          <a:prstGeom prst="rect">
            <a:avLst/>
          </a:prstGeom>
          <a:noFill/>
          <a:ln>
            <a:noFill/>
          </a:ln>
        </p:spPr>
        <p:txBody>
          <a:bodyPr anchorCtr="0" anchor="t" bIns="45700" lIns="91425" spcFirstLastPara="1" rIns="91425" wrap="square" tIns="45700">
            <a:noAutofit/>
          </a:bodyPr>
          <a:lstStyle>
            <a:lvl1pPr lvl="0" algn="ctr">
              <a:spcBef>
                <a:spcPts val="1100"/>
              </a:spcBef>
              <a:spcAft>
                <a:spcPts val="0"/>
              </a:spcAft>
              <a:buSzPts val="4400"/>
              <a:buFont typeface="Noto Sans Symbols"/>
              <a:buNone/>
              <a:defRPr b="1" sz="4400"/>
            </a:lvl1pPr>
            <a:lvl2pPr lvl="1" algn="l">
              <a:spcBef>
                <a:spcPts val="1100"/>
              </a:spcBef>
              <a:spcAft>
                <a:spcPts val="0"/>
              </a:spcAft>
              <a:buSzPts val="1800"/>
              <a:buChar char="–"/>
              <a:defRPr/>
            </a:lvl2pPr>
            <a:lvl3pPr lvl="2" algn="l">
              <a:spcBef>
                <a:spcPts val="450"/>
              </a:spcBef>
              <a:spcAft>
                <a:spcPts val="0"/>
              </a:spcAft>
              <a:buSzPts val="1800"/>
              <a:buChar char="•"/>
              <a:defRPr/>
            </a:lvl3pPr>
            <a:lvl4pPr lvl="3" algn="l">
              <a:spcBef>
                <a:spcPts val="450"/>
              </a:spcBef>
              <a:spcAft>
                <a:spcPts val="0"/>
              </a:spcAft>
              <a:buSzPts val="1800"/>
              <a:buChar char="–"/>
              <a:defRPr/>
            </a:lvl4pPr>
            <a:lvl5pPr lvl="4" algn="l">
              <a:spcBef>
                <a:spcPts val="450"/>
              </a:spcBef>
              <a:spcAft>
                <a:spcPts val="0"/>
              </a:spcAft>
              <a:buSzPts val="1800"/>
              <a:buChar char="»"/>
              <a:defRPr/>
            </a:lvl5pPr>
            <a:lvl6pPr lvl="5" algn="l">
              <a:spcBef>
                <a:spcPts val="450"/>
              </a:spcBef>
              <a:spcAft>
                <a:spcPts val="0"/>
              </a:spcAft>
              <a:buSzPts val="1800"/>
              <a:buChar char="»"/>
              <a:defRPr/>
            </a:lvl6pPr>
            <a:lvl7pPr lvl="6" algn="l">
              <a:spcBef>
                <a:spcPts val="450"/>
              </a:spcBef>
              <a:spcAft>
                <a:spcPts val="0"/>
              </a:spcAft>
              <a:buSzPts val="1800"/>
              <a:buChar char="»"/>
              <a:defRPr/>
            </a:lvl7pPr>
            <a:lvl8pPr lvl="7" algn="l">
              <a:spcBef>
                <a:spcPts val="450"/>
              </a:spcBef>
              <a:spcAft>
                <a:spcPts val="0"/>
              </a:spcAft>
              <a:buSzPts val="1800"/>
              <a:buChar char="»"/>
              <a:defRPr/>
            </a:lvl8pPr>
            <a:lvl9pPr lvl="8" algn="l">
              <a:spcBef>
                <a:spcPts val="450"/>
              </a:spcBef>
              <a:spcAft>
                <a:spcPts val="450"/>
              </a:spcAft>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34"/>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450"/>
              </a:spcBef>
              <a:spcAft>
                <a:spcPts val="0"/>
              </a:spcAft>
              <a:buSzPts val="1800"/>
              <a:buChar char="▪"/>
              <a:defRPr/>
            </a:lvl1pPr>
            <a:lvl2pPr indent="-342900" lvl="1" marL="914400" algn="l">
              <a:spcBef>
                <a:spcPts val="450"/>
              </a:spcBef>
              <a:spcAft>
                <a:spcPts val="0"/>
              </a:spcAft>
              <a:buSzPts val="1800"/>
              <a:buChar char="–"/>
              <a:defRPr/>
            </a:lvl2pPr>
            <a:lvl3pPr indent="-342900" lvl="2" marL="1371600" algn="l">
              <a:spcBef>
                <a:spcPts val="450"/>
              </a:spcBef>
              <a:spcAft>
                <a:spcPts val="0"/>
              </a:spcAft>
              <a:buSzPts val="1800"/>
              <a:buChar char="•"/>
              <a:defRPr/>
            </a:lvl3pPr>
            <a:lvl4pPr indent="-342900" lvl="3" marL="1828800" algn="l">
              <a:spcBef>
                <a:spcPts val="450"/>
              </a:spcBef>
              <a:spcAft>
                <a:spcPts val="0"/>
              </a:spcAft>
              <a:buSzPts val="1800"/>
              <a:buChar char="–"/>
              <a:defRPr/>
            </a:lvl4pPr>
            <a:lvl5pPr indent="-342900" lvl="4" marL="2286000" algn="l">
              <a:spcBef>
                <a:spcPts val="450"/>
              </a:spcBef>
              <a:spcAft>
                <a:spcPts val="0"/>
              </a:spcAft>
              <a:buSzPts val="1800"/>
              <a:buChar char="»"/>
              <a:defRPr/>
            </a:lvl5pPr>
            <a:lvl6pPr indent="-342900" lvl="5" marL="2743200" algn="l">
              <a:spcBef>
                <a:spcPts val="450"/>
              </a:spcBef>
              <a:spcAft>
                <a:spcPts val="0"/>
              </a:spcAft>
              <a:buSzPts val="1800"/>
              <a:buChar char="»"/>
              <a:defRPr/>
            </a:lvl6pPr>
            <a:lvl7pPr indent="-342900" lvl="6" marL="3200400" algn="l">
              <a:spcBef>
                <a:spcPts val="450"/>
              </a:spcBef>
              <a:spcAft>
                <a:spcPts val="0"/>
              </a:spcAft>
              <a:buSzPts val="1800"/>
              <a:buChar char="»"/>
              <a:defRPr/>
            </a:lvl7pPr>
            <a:lvl8pPr indent="-342900" lvl="7" marL="3657600" algn="l">
              <a:spcBef>
                <a:spcPts val="450"/>
              </a:spcBef>
              <a:spcAft>
                <a:spcPts val="0"/>
              </a:spcAft>
              <a:buSzPts val="1800"/>
              <a:buChar char="»"/>
              <a:defRPr/>
            </a:lvl8pPr>
            <a:lvl9pPr indent="-342900" lvl="8" marL="4114800" algn="l">
              <a:spcBef>
                <a:spcPts val="450"/>
              </a:spcBef>
              <a:spcAft>
                <a:spcPts val="450"/>
              </a:spcAft>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3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500"/>
              </a:spcBef>
              <a:spcAft>
                <a:spcPts val="0"/>
              </a:spcAft>
              <a:buSzPts val="2000"/>
              <a:buNone/>
              <a:defRPr sz="2000"/>
            </a:lvl1pPr>
            <a:lvl2pPr indent="-228600" lvl="1" marL="914400" algn="l">
              <a:spcBef>
                <a:spcPts val="500"/>
              </a:spcBef>
              <a:spcAft>
                <a:spcPts val="0"/>
              </a:spcAft>
              <a:buSzPts val="1800"/>
              <a:buFont typeface="Arial"/>
              <a:buNone/>
              <a:defRPr sz="1800"/>
            </a:lvl2pPr>
            <a:lvl3pPr indent="-228600" lvl="2" marL="1371600" algn="l">
              <a:spcBef>
                <a:spcPts val="450"/>
              </a:spcBef>
              <a:spcAft>
                <a:spcPts val="0"/>
              </a:spcAft>
              <a:buSzPts val="1600"/>
              <a:buFont typeface="Arial"/>
              <a:buNone/>
              <a:defRPr sz="1600"/>
            </a:lvl3pPr>
            <a:lvl4pPr indent="-228600" lvl="3" marL="1828800" algn="l">
              <a:spcBef>
                <a:spcPts val="400"/>
              </a:spcBef>
              <a:spcAft>
                <a:spcPts val="0"/>
              </a:spcAft>
              <a:buSzPts val="1400"/>
              <a:buFont typeface="Arial"/>
              <a:buNone/>
              <a:defRPr sz="1400"/>
            </a:lvl4pPr>
            <a:lvl5pPr indent="-228600" lvl="4" marL="2286000" algn="l">
              <a:spcBef>
                <a:spcPts val="350"/>
              </a:spcBef>
              <a:spcAft>
                <a:spcPts val="0"/>
              </a:spcAft>
              <a:buSzPts val="1400"/>
              <a:buFont typeface="Arial"/>
              <a:buNone/>
              <a:defRPr sz="1400"/>
            </a:lvl5pPr>
            <a:lvl6pPr indent="-228600" lvl="5" marL="2743200" algn="l">
              <a:spcBef>
                <a:spcPts val="350"/>
              </a:spcBef>
              <a:spcAft>
                <a:spcPts val="0"/>
              </a:spcAft>
              <a:buSzPts val="1400"/>
              <a:buFont typeface="Arial"/>
              <a:buNone/>
              <a:defRPr sz="1400"/>
            </a:lvl6pPr>
            <a:lvl7pPr indent="-228600" lvl="6" marL="3200400" algn="l">
              <a:spcBef>
                <a:spcPts val="350"/>
              </a:spcBef>
              <a:spcAft>
                <a:spcPts val="0"/>
              </a:spcAft>
              <a:buSzPts val="1400"/>
              <a:buFont typeface="Arial"/>
              <a:buNone/>
              <a:defRPr sz="1400"/>
            </a:lvl7pPr>
            <a:lvl8pPr indent="-228600" lvl="7" marL="3657600" algn="l">
              <a:spcBef>
                <a:spcPts val="350"/>
              </a:spcBef>
              <a:spcAft>
                <a:spcPts val="0"/>
              </a:spcAft>
              <a:buSzPts val="1400"/>
              <a:buFont typeface="Arial"/>
              <a:buNone/>
              <a:defRPr sz="1400"/>
            </a:lvl8pPr>
            <a:lvl9pPr indent="-228600" lvl="8" marL="4114800" algn="l">
              <a:spcBef>
                <a:spcPts val="350"/>
              </a:spcBef>
              <a:spcAft>
                <a:spcPts val="350"/>
              </a:spcAft>
              <a:buSzPts val="1400"/>
              <a:buFont typeface="Arial"/>
              <a:buNone/>
              <a:defRPr sz="14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36"/>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700"/>
              </a:spcBef>
              <a:spcAft>
                <a:spcPts val="0"/>
              </a:spcAft>
              <a:buSzPts val="2800"/>
              <a:buChar char="▪"/>
              <a:defRPr sz="2800"/>
            </a:lvl1pPr>
            <a:lvl2pPr indent="-381000" lvl="1" marL="914400" algn="l">
              <a:spcBef>
                <a:spcPts val="700"/>
              </a:spcBef>
              <a:spcAft>
                <a:spcPts val="0"/>
              </a:spcAft>
              <a:buSzPts val="2400"/>
              <a:buFont typeface="Arial"/>
              <a:buChar char="–"/>
              <a:defRPr sz="2400"/>
            </a:lvl2pPr>
            <a:lvl3pPr indent="-355600" lvl="2" marL="1371600" algn="l">
              <a:spcBef>
                <a:spcPts val="600"/>
              </a:spcBef>
              <a:spcAft>
                <a:spcPts val="0"/>
              </a:spcAft>
              <a:buSzPts val="2000"/>
              <a:buFont typeface="Arial"/>
              <a:buChar char="•"/>
              <a:defRPr sz="2000"/>
            </a:lvl3pPr>
            <a:lvl4pPr indent="-342900" lvl="3" marL="1828800" algn="l">
              <a:spcBef>
                <a:spcPts val="500"/>
              </a:spcBef>
              <a:spcAft>
                <a:spcPts val="0"/>
              </a:spcAft>
              <a:buSzPts val="1800"/>
              <a:buFont typeface="Arial"/>
              <a:buChar char="–"/>
              <a:defRPr sz="1800"/>
            </a:lvl4pPr>
            <a:lvl5pPr indent="-342900" lvl="4" marL="2286000" algn="l">
              <a:spcBef>
                <a:spcPts val="450"/>
              </a:spcBef>
              <a:spcAft>
                <a:spcPts val="0"/>
              </a:spcAft>
              <a:buSzPts val="1800"/>
              <a:buFont typeface="Arial"/>
              <a:buChar char="»"/>
              <a:defRPr sz="1800"/>
            </a:lvl5pPr>
            <a:lvl6pPr indent="-342900" lvl="5" marL="2743200" algn="l">
              <a:spcBef>
                <a:spcPts val="450"/>
              </a:spcBef>
              <a:spcAft>
                <a:spcPts val="0"/>
              </a:spcAft>
              <a:buSzPts val="1800"/>
              <a:buFont typeface="Arial"/>
              <a:buChar char="»"/>
              <a:defRPr sz="1800"/>
            </a:lvl6pPr>
            <a:lvl7pPr indent="-342900" lvl="6" marL="3200400" algn="l">
              <a:spcBef>
                <a:spcPts val="450"/>
              </a:spcBef>
              <a:spcAft>
                <a:spcPts val="0"/>
              </a:spcAft>
              <a:buSzPts val="1800"/>
              <a:buFont typeface="Arial"/>
              <a:buChar char="»"/>
              <a:defRPr sz="1800"/>
            </a:lvl7pPr>
            <a:lvl8pPr indent="-342900" lvl="7" marL="3657600" algn="l">
              <a:spcBef>
                <a:spcPts val="450"/>
              </a:spcBef>
              <a:spcAft>
                <a:spcPts val="0"/>
              </a:spcAft>
              <a:buSzPts val="1800"/>
              <a:buFont typeface="Arial"/>
              <a:buChar char="»"/>
              <a:defRPr sz="1800"/>
            </a:lvl8pPr>
            <a:lvl9pPr indent="-342900" lvl="8" marL="4114800" algn="l">
              <a:spcBef>
                <a:spcPts val="450"/>
              </a:spcBef>
              <a:spcAft>
                <a:spcPts val="450"/>
              </a:spcAft>
              <a:buSzPts val="1800"/>
              <a:buFont typeface="Arial"/>
              <a:buChar char="»"/>
              <a:defRPr sz="1800"/>
            </a:lvl9pPr>
          </a:lstStyle>
          <a:p/>
        </p:txBody>
      </p:sp>
      <p:sp>
        <p:nvSpPr>
          <p:cNvPr id="32" name="Google Shape;32;p3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700"/>
              </a:spcBef>
              <a:spcAft>
                <a:spcPts val="0"/>
              </a:spcAft>
              <a:buSzPts val="2800"/>
              <a:buChar char="▪"/>
              <a:defRPr sz="2800"/>
            </a:lvl1pPr>
            <a:lvl2pPr indent="-381000" lvl="1" marL="914400" algn="l">
              <a:spcBef>
                <a:spcPts val="700"/>
              </a:spcBef>
              <a:spcAft>
                <a:spcPts val="0"/>
              </a:spcAft>
              <a:buSzPts val="2400"/>
              <a:buFont typeface="Arial"/>
              <a:buChar char="–"/>
              <a:defRPr sz="2400"/>
            </a:lvl2pPr>
            <a:lvl3pPr indent="-355600" lvl="2" marL="1371600" algn="l">
              <a:spcBef>
                <a:spcPts val="600"/>
              </a:spcBef>
              <a:spcAft>
                <a:spcPts val="0"/>
              </a:spcAft>
              <a:buSzPts val="2000"/>
              <a:buFont typeface="Arial"/>
              <a:buChar char="•"/>
              <a:defRPr sz="2000"/>
            </a:lvl3pPr>
            <a:lvl4pPr indent="-342900" lvl="3" marL="1828800" algn="l">
              <a:spcBef>
                <a:spcPts val="500"/>
              </a:spcBef>
              <a:spcAft>
                <a:spcPts val="0"/>
              </a:spcAft>
              <a:buSzPts val="1800"/>
              <a:buFont typeface="Arial"/>
              <a:buChar char="–"/>
              <a:defRPr sz="1800"/>
            </a:lvl4pPr>
            <a:lvl5pPr indent="-342900" lvl="4" marL="2286000" algn="l">
              <a:spcBef>
                <a:spcPts val="450"/>
              </a:spcBef>
              <a:spcAft>
                <a:spcPts val="0"/>
              </a:spcAft>
              <a:buSzPts val="1800"/>
              <a:buFont typeface="Arial"/>
              <a:buChar char="»"/>
              <a:defRPr sz="1800"/>
            </a:lvl5pPr>
            <a:lvl6pPr indent="-342900" lvl="5" marL="2743200" algn="l">
              <a:spcBef>
                <a:spcPts val="450"/>
              </a:spcBef>
              <a:spcAft>
                <a:spcPts val="0"/>
              </a:spcAft>
              <a:buSzPts val="1800"/>
              <a:buFont typeface="Arial"/>
              <a:buChar char="»"/>
              <a:defRPr sz="1800"/>
            </a:lvl6pPr>
            <a:lvl7pPr indent="-342900" lvl="6" marL="3200400" algn="l">
              <a:spcBef>
                <a:spcPts val="450"/>
              </a:spcBef>
              <a:spcAft>
                <a:spcPts val="0"/>
              </a:spcAft>
              <a:buSzPts val="1800"/>
              <a:buFont typeface="Arial"/>
              <a:buChar char="»"/>
              <a:defRPr sz="1800"/>
            </a:lvl7pPr>
            <a:lvl8pPr indent="-342900" lvl="7" marL="3657600" algn="l">
              <a:spcBef>
                <a:spcPts val="450"/>
              </a:spcBef>
              <a:spcAft>
                <a:spcPts val="0"/>
              </a:spcAft>
              <a:buSzPts val="1800"/>
              <a:buFont typeface="Arial"/>
              <a:buChar char="»"/>
              <a:defRPr sz="1800"/>
            </a:lvl8pPr>
            <a:lvl9pPr indent="-342900" lvl="8" marL="4114800" algn="l">
              <a:spcBef>
                <a:spcPts val="450"/>
              </a:spcBef>
              <a:spcAft>
                <a:spcPts val="450"/>
              </a:spcAft>
              <a:buSzPts val="1800"/>
              <a:buFont typeface="Arial"/>
              <a:buChar char="»"/>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3" name="Shape 33"/>
        <p:cNvGrpSpPr/>
        <p:nvPr/>
      </p:nvGrpSpPr>
      <p:grpSpPr>
        <a:xfrm>
          <a:off x="0" y="0"/>
          <a:ext cx="0" cy="0"/>
          <a:chOff x="0" y="0"/>
          <a:chExt cx="0" cy="0"/>
        </a:xfrm>
      </p:grpSpPr>
      <p:sp>
        <p:nvSpPr>
          <p:cNvPr id="34" name="Google Shape;34;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600"/>
              </a:spcBef>
              <a:spcAft>
                <a:spcPts val="0"/>
              </a:spcAft>
              <a:buSzPts val="2400"/>
              <a:buNone/>
              <a:defRPr b="1" sz="2400"/>
            </a:lvl1pPr>
            <a:lvl2pPr indent="-228600" lvl="1" marL="914400" algn="l">
              <a:spcBef>
                <a:spcPts val="600"/>
              </a:spcBef>
              <a:spcAft>
                <a:spcPts val="0"/>
              </a:spcAft>
              <a:buSzPts val="2000"/>
              <a:buFont typeface="Arial"/>
              <a:buNone/>
              <a:defRPr b="1" sz="2000"/>
            </a:lvl2pPr>
            <a:lvl3pPr indent="-228600" lvl="2" marL="1371600" algn="l">
              <a:spcBef>
                <a:spcPts val="500"/>
              </a:spcBef>
              <a:spcAft>
                <a:spcPts val="0"/>
              </a:spcAft>
              <a:buSzPts val="1800"/>
              <a:buFont typeface="Arial"/>
              <a:buNone/>
              <a:defRPr b="1" sz="1800"/>
            </a:lvl3pPr>
            <a:lvl4pPr indent="-228600" lvl="3" marL="1828800" algn="l">
              <a:spcBef>
                <a:spcPts val="450"/>
              </a:spcBef>
              <a:spcAft>
                <a:spcPts val="0"/>
              </a:spcAft>
              <a:buSzPts val="1600"/>
              <a:buFont typeface="Arial"/>
              <a:buNone/>
              <a:defRPr b="1" sz="1600"/>
            </a:lvl4pPr>
            <a:lvl5pPr indent="-228600" lvl="4" marL="2286000" algn="l">
              <a:spcBef>
                <a:spcPts val="400"/>
              </a:spcBef>
              <a:spcAft>
                <a:spcPts val="0"/>
              </a:spcAft>
              <a:buSzPts val="1600"/>
              <a:buFont typeface="Arial"/>
              <a:buNone/>
              <a:defRPr b="1" sz="1600"/>
            </a:lvl5pPr>
            <a:lvl6pPr indent="-228600" lvl="5" marL="2743200" algn="l">
              <a:spcBef>
                <a:spcPts val="400"/>
              </a:spcBef>
              <a:spcAft>
                <a:spcPts val="0"/>
              </a:spcAft>
              <a:buSzPts val="1600"/>
              <a:buFont typeface="Arial"/>
              <a:buNone/>
              <a:defRPr b="1" sz="1600"/>
            </a:lvl6pPr>
            <a:lvl7pPr indent="-228600" lvl="6" marL="3200400" algn="l">
              <a:spcBef>
                <a:spcPts val="400"/>
              </a:spcBef>
              <a:spcAft>
                <a:spcPts val="0"/>
              </a:spcAft>
              <a:buSzPts val="1600"/>
              <a:buFont typeface="Arial"/>
              <a:buNone/>
              <a:defRPr b="1" sz="1600"/>
            </a:lvl7pPr>
            <a:lvl8pPr indent="-228600" lvl="7" marL="3657600" algn="l">
              <a:spcBef>
                <a:spcPts val="400"/>
              </a:spcBef>
              <a:spcAft>
                <a:spcPts val="0"/>
              </a:spcAft>
              <a:buSzPts val="1600"/>
              <a:buFont typeface="Arial"/>
              <a:buNone/>
              <a:defRPr b="1" sz="1600"/>
            </a:lvl8pPr>
            <a:lvl9pPr indent="-228600" lvl="8" marL="4114800" algn="l">
              <a:spcBef>
                <a:spcPts val="400"/>
              </a:spcBef>
              <a:spcAft>
                <a:spcPts val="400"/>
              </a:spcAft>
              <a:buSzPts val="1600"/>
              <a:buFont typeface="Arial"/>
              <a:buNone/>
              <a:defRPr b="1" sz="1600"/>
            </a:lvl9pPr>
          </a:lstStyle>
          <a:p/>
        </p:txBody>
      </p:sp>
      <p:sp>
        <p:nvSpPr>
          <p:cNvPr id="36" name="Google Shape;36;p3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600"/>
              </a:spcBef>
              <a:spcAft>
                <a:spcPts val="0"/>
              </a:spcAft>
              <a:buSzPts val="2400"/>
              <a:buChar char="▪"/>
              <a:defRPr sz="2400"/>
            </a:lvl1pPr>
            <a:lvl2pPr indent="-355600" lvl="1" marL="914400" algn="l">
              <a:spcBef>
                <a:spcPts val="600"/>
              </a:spcBef>
              <a:spcAft>
                <a:spcPts val="0"/>
              </a:spcAft>
              <a:buSzPts val="2000"/>
              <a:buFont typeface="Arial"/>
              <a:buChar char="–"/>
              <a:defRPr sz="2000"/>
            </a:lvl2pPr>
            <a:lvl3pPr indent="-342900" lvl="2" marL="1371600" algn="l">
              <a:spcBef>
                <a:spcPts val="500"/>
              </a:spcBef>
              <a:spcAft>
                <a:spcPts val="0"/>
              </a:spcAft>
              <a:buSzPts val="1800"/>
              <a:buFont typeface="Arial"/>
              <a:buChar char="•"/>
              <a:defRPr sz="1800"/>
            </a:lvl3pPr>
            <a:lvl4pPr indent="-330200" lvl="3" marL="1828800" algn="l">
              <a:spcBef>
                <a:spcPts val="450"/>
              </a:spcBef>
              <a:spcAft>
                <a:spcPts val="0"/>
              </a:spcAft>
              <a:buSzPts val="1600"/>
              <a:buFont typeface="Arial"/>
              <a:buChar char="–"/>
              <a:defRPr sz="1600"/>
            </a:lvl4pPr>
            <a:lvl5pPr indent="-330200" lvl="4" marL="2286000" algn="l">
              <a:spcBef>
                <a:spcPts val="400"/>
              </a:spcBef>
              <a:spcAft>
                <a:spcPts val="0"/>
              </a:spcAft>
              <a:buSzPts val="1600"/>
              <a:buFont typeface="Arial"/>
              <a:buChar char="»"/>
              <a:defRPr sz="1600"/>
            </a:lvl5pPr>
            <a:lvl6pPr indent="-330200" lvl="5" marL="2743200" algn="l">
              <a:spcBef>
                <a:spcPts val="400"/>
              </a:spcBef>
              <a:spcAft>
                <a:spcPts val="0"/>
              </a:spcAft>
              <a:buSzPts val="1600"/>
              <a:buFont typeface="Arial"/>
              <a:buChar char="»"/>
              <a:defRPr sz="1600"/>
            </a:lvl6pPr>
            <a:lvl7pPr indent="-330200" lvl="6" marL="3200400" algn="l">
              <a:spcBef>
                <a:spcPts val="400"/>
              </a:spcBef>
              <a:spcAft>
                <a:spcPts val="0"/>
              </a:spcAft>
              <a:buSzPts val="1600"/>
              <a:buFont typeface="Arial"/>
              <a:buChar char="»"/>
              <a:defRPr sz="1600"/>
            </a:lvl7pPr>
            <a:lvl8pPr indent="-330200" lvl="7" marL="3657600" algn="l">
              <a:spcBef>
                <a:spcPts val="400"/>
              </a:spcBef>
              <a:spcAft>
                <a:spcPts val="0"/>
              </a:spcAft>
              <a:buSzPts val="1600"/>
              <a:buFont typeface="Arial"/>
              <a:buChar char="»"/>
              <a:defRPr sz="1600"/>
            </a:lvl8pPr>
            <a:lvl9pPr indent="-330200" lvl="8" marL="4114800" algn="l">
              <a:spcBef>
                <a:spcPts val="400"/>
              </a:spcBef>
              <a:spcAft>
                <a:spcPts val="400"/>
              </a:spcAft>
              <a:buSzPts val="1600"/>
              <a:buFont typeface="Arial"/>
              <a:buChar char="»"/>
              <a:defRPr sz="1600"/>
            </a:lvl9pPr>
          </a:lstStyle>
          <a:p/>
        </p:txBody>
      </p:sp>
      <p:sp>
        <p:nvSpPr>
          <p:cNvPr id="37" name="Google Shape;37;p3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600"/>
              </a:spcBef>
              <a:spcAft>
                <a:spcPts val="0"/>
              </a:spcAft>
              <a:buSzPts val="2400"/>
              <a:buNone/>
              <a:defRPr b="1" sz="2400"/>
            </a:lvl1pPr>
            <a:lvl2pPr indent="-228600" lvl="1" marL="914400" algn="l">
              <a:spcBef>
                <a:spcPts val="600"/>
              </a:spcBef>
              <a:spcAft>
                <a:spcPts val="0"/>
              </a:spcAft>
              <a:buSzPts val="2000"/>
              <a:buFont typeface="Arial"/>
              <a:buNone/>
              <a:defRPr b="1" sz="2000"/>
            </a:lvl2pPr>
            <a:lvl3pPr indent="-228600" lvl="2" marL="1371600" algn="l">
              <a:spcBef>
                <a:spcPts val="500"/>
              </a:spcBef>
              <a:spcAft>
                <a:spcPts val="0"/>
              </a:spcAft>
              <a:buSzPts val="1800"/>
              <a:buFont typeface="Arial"/>
              <a:buNone/>
              <a:defRPr b="1" sz="1800"/>
            </a:lvl3pPr>
            <a:lvl4pPr indent="-228600" lvl="3" marL="1828800" algn="l">
              <a:spcBef>
                <a:spcPts val="450"/>
              </a:spcBef>
              <a:spcAft>
                <a:spcPts val="0"/>
              </a:spcAft>
              <a:buSzPts val="1600"/>
              <a:buFont typeface="Arial"/>
              <a:buNone/>
              <a:defRPr b="1" sz="1600"/>
            </a:lvl4pPr>
            <a:lvl5pPr indent="-228600" lvl="4" marL="2286000" algn="l">
              <a:spcBef>
                <a:spcPts val="400"/>
              </a:spcBef>
              <a:spcAft>
                <a:spcPts val="0"/>
              </a:spcAft>
              <a:buSzPts val="1600"/>
              <a:buFont typeface="Arial"/>
              <a:buNone/>
              <a:defRPr b="1" sz="1600"/>
            </a:lvl5pPr>
            <a:lvl6pPr indent="-228600" lvl="5" marL="2743200" algn="l">
              <a:spcBef>
                <a:spcPts val="400"/>
              </a:spcBef>
              <a:spcAft>
                <a:spcPts val="0"/>
              </a:spcAft>
              <a:buSzPts val="1600"/>
              <a:buFont typeface="Arial"/>
              <a:buNone/>
              <a:defRPr b="1" sz="1600"/>
            </a:lvl6pPr>
            <a:lvl7pPr indent="-228600" lvl="6" marL="3200400" algn="l">
              <a:spcBef>
                <a:spcPts val="400"/>
              </a:spcBef>
              <a:spcAft>
                <a:spcPts val="0"/>
              </a:spcAft>
              <a:buSzPts val="1600"/>
              <a:buFont typeface="Arial"/>
              <a:buNone/>
              <a:defRPr b="1" sz="1600"/>
            </a:lvl7pPr>
            <a:lvl8pPr indent="-228600" lvl="7" marL="3657600" algn="l">
              <a:spcBef>
                <a:spcPts val="400"/>
              </a:spcBef>
              <a:spcAft>
                <a:spcPts val="0"/>
              </a:spcAft>
              <a:buSzPts val="1600"/>
              <a:buFont typeface="Arial"/>
              <a:buNone/>
              <a:defRPr b="1" sz="1600"/>
            </a:lvl8pPr>
            <a:lvl9pPr indent="-228600" lvl="8" marL="4114800" algn="l">
              <a:spcBef>
                <a:spcPts val="400"/>
              </a:spcBef>
              <a:spcAft>
                <a:spcPts val="400"/>
              </a:spcAft>
              <a:buSzPts val="1600"/>
              <a:buFont typeface="Arial"/>
              <a:buNone/>
              <a:defRPr b="1" sz="1600"/>
            </a:lvl9pPr>
          </a:lstStyle>
          <a:p/>
        </p:txBody>
      </p:sp>
      <p:sp>
        <p:nvSpPr>
          <p:cNvPr id="38" name="Google Shape;38;p3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600"/>
              </a:spcBef>
              <a:spcAft>
                <a:spcPts val="0"/>
              </a:spcAft>
              <a:buSzPts val="2400"/>
              <a:buChar char="▪"/>
              <a:defRPr sz="2400"/>
            </a:lvl1pPr>
            <a:lvl2pPr indent="-355600" lvl="1" marL="914400" algn="l">
              <a:spcBef>
                <a:spcPts val="600"/>
              </a:spcBef>
              <a:spcAft>
                <a:spcPts val="0"/>
              </a:spcAft>
              <a:buSzPts val="2000"/>
              <a:buFont typeface="Arial"/>
              <a:buChar char="–"/>
              <a:defRPr sz="2000"/>
            </a:lvl2pPr>
            <a:lvl3pPr indent="-342900" lvl="2" marL="1371600" algn="l">
              <a:spcBef>
                <a:spcPts val="500"/>
              </a:spcBef>
              <a:spcAft>
                <a:spcPts val="0"/>
              </a:spcAft>
              <a:buSzPts val="1800"/>
              <a:buFont typeface="Arial"/>
              <a:buChar char="•"/>
              <a:defRPr sz="1800"/>
            </a:lvl3pPr>
            <a:lvl4pPr indent="-330200" lvl="3" marL="1828800" algn="l">
              <a:spcBef>
                <a:spcPts val="450"/>
              </a:spcBef>
              <a:spcAft>
                <a:spcPts val="0"/>
              </a:spcAft>
              <a:buSzPts val="1600"/>
              <a:buFont typeface="Arial"/>
              <a:buChar char="–"/>
              <a:defRPr sz="1600"/>
            </a:lvl4pPr>
            <a:lvl5pPr indent="-330200" lvl="4" marL="2286000" algn="l">
              <a:spcBef>
                <a:spcPts val="400"/>
              </a:spcBef>
              <a:spcAft>
                <a:spcPts val="0"/>
              </a:spcAft>
              <a:buSzPts val="1600"/>
              <a:buFont typeface="Arial"/>
              <a:buChar char="»"/>
              <a:defRPr sz="1600"/>
            </a:lvl5pPr>
            <a:lvl6pPr indent="-330200" lvl="5" marL="2743200" algn="l">
              <a:spcBef>
                <a:spcPts val="400"/>
              </a:spcBef>
              <a:spcAft>
                <a:spcPts val="0"/>
              </a:spcAft>
              <a:buSzPts val="1600"/>
              <a:buFont typeface="Arial"/>
              <a:buChar char="»"/>
              <a:defRPr sz="1600"/>
            </a:lvl6pPr>
            <a:lvl7pPr indent="-330200" lvl="6" marL="3200400" algn="l">
              <a:spcBef>
                <a:spcPts val="400"/>
              </a:spcBef>
              <a:spcAft>
                <a:spcPts val="0"/>
              </a:spcAft>
              <a:buSzPts val="1600"/>
              <a:buFont typeface="Arial"/>
              <a:buChar char="»"/>
              <a:defRPr sz="1600"/>
            </a:lvl7pPr>
            <a:lvl8pPr indent="-330200" lvl="7" marL="3657600" algn="l">
              <a:spcBef>
                <a:spcPts val="400"/>
              </a:spcBef>
              <a:spcAft>
                <a:spcPts val="0"/>
              </a:spcAft>
              <a:buSzPts val="1600"/>
              <a:buFont typeface="Arial"/>
              <a:buChar char="»"/>
              <a:defRPr sz="1600"/>
            </a:lvl8pPr>
            <a:lvl9pPr indent="-330200" lvl="8" marL="4114800" algn="l">
              <a:spcBef>
                <a:spcPts val="400"/>
              </a:spcBef>
              <a:spcAft>
                <a:spcPts val="400"/>
              </a:spcAft>
              <a:buSzPts val="1600"/>
              <a:buFont typeface="Arial"/>
              <a:buChar char="»"/>
              <a:defRPr sz="16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38"/>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1" name="Shape 41"/>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2" name="Shape 42"/>
        <p:cNvGrpSpPr/>
        <p:nvPr/>
      </p:nvGrpSpPr>
      <p:grpSpPr>
        <a:xfrm>
          <a:off x="0" y="0"/>
          <a:ext cx="0" cy="0"/>
          <a:chOff x="0" y="0"/>
          <a:chExt cx="0" cy="0"/>
        </a:xfrm>
      </p:grpSpPr>
      <p:sp>
        <p:nvSpPr>
          <p:cNvPr id="43" name="Google Shape;43;p4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800"/>
              </a:spcBef>
              <a:spcAft>
                <a:spcPts val="0"/>
              </a:spcAft>
              <a:buSzPts val="3200"/>
              <a:buChar char="▪"/>
              <a:defRPr sz="3200"/>
            </a:lvl1pPr>
            <a:lvl2pPr indent="-406400" lvl="1" marL="914400" algn="l">
              <a:spcBef>
                <a:spcPts val="800"/>
              </a:spcBef>
              <a:spcAft>
                <a:spcPts val="0"/>
              </a:spcAft>
              <a:buSzPts val="2800"/>
              <a:buFont typeface="Arial"/>
              <a:buChar char="–"/>
              <a:defRPr sz="2800"/>
            </a:lvl2pPr>
            <a:lvl3pPr indent="-381000" lvl="2" marL="1371600" algn="l">
              <a:spcBef>
                <a:spcPts val="700"/>
              </a:spcBef>
              <a:spcAft>
                <a:spcPts val="0"/>
              </a:spcAft>
              <a:buSzPts val="2400"/>
              <a:buFont typeface="Arial"/>
              <a:buChar char="•"/>
              <a:defRPr sz="2400"/>
            </a:lvl3pPr>
            <a:lvl4pPr indent="-355600" lvl="3" marL="1828800" algn="l">
              <a:spcBef>
                <a:spcPts val="600"/>
              </a:spcBef>
              <a:spcAft>
                <a:spcPts val="0"/>
              </a:spcAft>
              <a:buSzPts val="2000"/>
              <a:buFont typeface="Arial"/>
              <a:buChar char="–"/>
              <a:defRPr sz="2000"/>
            </a:lvl4pPr>
            <a:lvl5pPr indent="-355600" lvl="4" marL="2286000" algn="l">
              <a:spcBef>
                <a:spcPts val="500"/>
              </a:spcBef>
              <a:spcAft>
                <a:spcPts val="0"/>
              </a:spcAft>
              <a:buSzPts val="2000"/>
              <a:buFont typeface="Arial"/>
              <a:buChar char="»"/>
              <a:defRPr sz="2000"/>
            </a:lvl5pPr>
            <a:lvl6pPr indent="-355600" lvl="5" marL="2743200" algn="l">
              <a:spcBef>
                <a:spcPts val="500"/>
              </a:spcBef>
              <a:spcAft>
                <a:spcPts val="0"/>
              </a:spcAft>
              <a:buSzPts val="2000"/>
              <a:buFont typeface="Arial"/>
              <a:buChar char="»"/>
              <a:defRPr sz="2000"/>
            </a:lvl6pPr>
            <a:lvl7pPr indent="-355600" lvl="6" marL="3200400" algn="l">
              <a:spcBef>
                <a:spcPts val="500"/>
              </a:spcBef>
              <a:spcAft>
                <a:spcPts val="0"/>
              </a:spcAft>
              <a:buSzPts val="2000"/>
              <a:buFont typeface="Arial"/>
              <a:buChar char="»"/>
              <a:defRPr sz="2000"/>
            </a:lvl7pPr>
            <a:lvl8pPr indent="-355600" lvl="7" marL="3657600" algn="l">
              <a:spcBef>
                <a:spcPts val="500"/>
              </a:spcBef>
              <a:spcAft>
                <a:spcPts val="0"/>
              </a:spcAft>
              <a:buSzPts val="2000"/>
              <a:buFont typeface="Arial"/>
              <a:buChar char="»"/>
              <a:defRPr sz="2000"/>
            </a:lvl8pPr>
            <a:lvl9pPr indent="-355600" lvl="8" marL="4114800" algn="l">
              <a:spcBef>
                <a:spcPts val="500"/>
              </a:spcBef>
              <a:spcAft>
                <a:spcPts val="500"/>
              </a:spcAft>
              <a:buSzPts val="2000"/>
              <a:buFont typeface="Arial"/>
              <a:buChar char="»"/>
              <a:defRPr sz="2000"/>
            </a:lvl9pPr>
          </a:lstStyle>
          <a:p/>
        </p:txBody>
      </p:sp>
      <p:sp>
        <p:nvSpPr>
          <p:cNvPr id="45" name="Google Shape;45;p4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350"/>
              </a:spcBef>
              <a:spcAft>
                <a:spcPts val="0"/>
              </a:spcAft>
              <a:buSzPts val="1400"/>
              <a:buNone/>
              <a:defRPr sz="1400"/>
            </a:lvl1pPr>
            <a:lvl2pPr indent="-228600" lvl="1" marL="914400" algn="l">
              <a:spcBef>
                <a:spcPts val="350"/>
              </a:spcBef>
              <a:spcAft>
                <a:spcPts val="0"/>
              </a:spcAft>
              <a:buSzPts val="1200"/>
              <a:buFont typeface="Arial"/>
              <a:buNone/>
              <a:defRPr sz="1200"/>
            </a:lvl2pPr>
            <a:lvl3pPr indent="-228600" lvl="2" marL="1371600" algn="l">
              <a:spcBef>
                <a:spcPts val="300"/>
              </a:spcBef>
              <a:spcAft>
                <a:spcPts val="0"/>
              </a:spcAft>
              <a:buSzPts val="1000"/>
              <a:buFont typeface="Arial"/>
              <a:buNone/>
              <a:defRPr sz="1000"/>
            </a:lvl3pPr>
            <a:lvl4pPr indent="-228600" lvl="3" marL="1828800" algn="l">
              <a:spcBef>
                <a:spcPts val="250"/>
              </a:spcBef>
              <a:spcAft>
                <a:spcPts val="0"/>
              </a:spcAft>
              <a:buSzPts val="900"/>
              <a:buFont typeface="Arial"/>
              <a:buNone/>
              <a:defRPr sz="900"/>
            </a:lvl4pPr>
            <a:lvl5pPr indent="-228600" lvl="4" marL="2286000" algn="l">
              <a:spcBef>
                <a:spcPts val="225"/>
              </a:spcBef>
              <a:spcAft>
                <a:spcPts val="0"/>
              </a:spcAft>
              <a:buSzPts val="900"/>
              <a:buFont typeface="Arial"/>
              <a:buNone/>
              <a:defRPr sz="900"/>
            </a:lvl5pPr>
            <a:lvl6pPr indent="-228600" lvl="5" marL="2743200" algn="l">
              <a:spcBef>
                <a:spcPts val="225"/>
              </a:spcBef>
              <a:spcAft>
                <a:spcPts val="0"/>
              </a:spcAft>
              <a:buSzPts val="900"/>
              <a:buFont typeface="Arial"/>
              <a:buNone/>
              <a:defRPr sz="900"/>
            </a:lvl6pPr>
            <a:lvl7pPr indent="-228600" lvl="6" marL="3200400" algn="l">
              <a:spcBef>
                <a:spcPts val="225"/>
              </a:spcBef>
              <a:spcAft>
                <a:spcPts val="0"/>
              </a:spcAft>
              <a:buSzPts val="900"/>
              <a:buFont typeface="Arial"/>
              <a:buNone/>
              <a:defRPr sz="900"/>
            </a:lvl7pPr>
            <a:lvl8pPr indent="-228600" lvl="7" marL="3657600" algn="l">
              <a:spcBef>
                <a:spcPts val="225"/>
              </a:spcBef>
              <a:spcAft>
                <a:spcPts val="0"/>
              </a:spcAft>
              <a:buSzPts val="900"/>
              <a:buFont typeface="Arial"/>
              <a:buNone/>
              <a:defRPr sz="900"/>
            </a:lvl8pPr>
            <a:lvl9pPr indent="-228600" lvl="8" marL="4114800" algn="l">
              <a:spcBef>
                <a:spcPts val="225"/>
              </a:spcBef>
              <a:spcAft>
                <a:spcPts val="225"/>
              </a:spcAft>
              <a:buSzPts val="900"/>
              <a:buFont typeface="Arial"/>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6" name="Shape 46"/>
        <p:cNvGrpSpPr/>
        <p:nvPr/>
      </p:nvGrpSpPr>
      <p:grpSpPr>
        <a:xfrm>
          <a:off x="0" y="0"/>
          <a:ext cx="0" cy="0"/>
          <a:chOff x="0" y="0"/>
          <a:chExt cx="0" cy="0"/>
        </a:xfrm>
      </p:grpSpPr>
      <p:sp>
        <p:nvSpPr>
          <p:cNvPr id="47" name="Google Shape;47;p4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1"/>
          <p:cNvSpPr/>
          <p:nvPr>
            <p:ph idx="2" type="pic"/>
          </p:nvPr>
        </p:nvSpPr>
        <p:spPr>
          <a:xfrm>
            <a:off x="1792288" y="612775"/>
            <a:ext cx="5486400" cy="4114800"/>
          </a:xfrm>
          <a:prstGeom prst="rect">
            <a:avLst/>
          </a:prstGeom>
          <a:noFill/>
          <a:ln>
            <a:noFill/>
          </a:ln>
        </p:spPr>
      </p:sp>
      <p:sp>
        <p:nvSpPr>
          <p:cNvPr id="49" name="Google Shape;49;p4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350"/>
              </a:spcBef>
              <a:spcAft>
                <a:spcPts val="0"/>
              </a:spcAft>
              <a:buSzPts val="1400"/>
              <a:buNone/>
              <a:defRPr sz="1400"/>
            </a:lvl1pPr>
            <a:lvl2pPr indent="-228600" lvl="1" marL="914400" algn="l">
              <a:spcBef>
                <a:spcPts val="350"/>
              </a:spcBef>
              <a:spcAft>
                <a:spcPts val="0"/>
              </a:spcAft>
              <a:buSzPts val="1200"/>
              <a:buFont typeface="Arial"/>
              <a:buNone/>
              <a:defRPr sz="1200"/>
            </a:lvl2pPr>
            <a:lvl3pPr indent="-228600" lvl="2" marL="1371600" algn="l">
              <a:spcBef>
                <a:spcPts val="300"/>
              </a:spcBef>
              <a:spcAft>
                <a:spcPts val="0"/>
              </a:spcAft>
              <a:buSzPts val="1000"/>
              <a:buFont typeface="Arial"/>
              <a:buNone/>
              <a:defRPr sz="1000"/>
            </a:lvl3pPr>
            <a:lvl4pPr indent="-228600" lvl="3" marL="1828800" algn="l">
              <a:spcBef>
                <a:spcPts val="250"/>
              </a:spcBef>
              <a:spcAft>
                <a:spcPts val="0"/>
              </a:spcAft>
              <a:buSzPts val="900"/>
              <a:buFont typeface="Arial"/>
              <a:buNone/>
              <a:defRPr sz="900"/>
            </a:lvl4pPr>
            <a:lvl5pPr indent="-228600" lvl="4" marL="2286000" algn="l">
              <a:spcBef>
                <a:spcPts val="225"/>
              </a:spcBef>
              <a:spcAft>
                <a:spcPts val="0"/>
              </a:spcAft>
              <a:buSzPts val="900"/>
              <a:buFont typeface="Arial"/>
              <a:buNone/>
              <a:defRPr sz="900"/>
            </a:lvl5pPr>
            <a:lvl6pPr indent="-228600" lvl="5" marL="2743200" algn="l">
              <a:spcBef>
                <a:spcPts val="225"/>
              </a:spcBef>
              <a:spcAft>
                <a:spcPts val="0"/>
              </a:spcAft>
              <a:buSzPts val="900"/>
              <a:buFont typeface="Arial"/>
              <a:buNone/>
              <a:defRPr sz="900"/>
            </a:lvl6pPr>
            <a:lvl7pPr indent="-228600" lvl="6" marL="3200400" algn="l">
              <a:spcBef>
                <a:spcPts val="225"/>
              </a:spcBef>
              <a:spcAft>
                <a:spcPts val="0"/>
              </a:spcAft>
              <a:buSzPts val="900"/>
              <a:buFont typeface="Arial"/>
              <a:buNone/>
              <a:defRPr sz="900"/>
            </a:lvl7pPr>
            <a:lvl8pPr indent="-228600" lvl="7" marL="3657600" algn="l">
              <a:spcBef>
                <a:spcPts val="225"/>
              </a:spcBef>
              <a:spcAft>
                <a:spcPts val="0"/>
              </a:spcAft>
              <a:buSzPts val="900"/>
              <a:buFont typeface="Arial"/>
              <a:buNone/>
              <a:defRPr sz="900"/>
            </a:lvl8pPr>
            <a:lvl9pPr indent="-228600" lvl="8" marL="4114800" algn="l">
              <a:spcBef>
                <a:spcPts val="225"/>
              </a:spcBef>
              <a:spcAft>
                <a:spcPts val="225"/>
              </a:spcAft>
              <a:buSzPts val="900"/>
              <a:buFont typeface="Arial"/>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0" name="Shape 50"/>
        <p:cNvGrpSpPr/>
        <p:nvPr/>
      </p:nvGrpSpPr>
      <p:grpSpPr>
        <a:xfrm>
          <a:off x="0" y="0"/>
          <a:ext cx="0" cy="0"/>
          <a:chOff x="0" y="0"/>
          <a:chExt cx="0" cy="0"/>
        </a:xfrm>
      </p:grpSpPr>
      <p:sp>
        <p:nvSpPr>
          <p:cNvPr id="51" name="Google Shape;51;p42"/>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spcBef>
                <a:spcPts val="450"/>
              </a:spcBef>
              <a:spcAft>
                <a:spcPts val="0"/>
              </a:spcAft>
              <a:buSzPts val="1800"/>
              <a:buChar char="▪"/>
              <a:defRPr/>
            </a:lvl1pPr>
            <a:lvl2pPr indent="-342900" lvl="1" marL="914400" algn="l">
              <a:spcBef>
                <a:spcPts val="450"/>
              </a:spcBef>
              <a:spcAft>
                <a:spcPts val="0"/>
              </a:spcAft>
              <a:buSzPts val="1800"/>
              <a:buChar char="–"/>
              <a:defRPr/>
            </a:lvl2pPr>
            <a:lvl3pPr indent="-342900" lvl="2" marL="1371600" algn="l">
              <a:spcBef>
                <a:spcPts val="450"/>
              </a:spcBef>
              <a:spcAft>
                <a:spcPts val="0"/>
              </a:spcAft>
              <a:buSzPts val="1800"/>
              <a:buChar char="•"/>
              <a:defRPr/>
            </a:lvl3pPr>
            <a:lvl4pPr indent="-342900" lvl="3" marL="1828800" algn="l">
              <a:spcBef>
                <a:spcPts val="450"/>
              </a:spcBef>
              <a:spcAft>
                <a:spcPts val="0"/>
              </a:spcAft>
              <a:buSzPts val="1800"/>
              <a:buChar char="–"/>
              <a:defRPr/>
            </a:lvl4pPr>
            <a:lvl5pPr indent="-342900" lvl="4" marL="2286000" algn="l">
              <a:spcBef>
                <a:spcPts val="450"/>
              </a:spcBef>
              <a:spcAft>
                <a:spcPts val="0"/>
              </a:spcAft>
              <a:buSzPts val="1800"/>
              <a:buChar char="»"/>
              <a:defRPr/>
            </a:lvl5pPr>
            <a:lvl6pPr indent="-342900" lvl="5" marL="2743200" algn="l">
              <a:spcBef>
                <a:spcPts val="450"/>
              </a:spcBef>
              <a:spcAft>
                <a:spcPts val="0"/>
              </a:spcAft>
              <a:buSzPts val="1800"/>
              <a:buChar char="»"/>
              <a:defRPr/>
            </a:lvl6pPr>
            <a:lvl7pPr indent="-342900" lvl="6" marL="3200400" algn="l">
              <a:spcBef>
                <a:spcPts val="450"/>
              </a:spcBef>
              <a:spcAft>
                <a:spcPts val="0"/>
              </a:spcAft>
              <a:buSzPts val="1800"/>
              <a:buChar char="»"/>
              <a:defRPr/>
            </a:lvl7pPr>
            <a:lvl8pPr indent="-342900" lvl="7" marL="3657600" algn="l">
              <a:spcBef>
                <a:spcPts val="450"/>
              </a:spcBef>
              <a:spcAft>
                <a:spcPts val="0"/>
              </a:spcAft>
              <a:buSzPts val="1800"/>
              <a:buChar char="»"/>
              <a:defRPr/>
            </a:lvl8pPr>
            <a:lvl9pPr indent="-342900" lvl="8" marL="4114800" algn="l">
              <a:spcBef>
                <a:spcPts val="450"/>
              </a:spcBef>
              <a:spcAft>
                <a:spcPts val="450"/>
              </a:spcAft>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3" name="Shape 53"/>
        <p:cNvGrpSpPr/>
        <p:nvPr/>
      </p:nvGrpSpPr>
      <p:grpSpPr>
        <a:xfrm>
          <a:off x="0" y="0"/>
          <a:ext cx="0" cy="0"/>
          <a:chOff x="0" y="0"/>
          <a:chExt cx="0" cy="0"/>
        </a:xfrm>
      </p:grpSpPr>
      <p:sp>
        <p:nvSpPr>
          <p:cNvPr id="54" name="Google Shape;54;p43"/>
          <p:cNvSpPr txBox="1"/>
          <p:nvPr>
            <p:ph type="title"/>
          </p:nvPr>
        </p:nvSpPr>
        <p:spPr>
          <a:xfrm rot="5400000">
            <a:off x="4994275" y="2195513"/>
            <a:ext cx="5745163" cy="21161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43"/>
          <p:cNvSpPr txBox="1"/>
          <p:nvPr>
            <p:ph idx="1" type="body"/>
          </p:nvPr>
        </p:nvSpPr>
        <p:spPr>
          <a:xfrm rot="5400000">
            <a:off x="684213" y="153987"/>
            <a:ext cx="5745163" cy="6199188"/>
          </a:xfrm>
          <a:prstGeom prst="rect">
            <a:avLst/>
          </a:prstGeom>
          <a:noFill/>
          <a:ln>
            <a:noFill/>
          </a:ln>
        </p:spPr>
        <p:txBody>
          <a:bodyPr anchorCtr="0" anchor="t" bIns="45700" lIns="91425" spcFirstLastPara="1" rIns="91425" wrap="square" tIns="45700">
            <a:noAutofit/>
          </a:bodyPr>
          <a:lstStyle>
            <a:lvl1pPr indent="-342900" lvl="0" marL="457200" algn="l">
              <a:spcBef>
                <a:spcPts val="450"/>
              </a:spcBef>
              <a:spcAft>
                <a:spcPts val="0"/>
              </a:spcAft>
              <a:buSzPts val="1800"/>
              <a:buChar char="▪"/>
              <a:defRPr/>
            </a:lvl1pPr>
            <a:lvl2pPr indent="-342900" lvl="1" marL="914400" algn="l">
              <a:spcBef>
                <a:spcPts val="450"/>
              </a:spcBef>
              <a:spcAft>
                <a:spcPts val="0"/>
              </a:spcAft>
              <a:buSzPts val="1800"/>
              <a:buChar char="–"/>
              <a:defRPr/>
            </a:lvl2pPr>
            <a:lvl3pPr indent="-342900" lvl="2" marL="1371600" algn="l">
              <a:spcBef>
                <a:spcPts val="450"/>
              </a:spcBef>
              <a:spcAft>
                <a:spcPts val="0"/>
              </a:spcAft>
              <a:buSzPts val="1800"/>
              <a:buChar char="•"/>
              <a:defRPr/>
            </a:lvl3pPr>
            <a:lvl4pPr indent="-342900" lvl="3" marL="1828800" algn="l">
              <a:spcBef>
                <a:spcPts val="450"/>
              </a:spcBef>
              <a:spcAft>
                <a:spcPts val="0"/>
              </a:spcAft>
              <a:buSzPts val="1800"/>
              <a:buChar char="–"/>
              <a:defRPr/>
            </a:lvl4pPr>
            <a:lvl5pPr indent="-342900" lvl="4" marL="2286000" algn="l">
              <a:spcBef>
                <a:spcPts val="450"/>
              </a:spcBef>
              <a:spcAft>
                <a:spcPts val="0"/>
              </a:spcAft>
              <a:buSzPts val="1800"/>
              <a:buChar char="»"/>
              <a:defRPr/>
            </a:lvl5pPr>
            <a:lvl6pPr indent="-342900" lvl="5" marL="2743200" algn="l">
              <a:spcBef>
                <a:spcPts val="450"/>
              </a:spcBef>
              <a:spcAft>
                <a:spcPts val="0"/>
              </a:spcAft>
              <a:buSzPts val="1800"/>
              <a:buChar char="»"/>
              <a:defRPr/>
            </a:lvl6pPr>
            <a:lvl7pPr indent="-342900" lvl="6" marL="3200400" algn="l">
              <a:spcBef>
                <a:spcPts val="450"/>
              </a:spcBef>
              <a:spcAft>
                <a:spcPts val="0"/>
              </a:spcAft>
              <a:buSzPts val="1800"/>
              <a:buChar char="»"/>
              <a:defRPr/>
            </a:lvl7pPr>
            <a:lvl8pPr indent="-342900" lvl="7" marL="3657600" algn="l">
              <a:spcBef>
                <a:spcPts val="450"/>
              </a:spcBef>
              <a:spcAft>
                <a:spcPts val="0"/>
              </a:spcAft>
              <a:buSzPts val="1800"/>
              <a:buChar char="»"/>
              <a:defRPr/>
            </a:lvl8pPr>
            <a:lvl9pPr indent="-342900" lvl="8" marL="4114800" algn="l">
              <a:spcBef>
                <a:spcPts val="450"/>
              </a:spcBef>
              <a:spcAft>
                <a:spcPts val="450"/>
              </a:spcAft>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iagram or Organization Chart" type="dgm">
  <p:cSld name="DIAGRAM">
    <p:spTree>
      <p:nvGrpSpPr>
        <p:cNvPr id="56" name="Shape 56"/>
        <p:cNvGrpSpPr/>
        <p:nvPr/>
      </p:nvGrpSpPr>
      <p:grpSpPr>
        <a:xfrm>
          <a:off x="0" y="0"/>
          <a:ext cx="0" cy="0"/>
          <a:chOff x="0" y="0"/>
          <a:chExt cx="0" cy="0"/>
        </a:xfrm>
      </p:grpSpPr>
      <p:sp>
        <p:nvSpPr>
          <p:cNvPr id="57" name="Google Shape;57;p44"/>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44"/>
          <p:cNvSpPr/>
          <p:nvPr>
            <p:ph idx="2" type="dgm"/>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lvl="0" marR="0" rtl="0" algn="l">
              <a:spcBef>
                <a:spcPts val="700"/>
              </a:spcBef>
              <a:spcAft>
                <a:spcPts val="0"/>
              </a:spcAft>
              <a:buClr>
                <a:srgbClr val="005AA6"/>
              </a:buClr>
              <a:buSzPts val="2800"/>
              <a:buFont typeface="Noto Sans Symbols"/>
              <a:buChar char="▪"/>
              <a:defRPr b="0" i="0" sz="2800" u="none" cap="none" strike="noStrike">
                <a:solidFill>
                  <a:srgbClr val="4D4D4D"/>
                </a:solidFill>
                <a:latin typeface="Arial"/>
                <a:ea typeface="Arial"/>
                <a:cs typeface="Arial"/>
                <a:sym typeface="Arial"/>
              </a:defRPr>
            </a:lvl1pPr>
            <a:lvl2pPr lvl="1" marR="0" rtl="0" algn="l">
              <a:spcBef>
                <a:spcPts val="700"/>
              </a:spcBef>
              <a:spcAft>
                <a:spcPts val="0"/>
              </a:spcAft>
              <a:buClr>
                <a:srgbClr val="005AA6"/>
              </a:buClr>
              <a:buSzPts val="2400"/>
              <a:buFont typeface="Arial"/>
              <a:buChar char="–"/>
              <a:defRPr b="0" i="0" sz="2400" u="none" cap="none" strike="noStrike">
                <a:solidFill>
                  <a:srgbClr val="4D4D4D"/>
                </a:solidFill>
                <a:latin typeface="Arial"/>
                <a:ea typeface="Arial"/>
                <a:cs typeface="Arial"/>
                <a:sym typeface="Arial"/>
              </a:defRPr>
            </a:lvl2pPr>
            <a:lvl3pPr lvl="2" marR="0" rtl="0" algn="l">
              <a:spcBef>
                <a:spcPts val="600"/>
              </a:spcBef>
              <a:spcAft>
                <a:spcPts val="0"/>
              </a:spcAft>
              <a:buClr>
                <a:srgbClr val="005AA6"/>
              </a:buClr>
              <a:buSzPts val="2000"/>
              <a:buFont typeface="Arial"/>
              <a:buChar char="•"/>
              <a:defRPr b="0" i="0" sz="2000" u="none" cap="none" strike="noStrike">
                <a:solidFill>
                  <a:srgbClr val="4D4D4D"/>
                </a:solidFill>
                <a:latin typeface="Arial"/>
                <a:ea typeface="Arial"/>
                <a:cs typeface="Arial"/>
                <a:sym typeface="Arial"/>
              </a:defRPr>
            </a:lvl3pPr>
            <a:lvl4pPr lvl="3" marR="0" rtl="0" algn="l">
              <a:spcBef>
                <a:spcPts val="50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4pPr>
            <a:lvl5pPr lvl="4" marR="0" rtl="0" algn="l">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5pPr>
            <a:lvl6pPr lvl="5" marR="0" rtl="0" algn="l">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6pPr>
            <a:lvl7pPr lvl="6" marR="0" rtl="0" algn="l">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7pPr>
            <a:lvl8pPr lvl="7" marR="0" rtl="0" algn="l">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8pPr>
            <a:lvl9pPr lvl="8" marR="0" rtl="0" algn="l">
              <a:spcBef>
                <a:spcPts val="450"/>
              </a:spcBef>
              <a:spcAft>
                <a:spcPts val="450"/>
              </a:spcAft>
              <a:buClr>
                <a:srgbClr val="005AA6"/>
              </a:buClr>
              <a:buSzPts val="1800"/>
              <a:buFont typeface="Arial"/>
              <a:buChar char="»"/>
              <a:defRPr b="0" i="0" sz="1800" u="none" cap="none" strike="noStrike">
                <a:solidFill>
                  <a:srgbClr val="4D4D4D"/>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1.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cxnSp>
        <p:nvCxnSpPr>
          <p:cNvPr id="10" name="Google Shape;10;p32"/>
          <p:cNvCxnSpPr/>
          <p:nvPr/>
        </p:nvCxnSpPr>
        <p:spPr>
          <a:xfrm>
            <a:off x="-6350" y="6565900"/>
            <a:ext cx="9150350" cy="0"/>
          </a:xfrm>
          <a:prstGeom prst="straightConnector1">
            <a:avLst/>
          </a:prstGeom>
          <a:noFill/>
          <a:ln cap="flat" cmpd="sng" w="57150">
            <a:solidFill>
              <a:srgbClr val="7482BF"/>
            </a:solidFill>
            <a:prstDash val="solid"/>
            <a:round/>
            <a:headEnd len="sm" w="sm" type="none"/>
            <a:tailEnd len="sm" w="sm" type="none"/>
          </a:ln>
        </p:spPr>
      </p:cxnSp>
      <p:sp>
        <p:nvSpPr>
          <p:cNvPr id="11" name="Google Shape;11;p32"/>
          <p:cNvSpPr/>
          <p:nvPr/>
        </p:nvSpPr>
        <p:spPr>
          <a:xfrm>
            <a:off x="1652588" y="0"/>
            <a:ext cx="7497762" cy="1065213"/>
          </a:xfrm>
          <a:prstGeom prst="rect">
            <a:avLst/>
          </a:prstGeom>
          <a:solidFill>
            <a:srgbClr val="7482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2" name="Google Shape;12;p32"/>
          <p:cNvPicPr preferRelativeResize="0"/>
          <p:nvPr/>
        </p:nvPicPr>
        <p:blipFill rotWithShape="1">
          <a:blip r:embed="rId1">
            <a:alphaModFix/>
          </a:blip>
          <a:srcRect b="2047" l="1305" r="1262" t="2190"/>
          <a:stretch/>
        </p:blipFill>
        <p:spPr>
          <a:xfrm>
            <a:off x="0" y="0"/>
            <a:ext cx="1652588" cy="1065213"/>
          </a:xfrm>
          <a:prstGeom prst="rect">
            <a:avLst/>
          </a:prstGeom>
          <a:noFill/>
          <a:ln>
            <a:noFill/>
          </a:ln>
        </p:spPr>
      </p:pic>
      <p:pic>
        <p:nvPicPr>
          <p:cNvPr id="13" name="Google Shape;13;p32"/>
          <p:cNvPicPr preferRelativeResize="0"/>
          <p:nvPr/>
        </p:nvPicPr>
        <p:blipFill rotWithShape="1">
          <a:blip r:embed="rId2">
            <a:alphaModFix/>
          </a:blip>
          <a:srcRect b="0" l="0" r="0" t="0"/>
          <a:stretch/>
        </p:blipFill>
        <p:spPr>
          <a:xfrm>
            <a:off x="2046288" y="114300"/>
            <a:ext cx="5930900" cy="241300"/>
          </a:xfrm>
          <a:prstGeom prst="rect">
            <a:avLst/>
          </a:prstGeom>
          <a:noFill/>
          <a:ln>
            <a:noFill/>
          </a:ln>
        </p:spPr>
      </p:pic>
      <p:sp>
        <p:nvSpPr>
          <p:cNvPr id="14" name="Google Shape;14;p32"/>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3600" u="none" cap="none" strike="noStrike">
                <a:solidFill>
                  <a:schemeClr val="dk2"/>
                </a:solidFill>
                <a:latin typeface="Arial"/>
                <a:ea typeface="Arial"/>
                <a:cs typeface="Arial"/>
                <a:sym typeface="Arial"/>
              </a:defRPr>
            </a:lvl1pPr>
            <a:lvl2pPr lvl="1" marR="0" rtl="0" algn="l">
              <a:spcBef>
                <a:spcPts val="0"/>
              </a:spcBef>
              <a:spcAft>
                <a:spcPts val="0"/>
              </a:spcAft>
              <a:buSzPts val="1400"/>
              <a:buNone/>
              <a:defRPr b="1" i="0" sz="3600" u="none" cap="none" strike="noStrike">
                <a:solidFill>
                  <a:schemeClr val="dk2"/>
                </a:solidFill>
                <a:latin typeface="Arial"/>
                <a:ea typeface="Arial"/>
                <a:cs typeface="Arial"/>
                <a:sym typeface="Arial"/>
              </a:defRPr>
            </a:lvl2pPr>
            <a:lvl3pPr lvl="2" marR="0" rtl="0" algn="l">
              <a:spcBef>
                <a:spcPts val="0"/>
              </a:spcBef>
              <a:spcAft>
                <a:spcPts val="0"/>
              </a:spcAft>
              <a:buSzPts val="1400"/>
              <a:buNone/>
              <a:defRPr b="1" i="0" sz="3600" u="none" cap="none" strike="noStrike">
                <a:solidFill>
                  <a:schemeClr val="dk2"/>
                </a:solidFill>
                <a:latin typeface="Arial"/>
                <a:ea typeface="Arial"/>
                <a:cs typeface="Arial"/>
                <a:sym typeface="Arial"/>
              </a:defRPr>
            </a:lvl3pPr>
            <a:lvl4pPr lvl="3" marR="0" rtl="0" algn="l">
              <a:spcBef>
                <a:spcPts val="0"/>
              </a:spcBef>
              <a:spcAft>
                <a:spcPts val="0"/>
              </a:spcAft>
              <a:buSzPts val="1400"/>
              <a:buNone/>
              <a:defRPr b="1" i="0" sz="3600" u="none" cap="none" strike="noStrike">
                <a:solidFill>
                  <a:schemeClr val="dk2"/>
                </a:solidFill>
                <a:latin typeface="Arial"/>
                <a:ea typeface="Arial"/>
                <a:cs typeface="Arial"/>
                <a:sym typeface="Arial"/>
              </a:defRPr>
            </a:lvl4pPr>
            <a:lvl5pPr lvl="4" marR="0" rtl="0" algn="l">
              <a:spcBef>
                <a:spcPts val="0"/>
              </a:spcBef>
              <a:spcAft>
                <a:spcPts val="0"/>
              </a:spcAft>
              <a:buSzPts val="1400"/>
              <a:buNone/>
              <a:defRPr b="1" i="0" sz="3600" u="none" cap="none" strike="noStrike">
                <a:solidFill>
                  <a:schemeClr val="dk2"/>
                </a:solidFill>
                <a:latin typeface="Arial"/>
                <a:ea typeface="Arial"/>
                <a:cs typeface="Arial"/>
                <a:sym typeface="Arial"/>
              </a:defRPr>
            </a:lvl5pPr>
            <a:lvl6pPr lvl="5" marR="0" rtl="0" algn="l">
              <a:spcBef>
                <a:spcPts val="0"/>
              </a:spcBef>
              <a:spcAft>
                <a:spcPts val="0"/>
              </a:spcAft>
              <a:buSzPts val="1400"/>
              <a:buNone/>
              <a:defRPr b="1" i="0" sz="3600" u="none" cap="none" strike="noStrike">
                <a:solidFill>
                  <a:schemeClr val="dk2"/>
                </a:solidFill>
                <a:latin typeface="Arial"/>
                <a:ea typeface="Arial"/>
                <a:cs typeface="Arial"/>
                <a:sym typeface="Arial"/>
              </a:defRPr>
            </a:lvl6pPr>
            <a:lvl7pPr lvl="6" marR="0" rtl="0" algn="l">
              <a:spcBef>
                <a:spcPts val="0"/>
              </a:spcBef>
              <a:spcAft>
                <a:spcPts val="0"/>
              </a:spcAft>
              <a:buSzPts val="1400"/>
              <a:buNone/>
              <a:defRPr b="1" i="0" sz="3600" u="none" cap="none" strike="noStrike">
                <a:solidFill>
                  <a:schemeClr val="dk2"/>
                </a:solidFill>
                <a:latin typeface="Arial"/>
                <a:ea typeface="Arial"/>
                <a:cs typeface="Arial"/>
                <a:sym typeface="Arial"/>
              </a:defRPr>
            </a:lvl7pPr>
            <a:lvl8pPr lvl="7" marR="0" rtl="0" algn="l">
              <a:spcBef>
                <a:spcPts val="0"/>
              </a:spcBef>
              <a:spcAft>
                <a:spcPts val="0"/>
              </a:spcAft>
              <a:buSzPts val="1400"/>
              <a:buNone/>
              <a:defRPr b="1" i="0" sz="3600" u="none" cap="none" strike="noStrike">
                <a:solidFill>
                  <a:schemeClr val="dk2"/>
                </a:solidFill>
                <a:latin typeface="Arial"/>
                <a:ea typeface="Arial"/>
                <a:cs typeface="Arial"/>
                <a:sym typeface="Arial"/>
              </a:defRPr>
            </a:lvl8pPr>
            <a:lvl9pPr lvl="8" marR="0" rtl="0" algn="l">
              <a:spcBef>
                <a:spcPts val="0"/>
              </a:spcBef>
              <a:spcAft>
                <a:spcPts val="0"/>
              </a:spcAft>
              <a:buSzPts val="1400"/>
              <a:buNone/>
              <a:defRPr b="1" i="0" sz="3600" u="none" cap="none" strike="noStrike">
                <a:solidFill>
                  <a:schemeClr val="dk2"/>
                </a:solidFill>
                <a:latin typeface="Arial"/>
                <a:ea typeface="Arial"/>
                <a:cs typeface="Arial"/>
                <a:sym typeface="Arial"/>
              </a:defRPr>
            </a:lvl9pPr>
          </a:lstStyle>
          <a:p/>
        </p:txBody>
      </p:sp>
      <p:sp>
        <p:nvSpPr>
          <p:cNvPr id="15" name="Google Shape;15;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700"/>
              </a:spcBef>
              <a:spcAft>
                <a:spcPts val="0"/>
              </a:spcAft>
              <a:buClr>
                <a:srgbClr val="005AA6"/>
              </a:buClr>
              <a:buSzPts val="2800"/>
              <a:buFont typeface="Noto Sans Symbols"/>
              <a:buChar char="▪"/>
              <a:defRPr b="0" i="0" sz="2800" u="none" cap="none" strike="noStrike">
                <a:solidFill>
                  <a:srgbClr val="4D4D4D"/>
                </a:solidFill>
                <a:latin typeface="Arial"/>
                <a:ea typeface="Arial"/>
                <a:cs typeface="Arial"/>
                <a:sym typeface="Arial"/>
              </a:defRPr>
            </a:lvl1pPr>
            <a:lvl2pPr indent="-381000" lvl="1" marL="914400" marR="0" rtl="0" algn="l">
              <a:spcBef>
                <a:spcPts val="700"/>
              </a:spcBef>
              <a:spcAft>
                <a:spcPts val="0"/>
              </a:spcAft>
              <a:buClr>
                <a:srgbClr val="005AA6"/>
              </a:buClr>
              <a:buSzPts val="2400"/>
              <a:buFont typeface="Arial"/>
              <a:buChar char="–"/>
              <a:defRPr b="0" i="0" sz="2400" u="none" cap="none" strike="noStrike">
                <a:solidFill>
                  <a:srgbClr val="4D4D4D"/>
                </a:solidFill>
                <a:latin typeface="Arial"/>
                <a:ea typeface="Arial"/>
                <a:cs typeface="Arial"/>
                <a:sym typeface="Arial"/>
              </a:defRPr>
            </a:lvl2pPr>
            <a:lvl3pPr indent="-355600" lvl="2" marL="1371600" marR="0" rtl="0" algn="l">
              <a:spcBef>
                <a:spcPts val="600"/>
              </a:spcBef>
              <a:spcAft>
                <a:spcPts val="0"/>
              </a:spcAft>
              <a:buClr>
                <a:srgbClr val="005AA6"/>
              </a:buClr>
              <a:buSzPts val="2000"/>
              <a:buFont typeface="Arial"/>
              <a:buChar char="•"/>
              <a:defRPr b="0" i="0" sz="2000" u="none" cap="none" strike="noStrike">
                <a:solidFill>
                  <a:srgbClr val="4D4D4D"/>
                </a:solidFill>
                <a:latin typeface="Arial"/>
                <a:ea typeface="Arial"/>
                <a:cs typeface="Arial"/>
                <a:sym typeface="Arial"/>
              </a:defRPr>
            </a:lvl3pPr>
            <a:lvl4pPr indent="-342900" lvl="3" marL="1828800" marR="0" rtl="0" algn="l">
              <a:spcBef>
                <a:spcPts val="50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4pPr>
            <a:lvl5pPr indent="-342900" lvl="4" marL="2286000" marR="0" rtl="0" algn="l">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5pPr>
            <a:lvl6pPr indent="-342900" lvl="5" marL="2743200" marR="0" rtl="0" algn="l">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6pPr>
            <a:lvl7pPr indent="-342900" lvl="6" marL="3200400" marR="0" rtl="0" algn="l">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7pPr>
            <a:lvl8pPr indent="-342900" lvl="7" marL="3657600" marR="0" rtl="0" algn="l">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8pPr>
            <a:lvl9pPr indent="-342900" lvl="8" marL="4114800" marR="0" rtl="0" algn="l">
              <a:spcBef>
                <a:spcPts val="450"/>
              </a:spcBef>
              <a:spcAft>
                <a:spcPts val="450"/>
              </a:spcAft>
              <a:buClr>
                <a:srgbClr val="005AA6"/>
              </a:buClr>
              <a:buSzPts val="1800"/>
              <a:buFont typeface="Arial"/>
              <a:buChar char="»"/>
              <a:defRPr b="0" i="0" sz="1800" u="none" cap="none" strike="noStrike">
                <a:solidFill>
                  <a:srgbClr val="4D4D4D"/>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
          <p:cNvSpPr txBox="1"/>
          <p:nvPr>
            <p:ph type="ctrTitle"/>
          </p:nvPr>
        </p:nvSpPr>
        <p:spPr>
          <a:xfrm>
            <a:off x="1955800" y="517525"/>
            <a:ext cx="7188200" cy="431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a:t>Place Title Here</a:t>
            </a:r>
            <a:endParaRPr/>
          </a:p>
        </p:txBody>
      </p:sp>
      <p:sp>
        <p:nvSpPr>
          <p:cNvPr id="65" name="Google Shape;65;p1"/>
          <p:cNvSpPr txBox="1"/>
          <p:nvPr>
            <p:ph idx="1" type="subTitle"/>
          </p:nvPr>
        </p:nvSpPr>
        <p:spPr>
          <a:xfrm>
            <a:off x="838200" y="2408238"/>
            <a:ext cx="74676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4400"/>
              <a:buNone/>
            </a:pPr>
            <a:r>
              <a:rPr lang="en-CA">
                <a:solidFill>
                  <a:schemeClr val="dk1"/>
                </a:solidFill>
              </a:rPr>
              <a:t>Cover Letter &amp; Resume Workshop AI</a:t>
            </a:r>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2"/>
          <p:cNvSpPr txBox="1"/>
          <p:nvPr>
            <p:ph type="ctrTitle"/>
          </p:nvPr>
        </p:nvSpPr>
        <p:spPr>
          <a:xfrm>
            <a:off x="1955800" y="517525"/>
            <a:ext cx="7188200" cy="431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a:t>Heading</a:t>
            </a:r>
            <a:endParaRPr/>
          </a:p>
        </p:txBody>
      </p:sp>
      <p:sp>
        <p:nvSpPr>
          <p:cNvPr id="72" name="Google Shape;72;p2"/>
          <p:cNvSpPr txBox="1"/>
          <p:nvPr>
            <p:ph idx="1" type="subTitle"/>
          </p:nvPr>
        </p:nvSpPr>
        <p:spPr>
          <a:xfrm>
            <a:off x="838200" y="1192213"/>
            <a:ext cx="7467600" cy="50228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2200"/>
              <a:buNone/>
            </a:pPr>
            <a:r>
              <a:rPr lang="en-CA" sz="2200">
                <a:solidFill>
                  <a:schemeClr val="dk1"/>
                </a:solidFill>
              </a:rPr>
              <a:t>Cover Letter</a:t>
            </a:r>
            <a:endParaRPr/>
          </a:p>
          <a:p>
            <a:pPr indent="0" lvl="0" marL="0" rtl="0" algn="l">
              <a:spcBef>
                <a:spcPts val="1050"/>
              </a:spcBef>
              <a:spcAft>
                <a:spcPts val="0"/>
              </a:spcAft>
              <a:buSzPts val="2000"/>
              <a:buNone/>
            </a:pPr>
            <a:r>
              <a:rPr b="0" lang="en-CA" sz="2000">
                <a:solidFill>
                  <a:schemeClr val="dk1"/>
                </a:solidFill>
              </a:rPr>
              <a:t>First and Last Name </a:t>
            </a:r>
            <a:br>
              <a:rPr lang="en-CA" sz="2000">
                <a:solidFill>
                  <a:schemeClr val="dk1"/>
                </a:solidFill>
              </a:rPr>
            </a:br>
            <a:r>
              <a:rPr b="0" lang="en-CA" sz="2000">
                <a:solidFill>
                  <a:schemeClr val="dk1"/>
                </a:solidFill>
              </a:rPr>
              <a:t>Street Address </a:t>
            </a:r>
            <a:r>
              <a:rPr b="0" lang="en-CA" sz="2000">
                <a:solidFill>
                  <a:srgbClr val="FF0000"/>
                </a:solidFill>
              </a:rPr>
              <a:t>(Optional)</a:t>
            </a:r>
            <a:br>
              <a:rPr b="0" lang="en-CA" sz="2000">
                <a:solidFill>
                  <a:schemeClr val="dk1"/>
                </a:solidFill>
              </a:rPr>
            </a:br>
            <a:r>
              <a:rPr b="0" lang="en-CA" sz="2000">
                <a:solidFill>
                  <a:schemeClr val="dk1"/>
                </a:solidFill>
              </a:rPr>
              <a:t>City, Province, </a:t>
            </a:r>
            <a:r>
              <a:rPr b="0" lang="en-CA" sz="2000">
                <a:solidFill>
                  <a:srgbClr val="FF0000"/>
                </a:solidFill>
              </a:rPr>
              <a:t>(Postal Code Optional)</a:t>
            </a:r>
            <a:br>
              <a:rPr b="0" lang="en-CA" sz="2000">
                <a:solidFill>
                  <a:schemeClr val="dk1"/>
                </a:solidFill>
              </a:rPr>
            </a:br>
            <a:r>
              <a:rPr b="0" lang="en-CA" sz="2000">
                <a:solidFill>
                  <a:schemeClr val="dk1"/>
                </a:solidFill>
              </a:rPr>
              <a:t>Phone Number (416) 222-4444</a:t>
            </a:r>
            <a:br>
              <a:rPr b="0" lang="en-CA" sz="2000">
                <a:solidFill>
                  <a:schemeClr val="dk1"/>
                </a:solidFill>
              </a:rPr>
            </a:br>
            <a:r>
              <a:rPr b="0" lang="en-CA" sz="2000">
                <a:solidFill>
                  <a:schemeClr val="dk1"/>
                </a:solidFill>
              </a:rPr>
              <a:t>Email Address (George Brown email address)</a:t>
            </a:r>
            <a:endParaRPr b="0" sz="2000">
              <a:solidFill>
                <a:schemeClr val="dk1"/>
              </a:solidFill>
            </a:endParaRPr>
          </a:p>
          <a:p>
            <a:pPr indent="0" lvl="0" marL="0" rtl="0" algn="l">
              <a:spcBef>
                <a:spcPts val="1000"/>
              </a:spcBef>
              <a:spcAft>
                <a:spcPts val="0"/>
              </a:spcAft>
              <a:buSzPts val="2000"/>
              <a:buNone/>
            </a:pPr>
            <a:r>
              <a:rPr b="0" lang="en-CA" sz="2000">
                <a:solidFill>
                  <a:schemeClr val="dk1"/>
                </a:solidFill>
              </a:rPr>
              <a:t>Date you send your documents</a:t>
            </a:r>
            <a:endParaRPr b="0" sz="2000">
              <a:solidFill>
                <a:schemeClr val="dk1"/>
              </a:solidFill>
            </a:endParaRPr>
          </a:p>
          <a:p>
            <a:pPr indent="0" lvl="0" marL="0" rtl="0" algn="l">
              <a:spcBef>
                <a:spcPts val="1000"/>
              </a:spcBef>
              <a:spcAft>
                <a:spcPts val="0"/>
              </a:spcAft>
              <a:buSzPts val="2000"/>
              <a:buNone/>
            </a:pPr>
            <a:r>
              <a:rPr b="0" lang="en-CA" sz="2000">
                <a:solidFill>
                  <a:schemeClr val="dk1"/>
                </a:solidFill>
              </a:rPr>
              <a:t>Employer Contact Information </a:t>
            </a:r>
            <a:br>
              <a:rPr b="0" lang="en-CA" sz="2000">
                <a:solidFill>
                  <a:schemeClr val="dk1"/>
                </a:solidFill>
              </a:rPr>
            </a:br>
            <a:r>
              <a:rPr b="0" lang="en-CA" sz="2000">
                <a:solidFill>
                  <a:schemeClr val="dk1"/>
                </a:solidFill>
              </a:rPr>
              <a:t>Contact Name (if you have it)</a:t>
            </a:r>
            <a:br>
              <a:rPr b="0" lang="en-CA" sz="2000">
                <a:solidFill>
                  <a:schemeClr val="dk1"/>
                </a:solidFill>
              </a:rPr>
            </a:br>
            <a:r>
              <a:rPr b="0" lang="en-CA" sz="2000">
                <a:solidFill>
                  <a:schemeClr val="dk1"/>
                </a:solidFill>
              </a:rPr>
              <a:t>Title (if you have it)</a:t>
            </a:r>
            <a:br>
              <a:rPr b="0" lang="en-CA" sz="2000">
                <a:solidFill>
                  <a:schemeClr val="dk1"/>
                </a:solidFill>
              </a:rPr>
            </a:br>
            <a:r>
              <a:rPr b="0" lang="en-CA" sz="2000">
                <a:solidFill>
                  <a:schemeClr val="dk1"/>
                </a:solidFill>
              </a:rPr>
              <a:t>Company Name</a:t>
            </a:r>
            <a:br>
              <a:rPr b="0" lang="en-CA" sz="2000">
                <a:solidFill>
                  <a:schemeClr val="dk1"/>
                </a:solidFill>
              </a:rPr>
            </a:br>
            <a:r>
              <a:rPr b="0" lang="en-CA" sz="2000">
                <a:solidFill>
                  <a:schemeClr val="dk1"/>
                </a:solidFill>
              </a:rPr>
              <a:t>Full Address </a:t>
            </a:r>
            <a:br>
              <a:rPr b="0" lang="en-CA" sz="2000">
                <a:solidFill>
                  <a:schemeClr val="dk1"/>
                </a:solidFill>
              </a:rPr>
            </a:br>
            <a:r>
              <a:rPr b="0" lang="en-CA" sz="2000">
                <a:solidFill>
                  <a:schemeClr val="dk1"/>
                </a:solidFill>
              </a:rPr>
              <a:t>City, Province, Postal Code</a:t>
            </a:r>
            <a:endParaRPr/>
          </a:p>
          <a:p>
            <a:pPr indent="0" lvl="0" marL="0" rtl="0" algn="l">
              <a:spcBef>
                <a:spcPts val="1000"/>
              </a:spcBef>
              <a:spcAft>
                <a:spcPts val="0"/>
              </a:spcAft>
              <a:buSzPts val="2000"/>
              <a:buNone/>
            </a:pPr>
            <a:r>
              <a:rPr b="0" lang="en-CA" sz="2000">
                <a:solidFill>
                  <a:schemeClr val="dk1"/>
                </a:solidFill>
              </a:rPr>
              <a:t>Re: Job title and job number </a:t>
            </a:r>
            <a:endParaRPr b="0" sz="2000">
              <a:solidFill>
                <a:schemeClr val="dk1"/>
              </a:solidFill>
            </a:endParaRPr>
          </a:p>
          <a:p>
            <a:pPr indent="0" lvl="0" marL="0" rtl="0" algn="ctr">
              <a:spcBef>
                <a:spcPts val="1050"/>
              </a:spcBef>
              <a:spcAft>
                <a:spcPts val="0"/>
              </a:spcAft>
              <a:buSzPts val="2200"/>
              <a:buNone/>
            </a:pPr>
            <a:r>
              <a:t/>
            </a:r>
            <a:endParaRPr sz="220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
          <p:cNvSpPr txBox="1"/>
          <p:nvPr>
            <p:ph type="ctrTitle"/>
          </p:nvPr>
        </p:nvSpPr>
        <p:spPr>
          <a:xfrm>
            <a:off x="1955800" y="517525"/>
            <a:ext cx="7188200" cy="431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a:t>With a contact person</a:t>
            </a:r>
            <a:endParaRPr/>
          </a:p>
        </p:txBody>
      </p:sp>
      <p:sp>
        <p:nvSpPr>
          <p:cNvPr id="79" name="Google Shape;79;p3"/>
          <p:cNvSpPr txBox="1"/>
          <p:nvPr>
            <p:ph idx="1" type="subTitle"/>
          </p:nvPr>
        </p:nvSpPr>
        <p:spPr>
          <a:xfrm>
            <a:off x="838200" y="1192213"/>
            <a:ext cx="7467600" cy="50228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000"/>
              <a:buNone/>
            </a:pPr>
            <a:r>
              <a:t/>
            </a:r>
            <a:endParaRPr b="0" sz="2000">
              <a:solidFill>
                <a:schemeClr val="dk1"/>
              </a:solidFill>
            </a:endParaRPr>
          </a:p>
          <a:p>
            <a:pPr indent="0" lvl="0" marL="0" rtl="0" algn="l">
              <a:spcBef>
                <a:spcPts val="1000"/>
              </a:spcBef>
              <a:spcAft>
                <a:spcPts val="0"/>
              </a:spcAft>
              <a:buSzPts val="2000"/>
              <a:buNone/>
            </a:pPr>
            <a:r>
              <a:rPr b="0" lang="en-CA" sz="2000">
                <a:solidFill>
                  <a:schemeClr val="dk1"/>
                </a:solidFill>
              </a:rPr>
              <a:t>Maryanna (Mary) Smith  </a:t>
            </a:r>
            <a:br>
              <a:rPr b="0" lang="en-CA" sz="2000">
                <a:solidFill>
                  <a:schemeClr val="dk1"/>
                </a:solidFill>
              </a:rPr>
            </a:br>
            <a:r>
              <a:rPr b="0" lang="en-CA" sz="2000">
                <a:solidFill>
                  <a:schemeClr val="dk1"/>
                </a:solidFill>
              </a:rPr>
              <a:t>1596 Bathurst Street </a:t>
            </a:r>
            <a:r>
              <a:rPr b="0" lang="en-CA" sz="2000">
                <a:solidFill>
                  <a:srgbClr val="FF0000"/>
                </a:solidFill>
              </a:rPr>
              <a:t>(Optional)</a:t>
            </a:r>
            <a:br>
              <a:rPr b="0" lang="en-CA" sz="2000">
                <a:solidFill>
                  <a:schemeClr val="dk1"/>
                </a:solidFill>
              </a:rPr>
            </a:br>
            <a:r>
              <a:rPr b="0" lang="en-CA" sz="2000">
                <a:solidFill>
                  <a:schemeClr val="dk1"/>
                </a:solidFill>
                <a:latin typeface="Arial"/>
                <a:ea typeface="Arial"/>
                <a:cs typeface="Arial"/>
                <a:sym typeface="Arial"/>
              </a:rPr>
              <a:t>Toronto, ON M5T 2T9 </a:t>
            </a:r>
            <a:r>
              <a:rPr b="0" lang="en-CA" sz="2000">
                <a:solidFill>
                  <a:srgbClr val="FF0000"/>
                </a:solidFill>
              </a:rPr>
              <a:t>(Postal Code Optional)</a:t>
            </a:r>
            <a:br>
              <a:rPr b="0" lang="en-CA" sz="2000">
                <a:solidFill>
                  <a:schemeClr val="dk1"/>
                </a:solidFill>
              </a:rPr>
            </a:br>
            <a:r>
              <a:rPr b="0" lang="en-CA" sz="2000">
                <a:solidFill>
                  <a:schemeClr val="dk1"/>
                </a:solidFill>
              </a:rPr>
              <a:t>(416) 222-4444</a:t>
            </a:r>
            <a:br>
              <a:rPr b="0" lang="en-CA" sz="2000">
                <a:solidFill>
                  <a:schemeClr val="dk1"/>
                </a:solidFill>
              </a:rPr>
            </a:br>
            <a:r>
              <a:rPr b="0" lang="en-CA" sz="2000">
                <a:solidFill>
                  <a:schemeClr val="dk1"/>
                </a:solidFill>
              </a:rPr>
              <a:t>maryanna.smith@georgebrown.ca</a:t>
            </a:r>
            <a:endParaRPr b="0" sz="2000">
              <a:solidFill>
                <a:schemeClr val="dk1"/>
              </a:solidFill>
            </a:endParaRPr>
          </a:p>
          <a:p>
            <a:pPr indent="0" lvl="0" marL="0" rtl="0" algn="l">
              <a:spcBef>
                <a:spcPts val="1000"/>
              </a:spcBef>
              <a:spcAft>
                <a:spcPts val="0"/>
              </a:spcAft>
              <a:buSzPts val="2000"/>
              <a:buNone/>
            </a:pPr>
            <a:r>
              <a:rPr b="0" lang="en-CA" sz="2000">
                <a:solidFill>
                  <a:schemeClr val="dk1"/>
                </a:solidFill>
              </a:rPr>
              <a:t>February 4, 2021</a:t>
            </a:r>
            <a:endParaRPr b="0" sz="2000">
              <a:solidFill>
                <a:schemeClr val="dk1"/>
              </a:solidFill>
            </a:endParaRPr>
          </a:p>
          <a:p>
            <a:pPr indent="0" lvl="0" marL="0" rtl="0" algn="l">
              <a:spcBef>
                <a:spcPts val="1000"/>
              </a:spcBef>
              <a:spcAft>
                <a:spcPts val="0"/>
              </a:spcAft>
              <a:buSzPts val="2000"/>
              <a:buNone/>
            </a:pPr>
            <a:r>
              <a:rPr b="0" lang="en-CA" sz="2000">
                <a:solidFill>
                  <a:schemeClr val="dk1"/>
                </a:solidFill>
              </a:rPr>
              <a:t>Donna Gatti</a:t>
            </a:r>
            <a:br>
              <a:rPr b="0" lang="en-CA" sz="2000">
                <a:solidFill>
                  <a:schemeClr val="dk1"/>
                </a:solidFill>
              </a:rPr>
            </a:br>
            <a:r>
              <a:rPr b="0" lang="en-CA" sz="2000">
                <a:solidFill>
                  <a:schemeClr val="dk1"/>
                </a:solidFill>
              </a:rPr>
              <a:t>Sr. Recruiter </a:t>
            </a:r>
            <a:br>
              <a:rPr b="0" lang="en-CA" sz="2000">
                <a:solidFill>
                  <a:schemeClr val="dk1"/>
                </a:solidFill>
              </a:rPr>
            </a:br>
            <a:r>
              <a:rPr b="0" lang="en-CA" sz="2000">
                <a:solidFill>
                  <a:schemeClr val="dk1"/>
                </a:solidFill>
              </a:rPr>
              <a:t>RBC</a:t>
            </a:r>
            <a:br>
              <a:rPr b="0" lang="en-CA" sz="2000">
                <a:solidFill>
                  <a:schemeClr val="dk1"/>
                </a:solidFill>
              </a:rPr>
            </a:br>
            <a:r>
              <a:rPr b="0" lang="en-CA" sz="2000">
                <a:solidFill>
                  <a:schemeClr val="dk1"/>
                </a:solidFill>
              </a:rPr>
              <a:t>88 Queens Quay West</a:t>
            </a:r>
            <a:br>
              <a:rPr b="0" lang="en-CA" sz="2000">
                <a:solidFill>
                  <a:schemeClr val="dk1"/>
                </a:solidFill>
              </a:rPr>
            </a:br>
            <a:r>
              <a:rPr b="0" lang="en-CA" sz="2000">
                <a:solidFill>
                  <a:schemeClr val="dk1"/>
                </a:solidFill>
              </a:rPr>
              <a:t>Toronto, ON  M5J 0B8</a:t>
            </a:r>
            <a:endParaRPr/>
          </a:p>
          <a:p>
            <a:pPr indent="0" lvl="0" marL="0" rtl="0" algn="l">
              <a:spcBef>
                <a:spcPts val="1000"/>
              </a:spcBef>
              <a:spcAft>
                <a:spcPts val="0"/>
              </a:spcAft>
              <a:buSzPts val="2000"/>
              <a:buNone/>
            </a:pPr>
            <a:r>
              <a:rPr b="0" lang="en-CA" sz="2000">
                <a:solidFill>
                  <a:schemeClr val="dk1"/>
                </a:solidFill>
              </a:rPr>
              <a:t>Re: UI/UX Designer Req ID:  316663</a:t>
            </a:r>
            <a:endParaRPr/>
          </a:p>
          <a:p>
            <a:pPr indent="0" lvl="0" marL="0" rtl="0" algn="l">
              <a:spcBef>
                <a:spcPts val="1000"/>
              </a:spcBef>
              <a:spcAft>
                <a:spcPts val="0"/>
              </a:spcAft>
              <a:buSzPts val="2000"/>
              <a:buNone/>
            </a:pPr>
            <a:r>
              <a:rPr b="0" lang="en-CA" sz="2000">
                <a:solidFill>
                  <a:schemeClr val="dk1"/>
                </a:solidFill>
              </a:rPr>
              <a:t>Dear Donna Gatti,</a:t>
            </a:r>
            <a:endParaRPr b="0" sz="2000">
              <a:solidFill>
                <a:schemeClr val="dk1"/>
              </a:solidFill>
            </a:endParaRPr>
          </a:p>
          <a:p>
            <a:pPr indent="0" lvl="0" marL="0" rtl="0" algn="ctr">
              <a:spcBef>
                <a:spcPts val="1050"/>
              </a:spcBef>
              <a:spcAft>
                <a:spcPts val="0"/>
              </a:spcAft>
              <a:buSzPts val="2200"/>
              <a:buNone/>
            </a:pPr>
            <a:r>
              <a:t/>
            </a:r>
            <a:endParaRPr sz="220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4"/>
          <p:cNvSpPr txBox="1"/>
          <p:nvPr>
            <p:ph type="ctrTitle"/>
          </p:nvPr>
        </p:nvSpPr>
        <p:spPr>
          <a:xfrm>
            <a:off x="1955800" y="517525"/>
            <a:ext cx="7188200" cy="431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a:t>Without a contact person</a:t>
            </a:r>
            <a:endParaRPr/>
          </a:p>
        </p:txBody>
      </p:sp>
      <p:sp>
        <p:nvSpPr>
          <p:cNvPr id="86" name="Google Shape;86;p4"/>
          <p:cNvSpPr txBox="1"/>
          <p:nvPr>
            <p:ph idx="1" type="subTitle"/>
          </p:nvPr>
        </p:nvSpPr>
        <p:spPr>
          <a:xfrm>
            <a:off x="838200" y="1192213"/>
            <a:ext cx="7467600" cy="50228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000"/>
              <a:buNone/>
            </a:pPr>
            <a:r>
              <a:t/>
            </a:r>
            <a:endParaRPr sz="2000">
              <a:solidFill>
                <a:schemeClr val="dk1"/>
              </a:solidFill>
            </a:endParaRPr>
          </a:p>
          <a:p>
            <a:pPr indent="0" lvl="0" marL="0" rtl="0" algn="l">
              <a:spcBef>
                <a:spcPts val="1000"/>
              </a:spcBef>
              <a:spcAft>
                <a:spcPts val="0"/>
              </a:spcAft>
              <a:buSzPts val="2000"/>
              <a:buNone/>
            </a:pPr>
            <a:r>
              <a:rPr b="0" lang="en-CA" sz="2000">
                <a:solidFill>
                  <a:schemeClr val="dk1"/>
                </a:solidFill>
              </a:rPr>
              <a:t>Maryanna (Mary) Smith  </a:t>
            </a:r>
            <a:br>
              <a:rPr b="0" lang="en-CA" sz="2000">
                <a:solidFill>
                  <a:schemeClr val="dk1"/>
                </a:solidFill>
              </a:rPr>
            </a:br>
            <a:r>
              <a:rPr b="0" lang="en-CA" sz="2000">
                <a:solidFill>
                  <a:schemeClr val="dk1"/>
                </a:solidFill>
              </a:rPr>
              <a:t>1596 Bathurst Street </a:t>
            </a:r>
            <a:r>
              <a:rPr b="0" lang="en-CA" sz="2000">
                <a:solidFill>
                  <a:srgbClr val="FF0000"/>
                </a:solidFill>
              </a:rPr>
              <a:t>(Optional)</a:t>
            </a:r>
            <a:br>
              <a:rPr b="0" lang="en-CA" sz="2000">
                <a:solidFill>
                  <a:schemeClr val="dk1"/>
                </a:solidFill>
              </a:rPr>
            </a:br>
            <a:r>
              <a:rPr b="0" lang="en-CA" sz="2000">
                <a:solidFill>
                  <a:schemeClr val="dk1"/>
                </a:solidFill>
                <a:latin typeface="Arial"/>
                <a:ea typeface="Arial"/>
                <a:cs typeface="Arial"/>
                <a:sym typeface="Arial"/>
              </a:rPr>
              <a:t>Toronto, ON M5T 2T9 </a:t>
            </a:r>
            <a:r>
              <a:rPr b="0" lang="en-CA" sz="2000">
                <a:solidFill>
                  <a:srgbClr val="FF0000"/>
                </a:solidFill>
              </a:rPr>
              <a:t>(Postal Code, Optional)</a:t>
            </a:r>
            <a:br>
              <a:rPr b="0" lang="en-CA" sz="2000">
                <a:solidFill>
                  <a:schemeClr val="dk1"/>
                </a:solidFill>
              </a:rPr>
            </a:br>
            <a:r>
              <a:rPr b="0" lang="en-CA" sz="2000">
                <a:solidFill>
                  <a:schemeClr val="dk1"/>
                </a:solidFill>
              </a:rPr>
              <a:t>(416) 222-4444</a:t>
            </a:r>
            <a:br>
              <a:rPr b="0" lang="en-CA" sz="2000">
                <a:solidFill>
                  <a:schemeClr val="dk1"/>
                </a:solidFill>
              </a:rPr>
            </a:br>
            <a:r>
              <a:rPr b="0" lang="en-CA" sz="2000">
                <a:solidFill>
                  <a:schemeClr val="dk1"/>
                </a:solidFill>
              </a:rPr>
              <a:t>maryanna.smith@georgebrown.ca</a:t>
            </a:r>
            <a:endParaRPr b="0" sz="2000">
              <a:solidFill>
                <a:schemeClr val="dk1"/>
              </a:solidFill>
            </a:endParaRPr>
          </a:p>
          <a:p>
            <a:pPr indent="0" lvl="0" marL="0" rtl="0" algn="l">
              <a:spcBef>
                <a:spcPts val="1000"/>
              </a:spcBef>
              <a:spcAft>
                <a:spcPts val="0"/>
              </a:spcAft>
              <a:buSzPts val="2000"/>
              <a:buNone/>
            </a:pPr>
            <a:r>
              <a:rPr b="0" lang="en-CA" sz="2000">
                <a:solidFill>
                  <a:schemeClr val="dk1"/>
                </a:solidFill>
              </a:rPr>
              <a:t>February 4, 2021</a:t>
            </a:r>
            <a:endParaRPr b="0" sz="2000">
              <a:solidFill>
                <a:schemeClr val="dk1"/>
              </a:solidFill>
            </a:endParaRPr>
          </a:p>
          <a:p>
            <a:pPr indent="0" lvl="0" marL="0" rtl="0" algn="l">
              <a:spcBef>
                <a:spcPts val="1000"/>
              </a:spcBef>
              <a:spcAft>
                <a:spcPts val="0"/>
              </a:spcAft>
              <a:buSzPts val="2000"/>
              <a:buNone/>
            </a:pPr>
            <a:r>
              <a:rPr b="0" lang="en-CA" sz="2000">
                <a:solidFill>
                  <a:schemeClr val="dk1"/>
                </a:solidFill>
              </a:rPr>
              <a:t>RBC</a:t>
            </a:r>
            <a:br>
              <a:rPr b="0" lang="en-CA" sz="2000">
                <a:solidFill>
                  <a:schemeClr val="dk1"/>
                </a:solidFill>
              </a:rPr>
            </a:br>
            <a:r>
              <a:rPr b="0" lang="en-CA" sz="2000">
                <a:solidFill>
                  <a:schemeClr val="dk1"/>
                </a:solidFill>
              </a:rPr>
              <a:t>88 Queens Quay West</a:t>
            </a:r>
            <a:br>
              <a:rPr b="0" lang="en-CA" sz="2000">
                <a:solidFill>
                  <a:schemeClr val="dk1"/>
                </a:solidFill>
              </a:rPr>
            </a:br>
            <a:r>
              <a:rPr b="0" lang="en-CA" sz="2000">
                <a:solidFill>
                  <a:schemeClr val="dk1"/>
                </a:solidFill>
              </a:rPr>
              <a:t>Toronto, ON  M5J 0B8</a:t>
            </a:r>
            <a:endParaRPr/>
          </a:p>
          <a:p>
            <a:pPr indent="0" lvl="0" marL="0" rtl="0" algn="l">
              <a:spcBef>
                <a:spcPts val="1000"/>
              </a:spcBef>
              <a:spcAft>
                <a:spcPts val="0"/>
              </a:spcAft>
              <a:buSzPts val="2000"/>
              <a:buNone/>
            </a:pPr>
            <a:r>
              <a:rPr b="0" lang="en-CA" sz="2000">
                <a:solidFill>
                  <a:schemeClr val="dk1"/>
                </a:solidFill>
              </a:rPr>
              <a:t>Re: UI/UX Designer Req ID:  316663</a:t>
            </a:r>
            <a:endParaRPr/>
          </a:p>
          <a:p>
            <a:pPr indent="0" lvl="0" marL="0" rtl="0" algn="l">
              <a:spcBef>
                <a:spcPts val="1000"/>
              </a:spcBef>
              <a:spcAft>
                <a:spcPts val="0"/>
              </a:spcAft>
              <a:buSzPts val="2000"/>
              <a:buNone/>
            </a:pPr>
            <a:r>
              <a:rPr b="0" lang="en-CA" sz="2000">
                <a:solidFill>
                  <a:schemeClr val="dk1"/>
                </a:solidFill>
              </a:rPr>
              <a:t>Dear Hiring Manager,</a:t>
            </a:r>
            <a:endParaRPr b="0" sz="2000">
              <a:solidFill>
                <a:schemeClr val="dk1"/>
              </a:solidFill>
            </a:endParaRPr>
          </a:p>
          <a:p>
            <a:pPr indent="0" lvl="0" marL="0" rtl="0" algn="ctr">
              <a:spcBef>
                <a:spcPts val="1050"/>
              </a:spcBef>
              <a:spcAft>
                <a:spcPts val="0"/>
              </a:spcAft>
              <a:buSzPts val="2200"/>
              <a:buNone/>
            </a:pPr>
            <a:r>
              <a:t/>
            </a:r>
            <a:endParaRPr sz="220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5"/>
          <p:cNvSpPr txBox="1"/>
          <p:nvPr>
            <p:ph type="ctrTitle"/>
          </p:nvPr>
        </p:nvSpPr>
        <p:spPr>
          <a:xfrm>
            <a:off x="1955800" y="517525"/>
            <a:ext cx="7188200" cy="431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a:t>First Paragraph - Introduction</a:t>
            </a:r>
            <a:endParaRPr/>
          </a:p>
        </p:txBody>
      </p:sp>
      <p:sp>
        <p:nvSpPr>
          <p:cNvPr id="93" name="Google Shape;93;p5"/>
          <p:cNvSpPr txBox="1"/>
          <p:nvPr>
            <p:ph idx="1" type="subTitle"/>
          </p:nvPr>
        </p:nvSpPr>
        <p:spPr>
          <a:xfrm>
            <a:off x="838200" y="1192213"/>
            <a:ext cx="7467600" cy="50228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000"/>
              <a:buNone/>
            </a:pPr>
            <a:r>
              <a:rPr lang="en-CA" sz="2000" u="sng">
                <a:solidFill>
                  <a:schemeClr val="dk1"/>
                </a:solidFill>
              </a:rPr>
              <a:t>Introduction</a:t>
            </a:r>
            <a:endParaRPr/>
          </a:p>
          <a:p>
            <a:pPr indent="0" lvl="0" marL="0" rtl="0" algn="l">
              <a:spcBef>
                <a:spcPts val="1000"/>
              </a:spcBef>
              <a:spcAft>
                <a:spcPts val="0"/>
              </a:spcAft>
              <a:buSzPts val="2000"/>
              <a:buNone/>
            </a:pPr>
            <a:r>
              <a:t/>
            </a:r>
            <a:endParaRPr sz="2000" u="sng">
              <a:solidFill>
                <a:schemeClr val="dk1"/>
              </a:solidFill>
            </a:endParaRPr>
          </a:p>
          <a:p>
            <a:pPr indent="-342900" lvl="0" marL="342900" rtl="0" algn="l">
              <a:spcBef>
                <a:spcPts val="1000"/>
              </a:spcBef>
              <a:spcAft>
                <a:spcPts val="0"/>
              </a:spcAft>
              <a:buSzPts val="2000"/>
              <a:buFont typeface="Arial"/>
              <a:buChar char="•"/>
            </a:pPr>
            <a:r>
              <a:rPr lang="en-CA" sz="2000">
                <a:solidFill>
                  <a:schemeClr val="dk1"/>
                </a:solidFill>
              </a:rPr>
              <a:t>Use this paragraph to introduce yourself and to get the          attention of the employer. </a:t>
            </a:r>
            <a:endParaRPr/>
          </a:p>
          <a:p>
            <a:pPr indent="-342900" lvl="0" marL="342900" rtl="0" algn="l">
              <a:spcBef>
                <a:spcPts val="1000"/>
              </a:spcBef>
              <a:spcAft>
                <a:spcPts val="0"/>
              </a:spcAft>
              <a:buSzPts val="2000"/>
              <a:buFont typeface="Arial"/>
              <a:buChar char="•"/>
            </a:pPr>
            <a:r>
              <a:rPr lang="en-CA" sz="2000">
                <a:solidFill>
                  <a:schemeClr val="dk1"/>
                </a:solidFill>
              </a:rPr>
              <a:t>Be professional and polite in language and tone. </a:t>
            </a:r>
            <a:endParaRPr/>
          </a:p>
          <a:p>
            <a:pPr indent="-342900" lvl="0" marL="342900" rtl="0" algn="l">
              <a:spcBef>
                <a:spcPts val="1000"/>
              </a:spcBef>
              <a:spcAft>
                <a:spcPts val="0"/>
              </a:spcAft>
              <a:buSzPts val="2000"/>
              <a:buFont typeface="Arial"/>
              <a:buChar char="•"/>
            </a:pPr>
            <a:r>
              <a:rPr lang="en-CA" sz="2000">
                <a:solidFill>
                  <a:schemeClr val="dk1"/>
                </a:solidFill>
              </a:rPr>
              <a:t>Mention the position you are applying for, why you are applying for the job, and how you found out about it. </a:t>
            </a:r>
            <a:endParaRPr/>
          </a:p>
          <a:p>
            <a:pPr indent="-342900" lvl="0" marL="342900" rtl="0" algn="l">
              <a:spcBef>
                <a:spcPts val="1000"/>
              </a:spcBef>
              <a:spcAft>
                <a:spcPts val="0"/>
              </a:spcAft>
              <a:buSzPts val="2000"/>
              <a:buFont typeface="Arial"/>
              <a:buChar char="•"/>
            </a:pPr>
            <a:r>
              <a:rPr lang="en-CA" sz="2000">
                <a:solidFill>
                  <a:schemeClr val="dk1"/>
                </a:solidFill>
              </a:rPr>
              <a:t>Show interest in the organization and explain why you would like to be part of it.</a:t>
            </a:r>
            <a:endParaRPr/>
          </a:p>
          <a:p>
            <a:pPr indent="-342900" lvl="0" marL="342900" rtl="0" algn="l">
              <a:spcBef>
                <a:spcPts val="1000"/>
              </a:spcBef>
              <a:spcAft>
                <a:spcPts val="0"/>
              </a:spcAft>
              <a:buSzPts val="2000"/>
              <a:buFont typeface="Arial"/>
              <a:buChar char="•"/>
            </a:pPr>
            <a:r>
              <a:rPr lang="en-CA" sz="2000">
                <a:solidFill>
                  <a:schemeClr val="dk1"/>
                </a:solidFill>
              </a:rPr>
              <a:t>Include the name and job title of a mutual contact, if you have one.</a:t>
            </a:r>
            <a:endParaRPr sz="2000">
              <a:solidFill>
                <a:schemeClr val="dk1"/>
              </a:solidFill>
            </a:endParaRPr>
          </a:p>
          <a:p>
            <a:pPr indent="0" lvl="0" marL="0" rtl="0" algn="ctr">
              <a:spcBef>
                <a:spcPts val="1050"/>
              </a:spcBef>
              <a:spcAft>
                <a:spcPts val="0"/>
              </a:spcAft>
              <a:buSzPts val="2200"/>
              <a:buNone/>
            </a:pPr>
            <a:r>
              <a:t/>
            </a:r>
            <a:endParaRPr sz="220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6"/>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sz="3200"/>
              <a:t>Introduction paragraph example</a:t>
            </a:r>
            <a:endParaRPr/>
          </a:p>
        </p:txBody>
      </p:sp>
      <p:sp>
        <p:nvSpPr>
          <p:cNvPr id="100" name="Google Shape;100;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000"/>
              <a:buNone/>
            </a:pPr>
            <a:r>
              <a:rPr lang="en-CA" sz="2000">
                <a:highlight>
                  <a:srgbClr val="FFFF00"/>
                </a:highlight>
              </a:rPr>
              <a:t>Example only do your own research </a:t>
            </a:r>
            <a:endParaRPr/>
          </a:p>
          <a:p>
            <a:pPr indent="0" lvl="0" marL="0" rtl="0" algn="l">
              <a:spcBef>
                <a:spcPts val="1000"/>
              </a:spcBef>
              <a:spcAft>
                <a:spcPts val="0"/>
              </a:spcAft>
              <a:buSzPts val="2000"/>
              <a:buNone/>
            </a:pPr>
            <a:r>
              <a:t/>
            </a:r>
            <a:endParaRPr sz="2000">
              <a:solidFill>
                <a:schemeClr val="dk1"/>
              </a:solidFill>
            </a:endParaRPr>
          </a:p>
          <a:p>
            <a:pPr indent="0" lvl="0" marL="0" rtl="0" algn="l">
              <a:spcBef>
                <a:spcPts val="1000"/>
              </a:spcBef>
              <a:spcAft>
                <a:spcPts val="0"/>
              </a:spcAft>
              <a:buSzPts val="2000"/>
              <a:buNone/>
            </a:pPr>
            <a:r>
              <a:rPr b="0" i="0" lang="en-CA" sz="2000">
                <a:solidFill>
                  <a:srgbClr val="374151"/>
                </a:solidFill>
              </a:rPr>
              <a:t>I am writing to express my interest in the AI Backend Developer Co-op/Internship position for Summer 2024 at Intact advertised on your website. Currently enrolled in the Applied AI Solutions Development postgraduate program at George Brown College, I am eager to apply my advanced skills and knowledge to contribute to your dynamic team.</a:t>
            </a:r>
            <a:endParaRPr sz="2000">
              <a:solidFill>
                <a:schemeClr val="dk1"/>
              </a:solidFill>
            </a:endParaRPr>
          </a:p>
          <a:p>
            <a:pPr indent="-165100" lvl="0" marL="342900" rtl="0" algn="l">
              <a:spcBef>
                <a:spcPts val="1200"/>
              </a:spcBef>
              <a:spcAft>
                <a:spcPts val="0"/>
              </a:spcAft>
              <a:buSzPts val="2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7"/>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a:t>Introduction with a referral </a:t>
            </a:r>
            <a:endParaRPr/>
          </a:p>
        </p:txBody>
      </p:sp>
      <p:sp>
        <p:nvSpPr>
          <p:cNvPr id="107" name="Google Shape;107;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000"/>
              <a:buNone/>
            </a:pPr>
            <a:r>
              <a:rPr lang="en-CA" sz="2000">
                <a:highlight>
                  <a:srgbClr val="FFFF00"/>
                </a:highlight>
              </a:rPr>
              <a:t>Example only do your own research </a:t>
            </a:r>
            <a:endParaRPr/>
          </a:p>
          <a:p>
            <a:pPr indent="0" lvl="0" marL="0" rtl="0" algn="l">
              <a:spcBef>
                <a:spcPts val="1000"/>
              </a:spcBef>
              <a:spcAft>
                <a:spcPts val="0"/>
              </a:spcAft>
              <a:buSzPts val="2000"/>
              <a:buNone/>
            </a:pPr>
            <a:r>
              <a:rPr lang="en-CA" sz="2000">
                <a:latin typeface="Arial"/>
                <a:ea typeface="Arial"/>
                <a:cs typeface="Arial"/>
                <a:sym typeface="Arial"/>
              </a:rPr>
              <a:t>I am writing to express my interest in the AI Backend Developer Co-op/Internship position for Summer 2024 at Intact, a role that Ahmed Khan, Director of Technology, recommended to me. Ahmed and I have had the pleasure of collaborating on an academic project during my enrollment in the Applied AI Solutions Development postgraduate program at George Brown College.</a:t>
            </a:r>
            <a:endParaRPr/>
          </a:p>
          <a:p>
            <a:pPr indent="0" lvl="0" marL="0" rtl="0" algn="l">
              <a:spcBef>
                <a:spcPts val="1000"/>
              </a:spcBef>
              <a:spcAft>
                <a:spcPts val="0"/>
              </a:spcAft>
              <a:buSzPts val="2000"/>
              <a:buNone/>
            </a:pPr>
            <a:r>
              <a:t/>
            </a:r>
            <a:endParaRPr sz="2000">
              <a:highlight>
                <a:srgbClr val="FFFF00"/>
              </a:highlight>
            </a:endParaRPr>
          </a:p>
          <a:p>
            <a:pPr indent="0" lvl="0" marL="0" rtl="0" algn="l">
              <a:spcBef>
                <a:spcPts val="950"/>
              </a:spcBef>
              <a:spcAft>
                <a:spcPts val="0"/>
              </a:spcAft>
              <a:buSzPts val="1800"/>
              <a:buNone/>
            </a:pPr>
            <a:r>
              <a:t/>
            </a:r>
            <a:endParaRPr sz="1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8"/>
          <p:cNvSpPr txBox="1"/>
          <p:nvPr>
            <p:ph type="ctrTitle"/>
          </p:nvPr>
        </p:nvSpPr>
        <p:spPr>
          <a:xfrm>
            <a:off x="1955800" y="517525"/>
            <a:ext cx="7188200" cy="431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a:t>Second Paragraph - Body</a:t>
            </a:r>
            <a:endParaRPr/>
          </a:p>
        </p:txBody>
      </p:sp>
      <p:sp>
        <p:nvSpPr>
          <p:cNvPr id="114" name="Google Shape;114;p8"/>
          <p:cNvSpPr txBox="1"/>
          <p:nvPr>
            <p:ph idx="1" type="subTitle"/>
          </p:nvPr>
        </p:nvSpPr>
        <p:spPr>
          <a:xfrm>
            <a:off x="838200" y="1192213"/>
            <a:ext cx="7467600" cy="50228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000"/>
              <a:buNone/>
            </a:pPr>
            <a:r>
              <a:rPr lang="en-CA" sz="2000" u="sng">
                <a:solidFill>
                  <a:schemeClr val="dk1"/>
                </a:solidFill>
              </a:rPr>
              <a:t>Body</a:t>
            </a:r>
            <a:endParaRPr/>
          </a:p>
          <a:p>
            <a:pPr indent="0" lvl="0" marL="0" rtl="0" algn="l">
              <a:spcBef>
                <a:spcPts val="1000"/>
              </a:spcBef>
              <a:spcAft>
                <a:spcPts val="0"/>
              </a:spcAft>
              <a:buSzPts val="2000"/>
              <a:buNone/>
            </a:pPr>
            <a:r>
              <a:t/>
            </a:r>
            <a:endParaRPr sz="2000">
              <a:solidFill>
                <a:schemeClr val="dk1"/>
              </a:solidFill>
            </a:endParaRPr>
          </a:p>
          <a:p>
            <a:pPr indent="-342900" lvl="0" marL="342900" rtl="0" algn="l">
              <a:spcBef>
                <a:spcPts val="1000"/>
              </a:spcBef>
              <a:spcAft>
                <a:spcPts val="0"/>
              </a:spcAft>
              <a:buSzPts val="2000"/>
              <a:buFont typeface="Arial"/>
              <a:buChar char="•"/>
            </a:pPr>
            <a:r>
              <a:rPr lang="en-CA" sz="2000">
                <a:solidFill>
                  <a:schemeClr val="dk1"/>
                </a:solidFill>
              </a:rPr>
              <a:t>The next section of your cover letter should describe what you have to offer the employer. </a:t>
            </a:r>
            <a:endParaRPr/>
          </a:p>
          <a:p>
            <a:pPr indent="-342900" lvl="0" marL="342900" rtl="0" algn="l">
              <a:spcBef>
                <a:spcPts val="1000"/>
              </a:spcBef>
              <a:spcAft>
                <a:spcPts val="0"/>
              </a:spcAft>
              <a:buSzPts val="2000"/>
              <a:buFont typeface="Arial"/>
              <a:buChar char="•"/>
            </a:pPr>
            <a:r>
              <a:rPr lang="en-CA" sz="2000">
                <a:solidFill>
                  <a:schemeClr val="dk1"/>
                </a:solidFill>
              </a:rPr>
              <a:t>Mention specifically how your qualifications match the job you are applying for.  Customize, Customize Customize….. </a:t>
            </a:r>
            <a:endParaRPr/>
          </a:p>
          <a:p>
            <a:pPr indent="-342900" lvl="0" marL="342900" rtl="0" algn="l">
              <a:spcBef>
                <a:spcPts val="1000"/>
              </a:spcBef>
              <a:spcAft>
                <a:spcPts val="0"/>
              </a:spcAft>
              <a:buSzPts val="2000"/>
              <a:buFont typeface="Arial"/>
              <a:buChar char="•"/>
            </a:pPr>
            <a:r>
              <a:rPr lang="en-CA" sz="2000">
                <a:solidFill>
                  <a:schemeClr val="dk1"/>
                </a:solidFill>
              </a:rPr>
              <a:t>Remember, you are interpreting your resume, not repeating it. </a:t>
            </a:r>
            <a:endParaRPr/>
          </a:p>
          <a:p>
            <a:pPr indent="-342900" lvl="0" marL="342900" rtl="0" algn="l">
              <a:spcBef>
                <a:spcPts val="1000"/>
              </a:spcBef>
              <a:spcAft>
                <a:spcPts val="0"/>
              </a:spcAft>
              <a:buSzPts val="2000"/>
              <a:buFont typeface="Arial"/>
              <a:buChar char="•"/>
            </a:pPr>
            <a:r>
              <a:rPr lang="en-CA" sz="2000">
                <a:solidFill>
                  <a:schemeClr val="dk1"/>
                </a:solidFill>
              </a:rPr>
              <a:t>Don’t use bullets </a:t>
            </a:r>
            <a:endParaRPr sz="2000">
              <a:solidFill>
                <a:schemeClr val="dk1"/>
              </a:solidFill>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9"/>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a:t>Body Paragraph - Example</a:t>
            </a:r>
            <a:endParaRPr/>
          </a:p>
        </p:txBody>
      </p:sp>
      <p:sp>
        <p:nvSpPr>
          <p:cNvPr id="121" name="Google Shape;121;p9"/>
          <p:cNvSpPr txBox="1"/>
          <p:nvPr>
            <p:ph idx="1" type="body"/>
          </p:nvPr>
        </p:nvSpPr>
        <p:spPr>
          <a:xfrm>
            <a:off x="457200" y="1266092"/>
            <a:ext cx="8229600" cy="521090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600"/>
              <a:buNone/>
            </a:pPr>
            <a:r>
              <a:rPr lang="en-CA" sz="1600">
                <a:highlight>
                  <a:srgbClr val="FFFF00"/>
                </a:highlight>
              </a:rPr>
              <a:t>Example only do your own research, this is just an example</a:t>
            </a:r>
            <a:endParaRPr/>
          </a:p>
          <a:p>
            <a:pPr indent="0" lvl="0" marL="0" rtl="0" algn="l">
              <a:spcBef>
                <a:spcPts val="800"/>
              </a:spcBef>
              <a:spcAft>
                <a:spcPts val="0"/>
              </a:spcAft>
              <a:buSzPts val="1600"/>
              <a:buNone/>
            </a:pPr>
            <a:r>
              <a:rPr lang="en-CA" sz="1600"/>
              <a:t>In the Applied AI Solutions Development postgraduate program at George Brown College, I further strengthened my foundation in programming languages, including Python and Java, aligning with the technical requirements outlined in the AI Backend Developer role. The coursework and projects undertaken in the program provided me with a comprehensive understanding of artificial intelligence concepts and the agile way of working. My dedication to staying abreast of the latest technologies and methodologies, coupled with my practical experiences, positions me as a candidate ready to contribute effectively to Intact's AI team.</a:t>
            </a:r>
            <a:endParaRPr sz="1600">
              <a:highlight>
                <a:srgbClr val="FFFF00"/>
              </a:highlight>
            </a:endParaRPr>
          </a:p>
          <a:p>
            <a:pPr indent="0" lvl="0" marL="0" rtl="0" algn="l">
              <a:spcBef>
                <a:spcPts val="800"/>
              </a:spcBef>
              <a:spcAft>
                <a:spcPts val="0"/>
              </a:spcAft>
              <a:buSzPts val="1600"/>
              <a:buNone/>
            </a:pPr>
            <a:r>
              <a:rPr lang="en-CA" sz="1600">
                <a:highlight>
                  <a:srgbClr val="FFFF00"/>
                </a:highlight>
              </a:rPr>
              <a:t>You can have a second body paragraph if you have past relevant experience example</a:t>
            </a:r>
            <a:endParaRPr sz="1600">
              <a:highlight>
                <a:srgbClr val="FFFF00"/>
              </a:highlight>
            </a:endParaRPr>
          </a:p>
          <a:p>
            <a:pPr indent="0" lvl="0" marL="0" rtl="0" algn="l">
              <a:spcBef>
                <a:spcPts val="800"/>
              </a:spcBef>
              <a:spcAft>
                <a:spcPts val="0"/>
              </a:spcAft>
              <a:buSzPts val="1600"/>
              <a:buNone/>
            </a:pPr>
            <a:r>
              <a:rPr lang="en-CA" sz="1600"/>
              <a:t>I had the opportunity to actively engage in the design, testing, and development of back-end solutions for artificial intelligence teams. My role required a high level of proficiency in Python and Java programming, enabling me to contribute effectively to the implementation of major systems within Agile teams. I was responsible for transforming complex data sets into actionable insights, utilizing my analytical skills to provide valuable recommendations. Additionally, I played a pivotal role in the preparation of technical documentation, ensuring its accuracy and completeness to support the deployment and maintenance of systems.</a:t>
            </a:r>
            <a:endParaRPr/>
          </a:p>
          <a:p>
            <a:pPr indent="0" lvl="0" marL="0" rtl="0" algn="l">
              <a:spcBef>
                <a:spcPts val="1100"/>
              </a:spcBef>
              <a:spcAft>
                <a:spcPts val="0"/>
              </a:spcAft>
              <a:buSzPts val="2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0"/>
          <p:cNvSpPr txBox="1"/>
          <p:nvPr>
            <p:ph type="ctrTitle"/>
          </p:nvPr>
        </p:nvSpPr>
        <p:spPr>
          <a:xfrm>
            <a:off x="1955800" y="517525"/>
            <a:ext cx="7188200" cy="431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a:t>Closing Paragraph </a:t>
            </a:r>
            <a:endParaRPr/>
          </a:p>
        </p:txBody>
      </p:sp>
      <p:sp>
        <p:nvSpPr>
          <p:cNvPr id="128" name="Google Shape;128;p10"/>
          <p:cNvSpPr txBox="1"/>
          <p:nvPr>
            <p:ph idx="1" type="subTitle"/>
          </p:nvPr>
        </p:nvSpPr>
        <p:spPr>
          <a:xfrm>
            <a:off x="838200" y="1192213"/>
            <a:ext cx="7467600" cy="50228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000"/>
              <a:buNone/>
            </a:pPr>
            <a:r>
              <a:rPr lang="en-CA" sz="2000" u="sng">
                <a:solidFill>
                  <a:schemeClr val="dk1"/>
                </a:solidFill>
              </a:rPr>
              <a:t>Closing</a:t>
            </a:r>
            <a:endParaRPr sz="2000">
              <a:solidFill>
                <a:schemeClr val="dk1"/>
              </a:solidFill>
            </a:endParaRPr>
          </a:p>
          <a:p>
            <a:pPr indent="-342900" lvl="0" marL="342900" rtl="0" algn="l">
              <a:spcBef>
                <a:spcPts val="1000"/>
              </a:spcBef>
              <a:spcAft>
                <a:spcPts val="0"/>
              </a:spcAft>
              <a:buSzPts val="2000"/>
              <a:buFont typeface="Arial"/>
              <a:buChar char="•"/>
            </a:pPr>
            <a:r>
              <a:rPr b="0" lang="en-CA" sz="2000">
                <a:solidFill>
                  <a:schemeClr val="dk1"/>
                </a:solidFill>
              </a:rPr>
              <a:t>Conclude your cover letter by thanking the employer for considering you for the position. </a:t>
            </a:r>
            <a:endParaRPr/>
          </a:p>
          <a:p>
            <a:pPr indent="-342900" lvl="0" marL="342900" rtl="0" algn="l">
              <a:spcBef>
                <a:spcPts val="1000"/>
              </a:spcBef>
              <a:spcAft>
                <a:spcPts val="0"/>
              </a:spcAft>
              <a:buSzPts val="2000"/>
              <a:buFont typeface="Arial"/>
              <a:buChar char="•"/>
            </a:pPr>
            <a:r>
              <a:rPr b="0" lang="en-CA" sz="2000">
                <a:solidFill>
                  <a:schemeClr val="dk1"/>
                </a:solidFill>
              </a:rPr>
              <a:t>Include a call to Action, I look forward to hearing from you to set up a time for an interview. </a:t>
            </a:r>
            <a:endParaRPr/>
          </a:p>
          <a:p>
            <a:pPr indent="-342900" lvl="0" marL="342900" rtl="0" algn="l">
              <a:spcBef>
                <a:spcPts val="1000"/>
              </a:spcBef>
              <a:spcAft>
                <a:spcPts val="0"/>
              </a:spcAft>
              <a:buSzPts val="2000"/>
              <a:buFont typeface="Arial"/>
              <a:buChar char="•"/>
            </a:pPr>
            <a:r>
              <a:rPr b="0" lang="en-CA" sz="2000">
                <a:solidFill>
                  <a:schemeClr val="dk1"/>
                </a:solidFill>
              </a:rPr>
              <a:t>Include information on how you will follow-up (if you have a contact name). </a:t>
            </a:r>
            <a:endParaRPr/>
          </a:p>
          <a:p>
            <a:pPr indent="-342900" lvl="0" marL="342900" rtl="0" algn="l">
              <a:spcBef>
                <a:spcPts val="1000"/>
              </a:spcBef>
              <a:spcAft>
                <a:spcPts val="0"/>
              </a:spcAft>
              <a:buSzPts val="2000"/>
              <a:buFont typeface="Arial"/>
              <a:buChar char="•"/>
            </a:pPr>
            <a:r>
              <a:rPr b="0" lang="en-CA" sz="2000">
                <a:solidFill>
                  <a:schemeClr val="dk1"/>
                </a:solidFill>
              </a:rPr>
              <a:t>If you don’t have a contact name you will have to have them contact you, let them know they can reach you at 416... and at your email address. (yes put your phone number and email address in this paragraph)</a:t>
            </a:r>
            <a:endParaRPr b="0" sz="2200">
              <a:solidFill>
                <a:schemeClr val="dk1"/>
              </a:solidFill>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1"/>
          <p:cNvSpPr txBox="1"/>
          <p:nvPr>
            <p:ph type="ctrTitle"/>
          </p:nvPr>
        </p:nvSpPr>
        <p:spPr>
          <a:xfrm>
            <a:off x="1955800" y="517525"/>
            <a:ext cx="7188200" cy="431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a:t>Closing Paragraph - Example</a:t>
            </a:r>
            <a:endParaRPr/>
          </a:p>
        </p:txBody>
      </p:sp>
      <p:sp>
        <p:nvSpPr>
          <p:cNvPr id="135" name="Google Shape;135;p11"/>
          <p:cNvSpPr txBox="1"/>
          <p:nvPr>
            <p:ph idx="1" type="subTitle"/>
          </p:nvPr>
        </p:nvSpPr>
        <p:spPr>
          <a:xfrm>
            <a:off x="625642" y="1192212"/>
            <a:ext cx="8229600" cy="537702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000"/>
              <a:buNone/>
            </a:pPr>
            <a:r>
              <a:rPr b="0" lang="en-CA" sz="2000" u="sng">
                <a:solidFill>
                  <a:schemeClr val="dk1"/>
                </a:solidFill>
                <a:highlight>
                  <a:srgbClr val="FFFF00"/>
                </a:highlight>
              </a:rPr>
              <a:t>With a signature </a:t>
            </a:r>
            <a:endParaRPr b="0" sz="2000">
              <a:solidFill>
                <a:schemeClr val="dk1"/>
              </a:solidFill>
              <a:highlight>
                <a:srgbClr val="FFFF00"/>
              </a:highlight>
            </a:endParaRPr>
          </a:p>
          <a:p>
            <a:pPr indent="0" lvl="0" marL="0" rtl="0" algn="ctr">
              <a:spcBef>
                <a:spcPts val="950"/>
              </a:spcBef>
              <a:spcAft>
                <a:spcPts val="0"/>
              </a:spcAft>
              <a:buSzPts val="1800"/>
              <a:buFont typeface="Noto Sans Symbols"/>
              <a:buNone/>
            </a:pPr>
            <a:r>
              <a:rPr lang="en-CA" sz="1800">
                <a:solidFill>
                  <a:schemeClr val="dk1"/>
                </a:solidFill>
                <a:latin typeface="Arial"/>
                <a:ea typeface="Arial"/>
                <a:cs typeface="Arial"/>
                <a:sym typeface="Arial"/>
              </a:rPr>
              <a:t> </a:t>
            </a:r>
            <a:endParaRPr/>
          </a:p>
          <a:p>
            <a:pPr indent="0" lvl="0" marL="0" rtl="0" algn="l">
              <a:spcBef>
                <a:spcPts val="900"/>
              </a:spcBef>
              <a:spcAft>
                <a:spcPts val="0"/>
              </a:spcAft>
              <a:buSzPts val="1800"/>
              <a:buNone/>
            </a:pPr>
            <a:r>
              <a:rPr b="0" lang="en-CA" sz="1800">
                <a:solidFill>
                  <a:schemeClr val="dk1"/>
                </a:solidFill>
                <a:latin typeface="Arial"/>
                <a:ea typeface="Arial"/>
                <a:cs typeface="Arial"/>
                <a:sym typeface="Arial"/>
              </a:rPr>
              <a:t>Thank you for considering my application. I am enthusiastic about the opportunity to contribute my skills to Intact’s dynamic team. I look forward to discussing how my experiences align with the requirements of the AI Backend Developer Co-op/Internship position in greater detail. Please feel free to contact me at (Your Phone Number) or (Your Email Address) to schedule a conversation. Thank you for your time, and I am excited about the prospect of potentially joining Intact.</a:t>
            </a:r>
            <a:endParaRPr/>
          </a:p>
          <a:p>
            <a:pPr indent="0" lvl="0" marL="0" rtl="0" algn="l">
              <a:spcBef>
                <a:spcPts val="900"/>
              </a:spcBef>
              <a:spcAft>
                <a:spcPts val="0"/>
              </a:spcAft>
              <a:buSzPts val="1800"/>
              <a:buNone/>
            </a:pPr>
            <a:r>
              <a:rPr b="0" lang="en-CA" sz="1800">
                <a:solidFill>
                  <a:schemeClr val="dk1"/>
                </a:solidFill>
                <a:latin typeface="Arial"/>
                <a:ea typeface="Arial"/>
                <a:cs typeface="Arial"/>
                <a:sym typeface="Arial"/>
              </a:rPr>
              <a:t>Thank you,</a:t>
            </a:r>
            <a:endParaRPr/>
          </a:p>
          <a:p>
            <a:pPr indent="0" lvl="0" marL="0" rtl="0" algn="l">
              <a:spcBef>
                <a:spcPts val="900"/>
              </a:spcBef>
              <a:spcAft>
                <a:spcPts val="0"/>
              </a:spcAft>
              <a:buSzPts val="1800"/>
              <a:buNone/>
            </a:pPr>
            <a:r>
              <a:t/>
            </a:r>
            <a:endParaRPr b="0" sz="1800">
              <a:solidFill>
                <a:schemeClr val="dk1"/>
              </a:solidFill>
              <a:latin typeface="Arial"/>
              <a:ea typeface="Arial"/>
              <a:cs typeface="Arial"/>
              <a:sym typeface="Arial"/>
            </a:endParaRPr>
          </a:p>
          <a:p>
            <a:pPr indent="0" lvl="0" marL="0" rtl="0" algn="l">
              <a:spcBef>
                <a:spcPts val="900"/>
              </a:spcBef>
              <a:spcAft>
                <a:spcPts val="0"/>
              </a:spcAft>
              <a:buSzPts val="1800"/>
              <a:buNone/>
            </a:pPr>
            <a:r>
              <a:t/>
            </a:r>
            <a:endParaRPr b="0" sz="1800">
              <a:solidFill>
                <a:schemeClr val="dk1"/>
              </a:solidFill>
              <a:latin typeface="Arial"/>
              <a:ea typeface="Arial"/>
              <a:cs typeface="Arial"/>
              <a:sym typeface="Arial"/>
            </a:endParaRPr>
          </a:p>
          <a:p>
            <a:pPr indent="0" lvl="0" marL="0" rtl="0" algn="l">
              <a:spcBef>
                <a:spcPts val="900"/>
              </a:spcBef>
              <a:spcAft>
                <a:spcPts val="0"/>
              </a:spcAft>
              <a:buSzPts val="1800"/>
              <a:buNone/>
            </a:pPr>
            <a:r>
              <a:rPr b="0" lang="en-CA" sz="1800">
                <a:solidFill>
                  <a:schemeClr val="dk1"/>
                </a:solidFill>
                <a:latin typeface="Arial"/>
                <a:ea typeface="Arial"/>
                <a:cs typeface="Arial"/>
                <a:sym typeface="Arial"/>
              </a:rPr>
              <a:t>Maryanne (Mary) Smith</a:t>
            </a:r>
            <a:endParaRPr b="0" sz="1800">
              <a:solidFill>
                <a:schemeClr val="dk1"/>
              </a:solidFill>
              <a:latin typeface="Arial"/>
              <a:ea typeface="Arial"/>
              <a:cs typeface="Arial"/>
              <a:sym typeface="Arial"/>
            </a:endParaRPr>
          </a:p>
        </p:txBody>
      </p:sp>
      <p:pic>
        <p:nvPicPr>
          <p:cNvPr id="136" name="Google Shape;136;p11"/>
          <p:cNvPicPr preferRelativeResize="0"/>
          <p:nvPr/>
        </p:nvPicPr>
        <p:blipFill rotWithShape="1">
          <a:blip r:embed="rId3">
            <a:alphaModFix/>
          </a:blip>
          <a:srcRect b="0" l="0" r="0" t="0"/>
          <a:stretch/>
        </p:blipFill>
        <p:spPr>
          <a:xfrm>
            <a:off x="838200" y="4554415"/>
            <a:ext cx="2170113" cy="570287"/>
          </a:xfrm>
          <a:prstGeom prst="rect">
            <a:avLst/>
          </a:prstGeom>
          <a:noFill/>
          <a:ln>
            <a:noFill/>
          </a:ln>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2"/>
          <p:cNvSpPr txBox="1"/>
          <p:nvPr>
            <p:ph type="ctrTitle"/>
          </p:nvPr>
        </p:nvSpPr>
        <p:spPr>
          <a:xfrm>
            <a:off x="1955800" y="517525"/>
            <a:ext cx="7188200" cy="431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a:t>Closing Paragraph - Example</a:t>
            </a:r>
            <a:endParaRPr/>
          </a:p>
        </p:txBody>
      </p:sp>
      <p:sp>
        <p:nvSpPr>
          <p:cNvPr id="143" name="Google Shape;143;p12"/>
          <p:cNvSpPr txBox="1"/>
          <p:nvPr>
            <p:ph idx="1" type="subTitle"/>
          </p:nvPr>
        </p:nvSpPr>
        <p:spPr>
          <a:xfrm>
            <a:off x="745958" y="1192213"/>
            <a:ext cx="7892716" cy="50228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000"/>
              <a:buNone/>
            </a:pPr>
            <a:r>
              <a:rPr b="0" lang="en-CA" sz="2000" u="sng">
                <a:solidFill>
                  <a:schemeClr val="dk1"/>
                </a:solidFill>
                <a:highlight>
                  <a:srgbClr val="FFFF00"/>
                </a:highlight>
              </a:rPr>
              <a:t>Without a signature</a:t>
            </a:r>
            <a:endParaRPr/>
          </a:p>
          <a:p>
            <a:pPr indent="0" lvl="0" marL="0" rtl="0" algn="l">
              <a:spcBef>
                <a:spcPts val="900"/>
              </a:spcBef>
              <a:spcAft>
                <a:spcPts val="0"/>
              </a:spcAft>
              <a:buSzPts val="1600"/>
              <a:buNone/>
            </a:pPr>
            <a:r>
              <a:t/>
            </a:r>
            <a:endParaRPr b="0" sz="1600">
              <a:solidFill>
                <a:schemeClr val="dk1"/>
              </a:solidFill>
            </a:endParaRPr>
          </a:p>
          <a:p>
            <a:pPr indent="0" lvl="0" marL="0" rtl="0" algn="l">
              <a:spcBef>
                <a:spcPts val="850"/>
              </a:spcBef>
              <a:spcAft>
                <a:spcPts val="0"/>
              </a:spcAft>
              <a:buSzPts val="1800"/>
              <a:buNone/>
            </a:pPr>
            <a:r>
              <a:rPr b="0" lang="en-CA" sz="1800">
                <a:solidFill>
                  <a:schemeClr val="dk1"/>
                </a:solidFill>
                <a:latin typeface="Arial"/>
                <a:ea typeface="Arial"/>
                <a:cs typeface="Arial"/>
                <a:sym typeface="Arial"/>
              </a:rPr>
              <a:t>Thank you for considering my application. I am enthusiastic about the opportunity to contribute my skills to Intact’s dynamic team. I look forward to discussing how my experiences align with the requirements of the AI Backend Developer Co-op/Internship position in greater detail. Please feel free to contact me at (Your Phone Number) or (Your Email Address) to schedule a conversation. Thank you for your time, and I am excited about the prospect of potentially joining Intact.</a:t>
            </a:r>
            <a:endParaRPr/>
          </a:p>
          <a:p>
            <a:pPr indent="0" lvl="0" marL="0" rtl="0" algn="l">
              <a:spcBef>
                <a:spcPts val="900"/>
              </a:spcBef>
              <a:spcAft>
                <a:spcPts val="0"/>
              </a:spcAft>
              <a:buSzPts val="1800"/>
              <a:buNone/>
            </a:pPr>
            <a:r>
              <a:t/>
            </a:r>
            <a:endParaRPr b="0" sz="1800">
              <a:solidFill>
                <a:schemeClr val="dk1"/>
              </a:solidFill>
            </a:endParaRPr>
          </a:p>
          <a:p>
            <a:pPr indent="0" lvl="0" marL="0" rtl="0" algn="l">
              <a:spcBef>
                <a:spcPts val="900"/>
              </a:spcBef>
              <a:spcAft>
                <a:spcPts val="0"/>
              </a:spcAft>
              <a:buSzPts val="1800"/>
              <a:buNone/>
            </a:pPr>
            <a:r>
              <a:rPr b="0" lang="en-CA" sz="1800">
                <a:solidFill>
                  <a:schemeClr val="dk1"/>
                </a:solidFill>
              </a:rPr>
              <a:t>Thank you,</a:t>
            </a:r>
            <a:endParaRPr/>
          </a:p>
          <a:p>
            <a:pPr indent="0" lvl="0" marL="0" rtl="0" algn="l">
              <a:spcBef>
                <a:spcPts val="900"/>
              </a:spcBef>
              <a:spcAft>
                <a:spcPts val="0"/>
              </a:spcAft>
              <a:buSzPts val="1800"/>
              <a:buNone/>
            </a:pPr>
            <a:r>
              <a:t/>
            </a:r>
            <a:endParaRPr b="0" sz="1800">
              <a:solidFill>
                <a:schemeClr val="dk1"/>
              </a:solidFill>
            </a:endParaRPr>
          </a:p>
          <a:p>
            <a:pPr indent="0" lvl="0" marL="0" rtl="0" algn="l">
              <a:spcBef>
                <a:spcPts val="900"/>
              </a:spcBef>
              <a:spcAft>
                <a:spcPts val="0"/>
              </a:spcAft>
              <a:buSzPts val="1800"/>
              <a:buNone/>
            </a:pPr>
            <a:r>
              <a:rPr b="0" lang="en-CA" sz="1800">
                <a:solidFill>
                  <a:schemeClr val="dk1"/>
                </a:solidFill>
              </a:rPr>
              <a:t>Maryanne (Mary) Smith</a:t>
            </a:r>
            <a:endParaRPr b="0" sz="1800">
              <a:solidFill>
                <a:schemeClr val="dk1"/>
              </a:solidFill>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3"/>
          <p:cNvSpPr txBox="1"/>
          <p:nvPr>
            <p:ph type="ctrTitle"/>
          </p:nvPr>
        </p:nvSpPr>
        <p:spPr>
          <a:xfrm>
            <a:off x="1955800" y="517525"/>
            <a:ext cx="7188200" cy="431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a:t>Resume - Heading</a:t>
            </a:r>
            <a:endParaRPr/>
          </a:p>
        </p:txBody>
      </p:sp>
      <p:sp>
        <p:nvSpPr>
          <p:cNvPr id="150" name="Google Shape;150;p13"/>
          <p:cNvSpPr txBox="1"/>
          <p:nvPr>
            <p:ph idx="1" type="subTitle"/>
          </p:nvPr>
        </p:nvSpPr>
        <p:spPr>
          <a:xfrm>
            <a:off x="838200" y="1192213"/>
            <a:ext cx="7467600" cy="50228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2200"/>
              <a:buNone/>
            </a:pPr>
            <a:r>
              <a:rPr lang="en-CA" sz="2200">
                <a:solidFill>
                  <a:schemeClr val="dk1"/>
                </a:solidFill>
              </a:rPr>
              <a:t>Resume</a:t>
            </a:r>
            <a:endParaRPr/>
          </a:p>
          <a:p>
            <a:pPr indent="0" lvl="0" marL="0" rtl="0" algn="ctr">
              <a:spcBef>
                <a:spcPts val="1050"/>
              </a:spcBef>
              <a:spcAft>
                <a:spcPts val="0"/>
              </a:spcAft>
              <a:buSzPts val="2000"/>
              <a:buNone/>
            </a:pPr>
            <a:r>
              <a:rPr b="0" lang="en-CA" sz="2000">
                <a:solidFill>
                  <a:schemeClr val="dk1"/>
                </a:solidFill>
              </a:rPr>
              <a:t>Maryanna (Mary) Smith  </a:t>
            </a:r>
            <a:br>
              <a:rPr b="0" lang="en-CA" sz="2000">
                <a:solidFill>
                  <a:schemeClr val="dk1"/>
                </a:solidFill>
              </a:rPr>
            </a:br>
            <a:r>
              <a:rPr b="0" lang="en-CA" sz="2000">
                <a:solidFill>
                  <a:schemeClr val="dk1"/>
                </a:solidFill>
              </a:rPr>
              <a:t>1596 Bathurst Street </a:t>
            </a:r>
            <a:r>
              <a:rPr b="0" lang="en-CA" sz="2000">
                <a:solidFill>
                  <a:srgbClr val="FF0000"/>
                </a:solidFill>
              </a:rPr>
              <a:t>(Optional)</a:t>
            </a:r>
            <a:br>
              <a:rPr b="0" lang="en-CA" sz="2000">
                <a:solidFill>
                  <a:schemeClr val="dk1"/>
                </a:solidFill>
              </a:rPr>
            </a:br>
            <a:r>
              <a:rPr b="0" lang="en-CA" sz="2000">
                <a:solidFill>
                  <a:schemeClr val="dk1"/>
                </a:solidFill>
              </a:rPr>
              <a:t>Toronto, ON M5T 2T9 </a:t>
            </a:r>
            <a:r>
              <a:rPr b="0" lang="en-CA" sz="2000">
                <a:solidFill>
                  <a:srgbClr val="FF0000"/>
                </a:solidFill>
              </a:rPr>
              <a:t>(Postal Code Optional)</a:t>
            </a:r>
            <a:br>
              <a:rPr b="0" lang="en-CA" sz="2000">
                <a:solidFill>
                  <a:schemeClr val="dk1"/>
                </a:solidFill>
              </a:rPr>
            </a:br>
            <a:r>
              <a:rPr b="0" lang="en-CA" sz="2000">
                <a:solidFill>
                  <a:schemeClr val="dk1"/>
                </a:solidFill>
              </a:rPr>
              <a:t>(416) 222-4444</a:t>
            </a:r>
            <a:br>
              <a:rPr b="0" lang="en-CA" sz="2000">
                <a:solidFill>
                  <a:schemeClr val="dk1"/>
                </a:solidFill>
              </a:rPr>
            </a:br>
            <a:r>
              <a:rPr b="0" lang="en-CA" sz="2000">
                <a:solidFill>
                  <a:schemeClr val="dk1"/>
                </a:solidFill>
              </a:rPr>
              <a:t>maryanna.smith@georgebrown.ca</a:t>
            </a:r>
            <a:endParaRPr b="0" sz="2000">
              <a:solidFill>
                <a:schemeClr val="dk1"/>
              </a:solidFill>
            </a:endParaRPr>
          </a:p>
          <a:p>
            <a:pPr indent="0" lvl="0" marL="0" rtl="0" algn="ctr">
              <a:spcBef>
                <a:spcPts val="1050"/>
              </a:spcBef>
              <a:spcAft>
                <a:spcPts val="0"/>
              </a:spcAft>
              <a:buSzPts val="2200"/>
              <a:buNone/>
            </a:pPr>
            <a:r>
              <a:rPr lang="en-CA" sz="2200">
                <a:solidFill>
                  <a:schemeClr val="dk1"/>
                </a:solidFill>
              </a:rPr>
              <a:t>Or</a:t>
            </a:r>
            <a:endParaRPr/>
          </a:p>
          <a:p>
            <a:pPr indent="0" lvl="0" marL="0" rtl="0" algn="l">
              <a:spcBef>
                <a:spcPts val="1050"/>
              </a:spcBef>
              <a:spcAft>
                <a:spcPts val="0"/>
              </a:spcAft>
              <a:buSzPts val="2000"/>
              <a:buNone/>
            </a:pPr>
            <a:r>
              <a:rPr b="0" lang="en-CA" sz="2000">
                <a:solidFill>
                  <a:schemeClr val="dk1"/>
                </a:solidFill>
              </a:rPr>
              <a:t>Maryanna (Mary) Smith  </a:t>
            </a:r>
            <a:br>
              <a:rPr b="0" lang="en-CA" sz="2000">
                <a:solidFill>
                  <a:schemeClr val="dk1"/>
                </a:solidFill>
              </a:rPr>
            </a:br>
            <a:r>
              <a:rPr b="0" lang="en-CA" sz="2000">
                <a:solidFill>
                  <a:schemeClr val="dk1"/>
                </a:solidFill>
              </a:rPr>
              <a:t>1596 Bathurst Street </a:t>
            </a:r>
            <a:r>
              <a:rPr b="0" lang="en-CA" sz="2000">
                <a:solidFill>
                  <a:srgbClr val="FF0000"/>
                </a:solidFill>
              </a:rPr>
              <a:t>(Optional)</a:t>
            </a:r>
            <a:br>
              <a:rPr b="0" lang="en-CA" sz="2000">
                <a:solidFill>
                  <a:schemeClr val="dk1"/>
                </a:solidFill>
              </a:rPr>
            </a:br>
            <a:r>
              <a:rPr b="0" lang="en-CA" sz="2000">
                <a:solidFill>
                  <a:schemeClr val="dk1"/>
                </a:solidFill>
              </a:rPr>
              <a:t>Toronto, ON M5T 2T9 </a:t>
            </a:r>
            <a:r>
              <a:rPr b="0" lang="en-CA" sz="2000">
                <a:solidFill>
                  <a:srgbClr val="FF0000"/>
                </a:solidFill>
              </a:rPr>
              <a:t>(Postal Code Optional)</a:t>
            </a:r>
            <a:br>
              <a:rPr b="0" lang="en-CA" sz="2000">
                <a:solidFill>
                  <a:schemeClr val="dk1"/>
                </a:solidFill>
              </a:rPr>
            </a:br>
            <a:r>
              <a:rPr b="0" lang="en-CA" sz="2000">
                <a:solidFill>
                  <a:schemeClr val="dk1"/>
                </a:solidFill>
              </a:rPr>
              <a:t>(416) 222-4444</a:t>
            </a:r>
            <a:br>
              <a:rPr b="0" lang="en-CA" sz="2000">
                <a:solidFill>
                  <a:schemeClr val="dk1"/>
                </a:solidFill>
              </a:rPr>
            </a:br>
            <a:r>
              <a:rPr b="0" lang="en-CA" sz="2000">
                <a:solidFill>
                  <a:schemeClr val="dk1"/>
                </a:solidFill>
              </a:rPr>
              <a:t>maryanna.smith@georgebrown.ca</a:t>
            </a:r>
            <a:endParaRPr b="0" sz="2000">
              <a:solidFill>
                <a:schemeClr val="dk1"/>
              </a:solidFill>
            </a:endParaRPr>
          </a:p>
          <a:p>
            <a:pPr indent="0" lvl="0" marL="0" rtl="0" algn="ctr">
              <a:spcBef>
                <a:spcPts val="1050"/>
              </a:spcBef>
              <a:spcAft>
                <a:spcPts val="0"/>
              </a:spcAft>
              <a:buSzPts val="2200"/>
              <a:buNone/>
            </a:pPr>
            <a:r>
              <a:t/>
            </a:r>
            <a:endParaRPr sz="2200">
              <a:solidFill>
                <a:schemeClr val="dk1"/>
              </a:solidFill>
            </a:endParaRPr>
          </a:p>
          <a:p>
            <a:pPr indent="0" lvl="0" marL="0" rtl="0" algn="ctr">
              <a:spcBef>
                <a:spcPts val="1100"/>
              </a:spcBef>
              <a:spcAft>
                <a:spcPts val="0"/>
              </a:spcAft>
              <a:buSzPts val="2200"/>
              <a:buNone/>
            </a:pPr>
            <a:r>
              <a:t/>
            </a:r>
            <a:endParaRPr sz="220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4"/>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a:t>Resume – Objective</a:t>
            </a:r>
            <a:endParaRPr/>
          </a:p>
        </p:txBody>
      </p:sp>
      <p:sp>
        <p:nvSpPr>
          <p:cNvPr id="157" name="Google Shape;157;p14"/>
          <p:cNvSpPr txBox="1"/>
          <p:nvPr>
            <p:ph idx="1" type="body"/>
          </p:nvPr>
        </p:nvSpPr>
        <p:spPr>
          <a:xfrm>
            <a:off x="457200" y="1350963"/>
            <a:ext cx="8229600" cy="4775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000"/>
              <a:buFont typeface="Noto Sans Symbols"/>
              <a:buNone/>
            </a:pPr>
            <a:r>
              <a:rPr lang="en-CA" sz="2000">
                <a:solidFill>
                  <a:schemeClr val="dk1"/>
                </a:solidFill>
              </a:rPr>
              <a:t>Objective: Use a clear objective, include position, field and organization in which you wish to work always make the objective specific to each role.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5"/>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sz="3200"/>
              <a:t>Objective Example </a:t>
            </a:r>
            <a:endParaRPr/>
          </a:p>
        </p:txBody>
      </p:sp>
      <p:sp>
        <p:nvSpPr>
          <p:cNvPr id="164" name="Google Shape;164;p15"/>
          <p:cNvSpPr txBox="1"/>
          <p:nvPr>
            <p:ph idx="1" type="body"/>
          </p:nvPr>
        </p:nvSpPr>
        <p:spPr>
          <a:xfrm>
            <a:off x="457200" y="1371600"/>
            <a:ext cx="8229600" cy="5105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000"/>
              <a:buNone/>
            </a:pPr>
            <a:r>
              <a:rPr lang="en-CA" sz="2000">
                <a:solidFill>
                  <a:schemeClr val="dk1"/>
                </a:solidFill>
                <a:highlight>
                  <a:srgbClr val="FFFF00"/>
                </a:highlight>
              </a:rPr>
              <a:t>Example only, do your own research </a:t>
            </a:r>
            <a:endParaRPr/>
          </a:p>
          <a:p>
            <a:pPr indent="0" lvl="0" marL="0" rtl="0" algn="l">
              <a:spcBef>
                <a:spcPts val="950"/>
              </a:spcBef>
              <a:spcAft>
                <a:spcPts val="0"/>
              </a:spcAft>
              <a:buSzPts val="1800"/>
              <a:buNone/>
            </a:pPr>
            <a:r>
              <a:rPr b="0" i="0" lang="en-CA" sz="1800">
                <a:solidFill>
                  <a:schemeClr val="dk1"/>
                </a:solidFill>
                <a:latin typeface="Arial"/>
                <a:ea typeface="Arial"/>
                <a:cs typeface="Arial"/>
                <a:sym typeface="Arial"/>
              </a:rPr>
              <a:t>Objective example:  </a:t>
            </a:r>
            <a:endParaRPr/>
          </a:p>
          <a:p>
            <a:pPr indent="0" lvl="0" marL="0" rtl="0" algn="l">
              <a:spcBef>
                <a:spcPts val="900"/>
              </a:spcBef>
              <a:spcAft>
                <a:spcPts val="0"/>
              </a:spcAft>
              <a:buSzPts val="1800"/>
              <a:buNone/>
            </a:pPr>
            <a:r>
              <a:rPr b="0" i="0" lang="en-CA" sz="1800">
                <a:solidFill>
                  <a:schemeClr val="dk1"/>
                </a:solidFill>
                <a:latin typeface="Arial"/>
                <a:ea typeface="Arial"/>
                <a:cs typeface="Arial"/>
                <a:sym typeface="Arial"/>
              </a:rPr>
              <a:t>Interested in the Data Analyst Internship/Co-Op position for Summer 2024, as advertised on the RBC website. Eager to apply my academic background in applied AI, I am committed to delivering impactful solutions by identifying, analyzing, and documenting business and technical requirements.</a:t>
            </a:r>
            <a:endParaRPr/>
          </a:p>
          <a:p>
            <a:pPr indent="0" lvl="0" marL="0" rtl="0" algn="l">
              <a:spcBef>
                <a:spcPts val="900"/>
              </a:spcBef>
              <a:spcAft>
                <a:spcPts val="0"/>
              </a:spcAft>
              <a:buSzPts val="1800"/>
              <a:buNone/>
            </a:pPr>
            <a:r>
              <a:rPr lang="en-CA" sz="1800">
                <a:solidFill>
                  <a:schemeClr val="dk1"/>
                </a:solidFill>
                <a:latin typeface="Arial"/>
                <a:ea typeface="Arial"/>
                <a:cs typeface="Arial"/>
                <a:sym typeface="Arial"/>
              </a:rPr>
              <a:t>Objective example:  </a:t>
            </a:r>
            <a:endParaRPr/>
          </a:p>
          <a:p>
            <a:pPr indent="0" lvl="0" marL="0" rtl="0" algn="l">
              <a:spcBef>
                <a:spcPts val="900"/>
              </a:spcBef>
              <a:spcAft>
                <a:spcPts val="0"/>
              </a:spcAft>
              <a:buSzPts val="1800"/>
              <a:buNone/>
            </a:pPr>
            <a:r>
              <a:rPr lang="en-CA" sz="1800">
                <a:solidFill>
                  <a:schemeClr val="dk1"/>
                </a:solidFill>
                <a:latin typeface="Arial"/>
                <a:ea typeface="Arial"/>
                <a:cs typeface="Arial"/>
                <a:sym typeface="Arial"/>
              </a:rPr>
              <a:t>Dynamic and results-driven professional aspiring to contribute to the success of Intact's artificial intelligence teams as an AI Backend Developer. Eager to design, test, and develop advanced back-end solutions that align with Intact's innovative approach.</a:t>
            </a:r>
            <a:endParaRPr/>
          </a:p>
          <a:p>
            <a:pPr indent="0" lvl="0" marL="0" rtl="0" algn="l">
              <a:spcBef>
                <a:spcPts val="900"/>
              </a:spcBef>
              <a:spcAft>
                <a:spcPts val="0"/>
              </a:spcAft>
              <a:buSzPts val="1800"/>
              <a:buNone/>
            </a:pPr>
            <a:r>
              <a:t/>
            </a:r>
            <a:endParaRPr sz="1800">
              <a:solidFill>
                <a:srgbClr val="37415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6"/>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sz="2800"/>
              <a:t>Resume – Highlights of Qualifications</a:t>
            </a:r>
            <a:endParaRPr/>
          </a:p>
        </p:txBody>
      </p:sp>
      <p:sp>
        <p:nvSpPr>
          <p:cNvPr id="171" name="Google Shape;171;p16"/>
          <p:cNvSpPr txBox="1"/>
          <p:nvPr>
            <p:ph idx="1" type="body"/>
          </p:nvPr>
        </p:nvSpPr>
        <p:spPr>
          <a:xfrm>
            <a:off x="457200" y="1365250"/>
            <a:ext cx="8229600" cy="476091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000"/>
              <a:buFont typeface="Noto Sans Symbols"/>
              <a:buNone/>
            </a:pPr>
            <a:r>
              <a:rPr lang="en-CA" sz="2000">
                <a:solidFill>
                  <a:schemeClr val="dk1"/>
                </a:solidFill>
              </a:rPr>
              <a:t>Highlights of Qualifications: Should consist of 5-7 bullet points including experience, training, technical and transferable skills and relevant information specific to each job. </a:t>
            </a:r>
            <a:endParaRPr/>
          </a:p>
          <a:p>
            <a:pPr indent="0" lvl="0" marL="0" rtl="0" algn="l">
              <a:spcBef>
                <a:spcPts val="1000"/>
              </a:spcBef>
              <a:spcAft>
                <a:spcPts val="0"/>
              </a:spcAft>
              <a:buSzPts val="2000"/>
              <a:buFont typeface="Noto Sans Symbols"/>
              <a:buNone/>
            </a:pPr>
            <a:r>
              <a:t/>
            </a:r>
            <a:endParaRPr sz="2000">
              <a:solidFill>
                <a:schemeClr val="dk1"/>
              </a:solidFill>
            </a:endParaRPr>
          </a:p>
          <a:p>
            <a:pPr indent="0" lvl="0" marL="0" rtl="0" algn="l">
              <a:spcBef>
                <a:spcPts val="1000"/>
              </a:spcBef>
              <a:spcAft>
                <a:spcPts val="0"/>
              </a:spcAft>
              <a:buSzPts val="2000"/>
              <a:buNone/>
            </a:pPr>
            <a:r>
              <a:rPr lang="en-CA" sz="2000">
                <a:highlight>
                  <a:srgbClr val="FFFF00"/>
                </a:highlight>
              </a:rPr>
              <a:t>Align with the job requirements customize for each job</a:t>
            </a:r>
            <a:endParaRPr/>
          </a:p>
          <a:p>
            <a:pPr indent="0" lvl="0" marL="0" rtl="0" algn="l">
              <a:spcBef>
                <a:spcPts val="1000"/>
              </a:spcBef>
              <a:spcAft>
                <a:spcPts val="0"/>
              </a:spcAft>
              <a:buSzPts val="2000"/>
              <a:buFont typeface="Noto Sans Symbols"/>
              <a:buNone/>
            </a:pPr>
            <a:r>
              <a:t/>
            </a:r>
            <a:endParaRPr sz="20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7"/>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a:t>Sample job requirements </a:t>
            </a:r>
            <a:endParaRPr/>
          </a:p>
        </p:txBody>
      </p:sp>
      <p:sp>
        <p:nvSpPr>
          <p:cNvPr id="178" name="Google Shape;178;p17"/>
          <p:cNvSpPr txBox="1"/>
          <p:nvPr>
            <p:ph idx="1" type="body"/>
          </p:nvPr>
        </p:nvSpPr>
        <p:spPr>
          <a:xfrm>
            <a:off x="457200" y="1230924"/>
            <a:ext cx="8229600" cy="524607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000"/>
              <a:buNone/>
            </a:pPr>
            <a:r>
              <a:rPr b="1" i="0" lang="en-CA" sz="2000" u="sng">
                <a:solidFill>
                  <a:srgbClr val="202124"/>
                </a:solidFill>
                <a:highlight>
                  <a:srgbClr val="FFFF00"/>
                </a:highlight>
              </a:rPr>
              <a:t>Sample Job requirements for a co-op role: Refer to slide </a:t>
            </a:r>
            <a:r>
              <a:rPr b="1" i="0" lang="en-CA" sz="2000" u="sng">
                <a:solidFill>
                  <a:srgbClr val="202124"/>
                </a:solidFill>
                <a:highlight>
                  <a:srgbClr val="00FF00"/>
                </a:highlight>
              </a:rPr>
              <a:t>23</a:t>
            </a:r>
            <a:r>
              <a:rPr b="1" i="0" lang="en-CA" sz="2000" u="sng">
                <a:solidFill>
                  <a:srgbClr val="202124"/>
                </a:solidFill>
                <a:highlight>
                  <a:srgbClr val="FFFF00"/>
                </a:highlight>
              </a:rPr>
              <a:t> for highlights of qualifications.  Do your own research these are just examples</a:t>
            </a:r>
            <a:endParaRPr/>
          </a:p>
          <a:p>
            <a:pPr indent="0" lvl="0" marL="0" rtl="0" algn="l">
              <a:spcBef>
                <a:spcPts val="900"/>
              </a:spcBef>
              <a:spcAft>
                <a:spcPts val="0"/>
              </a:spcAft>
              <a:buSzPts val="1600"/>
              <a:buNone/>
            </a:pPr>
            <a:r>
              <a:rPr b="0" i="0" lang="en-CA" sz="1600">
                <a:solidFill>
                  <a:srgbClr val="202124"/>
                </a:solidFill>
              </a:rPr>
              <a:t>What you’ll do here: </a:t>
            </a:r>
            <a:endParaRPr/>
          </a:p>
          <a:p>
            <a:pPr indent="-342900" lvl="0" marL="342900" rtl="0" algn="l">
              <a:spcBef>
                <a:spcPts val="800"/>
              </a:spcBef>
              <a:spcAft>
                <a:spcPts val="0"/>
              </a:spcAft>
              <a:buSzPts val="1600"/>
              <a:buChar char="▪"/>
            </a:pPr>
            <a:r>
              <a:rPr b="0" i="0" lang="en-CA" sz="1600">
                <a:solidFill>
                  <a:srgbClr val="202124"/>
                </a:solidFill>
              </a:rPr>
              <a:t>Design, test and develop back-end solutions for our artificial intelligence teams </a:t>
            </a:r>
            <a:endParaRPr/>
          </a:p>
          <a:p>
            <a:pPr indent="-342900" lvl="0" marL="342900" rtl="0" algn="l">
              <a:spcBef>
                <a:spcPts val="800"/>
              </a:spcBef>
              <a:spcAft>
                <a:spcPts val="0"/>
              </a:spcAft>
              <a:buSzPts val="1600"/>
              <a:buChar char="▪"/>
            </a:pPr>
            <a:r>
              <a:rPr b="0" i="0" lang="en-CA" sz="1600">
                <a:solidFill>
                  <a:srgbClr val="202124"/>
                </a:solidFill>
              </a:rPr>
              <a:t>Stay current on new approaches or opportunities, and bring them to the solutions you design </a:t>
            </a:r>
            <a:endParaRPr/>
          </a:p>
          <a:p>
            <a:pPr indent="-342900" lvl="0" marL="342900" rtl="0" algn="l">
              <a:spcBef>
                <a:spcPts val="800"/>
              </a:spcBef>
              <a:spcAft>
                <a:spcPts val="0"/>
              </a:spcAft>
              <a:buSzPts val="1600"/>
              <a:buChar char="▪"/>
            </a:pPr>
            <a:r>
              <a:rPr b="0" i="0" lang="en-CA" sz="1600">
                <a:solidFill>
                  <a:srgbClr val="202124"/>
                </a:solidFill>
              </a:rPr>
              <a:t>Help transforming complex data sets into meaningful conclusions and recommendation </a:t>
            </a:r>
            <a:endParaRPr/>
          </a:p>
          <a:p>
            <a:pPr indent="-342900" lvl="0" marL="342900" rtl="0" algn="l">
              <a:spcBef>
                <a:spcPts val="800"/>
              </a:spcBef>
              <a:spcAft>
                <a:spcPts val="0"/>
              </a:spcAft>
              <a:buSzPts val="1600"/>
              <a:buChar char="▪"/>
            </a:pPr>
            <a:r>
              <a:rPr b="0" i="0" lang="en-CA" sz="1600">
                <a:solidFill>
                  <a:srgbClr val="202124"/>
                </a:solidFill>
              </a:rPr>
              <a:t>Work with a Agile team to develop major systems, using the latest Internet and application technologies </a:t>
            </a:r>
            <a:endParaRPr/>
          </a:p>
          <a:p>
            <a:pPr indent="-342900" lvl="0" marL="342900" rtl="0" algn="l">
              <a:spcBef>
                <a:spcPts val="800"/>
              </a:spcBef>
              <a:spcAft>
                <a:spcPts val="0"/>
              </a:spcAft>
              <a:buSzPts val="1600"/>
              <a:buChar char="▪"/>
            </a:pPr>
            <a:r>
              <a:rPr b="0" i="0" lang="en-CA" sz="1600">
                <a:solidFill>
                  <a:srgbClr val="202124"/>
                </a:solidFill>
              </a:rPr>
              <a:t>Find technical solutions by brainstorming with other team members and building prototypes, if necessary </a:t>
            </a:r>
            <a:endParaRPr/>
          </a:p>
          <a:p>
            <a:pPr indent="-342900" lvl="0" marL="342900" rtl="0" algn="l">
              <a:spcBef>
                <a:spcPts val="800"/>
              </a:spcBef>
              <a:spcAft>
                <a:spcPts val="0"/>
              </a:spcAft>
              <a:buSzPts val="1600"/>
              <a:buChar char="▪"/>
            </a:pPr>
            <a:r>
              <a:rPr b="0" i="0" lang="en-CA" sz="1600">
                <a:solidFill>
                  <a:srgbClr val="202124"/>
                </a:solidFill>
              </a:rPr>
              <a:t>Prepare technical documentation to deploy and support completed systems </a:t>
            </a:r>
            <a:endParaRPr/>
          </a:p>
          <a:p>
            <a:pPr indent="-342900" lvl="0" marL="342900" rtl="0" algn="l">
              <a:spcBef>
                <a:spcPts val="800"/>
              </a:spcBef>
              <a:spcAft>
                <a:spcPts val="0"/>
              </a:spcAft>
              <a:buSzPts val="1600"/>
              <a:buChar char="▪"/>
            </a:pPr>
            <a:r>
              <a:rPr b="0" i="0" lang="en-CA" sz="1600">
                <a:solidFill>
                  <a:srgbClr val="202124"/>
                </a:solidFill>
              </a:rPr>
              <a:t>Develop and perform unit tests to validate code </a:t>
            </a:r>
            <a:endParaRPr/>
          </a:p>
          <a:p>
            <a:pPr indent="-342900" lvl="0" marL="342900" rtl="0" algn="l">
              <a:spcBef>
                <a:spcPts val="800"/>
              </a:spcBef>
              <a:spcAft>
                <a:spcPts val="0"/>
              </a:spcAft>
              <a:buSzPts val="1600"/>
              <a:buChar char="▪"/>
            </a:pPr>
            <a:r>
              <a:rPr b="0" i="0" lang="en-CA" sz="1600">
                <a:solidFill>
                  <a:srgbClr val="202124"/>
                </a:solidFill>
              </a:rPr>
              <a:t>Provide advice and support other teams in production and skills transfer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8"/>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sz="2800"/>
              <a:t>Sample Job requirements Continued</a:t>
            </a:r>
            <a:endParaRPr/>
          </a:p>
        </p:txBody>
      </p:sp>
      <p:sp>
        <p:nvSpPr>
          <p:cNvPr id="185" name="Google Shape;185;p18"/>
          <p:cNvSpPr txBox="1"/>
          <p:nvPr>
            <p:ph idx="1" type="body"/>
          </p:nvPr>
        </p:nvSpPr>
        <p:spPr>
          <a:xfrm>
            <a:off x="457200" y="1213338"/>
            <a:ext cx="8229600" cy="526366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600"/>
              <a:buNone/>
            </a:pPr>
            <a:r>
              <a:rPr b="0" i="0" lang="en-CA" sz="1600">
                <a:solidFill>
                  <a:srgbClr val="202124"/>
                </a:solidFill>
                <a:highlight>
                  <a:srgbClr val="FFFF00"/>
                </a:highlight>
              </a:rPr>
              <a:t>Role Continued</a:t>
            </a:r>
            <a:endParaRPr/>
          </a:p>
          <a:p>
            <a:pPr indent="0" lvl="0" marL="0" rtl="0" algn="l">
              <a:spcBef>
                <a:spcPts val="800"/>
              </a:spcBef>
              <a:spcAft>
                <a:spcPts val="0"/>
              </a:spcAft>
              <a:buSzPts val="1600"/>
              <a:buNone/>
            </a:pPr>
            <a:r>
              <a:rPr b="0" i="0" lang="en-CA" sz="1600">
                <a:solidFill>
                  <a:srgbClr val="202124"/>
                </a:solidFill>
              </a:rPr>
              <a:t>• Provide estimates and status reports as needed </a:t>
            </a:r>
            <a:endParaRPr/>
          </a:p>
          <a:p>
            <a:pPr indent="0" lvl="0" marL="0" rtl="0" algn="l">
              <a:spcBef>
                <a:spcPts val="800"/>
              </a:spcBef>
              <a:spcAft>
                <a:spcPts val="0"/>
              </a:spcAft>
              <a:buSzPts val="1600"/>
              <a:buNone/>
            </a:pPr>
            <a:r>
              <a:rPr b="0" i="0" lang="en-CA" sz="1600">
                <a:solidFill>
                  <a:srgbClr val="202124"/>
                </a:solidFill>
              </a:rPr>
              <a:t>• Keep up to date on new technologies and introduce new and practical approaches What you bring to the table: </a:t>
            </a:r>
            <a:endParaRPr/>
          </a:p>
          <a:p>
            <a:pPr indent="0" lvl="0" marL="0" rtl="0" algn="l">
              <a:spcBef>
                <a:spcPts val="800"/>
              </a:spcBef>
              <a:spcAft>
                <a:spcPts val="0"/>
              </a:spcAft>
              <a:buSzPts val="1600"/>
              <a:buNone/>
            </a:pPr>
            <a:r>
              <a:rPr b="0" i="0" lang="en-CA" sz="1600">
                <a:solidFill>
                  <a:srgbClr val="202124"/>
                </a:solidFill>
              </a:rPr>
              <a:t>• You are currently pursuing a University Degree in Software Engineering, Computer Science or a related field </a:t>
            </a:r>
            <a:endParaRPr/>
          </a:p>
          <a:p>
            <a:pPr indent="0" lvl="0" marL="0" rtl="0" algn="l">
              <a:spcBef>
                <a:spcPts val="800"/>
              </a:spcBef>
              <a:spcAft>
                <a:spcPts val="0"/>
              </a:spcAft>
              <a:buSzPts val="1600"/>
              <a:buNone/>
            </a:pPr>
            <a:r>
              <a:rPr b="0" i="0" lang="en-CA" sz="1600">
                <a:solidFill>
                  <a:srgbClr val="202124"/>
                </a:solidFill>
              </a:rPr>
              <a:t>• Available to work with us 35 hours per week for Summer 2024(May 6 to August 23) </a:t>
            </a:r>
            <a:endParaRPr/>
          </a:p>
          <a:p>
            <a:pPr indent="0" lvl="0" marL="0" rtl="0" algn="l">
              <a:spcBef>
                <a:spcPts val="800"/>
              </a:spcBef>
              <a:spcAft>
                <a:spcPts val="0"/>
              </a:spcAft>
              <a:buSzPts val="1600"/>
              <a:buNone/>
            </a:pPr>
            <a:r>
              <a:rPr b="0" i="0" lang="en-CA" sz="1600">
                <a:solidFill>
                  <a:srgbClr val="202124"/>
                </a:solidFill>
              </a:rPr>
              <a:t>• Available to work from the office 2 days a week (and 3 from home) </a:t>
            </a:r>
            <a:endParaRPr/>
          </a:p>
          <a:p>
            <a:pPr indent="0" lvl="0" marL="0" rtl="0" algn="l">
              <a:spcBef>
                <a:spcPts val="800"/>
              </a:spcBef>
              <a:spcAft>
                <a:spcPts val="0"/>
              </a:spcAft>
              <a:buSzPts val="1600"/>
              <a:buNone/>
            </a:pPr>
            <a:r>
              <a:rPr b="0" i="0" lang="en-CA" sz="1600">
                <a:solidFill>
                  <a:srgbClr val="202124"/>
                </a:solidFill>
              </a:rPr>
              <a:t>• Object-oriented programming skills </a:t>
            </a:r>
            <a:endParaRPr/>
          </a:p>
          <a:p>
            <a:pPr indent="0" lvl="0" marL="0" rtl="0" algn="l">
              <a:spcBef>
                <a:spcPts val="800"/>
              </a:spcBef>
              <a:spcAft>
                <a:spcPts val="0"/>
              </a:spcAft>
              <a:buSzPts val="1600"/>
              <a:buNone/>
            </a:pPr>
            <a:r>
              <a:rPr b="0" i="0" lang="en-CA" sz="1600">
                <a:solidFill>
                  <a:srgbClr val="202124"/>
                </a:solidFill>
              </a:rPr>
              <a:t>• Experience in Python and Java programming </a:t>
            </a:r>
            <a:endParaRPr/>
          </a:p>
          <a:p>
            <a:pPr indent="0" lvl="0" marL="0" rtl="0" algn="l">
              <a:spcBef>
                <a:spcPts val="800"/>
              </a:spcBef>
              <a:spcAft>
                <a:spcPts val="0"/>
              </a:spcAft>
              <a:buSzPts val="1600"/>
              <a:buNone/>
            </a:pPr>
            <a:r>
              <a:rPr b="0" i="0" lang="en-CA" sz="1600">
                <a:solidFill>
                  <a:srgbClr val="202124"/>
                </a:solidFill>
              </a:rPr>
              <a:t>• An interest in Java/Kotlin, Docker/Kubernetes, Hazelcast/Redis, Spring Boot/Spring Cloud and MongoDB/Oracle technologies </a:t>
            </a:r>
            <a:endParaRPr/>
          </a:p>
          <a:p>
            <a:pPr indent="0" lvl="0" marL="0" rtl="0" algn="l">
              <a:spcBef>
                <a:spcPts val="800"/>
              </a:spcBef>
              <a:spcAft>
                <a:spcPts val="0"/>
              </a:spcAft>
              <a:buSzPts val="1600"/>
              <a:buNone/>
            </a:pPr>
            <a:r>
              <a:rPr b="0" i="0" lang="en-CA" sz="1600">
                <a:solidFill>
                  <a:srgbClr val="202124"/>
                </a:solidFill>
              </a:rPr>
              <a:t>• Knowledge of development design patterns </a:t>
            </a:r>
            <a:endParaRPr/>
          </a:p>
          <a:p>
            <a:pPr indent="0" lvl="0" marL="0" rtl="0" algn="l">
              <a:spcBef>
                <a:spcPts val="800"/>
              </a:spcBef>
              <a:spcAft>
                <a:spcPts val="0"/>
              </a:spcAft>
              <a:buSzPts val="1600"/>
              <a:buNone/>
            </a:pPr>
            <a:r>
              <a:rPr b="0" i="0" lang="en-CA" sz="1600">
                <a:solidFill>
                  <a:srgbClr val="202124"/>
                </a:solidFill>
              </a:rPr>
              <a:t>• Knowledge and interest in Artificial Intelligence </a:t>
            </a:r>
            <a:endParaRPr/>
          </a:p>
          <a:p>
            <a:pPr indent="0" lvl="0" marL="0" rtl="0" algn="l">
              <a:spcBef>
                <a:spcPts val="800"/>
              </a:spcBef>
              <a:spcAft>
                <a:spcPts val="0"/>
              </a:spcAft>
              <a:buSzPts val="1600"/>
              <a:buNone/>
            </a:pPr>
            <a:r>
              <a:rPr b="0" i="0" lang="en-CA" sz="1600">
                <a:solidFill>
                  <a:srgbClr val="202124"/>
                </a:solidFill>
              </a:rPr>
              <a:t>• Understand the basics of an agile way of work</a:t>
            </a:r>
            <a:br>
              <a:rPr lang="en-CA" sz="1600"/>
            </a:br>
            <a:endParaRPr b="1" i="0" sz="1600" u="sng">
              <a:solidFill>
                <a:srgbClr val="202124"/>
              </a:solidFill>
              <a:highlight>
                <a:srgbClr val="FFFF00"/>
              </a:highlight>
            </a:endParaRPr>
          </a:p>
          <a:p>
            <a:pPr indent="0" lvl="0" marL="0" rtl="0" algn="l">
              <a:spcBef>
                <a:spcPts val="800"/>
              </a:spcBef>
              <a:spcAft>
                <a:spcPts val="0"/>
              </a:spcAft>
              <a:buSzPts val="1600"/>
              <a:buNone/>
            </a:pPr>
            <a:r>
              <a:t/>
            </a:r>
            <a:endParaRPr sz="1600">
              <a:solidFill>
                <a:srgbClr val="202124"/>
              </a:solidFill>
            </a:endParaRPr>
          </a:p>
          <a:p>
            <a:pPr indent="-165100" lvl="0" marL="342900" rtl="0" algn="l">
              <a:spcBef>
                <a:spcPts val="1100"/>
              </a:spcBef>
              <a:spcAft>
                <a:spcPts val="0"/>
              </a:spcAft>
              <a:buSzPts val="28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9"/>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sz="2800"/>
              <a:t>Sample Job requirements Continued</a:t>
            </a:r>
            <a:endParaRPr/>
          </a:p>
        </p:txBody>
      </p:sp>
      <p:sp>
        <p:nvSpPr>
          <p:cNvPr id="191" name="Google Shape;191;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600"/>
              <a:buNone/>
            </a:pPr>
            <a:r>
              <a:rPr b="0" i="0" lang="en-CA" sz="1600">
                <a:solidFill>
                  <a:srgbClr val="202124"/>
                </a:solidFill>
                <a:highlight>
                  <a:srgbClr val="FFFF00"/>
                </a:highlight>
              </a:rPr>
              <a:t>Role Continued</a:t>
            </a:r>
            <a:endParaRPr/>
          </a:p>
          <a:p>
            <a:pPr indent="0" lvl="0" marL="0" rtl="0" algn="l">
              <a:spcBef>
                <a:spcPts val="800"/>
              </a:spcBef>
              <a:spcAft>
                <a:spcPts val="0"/>
              </a:spcAft>
              <a:buSzPts val="1600"/>
              <a:buNone/>
            </a:pPr>
            <a:r>
              <a:rPr b="0" i="0" lang="en-CA" sz="1600">
                <a:solidFill>
                  <a:srgbClr val="202124"/>
                </a:solidFill>
              </a:rPr>
              <a:t>• A good understanding of the entire software development lifecycle </a:t>
            </a:r>
            <a:endParaRPr/>
          </a:p>
          <a:p>
            <a:pPr indent="0" lvl="0" marL="0" rtl="0" algn="l">
              <a:spcBef>
                <a:spcPts val="800"/>
              </a:spcBef>
              <a:spcAft>
                <a:spcPts val="0"/>
              </a:spcAft>
              <a:buSzPts val="1600"/>
              <a:buNone/>
            </a:pPr>
            <a:r>
              <a:rPr b="0" i="0" lang="en-CA" sz="1600">
                <a:solidFill>
                  <a:srgbClr val="202124"/>
                </a:solidFill>
              </a:rPr>
              <a:t>• Bilingualism is ESSENTIAL (French and English) </a:t>
            </a:r>
            <a:endParaRPr/>
          </a:p>
          <a:p>
            <a:pPr indent="0" lvl="0" marL="0" rtl="0" algn="l">
              <a:spcBef>
                <a:spcPts val="800"/>
              </a:spcBef>
              <a:spcAft>
                <a:spcPts val="0"/>
              </a:spcAft>
              <a:buSzPts val="1600"/>
              <a:buNone/>
            </a:pPr>
            <a:r>
              <a:rPr b="0" i="0" lang="en-CA" sz="1600">
                <a:solidFill>
                  <a:srgbClr val="202124"/>
                </a:solidFill>
              </a:rPr>
              <a:t>* Need to interact on a regular basis with colleagues across the country</a:t>
            </a:r>
            <a:endParaRPr sz="16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0"/>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sz="2800"/>
              <a:t>Examples – Highlights of Qualifications</a:t>
            </a:r>
            <a:endParaRPr sz="2800"/>
          </a:p>
        </p:txBody>
      </p:sp>
      <p:sp>
        <p:nvSpPr>
          <p:cNvPr id="198" name="Google Shape;198;p20"/>
          <p:cNvSpPr txBox="1"/>
          <p:nvPr>
            <p:ph idx="1" type="body"/>
          </p:nvPr>
        </p:nvSpPr>
        <p:spPr>
          <a:xfrm>
            <a:off x="457200" y="1195754"/>
            <a:ext cx="8229600" cy="541606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000"/>
              <a:buNone/>
            </a:pPr>
            <a:r>
              <a:rPr b="1" i="0" lang="en-CA" sz="2000">
                <a:highlight>
                  <a:srgbClr val="FFFF00"/>
                </a:highlight>
              </a:rPr>
              <a:t>Examples of highlights of qualifications – do your own research</a:t>
            </a:r>
            <a:endParaRPr/>
          </a:p>
          <a:p>
            <a:pPr indent="0" lvl="0" marL="0" rtl="0" algn="l">
              <a:spcBef>
                <a:spcPts val="1000"/>
              </a:spcBef>
              <a:spcAft>
                <a:spcPts val="0"/>
              </a:spcAft>
              <a:buSzPts val="2000"/>
              <a:buNone/>
            </a:pPr>
            <a:r>
              <a:rPr lang="en-CA" sz="2000"/>
              <a:t>Highlights of Qualifications</a:t>
            </a:r>
            <a:r>
              <a:rPr lang="en-CA" sz="2000">
                <a:highlight>
                  <a:srgbClr val="FFFF00"/>
                </a:highlight>
              </a:rPr>
              <a:t>:  5-7 bullets</a:t>
            </a:r>
            <a:endParaRPr/>
          </a:p>
          <a:p>
            <a:pPr indent="-342900" lvl="0" marL="342900" rtl="0" algn="l">
              <a:spcBef>
                <a:spcPts val="950"/>
              </a:spcBef>
              <a:spcAft>
                <a:spcPts val="0"/>
              </a:spcAft>
              <a:buSzPts val="1800"/>
              <a:buChar char="▪"/>
            </a:pPr>
            <a:r>
              <a:rPr lang="en-CA" sz="1800"/>
              <a:t>Technical Proficiency: Demonstrated expertise in designing, testing, and developing back-end solutions for artificial intelligence teams. Well-versed in object-oriented programming with skills in Python and Java, showcasing a solid foundation for contributing to major systems. </a:t>
            </a:r>
            <a:endParaRPr/>
          </a:p>
          <a:p>
            <a:pPr indent="-342900" lvl="0" marL="342900" rtl="0" algn="l">
              <a:spcBef>
                <a:spcPts val="900"/>
              </a:spcBef>
              <a:spcAft>
                <a:spcPts val="0"/>
              </a:spcAft>
              <a:buSzPts val="1800"/>
              <a:buChar char="▪"/>
            </a:pPr>
            <a:r>
              <a:rPr lang="en-CA" sz="1800"/>
              <a:t>Innovative Problem Solver: Proven ability to stay abreast of new approaches and opportunities, bringing innovative solutions to the design of complex systems. Skilled in transforming intricate data sets into meaningful conclusions and actionable recommendations.</a:t>
            </a:r>
            <a:endParaRPr/>
          </a:p>
          <a:p>
            <a:pPr indent="-342900" lvl="0" marL="342900" rtl="0" algn="l">
              <a:spcBef>
                <a:spcPts val="900"/>
              </a:spcBef>
              <a:spcAft>
                <a:spcPts val="0"/>
              </a:spcAft>
              <a:buSzPts val="1800"/>
              <a:buChar char="▪"/>
            </a:pPr>
            <a:r>
              <a:rPr lang="en-CA" sz="1800"/>
              <a:t>Agile Collaboration: Experience working collaboratively in Agile teams, using the latest internet and application technologies to develop major systems. Strong teamwork and brainstorming skills, including the ability to build prototypes for technical solutions.</a:t>
            </a:r>
            <a:endParaRPr/>
          </a:p>
          <a:p>
            <a:pPr indent="0" lvl="0" marL="0" rtl="0" algn="l">
              <a:spcBef>
                <a:spcPts val="850"/>
              </a:spcBef>
              <a:spcAft>
                <a:spcPts val="0"/>
              </a:spcAft>
              <a:buSzPts val="1600"/>
              <a:buNone/>
            </a:pPr>
            <a:r>
              <a:t/>
            </a:r>
            <a:endParaRPr sz="1600">
              <a:latin typeface="Arial"/>
              <a:ea typeface="Arial"/>
              <a:cs typeface="Arial"/>
              <a:sym typeface="Arial"/>
            </a:endParaRPr>
          </a:p>
          <a:p>
            <a:pPr indent="-241300" lvl="0" marL="342900" rtl="0" algn="l">
              <a:spcBef>
                <a:spcPts val="800"/>
              </a:spcBef>
              <a:spcAft>
                <a:spcPts val="0"/>
              </a:spcAft>
              <a:buSzPts val="1600"/>
              <a:buNone/>
            </a:pPr>
            <a:r>
              <a:t/>
            </a:r>
            <a:endParaRPr sz="1600"/>
          </a:p>
          <a:p>
            <a:pPr indent="0" lvl="0" marL="0" rtl="0" algn="l">
              <a:spcBef>
                <a:spcPts val="900"/>
              </a:spcBef>
              <a:spcAft>
                <a:spcPts val="0"/>
              </a:spcAft>
              <a:buSzPts val="2000"/>
              <a:buNone/>
            </a:pPr>
            <a:r>
              <a:t/>
            </a:r>
            <a:endParaRPr sz="2000">
              <a:highlight>
                <a:srgbClr val="FFFF00"/>
              </a:high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1"/>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sz="2800"/>
              <a:t>Examples – Highlights of Qualifications</a:t>
            </a:r>
            <a:endParaRPr sz="2800"/>
          </a:p>
        </p:txBody>
      </p:sp>
      <p:sp>
        <p:nvSpPr>
          <p:cNvPr id="205" name="Google Shape;205;p21"/>
          <p:cNvSpPr txBox="1"/>
          <p:nvPr>
            <p:ph idx="1" type="body"/>
          </p:nvPr>
        </p:nvSpPr>
        <p:spPr>
          <a:xfrm>
            <a:off x="457200" y="1283678"/>
            <a:ext cx="8229600" cy="484248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000"/>
              <a:buNone/>
            </a:pPr>
            <a:r>
              <a:rPr b="1" i="0" lang="en-CA" sz="2000">
                <a:highlight>
                  <a:srgbClr val="FFFF00"/>
                </a:highlight>
              </a:rPr>
              <a:t>Examples of highlights of qualifications – do your own research</a:t>
            </a:r>
            <a:endParaRPr/>
          </a:p>
          <a:p>
            <a:pPr indent="0" lvl="0" marL="0" rtl="0" algn="l">
              <a:spcBef>
                <a:spcPts val="1000"/>
              </a:spcBef>
              <a:spcAft>
                <a:spcPts val="0"/>
              </a:spcAft>
              <a:buSzPts val="2000"/>
              <a:buNone/>
            </a:pPr>
            <a:r>
              <a:t/>
            </a:r>
            <a:endParaRPr sz="2000"/>
          </a:p>
          <a:p>
            <a:pPr indent="-342900" lvl="0" marL="342900" rtl="0" algn="l">
              <a:spcBef>
                <a:spcPts val="900"/>
              </a:spcBef>
              <a:spcAft>
                <a:spcPts val="0"/>
              </a:spcAft>
              <a:buSzPts val="1600"/>
              <a:buChar char="▪"/>
            </a:pPr>
            <a:r>
              <a:rPr lang="en-CA" sz="1600"/>
              <a:t>Documentation and Testing: Adept at preparing comprehensive technical documentation for system deployment and support. Experienced in developing and executing unit tests to validate code, ensuring the reliability and functionality of software solutions.</a:t>
            </a:r>
            <a:endParaRPr/>
          </a:p>
          <a:p>
            <a:pPr indent="-342900" lvl="0" marL="342900" rtl="0" algn="l">
              <a:spcBef>
                <a:spcPts val="800"/>
              </a:spcBef>
              <a:spcAft>
                <a:spcPts val="0"/>
              </a:spcAft>
              <a:buSzPts val="1600"/>
              <a:buChar char="▪"/>
            </a:pPr>
            <a:r>
              <a:rPr lang="en-CA" sz="1600"/>
              <a:t>Knowledge and Interest: Possess a keen interest in a range of technologies, including Java/Kotlin, Docker/Kubernetes, Hazelcast/Redis, Spring Boot/Spring Cloud, and MongoDB/Oracle. Solid understanding of development design patterns and a demonstrated interest in artificial intelligence.</a:t>
            </a:r>
            <a:endParaRPr/>
          </a:p>
          <a:p>
            <a:pPr indent="-342900" lvl="0" marL="342900" rtl="0" algn="l">
              <a:spcBef>
                <a:spcPts val="800"/>
              </a:spcBef>
              <a:spcAft>
                <a:spcPts val="0"/>
              </a:spcAft>
              <a:buSzPts val="1600"/>
              <a:buChar char="▪"/>
            </a:pPr>
            <a:r>
              <a:rPr lang="en-CA" sz="1600"/>
              <a:t>Agile Methodology: Familiarity with the basics of an agile way of work, emphasizing adaptability and collaboration throughout the software development lifecycle. </a:t>
            </a:r>
            <a:endParaRPr/>
          </a:p>
          <a:p>
            <a:pPr indent="-342900" lvl="0" marL="342900" rtl="0" algn="l">
              <a:spcBef>
                <a:spcPts val="800"/>
              </a:spcBef>
              <a:spcAft>
                <a:spcPts val="0"/>
              </a:spcAft>
              <a:buSzPts val="1600"/>
              <a:buChar char="▪"/>
            </a:pPr>
            <a:r>
              <a:rPr lang="en-CA" sz="1600"/>
              <a:t>Language Skills: Bilingual in English and French, ensuring effective communication with colleagues across the country. Able to work both in-office and remotely, demonstrating flexibility and adaptability to different working environments.</a:t>
            </a:r>
            <a:endParaRPr/>
          </a:p>
          <a:p>
            <a:pPr indent="0" lvl="0" marL="0" rtl="0" algn="l">
              <a:spcBef>
                <a:spcPts val="900"/>
              </a:spcBef>
              <a:spcAft>
                <a:spcPts val="0"/>
              </a:spcAft>
              <a:buSzPts val="2000"/>
              <a:buNone/>
            </a:pPr>
            <a:r>
              <a:t/>
            </a:r>
            <a:endParaRPr sz="2000">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2"/>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sz="2800"/>
              <a:t>Examples - Highlights of qualifications </a:t>
            </a:r>
            <a:endParaRPr/>
          </a:p>
        </p:txBody>
      </p:sp>
      <p:sp>
        <p:nvSpPr>
          <p:cNvPr id="212" name="Google Shape;212;p22"/>
          <p:cNvSpPr txBox="1"/>
          <p:nvPr>
            <p:ph idx="1" type="body"/>
          </p:nvPr>
        </p:nvSpPr>
        <p:spPr>
          <a:xfrm>
            <a:off x="457200" y="1203158"/>
            <a:ext cx="8229600" cy="527384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600"/>
              <a:buNone/>
            </a:pPr>
            <a:r>
              <a:rPr b="1" lang="en-CA" sz="1600" u="sng">
                <a:highlight>
                  <a:srgbClr val="FFFF00"/>
                </a:highlight>
              </a:rPr>
              <a:t>Highlights of Qualifications: based on the Slide 17&amp;18 sample job requirements </a:t>
            </a:r>
            <a:endParaRPr/>
          </a:p>
          <a:p>
            <a:pPr indent="-241300" lvl="0" marL="342900" rtl="0" algn="l">
              <a:spcBef>
                <a:spcPts val="800"/>
              </a:spcBef>
              <a:spcAft>
                <a:spcPts val="0"/>
              </a:spcAft>
              <a:buSzPts val="1600"/>
              <a:buNone/>
            </a:pPr>
            <a:r>
              <a:t/>
            </a:r>
            <a:endParaRPr sz="1600"/>
          </a:p>
          <a:p>
            <a:pPr indent="-342900" lvl="0" marL="342900" rtl="0" algn="l">
              <a:spcBef>
                <a:spcPts val="800"/>
              </a:spcBef>
              <a:spcAft>
                <a:spcPts val="0"/>
              </a:spcAft>
              <a:buSzPts val="1600"/>
              <a:buChar char="▪"/>
            </a:pPr>
            <a:r>
              <a:rPr lang="en-CA" sz="1600"/>
              <a:t>Demonstrated expertise in designing, testing, and developing back-end solutions for artificial intelligence teams. Well-versed in object-oriented programming with skills in Python and Java, showcasing a solid foundation for contributing to major systems.</a:t>
            </a:r>
            <a:endParaRPr/>
          </a:p>
          <a:p>
            <a:pPr indent="-342900" lvl="0" marL="342900" rtl="0" algn="l">
              <a:spcBef>
                <a:spcPts val="800"/>
              </a:spcBef>
              <a:spcAft>
                <a:spcPts val="0"/>
              </a:spcAft>
              <a:buSzPts val="1600"/>
              <a:buChar char="▪"/>
            </a:pPr>
            <a:r>
              <a:rPr lang="en-CA" sz="1600">
                <a:latin typeface="Arial"/>
                <a:ea typeface="Arial"/>
                <a:cs typeface="Arial"/>
                <a:sym typeface="Arial"/>
              </a:rPr>
              <a:t>Adept at preparing comprehensive technical documentation for system deployment and support. Experienced in developing and executing unit tests to validate code, ensuring the reliability and functionality of software solutions.</a:t>
            </a:r>
            <a:endParaRPr sz="1600">
              <a:latin typeface="Arial"/>
              <a:ea typeface="Arial"/>
              <a:cs typeface="Arial"/>
              <a:sym typeface="Arial"/>
            </a:endParaRPr>
          </a:p>
          <a:p>
            <a:pPr indent="-342900" lvl="0" marL="342900" rtl="0" algn="l">
              <a:spcBef>
                <a:spcPts val="800"/>
              </a:spcBef>
              <a:spcAft>
                <a:spcPts val="0"/>
              </a:spcAft>
              <a:buSzPts val="1600"/>
              <a:buChar char="▪"/>
            </a:pPr>
            <a:r>
              <a:rPr lang="en-CA" sz="1600"/>
              <a:t>Familiarity with the basics of an agile way of work, emphasizing adaptability and collaboration throughout the software development lifecycle.</a:t>
            </a:r>
            <a:endParaRPr/>
          </a:p>
          <a:p>
            <a:pPr indent="-342900" lvl="0" marL="342900" rtl="0" algn="l">
              <a:spcBef>
                <a:spcPts val="800"/>
              </a:spcBef>
              <a:spcAft>
                <a:spcPts val="0"/>
              </a:spcAft>
              <a:buSzPts val="1600"/>
              <a:buChar char="▪"/>
            </a:pPr>
            <a:r>
              <a:rPr lang="en-CA" sz="1600">
                <a:latin typeface="Arial"/>
                <a:ea typeface="Arial"/>
                <a:cs typeface="Arial"/>
                <a:sym typeface="Arial"/>
              </a:rPr>
              <a:t>Bilingual in English and French, ensuring effective communication with colleagues across the country. Able to work both in-office and remotely, </a:t>
            </a:r>
            <a:endParaRPr sz="1600">
              <a:latin typeface="Arial"/>
              <a:ea typeface="Arial"/>
              <a:cs typeface="Arial"/>
              <a:sym typeface="Arial"/>
            </a:endParaRPr>
          </a:p>
          <a:p>
            <a:pPr indent="-241300" lvl="0" marL="342900" rtl="0" algn="l">
              <a:spcBef>
                <a:spcPts val="800"/>
              </a:spcBef>
              <a:spcAft>
                <a:spcPts val="0"/>
              </a:spcAft>
              <a:buSzPts val="1600"/>
              <a:buNone/>
            </a:pPr>
            <a:r>
              <a:t/>
            </a:r>
            <a:endParaRPr sz="1600"/>
          </a:p>
          <a:p>
            <a:pPr indent="-228600" lvl="0" marL="342900" rtl="0" algn="l">
              <a:spcBef>
                <a:spcPts val="850"/>
              </a:spcBef>
              <a:spcAft>
                <a:spcPts val="0"/>
              </a:spcAft>
              <a:buSzPts val="1800"/>
              <a:buNone/>
            </a:pPr>
            <a:r>
              <a:t/>
            </a:r>
            <a:endParaRPr sz="1800">
              <a:latin typeface="Arial"/>
              <a:ea typeface="Arial"/>
              <a:cs typeface="Arial"/>
              <a:sym typeface="Arial"/>
            </a:endParaRPr>
          </a:p>
          <a:p>
            <a:pPr indent="0" lvl="0" marL="0" rtl="0" algn="l">
              <a:spcBef>
                <a:spcPts val="900"/>
              </a:spcBef>
              <a:spcAft>
                <a:spcPts val="0"/>
              </a:spcAft>
              <a:buSzPts val="1800"/>
              <a:buNone/>
            </a:pPr>
            <a:r>
              <a:t/>
            </a:r>
            <a:endParaRPr sz="1800">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3"/>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sz="2400"/>
              <a:t>Revised Section – Highlights of Qualifications </a:t>
            </a:r>
            <a:endParaRPr/>
          </a:p>
        </p:txBody>
      </p:sp>
      <p:sp>
        <p:nvSpPr>
          <p:cNvPr id="219" name="Google Shape;219;p23"/>
          <p:cNvSpPr txBox="1"/>
          <p:nvPr>
            <p:ph idx="1" type="body"/>
          </p:nvPr>
        </p:nvSpPr>
        <p:spPr>
          <a:xfrm>
            <a:off x="457200" y="1213338"/>
            <a:ext cx="8229600" cy="513470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600"/>
              <a:buNone/>
            </a:pPr>
            <a:r>
              <a:rPr b="1" lang="en-CA" sz="1600" u="sng">
                <a:highlight>
                  <a:srgbClr val="FFFF00"/>
                </a:highlight>
              </a:rPr>
              <a:t>Highlights of Qualifications: based on the Slide 17-19 sample job requirements </a:t>
            </a:r>
            <a:endParaRPr sz="1600"/>
          </a:p>
          <a:p>
            <a:pPr indent="-342900" lvl="0" marL="342900" rtl="0" algn="l">
              <a:spcBef>
                <a:spcPts val="800"/>
              </a:spcBef>
              <a:spcAft>
                <a:spcPts val="0"/>
              </a:spcAft>
              <a:buSzPts val="1600"/>
              <a:buChar char="▪"/>
            </a:pPr>
            <a:r>
              <a:rPr lang="en-CA" sz="1600"/>
              <a:t>Technical Proficiency: Demonstrated expertise in designing, testing, and developing back-end solutions for artificial intelligence teams. Well-versed in object-oriented programming with skills in Python and Java, showcasing a solid foundation for contributing to major systems.</a:t>
            </a:r>
            <a:endParaRPr/>
          </a:p>
          <a:p>
            <a:pPr indent="-342900" lvl="0" marL="342900" rtl="0" algn="l">
              <a:spcBef>
                <a:spcPts val="800"/>
              </a:spcBef>
              <a:spcAft>
                <a:spcPts val="0"/>
              </a:spcAft>
              <a:buSzPts val="1600"/>
              <a:buChar char="▪"/>
            </a:pPr>
            <a:r>
              <a:rPr lang="en-CA" sz="1600"/>
              <a:t>Innovative Problem Solver: Proven ability to stay abreast of new approaches and opportunities, bringing innovative solutions to the design of complex systems. Skilled in transforming intricate data sets into meaningful conclusions and actionable recommendations. </a:t>
            </a:r>
            <a:endParaRPr/>
          </a:p>
          <a:p>
            <a:pPr indent="-342900" lvl="0" marL="342900" rtl="0" algn="l">
              <a:spcBef>
                <a:spcPts val="800"/>
              </a:spcBef>
              <a:spcAft>
                <a:spcPts val="0"/>
              </a:spcAft>
              <a:buSzPts val="1600"/>
              <a:buChar char="▪"/>
            </a:pPr>
            <a:r>
              <a:rPr lang="en-CA" sz="1600"/>
              <a:t>Agile Collaboration: Experience working collaboratively in Agile teams, using the latest internet and application technologies to develop major systems. Strong teamwork and brainstorming skills, including the ability to build prototypes for technical solutions. </a:t>
            </a:r>
            <a:endParaRPr/>
          </a:p>
          <a:p>
            <a:pPr indent="-342900" lvl="0" marL="342900" rtl="0" algn="l">
              <a:spcBef>
                <a:spcPts val="800"/>
              </a:spcBef>
              <a:spcAft>
                <a:spcPts val="0"/>
              </a:spcAft>
              <a:buSzPts val="1600"/>
              <a:buChar char="▪"/>
            </a:pPr>
            <a:r>
              <a:rPr lang="en-CA" sz="1600"/>
              <a:t>Experience working collaboratively in Agile teams, using the latest internet and application technologies to develop major systems. </a:t>
            </a:r>
            <a:endParaRPr/>
          </a:p>
          <a:p>
            <a:pPr indent="-342900" lvl="0" marL="342900" rtl="0" algn="l">
              <a:spcBef>
                <a:spcPts val="800"/>
              </a:spcBef>
              <a:spcAft>
                <a:spcPts val="0"/>
              </a:spcAft>
              <a:buSzPts val="1600"/>
              <a:buChar char="▪"/>
            </a:pPr>
            <a:r>
              <a:rPr lang="en-CA" sz="1600"/>
              <a:t>Experienced in developing and executing unit tests to validate code, ensuring the reliability and functionality of software solutions.</a:t>
            </a:r>
            <a:endParaRPr/>
          </a:p>
          <a:p>
            <a:pPr indent="-165100" lvl="0" marL="342900" rtl="0" algn="l">
              <a:spcBef>
                <a:spcPts val="1100"/>
              </a:spcBef>
              <a:spcAft>
                <a:spcPts val="0"/>
              </a:spcAft>
              <a:buSzPts val="28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4"/>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a:t>Technical Skills </a:t>
            </a:r>
            <a:endParaRPr/>
          </a:p>
        </p:txBody>
      </p:sp>
      <p:sp>
        <p:nvSpPr>
          <p:cNvPr id="226" name="Google Shape;226;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000"/>
              <a:buFont typeface="Noto Sans Symbols"/>
              <a:buNone/>
            </a:pPr>
            <a:r>
              <a:rPr lang="en-CA" sz="2000">
                <a:solidFill>
                  <a:schemeClr val="dk1"/>
                </a:solidFill>
              </a:rPr>
              <a:t>Technical Skills: This section can help you demonstrate proficiency in areas not otherwise outlined in your academics or experience sections. Focus on skills most relevant to your desired position/career field. Skills might include: </a:t>
            </a:r>
            <a:endParaRPr/>
          </a:p>
          <a:p>
            <a:pPr indent="0" lvl="0" marL="0" rtl="0" algn="l">
              <a:spcBef>
                <a:spcPts val="1000"/>
              </a:spcBef>
              <a:spcAft>
                <a:spcPts val="0"/>
              </a:spcAft>
              <a:buSzPts val="2000"/>
              <a:buFont typeface="Noto Sans Symbols"/>
              <a:buNone/>
            </a:pPr>
            <a:r>
              <a:t/>
            </a:r>
            <a:endParaRPr sz="2000">
              <a:solidFill>
                <a:schemeClr val="dk1"/>
              </a:solidFill>
            </a:endParaRPr>
          </a:p>
          <a:p>
            <a:pPr indent="0" lvl="0" marL="0" rtl="0" algn="l">
              <a:spcBef>
                <a:spcPts val="1000"/>
              </a:spcBef>
              <a:spcAft>
                <a:spcPts val="0"/>
              </a:spcAft>
              <a:buSzPts val="2000"/>
              <a:buFont typeface="Noto Sans Symbols"/>
              <a:buNone/>
            </a:pPr>
            <a:r>
              <a:rPr lang="en-CA" sz="2000">
                <a:solidFill>
                  <a:schemeClr val="dk1"/>
                </a:solidFill>
              </a:rPr>
              <a:t>If you already have the technical skill listed in the highlights of qualifications don’t add it in the technical skills section</a:t>
            </a:r>
            <a:endParaRPr/>
          </a:p>
          <a:p>
            <a:pPr indent="0" lvl="0" marL="0" rtl="0" algn="l">
              <a:spcBef>
                <a:spcPts val="1000"/>
              </a:spcBef>
              <a:spcAft>
                <a:spcPts val="0"/>
              </a:spcAft>
              <a:buSzPts val="2000"/>
              <a:buFont typeface="Noto Sans Symbols"/>
              <a:buNone/>
            </a:pPr>
            <a:r>
              <a:t/>
            </a:r>
            <a:endParaRPr sz="2000">
              <a:solidFill>
                <a:schemeClr val="dk1"/>
              </a:solidFill>
            </a:endParaRPr>
          </a:p>
          <a:p>
            <a:pPr indent="0" lvl="0" marL="0" rtl="0" algn="l">
              <a:spcBef>
                <a:spcPts val="1000"/>
              </a:spcBef>
              <a:spcAft>
                <a:spcPts val="0"/>
              </a:spcAft>
              <a:buSzPts val="2000"/>
              <a:buFont typeface="Noto Sans Symbols"/>
              <a:buNone/>
            </a:pPr>
            <a:r>
              <a:t/>
            </a:r>
            <a:endParaRPr sz="20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5"/>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a:t>Example Technical Skills </a:t>
            </a:r>
            <a:endParaRPr/>
          </a:p>
        </p:txBody>
      </p:sp>
      <p:sp>
        <p:nvSpPr>
          <p:cNvPr id="233" name="Google Shape;233;p25"/>
          <p:cNvSpPr txBox="1"/>
          <p:nvPr>
            <p:ph idx="1" type="body"/>
          </p:nvPr>
        </p:nvSpPr>
        <p:spPr>
          <a:xfrm>
            <a:off x="457200" y="1275348"/>
            <a:ext cx="8229600" cy="5201652"/>
          </a:xfrm>
          <a:prstGeom prst="rect">
            <a:avLst/>
          </a:prstGeom>
          <a:noFill/>
          <a:ln>
            <a:noFill/>
          </a:ln>
        </p:spPr>
        <p:txBody>
          <a:bodyPr anchorCtr="0" anchor="t" bIns="45700" lIns="91425" spcFirstLastPara="1" rIns="91425" wrap="square" tIns="45700">
            <a:noAutofit/>
          </a:bodyPr>
          <a:lstStyle/>
          <a:p>
            <a:pPr indent="0" lvl="1" marL="457200" rtl="0" algn="l">
              <a:spcBef>
                <a:spcPts val="0"/>
              </a:spcBef>
              <a:spcAft>
                <a:spcPts val="0"/>
              </a:spcAft>
              <a:buSzPts val="2000"/>
              <a:buFont typeface="Arial"/>
              <a:buNone/>
            </a:pPr>
            <a:r>
              <a:rPr lang="en-CA" sz="2000">
                <a:solidFill>
                  <a:srgbClr val="374151"/>
                </a:solidFill>
                <a:highlight>
                  <a:srgbClr val="FFFF00"/>
                </a:highlight>
              </a:rPr>
              <a:t>List in 4 bullets, example only do your own research and add your own skills </a:t>
            </a:r>
            <a:endParaRPr/>
          </a:p>
          <a:p>
            <a:pPr indent="-285750" lvl="1" marL="742950" rtl="0" algn="l">
              <a:spcBef>
                <a:spcPts val="1000"/>
              </a:spcBef>
              <a:spcAft>
                <a:spcPts val="0"/>
              </a:spcAft>
              <a:buSzPts val="2000"/>
              <a:buFont typeface="Noto Sans Symbols"/>
              <a:buChar char="▪"/>
            </a:pPr>
            <a:r>
              <a:rPr b="0" i="0" lang="en-CA" sz="2000">
                <a:solidFill>
                  <a:srgbClr val="374151"/>
                </a:solidFill>
              </a:rPr>
              <a:t> Python</a:t>
            </a:r>
            <a:r>
              <a:rPr lang="en-CA" sz="2000">
                <a:solidFill>
                  <a:srgbClr val="374151"/>
                </a:solidFill>
              </a:rPr>
              <a:t> and</a:t>
            </a:r>
            <a:r>
              <a:rPr b="0" i="0" lang="en-CA" sz="2000">
                <a:solidFill>
                  <a:srgbClr val="374151"/>
                </a:solidFill>
              </a:rPr>
              <a:t> R 			     </a:t>
            </a:r>
            <a:endParaRPr/>
          </a:p>
          <a:p>
            <a:pPr indent="-285750" lvl="1" marL="742950" rtl="0" algn="l">
              <a:spcBef>
                <a:spcPts val="1000"/>
              </a:spcBef>
              <a:spcAft>
                <a:spcPts val="0"/>
              </a:spcAft>
              <a:buSzPts val="2000"/>
              <a:buFont typeface="Noto Sans Symbols"/>
              <a:buChar char="▪"/>
            </a:pPr>
            <a:r>
              <a:rPr b="0" i="0" lang="en-CA" sz="2000">
                <a:solidFill>
                  <a:srgbClr val="374151"/>
                </a:solidFill>
              </a:rPr>
              <a:t>Tableau and Power BI </a:t>
            </a:r>
            <a:endParaRPr/>
          </a:p>
          <a:p>
            <a:pPr indent="-285750" lvl="1" marL="742950" rtl="0" algn="l">
              <a:spcBef>
                <a:spcPts val="1000"/>
              </a:spcBef>
              <a:spcAft>
                <a:spcPts val="0"/>
              </a:spcAft>
              <a:buSzPts val="2000"/>
              <a:buFont typeface="Noto Sans Symbols"/>
              <a:buChar char="▪"/>
            </a:pPr>
            <a:r>
              <a:rPr i="0" lang="en-CA" sz="2000"/>
              <a:t>MS Office Suite</a:t>
            </a:r>
            <a:endParaRPr sz="2000">
              <a:solidFill>
                <a:srgbClr val="374151"/>
              </a:solidFill>
            </a:endParaRPr>
          </a:p>
          <a:p>
            <a:pPr indent="-285750" lvl="1" marL="742950" rtl="0" algn="l">
              <a:spcBef>
                <a:spcPts val="1000"/>
              </a:spcBef>
              <a:spcAft>
                <a:spcPts val="0"/>
              </a:spcAft>
              <a:buSzPts val="2000"/>
              <a:buFont typeface="Noto Sans Symbols"/>
              <a:buChar char="▪"/>
            </a:pPr>
            <a:r>
              <a:rPr b="0" i="0" lang="en-CA" sz="2000">
                <a:solidFill>
                  <a:srgbClr val="374151"/>
                </a:solidFill>
              </a:rPr>
              <a:t>Microsoft Teams </a:t>
            </a:r>
            <a:endParaRPr sz="2000">
              <a:solidFill>
                <a:srgbClr val="374151"/>
              </a:solidFill>
            </a:endParaRPr>
          </a:p>
          <a:p>
            <a:pPr indent="0" lvl="1" marL="457200" rtl="0" algn="l">
              <a:spcBef>
                <a:spcPts val="1000"/>
              </a:spcBef>
              <a:spcAft>
                <a:spcPts val="0"/>
              </a:spcAft>
              <a:buSzPts val="2000"/>
              <a:buFont typeface="Arial"/>
              <a:buNone/>
            </a:pPr>
            <a:r>
              <a:rPr lang="en-CA" sz="2000">
                <a:solidFill>
                  <a:srgbClr val="374151"/>
                </a:solidFill>
              </a:rPr>
              <a:t>Or</a:t>
            </a:r>
            <a:endParaRPr/>
          </a:p>
          <a:p>
            <a:pPr indent="0" lvl="0" marL="0" rtl="0" algn="l">
              <a:spcBef>
                <a:spcPts val="1000"/>
              </a:spcBef>
              <a:spcAft>
                <a:spcPts val="0"/>
              </a:spcAft>
              <a:buSzPts val="2000"/>
              <a:buFont typeface="Noto Sans Symbols"/>
              <a:buNone/>
            </a:pPr>
            <a:r>
              <a:rPr lang="en-CA" sz="2000">
                <a:solidFill>
                  <a:schemeClr val="dk1"/>
                </a:solidFill>
              </a:rPr>
              <a:t>Languages: Java, HTML and SQL. </a:t>
            </a:r>
            <a:endParaRPr/>
          </a:p>
          <a:p>
            <a:pPr indent="0" lvl="0" marL="0" rtl="0" algn="l">
              <a:spcBef>
                <a:spcPts val="1000"/>
              </a:spcBef>
              <a:spcAft>
                <a:spcPts val="0"/>
              </a:spcAft>
              <a:buSzPts val="2000"/>
              <a:buFont typeface="Noto Sans Symbols"/>
              <a:buNone/>
            </a:pPr>
            <a:r>
              <a:rPr lang="en-CA" sz="2000">
                <a:solidFill>
                  <a:schemeClr val="dk1"/>
                </a:solidFill>
              </a:rPr>
              <a:t>Methodologies: Agile and Waterfall SDLC. </a:t>
            </a:r>
            <a:endParaRPr/>
          </a:p>
          <a:p>
            <a:pPr indent="0" lvl="0" marL="0" rtl="0" algn="l">
              <a:spcBef>
                <a:spcPts val="1000"/>
              </a:spcBef>
              <a:spcAft>
                <a:spcPts val="0"/>
              </a:spcAft>
              <a:buSzPts val="2000"/>
              <a:buFont typeface="Noto Sans Symbols"/>
              <a:buNone/>
            </a:pPr>
            <a:r>
              <a:rPr lang="en-CA" sz="2000">
                <a:solidFill>
                  <a:schemeClr val="dk1"/>
                </a:solidFill>
              </a:rPr>
              <a:t>Tools: Maven, Cucumber, JIRA, X-ray, Selenium Web Driver, Jenkins, Perfecto, Junit. </a:t>
            </a:r>
            <a:endParaRPr/>
          </a:p>
          <a:p>
            <a:pPr indent="0" lvl="0" marL="0" rtl="0" algn="l">
              <a:spcBef>
                <a:spcPts val="1000"/>
              </a:spcBef>
              <a:spcAft>
                <a:spcPts val="0"/>
              </a:spcAft>
              <a:buSzPts val="2000"/>
              <a:buFont typeface="Noto Sans Symbols"/>
              <a:buNone/>
            </a:pPr>
            <a:r>
              <a:rPr lang="en-CA" sz="2000">
                <a:solidFill>
                  <a:schemeClr val="dk1"/>
                </a:solidFill>
              </a:rPr>
              <a:t>Version Control Systems: Git.</a:t>
            </a:r>
            <a:endParaRPr sz="2000">
              <a:solidFill>
                <a:schemeClr val="dk1"/>
              </a:solidFill>
            </a:endParaRPr>
          </a:p>
          <a:p>
            <a:pPr indent="0" lvl="1" marL="457200" rtl="0" algn="l">
              <a:spcBef>
                <a:spcPts val="1000"/>
              </a:spcBef>
              <a:spcAft>
                <a:spcPts val="0"/>
              </a:spcAft>
              <a:buSzPts val="2000"/>
              <a:buFont typeface="Arial"/>
              <a:buNone/>
            </a:pPr>
            <a:r>
              <a:t/>
            </a:r>
            <a:endParaRPr b="0" i="0" sz="2000">
              <a:solidFill>
                <a:srgbClr val="374151"/>
              </a:solidFill>
            </a:endParaRPr>
          </a:p>
          <a:p>
            <a:pPr indent="0" lvl="1" marL="457200" rtl="0" algn="l">
              <a:spcBef>
                <a:spcPts val="1000"/>
              </a:spcBef>
              <a:spcAft>
                <a:spcPts val="0"/>
              </a:spcAft>
              <a:buSzPts val="2000"/>
              <a:buFont typeface="Arial"/>
              <a:buNone/>
            </a:pPr>
            <a:r>
              <a:t/>
            </a:r>
            <a:endParaRPr sz="2000">
              <a:solidFill>
                <a:srgbClr val="37415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6"/>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a:t>Education/Certifications</a:t>
            </a:r>
            <a:endParaRPr/>
          </a:p>
        </p:txBody>
      </p:sp>
      <p:sp>
        <p:nvSpPr>
          <p:cNvPr id="240" name="Google Shape;240;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000"/>
              <a:buFont typeface="Noto Sans Symbols"/>
              <a:buNone/>
            </a:pPr>
            <a:r>
              <a:rPr lang="en-CA" sz="2000">
                <a:solidFill>
                  <a:schemeClr val="dk1"/>
                </a:solidFill>
              </a:rPr>
              <a:t>Education: List all colleges and universities from which you have earned or will earn a degree/diploma. Do not abbreviate. Start with your most recent, reverse chronological order. Add project work from your classes to show current experience. </a:t>
            </a:r>
            <a:endParaRPr/>
          </a:p>
          <a:p>
            <a:pPr indent="0" lvl="0" marL="0" rtl="0" algn="l">
              <a:spcBef>
                <a:spcPts val="1000"/>
              </a:spcBef>
              <a:spcAft>
                <a:spcPts val="0"/>
              </a:spcAft>
              <a:buSzPts val="2000"/>
              <a:buFont typeface="Noto Sans Symbols"/>
              <a:buNone/>
            </a:pPr>
            <a:r>
              <a:t/>
            </a:r>
            <a:endParaRPr sz="2000">
              <a:solidFill>
                <a:schemeClr val="dk1"/>
              </a:solidFill>
            </a:endParaRPr>
          </a:p>
          <a:p>
            <a:pPr indent="0" lvl="0" marL="0" rtl="0" algn="l">
              <a:spcBef>
                <a:spcPts val="1000"/>
              </a:spcBef>
              <a:spcAft>
                <a:spcPts val="0"/>
              </a:spcAft>
              <a:buSzPts val="2000"/>
              <a:buFont typeface="Noto Sans Symbols"/>
              <a:buNone/>
            </a:pPr>
            <a:r>
              <a:rPr lang="en-CA" sz="2000">
                <a:solidFill>
                  <a:schemeClr val="dk1"/>
                </a:solidFill>
              </a:rPr>
              <a:t>Certifications: If you have any that are relevant to the role. Start with your most recent, reverse chronological order.  </a:t>
            </a:r>
            <a:endParaRPr/>
          </a:p>
          <a:p>
            <a:pPr indent="0" lvl="0" marL="0" rtl="0" algn="l">
              <a:spcBef>
                <a:spcPts val="1000"/>
              </a:spcBef>
              <a:spcAft>
                <a:spcPts val="0"/>
              </a:spcAft>
              <a:buSzPts val="2000"/>
              <a:buFont typeface="Noto Sans Symbols"/>
              <a:buNone/>
            </a:pPr>
            <a:r>
              <a:rPr lang="en-CA" sz="2000">
                <a:solidFill>
                  <a:schemeClr val="dk1"/>
                </a:solidFill>
              </a:rPr>
              <a:t>If the certifications are not relevant you may want to add Certifications  after your professional experience </a:t>
            </a:r>
            <a:endParaRPr sz="20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7"/>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a:t>Education/Certifications</a:t>
            </a:r>
            <a:endParaRPr/>
          </a:p>
        </p:txBody>
      </p:sp>
      <p:sp>
        <p:nvSpPr>
          <p:cNvPr id="247" name="Google Shape;247;p27"/>
          <p:cNvSpPr txBox="1"/>
          <p:nvPr>
            <p:ph idx="1" type="body"/>
          </p:nvPr>
        </p:nvSpPr>
        <p:spPr>
          <a:xfrm>
            <a:off x="457200" y="1178169"/>
            <a:ext cx="8229600" cy="567983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600"/>
              <a:buNone/>
            </a:pPr>
            <a:r>
              <a:rPr b="1" i="0" lang="en-CA" sz="1600">
                <a:solidFill>
                  <a:schemeClr val="dk1"/>
                </a:solidFill>
                <a:highlight>
                  <a:srgbClr val="FFFF00"/>
                </a:highlight>
              </a:rPr>
              <a:t>This is just an example use your own in clas</a:t>
            </a:r>
            <a:r>
              <a:rPr b="1" lang="en-CA" sz="1600">
                <a:solidFill>
                  <a:schemeClr val="dk1"/>
                </a:solidFill>
                <a:highlight>
                  <a:srgbClr val="FFFF00"/>
                </a:highlight>
              </a:rPr>
              <a:t>s experiences</a:t>
            </a:r>
            <a:endParaRPr b="1" i="0" sz="1600">
              <a:solidFill>
                <a:schemeClr val="dk1"/>
              </a:solidFill>
              <a:highlight>
                <a:srgbClr val="FFFF00"/>
              </a:highlight>
            </a:endParaRPr>
          </a:p>
          <a:p>
            <a:pPr indent="0" lvl="0" marL="0" rtl="0" algn="l">
              <a:spcBef>
                <a:spcPts val="800"/>
              </a:spcBef>
              <a:spcAft>
                <a:spcPts val="0"/>
              </a:spcAft>
              <a:buSzPts val="1600"/>
              <a:buNone/>
            </a:pPr>
            <a:r>
              <a:rPr b="1" i="0" lang="en-CA" sz="1600">
                <a:solidFill>
                  <a:schemeClr val="dk1"/>
                </a:solidFill>
              </a:rPr>
              <a:t>Education/Certification.   </a:t>
            </a:r>
            <a:endParaRPr/>
          </a:p>
          <a:p>
            <a:pPr indent="0" lvl="0" marL="0" rtl="0" algn="l">
              <a:spcBef>
                <a:spcPts val="800"/>
              </a:spcBef>
              <a:spcAft>
                <a:spcPts val="0"/>
              </a:spcAft>
              <a:buSzPts val="1600"/>
              <a:buNone/>
            </a:pPr>
            <a:r>
              <a:rPr b="1" lang="en-CA" sz="1600">
                <a:solidFill>
                  <a:schemeClr val="dk1"/>
                </a:solidFill>
              </a:rPr>
              <a:t>Applied A.I. Solutions Development</a:t>
            </a:r>
            <a:r>
              <a:rPr b="1" i="0" lang="en-CA" sz="1600">
                <a:solidFill>
                  <a:schemeClr val="dk1"/>
                </a:solidFill>
              </a:rPr>
              <a:t> Program                             </a:t>
            </a:r>
            <a:r>
              <a:rPr b="1" lang="en-CA" sz="1600">
                <a:solidFill>
                  <a:schemeClr val="dk1"/>
                </a:solidFill>
              </a:rPr>
              <a:t>Sept 2023 - Aug 2024</a:t>
            </a:r>
            <a:endParaRPr/>
          </a:p>
          <a:p>
            <a:pPr indent="0" lvl="0" marL="0" rtl="0" algn="l">
              <a:spcBef>
                <a:spcPts val="800"/>
              </a:spcBef>
              <a:spcAft>
                <a:spcPts val="0"/>
              </a:spcAft>
              <a:buSzPts val="1600"/>
              <a:buNone/>
            </a:pPr>
            <a:r>
              <a:rPr b="0" lang="en-CA" sz="1600">
                <a:solidFill>
                  <a:schemeClr val="dk1"/>
                </a:solidFill>
              </a:rPr>
              <a:t>George Brown College, Toronto, ON </a:t>
            </a:r>
            <a:r>
              <a:rPr b="1" i="0" lang="en-CA" sz="1600">
                <a:solidFill>
                  <a:schemeClr val="dk1"/>
                </a:solidFill>
              </a:rPr>
              <a:t>(Postgraduate) GPA (optional) </a:t>
            </a:r>
            <a:endParaRPr/>
          </a:p>
          <a:p>
            <a:pPr indent="-342900" lvl="0" marL="342900" rtl="0" algn="l">
              <a:spcBef>
                <a:spcPts val="800"/>
              </a:spcBef>
              <a:spcAft>
                <a:spcPts val="0"/>
              </a:spcAft>
              <a:buSzPts val="1600"/>
              <a:buChar char="▪"/>
            </a:pPr>
            <a:r>
              <a:rPr lang="en-CA" sz="1600"/>
              <a:t>Conducted in-depth analysis of project requirements, ensuring a thorough understanding of both business and technical aspects. </a:t>
            </a:r>
            <a:endParaRPr/>
          </a:p>
          <a:p>
            <a:pPr indent="-342900" lvl="0" marL="342900" rtl="0" algn="l">
              <a:spcBef>
                <a:spcPts val="800"/>
              </a:spcBef>
              <a:spcAft>
                <a:spcPts val="0"/>
              </a:spcAft>
              <a:buSzPts val="1600"/>
              <a:buChar char="▪"/>
            </a:pPr>
            <a:r>
              <a:rPr b="0" i="0" lang="en-CA" sz="1600">
                <a:solidFill>
                  <a:schemeClr val="dk1"/>
                </a:solidFill>
              </a:rPr>
              <a:t>Active participation in a variety of in-class projects to apply theoretical knowledge to real-world scenarios.</a:t>
            </a:r>
            <a:endParaRPr/>
          </a:p>
          <a:p>
            <a:pPr indent="-342900" lvl="0" marL="342900" rtl="0" algn="l">
              <a:spcBef>
                <a:spcPts val="800"/>
              </a:spcBef>
              <a:spcAft>
                <a:spcPts val="0"/>
              </a:spcAft>
              <a:buSzPts val="1600"/>
              <a:buFont typeface="Arial"/>
              <a:buChar char="•"/>
            </a:pPr>
            <a:r>
              <a:rPr b="0" i="0" lang="en-CA" sz="1600">
                <a:solidFill>
                  <a:schemeClr val="dk1"/>
                </a:solidFill>
              </a:rPr>
              <a:t>Collaborated with classmates on multifaceted projects, fostering teamwork and practical problem-solving skills.</a:t>
            </a:r>
            <a:endParaRPr/>
          </a:p>
          <a:p>
            <a:pPr indent="-342900" lvl="0" marL="342900" rtl="0" algn="l">
              <a:spcBef>
                <a:spcPts val="800"/>
              </a:spcBef>
              <a:spcAft>
                <a:spcPts val="0"/>
              </a:spcAft>
              <a:buSzPts val="1600"/>
              <a:buFont typeface="Arial"/>
              <a:buChar char="•"/>
            </a:pPr>
            <a:r>
              <a:rPr b="0" i="0" lang="en-CA" sz="1600">
                <a:solidFill>
                  <a:schemeClr val="dk1"/>
                </a:solidFill>
              </a:rPr>
              <a:t>Gained hands-on experience with industry-standard health informatics tools and technologies.</a:t>
            </a:r>
            <a:endParaRPr sz="1600">
              <a:solidFill>
                <a:schemeClr val="dk1"/>
              </a:solidFill>
            </a:endParaRPr>
          </a:p>
          <a:p>
            <a:pPr indent="0" lvl="0" marL="0" rtl="0" algn="l">
              <a:spcBef>
                <a:spcPts val="800"/>
              </a:spcBef>
              <a:spcAft>
                <a:spcPts val="0"/>
              </a:spcAft>
              <a:buSzPts val="1600"/>
              <a:buNone/>
            </a:pPr>
            <a:r>
              <a:rPr lang="en-CA" sz="1600">
                <a:solidFill>
                  <a:schemeClr val="dk1"/>
                </a:solidFill>
                <a:highlight>
                  <a:srgbClr val="FFFF00"/>
                </a:highlight>
              </a:rPr>
              <a:t>Other Education listed same as current program, without the bullets</a:t>
            </a:r>
            <a:endParaRPr/>
          </a:p>
          <a:p>
            <a:pPr indent="0" lvl="0" marL="0" rtl="0" algn="l">
              <a:spcBef>
                <a:spcPts val="800"/>
              </a:spcBef>
              <a:spcAft>
                <a:spcPts val="0"/>
              </a:spcAft>
              <a:buSzPts val="1600"/>
              <a:buNone/>
            </a:pPr>
            <a:r>
              <a:rPr lang="en-CA" sz="1600">
                <a:solidFill>
                  <a:schemeClr val="dk1"/>
                </a:solidFill>
              </a:rPr>
              <a:t>Add certifications If relevant to the job, add </a:t>
            </a:r>
            <a:r>
              <a:rPr lang="en-CA" sz="1600">
                <a:solidFill>
                  <a:schemeClr val="dk1"/>
                </a:solidFill>
                <a:highlight>
                  <a:srgbClr val="FFFF00"/>
                </a:highlight>
              </a:rPr>
              <a:t>if not add this section after Prof Experience </a:t>
            </a:r>
            <a:endParaRPr/>
          </a:p>
          <a:p>
            <a:pPr indent="0" lvl="0" marL="0" rtl="0" algn="l">
              <a:spcBef>
                <a:spcPts val="800"/>
              </a:spcBef>
              <a:spcAft>
                <a:spcPts val="0"/>
              </a:spcAft>
              <a:buSzPts val="1600"/>
              <a:buNone/>
            </a:pPr>
            <a:r>
              <a:rPr b="0" i="0" lang="en-CA" sz="1600">
                <a:solidFill>
                  <a:schemeClr val="dk1"/>
                </a:solidFill>
              </a:rPr>
              <a:t>IIBA/ECBA					</a:t>
            </a:r>
            <a:r>
              <a:rPr lang="en-CA" sz="1600">
                <a:solidFill>
                  <a:schemeClr val="dk1"/>
                </a:solidFill>
              </a:rPr>
              <a:t>            </a:t>
            </a:r>
            <a:r>
              <a:rPr b="1" i="0" lang="en-CA" sz="1600">
                <a:solidFill>
                  <a:schemeClr val="dk1"/>
                </a:solidFill>
              </a:rPr>
              <a:t>Expected July 2024</a:t>
            </a:r>
            <a:endParaRPr b="1" i="0" sz="1600">
              <a:solidFill>
                <a:srgbClr val="374151"/>
              </a:solidFill>
            </a:endParaRPr>
          </a:p>
          <a:p>
            <a:pPr indent="-165100" lvl="0" marL="342900" rtl="0" algn="l">
              <a:spcBef>
                <a:spcPts val="1100"/>
              </a:spcBef>
              <a:spcAft>
                <a:spcPts val="0"/>
              </a:spcAft>
              <a:buSzPts val="28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8"/>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a:t>Professional Experience</a:t>
            </a:r>
            <a:endParaRPr/>
          </a:p>
        </p:txBody>
      </p:sp>
      <p:sp>
        <p:nvSpPr>
          <p:cNvPr id="254" name="Google Shape;254;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000"/>
              <a:buFont typeface="Noto Sans Symbols"/>
              <a:buNone/>
            </a:pPr>
            <a:r>
              <a:rPr lang="en-CA" sz="2000">
                <a:solidFill>
                  <a:schemeClr val="dk1"/>
                </a:solidFill>
              </a:rPr>
              <a:t>Experience: Includes accomplishments as well as job duties and should be listed in reverse chronological order (most recent first). Include all previous experience (technical and non-technical roles). Refer to the slide (Syntax of a well written bullet posted on D2L) </a:t>
            </a:r>
            <a:endParaRPr/>
          </a:p>
          <a:p>
            <a:pPr indent="0" lvl="0" marL="0" rtl="0" algn="l">
              <a:spcBef>
                <a:spcPts val="1000"/>
              </a:spcBef>
              <a:spcAft>
                <a:spcPts val="0"/>
              </a:spcAft>
              <a:buSzPts val="2000"/>
              <a:buFont typeface="Noto Sans Symbols"/>
              <a:buNone/>
            </a:pPr>
            <a:r>
              <a:rPr lang="en-CA" sz="2000">
                <a:solidFill>
                  <a:schemeClr val="dk1"/>
                </a:solidFill>
              </a:rPr>
              <a:t>You can add awards in the jobs you received them</a:t>
            </a:r>
            <a:endParaRPr sz="20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9"/>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a:t>Syntax of a Well-Written Bullet</a:t>
            </a:r>
            <a:endParaRPr/>
          </a:p>
        </p:txBody>
      </p:sp>
      <p:sp>
        <p:nvSpPr>
          <p:cNvPr id="261" name="Google Shape;261;p29"/>
          <p:cNvSpPr txBox="1"/>
          <p:nvPr>
            <p:ph idx="1" type="body"/>
          </p:nvPr>
        </p:nvSpPr>
        <p:spPr>
          <a:xfrm>
            <a:off x="457200" y="1484313"/>
            <a:ext cx="8229600" cy="46418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Font typeface="Noto Sans Symbols"/>
              <a:buNone/>
            </a:pPr>
            <a:r>
              <a:rPr lang="en-CA" sz="1800">
                <a:solidFill>
                  <a:schemeClr val="dk1"/>
                </a:solidFill>
              </a:rPr>
              <a:t>When including content into your resume, be sure that each point achieves its purpose, and is accomplishment focused.  The syntax below will help:</a:t>
            </a:r>
            <a:endParaRPr/>
          </a:p>
          <a:p>
            <a:pPr indent="-285750" lvl="1" marL="742950" rtl="0" algn="l">
              <a:spcBef>
                <a:spcPts val="900"/>
              </a:spcBef>
              <a:spcAft>
                <a:spcPts val="0"/>
              </a:spcAft>
              <a:buSzPts val="1800"/>
              <a:buFont typeface="Arial"/>
              <a:buChar char="–"/>
            </a:pPr>
            <a:r>
              <a:rPr b="1" lang="en-CA" sz="1800">
                <a:solidFill>
                  <a:schemeClr val="dk1"/>
                </a:solidFill>
              </a:rPr>
              <a:t>Skill/Verb</a:t>
            </a:r>
            <a:r>
              <a:rPr lang="en-CA" sz="1800">
                <a:solidFill>
                  <a:schemeClr val="dk1"/>
                </a:solidFill>
              </a:rPr>
              <a:t>: what action you took—action verb (e.g., "designed")</a:t>
            </a:r>
            <a:endParaRPr/>
          </a:p>
          <a:p>
            <a:pPr indent="-285750" lvl="1" marL="742950" rtl="0" algn="l">
              <a:spcBef>
                <a:spcPts val="900"/>
              </a:spcBef>
              <a:spcAft>
                <a:spcPts val="0"/>
              </a:spcAft>
              <a:buSzPts val="1800"/>
              <a:buFont typeface="Arial"/>
              <a:buChar char="–"/>
            </a:pPr>
            <a:r>
              <a:rPr b="1" lang="en-CA" sz="1800">
                <a:solidFill>
                  <a:schemeClr val="dk1"/>
                </a:solidFill>
              </a:rPr>
              <a:t>Task/deliverable</a:t>
            </a:r>
            <a:r>
              <a:rPr lang="en-CA" sz="1800">
                <a:solidFill>
                  <a:schemeClr val="dk1"/>
                </a:solidFill>
              </a:rPr>
              <a:t>: ways in which you applied skills—using descriptors, adjectives, and nouns (e.g., "client database")</a:t>
            </a:r>
            <a:endParaRPr/>
          </a:p>
          <a:p>
            <a:pPr indent="-285750" lvl="1" marL="742950" rtl="0" algn="l">
              <a:spcBef>
                <a:spcPts val="900"/>
              </a:spcBef>
              <a:spcAft>
                <a:spcPts val="0"/>
              </a:spcAft>
              <a:buSzPts val="1800"/>
              <a:buFont typeface="Arial"/>
              <a:buChar char="–"/>
            </a:pPr>
            <a:r>
              <a:rPr b="1" lang="en-CA" sz="1800">
                <a:solidFill>
                  <a:schemeClr val="dk1"/>
                </a:solidFill>
              </a:rPr>
              <a:t>Tools/Condition</a:t>
            </a:r>
            <a:r>
              <a:rPr lang="en-CA" sz="1800">
                <a:solidFill>
                  <a:schemeClr val="dk1"/>
                </a:solidFill>
              </a:rPr>
              <a:t>: how you performed the task—attitude conveyed, hardware/software, or process used (e.g., "MS Access")</a:t>
            </a:r>
            <a:endParaRPr/>
          </a:p>
          <a:p>
            <a:pPr indent="-285750" lvl="1" marL="742950" rtl="0" algn="l">
              <a:spcBef>
                <a:spcPts val="900"/>
              </a:spcBef>
              <a:spcAft>
                <a:spcPts val="0"/>
              </a:spcAft>
              <a:buSzPts val="1800"/>
              <a:buFont typeface="Arial"/>
              <a:buChar char="–"/>
            </a:pPr>
            <a:r>
              <a:rPr b="1" lang="en-CA" sz="1800">
                <a:solidFill>
                  <a:schemeClr val="dk1"/>
                </a:solidFill>
              </a:rPr>
              <a:t>Result</a:t>
            </a:r>
            <a:r>
              <a:rPr lang="en-CA" sz="1800">
                <a:solidFill>
                  <a:schemeClr val="dk1"/>
                </a:solidFill>
              </a:rPr>
              <a:t>: what outcome you achieved—quantified wherever possible (e.g., "doubled speed of information retrieval") </a:t>
            </a:r>
            <a:endParaRPr/>
          </a:p>
          <a:p>
            <a:pPr indent="0" lvl="0" marL="0" rtl="0" algn="l">
              <a:spcBef>
                <a:spcPts val="900"/>
              </a:spcBef>
              <a:spcAft>
                <a:spcPts val="0"/>
              </a:spcAft>
              <a:buSzPts val="1800"/>
              <a:buFont typeface="Noto Sans Symbols"/>
              <a:buNone/>
            </a:pPr>
            <a:r>
              <a:rPr lang="en-CA" sz="1800">
                <a:solidFill>
                  <a:schemeClr val="dk1"/>
                </a:solidFill>
              </a:rPr>
              <a:t>Complete statement: Designed client database using MS Access, which resulted in information retrieval time reduced by 50% for Client Support staff</a:t>
            </a:r>
            <a:endParaRPr/>
          </a:p>
          <a:p>
            <a:pPr indent="0" lvl="0" marL="0" rtl="0" algn="l">
              <a:spcBef>
                <a:spcPts val="713"/>
              </a:spcBef>
              <a:spcAft>
                <a:spcPts val="0"/>
              </a:spcAft>
              <a:buSzPts val="1050"/>
              <a:buFont typeface="Noto Sans Symbols"/>
              <a:buNone/>
            </a:pPr>
            <a:r>
              <a:rPr lang="en-CA" sz="1050">
                <a:solidFill>
                  <a:schemeClr val="dk1"/>
                </a:solidFill>
              </a:rPr>
              <a:t>University of Waterloo</a:t>
            </a:r>
            <a:endParaRPr/>
          </a:p>
          <a:p>
            <a:pPr indent="-165100" lvl="0" marL="342900" rtl="0" algn="l">
              <a:spcBef>
                <a:spcPts val="963"/>
              </a:spcBef>
              <a:spcAft>
                <a:spcPts val="0"/>
              </a:spcAft>
              <a:buSzPts val="28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0"/>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a:t>Professional Experience</a:t>
            </a:r>
            <a:endParaRPr/>
          </a:p>
        </p:txBody>
      </p:sp>
      <p:sp>
        <p:nvSpPr>
          <p:cNvPr id="268" name="Google Shape;268;p30"/>
          <p:cNvSpPr txBox="1"/>
          <p:nvPr>
            <p:ph idx="1" type="body"/>
          </p:nvPr>
        </p:nvSpPr>
        <p:spPr>
          <a:xfrm>
            <a:off x="457200" y="1160585"/>
            <a:ext cx="8229600" cy="557432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Font typeface="Noto Sans Symbols"/>
              <a:buNone/>
            </a:pPr>
            <a:r>
              <a:rPr lang="en-CA" sz="1800">
                <a:solidFill>
                  <a:schemeClr val="dk1"/>
                </a:solidFill>
              </a:rPr>
              <a:t>Example:  </a:t>
            </a:r>
            <a:r>
              <a:rPr lang="en-CA" sz="1800">
                <a:solidFill>
                  <a:schemeClr val="dk1"/>
                </a:solidFill>
                <a:highlight>
                  <a:srgbClr val="FFFF00"/>
                </a:highlight>
              </a:rPr>
              <a:t>Use 5-7 Bullets refer to notes in this slide </a:t>
            </a:r>
            <a:endParaRPr/>
          </a:p>
          <a:p>
            <a:pPr indent="0" lvl="0" marL="0" rtl="0" algn="l">
              <a:spcBef>
                <a:spcPts val="900"/>
              </a:spcBef>
              <a:spcAft>
                <a:spcPts val="0"/>
              </a:spcAft>
              <a:buSzPts val="1800"/>
              <a:buFont typeface="Noto Sans Symbols"/>
              <a:buNone/>
            </a:pPr>
            <a:r>
              <a:rPr lang="en-CA" sz="1800">
                <a:solidFill>
                  <a:schemeClr val="dk1"/>
                </a:solidFill>
              </a:rPr>
              <a:t>Professional Experience: </a:t>
            </a:r>
            <a:endParaRPr/>
          </a:p>
          <a:p>
            <a:pPr indent="0" lvl="0" marL="0" rtl="0" algn="l">
              <a:spcBef>
                <a:spcPts val="900"/>
              </a:spcBef>
              <a:spcAft>
                <a:spcPts val="0"/>
              </a:spcAft>
              <a:buSzPts val="1800"/>
              <a:buFont typeface="Noto Sans Symbols"/>
              <a:buNone/>
            </a:pPr>
            <a:r>
              <a:rPr lang="en-CA" sz="1800">
                <a:solidFill>
                  <a:schemeClr val="dk1"/>
                </a:solidFill>
              </a:rPr>
              <a:t>Data Analyst                                                                          May 2019 – Present         </a:t>
            </a:r>
            <a:r>
              <a:rPr b="0" i="0" lang="en-CA" sz="1800">
                <a:solidFill>
                  <a:schemeClr val="dk1"/>
                </a:solidFill>
              </a:rPr>
              <a:t>TD Bank</a:t>
            </a:r>
            <a:r>
              <a:rPr lang="en-CA" sz="1800">
                <a:solidFill>
                  <a:schemeClr val="dk1"/>
                </a:solidFill>
              </a:rPr>
              <a:t>, Toronto ON                                                                                                               </a:t>
            </a:r>
            <a:endParaRPr/>
          </a:p>
          <a:p>
            <a:pPr indent="-342900" lvl="0" marL="342900" rtl="0" algn="l">
              <a:spcBef>
                <a:spcPts val="850"/>
              </a:spcBef>
              <a:spcAft>
                <a:spcPts val="0"/>
              </a:spcAft>
              <a:buSzPts val="1600"/>
              <a:buChar char="▪"/>
            </a:pPr>
            <a:r>
              <a:rPr lang="en-CA" sz="1600"/>
              <a:t>Conducted comprehensive data analysis by leveraging statistical methods and visualization tools to extract actionable insights. Presented findings through clear and concise visualizations, contributing to informed decision-making processes.</a:t>
            </a:r>
            <a:endParaRPr/>
          </a:p>
          <a:p>
            <a:pPr indent="-342900" lvl="0" marL="342900" rtl="0" algn="l">
              <a:spcBef>
                <a:spcPts val="800"/>
              </a:spcBef>
              <a:spcAft>
                <a:spcPts val="0"/>
              </a:spcAft>
              <a:buSzPts val="1600"/>
              <a:buChar char="▪"/>
            </a:pPr>
            <a:r>
              <a:rPr lang="en-CA" sz="1600"/>
              <a:t>Managed and maintained large datasets using SQL databases, ensuring data accuracy, integrity, and accessibility. Implemented efficient data storage and retrieval processes, optimizing overall database performance.</a:t>
            </a:r>
            <a:endParaRPr/>
          </a:p>
          <a:p>
            <a:pPr indent="-342900" lvl="0" marL="342900" rtl="0" algn="l">
              <a:spcBef>
                <a:spcPts val="800"/>
              </a:spcBef>
              <a:spcAft>
                <a:spcPts val="0"/>
              </a:spcAft>
              <a:buSzPts val="1600"/>
              <a:buChar char="▪"/>
            </a:pPr>
            <a:r>
              <a:rPr lang="en-CA" sz="1600">
                <a:latin typeface="Arial"/>
                <a:ea typeface="Arial"/>
                <a:cs typeface="Arial"/>
                <a:sym typeface="Arial"/>
              </a:rPr>
              <a:t>Collaborated with cross-functional teams to gather and analyze business requirements, ensuring alignment between data analysis outputs and organizational objectives </a:t>
            </a:r>
            <a:endParaRPr/>
          </a:p>
          <a:p>
            <a:pPr indent="-342900" lvl="0" marL="342900" rtl="0" algn="l">
              <a:spcBef>
                <a:spcPts val="800"/>
              </a:spcBef>
              <a:spcAft>
                <a:spcPts val="0"/>
              </a:spcAft>
              <a:buSzPts val="1600"/>
              <a:buChar char="▪"/>
            </a:pPr>
            <a:r>
              <a:rPr lang="en-CA" sz="1600">
                <a:latin typeface="Arial"/>
                <a:ea typeface="Arial"/>
                <a:cs typeface="Arial"/>
                <a:sym typeface="Arial"/>
              </a:rPr>
              <a:t>Implemented quality assurance measures, contributing to the delivery of high-quality and error-free data analyses.</a:t>
            </a:r>
            <a:endParaRPr/>
          </a:p>
          <a:p>
            <a:pPr indent="-342900" lvl="0" marL="342900" rtl="0" algn="l">
              <a:spcBef>
                <a:spcPts val="800"/>
              </a:spcBef>
              <a:spcAft>
                <a:spcPts val="0"/>
              </a:spcAft>
              <a:buSzPts val="1600"/>
              <a:buChar char="▪"/>
            </a:pPr>
            <a:r>
              <a:rPr lang="en-CA" sz="1600">
                <a:latin typeface="Arial"/>
                <a:ea typeface="Arial"/>
                <a:cs typeface="Arial"/>
                <a:sym typeface="Arial"/>
              </a:rPr>
              <a:t>Implemented quality assurance measures, contributing to the delivery of high-quality and error-free data analyses.</a:t>
            </a:r>
            <a:endParaRPr/>
          </a:p>
          <a:p>
            <a:pPr indent="-241300" lvl="0" marL="342900" rtl="0" algn="l">
              <a:spcBef>
                <a:spcPts val="800"/>
              </a:spcBef>
              <a:spcAft>
                <a:spcPts val="0"/>
              </a:spcAft>
              <a:buSzPts val="1600"/>
              <a:buNone/>
            </a:pPr>
            <a:r>
              <a:t/>
            </a:r>
            <a:endParaRPr sz="1600">
              <a:latin typeface="Arial"/>
              <a:ea typeface="Arial"/>
              <a:cs typeface="Arial"/>
              <a:sym typeface="Arial"/>
            </a:endParaRPr>
          </a:p>
          <a:p>
            <a:pPr indent="-241300" lvl="0" marL="342900" rtl="0" algn="l">
              <a:spcBef>
                <a:spcPts val="800"/>
              </a:spcBef>
              <a:spcAft>
                <a:spcPts val="0"/>
              </a:spcAft>
              <a:buSzPts val="1600"/>
              <a:buNone/>
            </a:pPr>
            <a:r>
              <a:t/>
            </a:r>
            <a:endParaRPr sz="1600">
              <a:latin typeface="Arial"/>
              <a:ea typeface="Arial"/>
              <a:cs typeface="Arial"/>
              <a:sym typeface="Arial"/>
            </a:endParaRPr>
          </a:p>
          <a:p>
            <a:pPr indent="-241300" lvl="0" marL="342900" rtl="0" algn="l">
              <a:spcBef>
                <a:spcPts val="800"/>
              </a:spcBef>
              <a:spcAft>
                <a:spcPts val="0"/>
              </a:spcAft>
              <a:buSzPts val="1600"/>
              <a:buNone/>
            </a:pPr>
            <a:r>
              <a:t/>
            </a:r>
            <a:endParaRPr sz="1600"/>
          </a:p>
          <a:p>
            <a:pPr indent="0" lvl="0" marL="0" rtl="0" algn="l">
              <a:spcBef>
                <a:spcPts val="850"/>
              </a:spcBef>
              <a:spcAft>
                <a:spcPts val="0"/>
              </a:spcAft>
              <a:buSzPts val="1800"/>
              <a:buFont typeface="Noto Sans Symbols"/>
              <a:buNone/>
            </a:pPr>
            <a:r>
              <a:t/>
            </a:r>
            <a:endParaRPr sz="18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1"/>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sz="2400"/>
              <a:t>Volunteer  Experience &amp; Interests Optional </a:t>
            </a:r>
            <a:endParaRPr/>
          </a:p>
        </p:txBody>
      </p:sp>
      <p:sp>
        <p:nvSpPr>
          <p:cNvPr id="275" name="Google Shape;275;p31"/>
          <p:cNvSpPr txBox="1"/>
          <p:nvPr>
            <p:ph idx="1" type="body"/>
          </p:nvPr>
        </p:nvSpPr>
        <p:spPr>
          <a:xfrm>
            <a:off x="457200" y="1213338"/>
            <a:ext cx="8229600" cy="526366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Font typeface="Noto Sans Symbols"/>
              <a:buNone/>
            </a:pPr>
            <a:r>
              <a:rPr lang="en-CA" sz="1800">
                <a:solidFill>
                  <a:schemeClr val="dk1"/>
                </a:solidFill>
                <a:highlight>
                  <a:srgbClr val="FFFF00"/>
                </a:highlight>
              </a:rPr>
              <a:t>Optional Sections </a:t>
            </a:r>
            <a:endParaRPr/>
          </a:p>
          <a:p>
            <a:pPr indent="0" lvl="0" marL="0" rtl="0" algn="l">
              <a:spcBef>
                <a:spcPts val="900"/>
              </a:spcBef>
              <a:spcAft>
                <a:spcPts val="0"/>
              </a:spcAft>
              <a:buSzPts val="1800"/>
              <a:buFont typeface="Noto Sans Symbols"/>
              <a:buNone/>
            </a:pPr>
            <a:r>
              <a:rPr b="1" lang="en-CA" sz="1800">
                <a:solidFill>
                  <a:schemeClr val="dk1"/>
                </a:solidFill>
              </a:rPr>
              <a:t>Volunteer Experience: </a:t>
            </a:r>
            <a:endParaRPr/>
          </a:p>
          <a:p>
            <a:pPr indent="0" lvl="0" marL="0" rtl="0" algn="l">
              <a:spcBef>
                <a:spcPts val="900"/>
              </a:spcBef>
              <a:spcAft>
                <a:spcPts val="0"/>
              </a:spcAft>
              <a:buSzPts val="1800"/>
              <a:buFont typeface="Noto Sans Symbols"/>
              <a:buNone/>
            </a:pPr>
            <a:r>
              <a:rPr lang="en-CA" sz="1800">
                <a:solidFill>
                  <a:schemeClr val="dk1"/>
                </a:solidFill>
              </a:rPr>
              <a:t>Project Contributor                                                             Sept 2022 - Nov 2023 Maker Kids Inc., Toronto, ON </a:t>
            </a:r>
            <a:endParaRPr/>
          </a:p>
          <a:p>
            <a:pPr indent="0" lvl="0" marL="0" rtl="0" algn="l">
              <a:spcBef>
                <a:spcPts val="900"/>
              </a:spcBef>
              <a:spcAft>
                <a:spcPts val="0"/>
              </a:spcAft>
              <a:buSzPts val="1800"/>
              <a:buFont typeface="Noto Sans Symbols"/>
              <a:buNone/>
            </a:pPr>
            <a:r>
              <a:rPr lang="en-CA" sz="1800">
                <a:solidFill>
                  <a:schemeClr val="dk1"/>
                </a:solidFill>
              </a:rPr>
              <a:t>Maker kids Canada offers specialized programs for Children with interest in Science, Technology, Engineering and Mathematics (STEM). </a:t>
            </a:r>
            <a:endParaRPr/>
          </a:p>
          <a:p>
            <a:pPr indent="-342900" lvl="0" marL="342900" rtl="0" algn="l">
              <a:spcBef>
                <a:spcPts val="900"/>
              </a:spcBef>
              <a:spcAft>
                <a:spcPts val="0"/>
              </a:spcAft>
              <a:buSzPts val="1800"/>
              <a:buChar char="▪"/>
            </a:pPr>
            <a:r>
              <a:rPr lang="en-CA" sz="1800">
                <a:solidFill>
                  <a:schemeClr val="dk1"/>
                </a:solidFill>
              </a:rPr>
              <a:t>Developed Business Case and Project Charter to enable maker kids Sponsors make project decisions.</a:t>
            </a:r>
            <a:endParaRPr/>
          </a:p>
          <a:p>
            <a:pPr indent="-342900" lvl="0" marL="342900" rtl="0" algn="l">
              <a:spcBef>
                <a:spcPts val="900"/>
              </a:spcBef>
              <a:spcAft>
                <a:spcPts val="0"/>
              </a:spcAft>
              <a:buSzPts val="1800"/>
              <a:buChar char="▪"/>
            </a:pPr>
            <a:r>
              <a:rPr lang="en-CA" sz="1800">
                <a:solidFill>
                  <a:schemeClr val="dk1"/>
                </a:solidFill>
              </a:rPr>
              <a:t>Reviewed existing documents and elicited requirements from relevant stakeholders.                                                                                                              </a:t>
            </a:r>
            <a:endParaRPr/>
          </a:p>
          <a:p>
            <a:pPr indent="-342900" lvl="0" marL="342900" rtl="0" algn="l">
              <a:spcBef>
                <a:spcPts val="900"/>
              </a:spcBef>
              <a:spcAft>
                <a:spcPts val="0"/>
              </a:spcAft>
              <a:buSzPts val="1800"/>
              <a:buChar char="▪"/>
            </a:pPr>
            <a:r>
              <a:rPr lang="en-CA" sz="1800">
                <a:solidFill>
                  <a:schemeClr val="dk1"/>
                </a:solidFill>
              </a:rPr>
              <a:t>Collaborated with other Project Managers in the delivery of a comprehensive project management plan for the business. </a:t>
            </a:r>
            <a:endParaRPr/>
          </a:p>
          <a:p>
            <a:pPr indent="0" lvl="0" marL="0" rtl="0" algn="l">
              <a:spcBef>
                <a:spcPts val="900"/>
              </a:spcBef>
              <a:spcAft>
                <a:spcPts val="0"/>
              </a:spcAft>
              <a:buSzPts val="1800"/>
              <a:buFont typeface="Noto Sans Symbols"/>
              <a:buNone/>
            </a:pPr>
            <a:r>
              <a:rPr b="1" lang="en-CA" sz="1800">
                <a:solidFill>
                  <a:schemeClr val="dk1"/>
                </a:solidFill>
              </a:rPr>
              <a:t>Interests:  Refer to the link provided in the notes below</a:t>
            </a:r>
            <a:endParaRPr/>
          </a:p>
          <a:p>
            <a:pPr indent="-342900" lvl="0" marL="342900" rtl="0" algn="l">
              <a:spcBef>
                <a:spcPts val="900"/>
              </a:spcBef>
              <a:spcAft>
                <a:spcPts val="0"/>
              </a:spcAft>
              <a:buSzPts val="1800"/>
              <a:buChar char="▪"/>
            </a:pPr>
            <a:r>
              <a:rPr lang="en-CA" sz="1800">
                <a:solidFill>
                  <a:schemeClr val="dk1"/>
                </a:solidFill>
              </a:rPr>
              <a:t>Cycling, Photography</a:t>
            </a:r>
            <a:endParaRPr sz="10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2008-02-14T00:02:49Z</dcterms:created>
  <dc:creator>George Brown College;Centre for Arts &amp; Design</dc:creator>
</cp:coreProperties>
</file>